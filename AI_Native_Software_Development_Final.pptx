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 Title &amp; Welcome</a:t>
            </a:r>
          </a:p>
          <a:p>
            <a:r>
              <a:t>-----------------------------------------</a:t>
            </a:r>
          </a:p>
          <a:p>
            <a:r>
              <a:t>Welcome the faculty participants and introduce yourself. Set the tone: this is NOT a passive lecture — it is an interactive, hands-on workshop where participants will build a real application using AI-native practices.</a:t>
            </a:r>
          </a:p>
          <a:p/>
          <a:p>
            <a:r>
              <a:t>Key talking points:</a:t>
            </a:r>
          </a:p>
          <a:p>
            <a:r>
              <a:t>1. Explain what "AI-Native" means: AI is embedded across the ENTIRE software development lifecycle — from requirements capture, through architecture, code generation, testing, security, CI/CD, and continuous feedback — not bolted on as an afterthought.</a:t>
            </a:r>
          </a:p>
          <a:p>
            <a:r>
              <a:t>2. Walk through the lifecycle flow on screen: Human Intent -&gt; Specification -&gt; Design -&gt; Code -&gt; Tests -&gt; CI/CD -&gt; Feedback. Emphasize that each stage has AI augmentation but human oversight remains critical.</a:t>
            </a:r>
          </a:p>
          <a:p>
            <a:r>
              <a:t>3. Mention the workshop structure: ~2 hours of concepts and methodology, ~2-3 hours of guided implementation lab.</a:t>
            </a:r>
          </a:p>
          <a:p>
            <a:r>
              <a:t>4. Set expectations: By end of session, participants will have hands-on experience with spec-driven development, AI-assisted code generation, automated testing, and CI/CD pipeline setup.</a:t>
            </a:r>
          </a:p>
          <a:p>
            <a:r>
              <a:t>5. Highlight the tagline: AI-Native = Human Intent + Executable Specification + Automated Feedback Loops. This is the foundational equation they should remember.</a:t>
            </a:r>
          </a:p>
          <a:p/>
          <a:p>
            <a:r>
              <a:t>Audience engagement: Ask how many have used AI coding assistants (GitHub Copilot, Cursor, ChatGPT for code). This gauges the room's baseline.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 Workshop Learning Outcomes</a:t>
            </a:r>
          </a:p>
          <a:p>
            <a:r>
              <a:t>-----------------------------------------------------</a:t>
            </a:r>
          </a:p>
          <a:p>
            <a:r>
              <a:t>Walk through each learning outcome and explain WHY it matters:</a:t>
            </a:r>
          </a:p>
          <a:p/>
          <a:p>
            <a:r>
              <a:t>1. UNDERSTAND AI-NATIVE SDLC: This is not about using ChatGPT to write code snippets. AI-native means AI is woven into requirements gathering, architecture decisions, code generation, testing strategy, security analysis, CI/CD automation, and continuous improvement. Ask: "How many of you currently use AI only for code completion? By the end of today, you'll see AI participating in every single phase."</a:t>
            </a:r>
          </a:p>
          <a:p/>
          <a:p>
            <a:r>
              <a:t>2. APPLY SPEC-DRIVEN DEVELOPMENT: The #1 mistake teams make with AI is jumping straight to code generation. Spec-driven development means you write clear, structured specifications first — functional requirements, non-functional requirements, API contracts, acceptance criteria — and THEN use AI to generate implementation. This dramatically improves output quality.</a:t>
            </a:r>
          </a:p>
          <a:p/>
          <a:p>
            <a:r>
              <a:t>3. BUILD &amp; TEST END-TO-END: Theory alone won't stick. Participants will build a Task Management REST API from scratch using AI-native practices. They'll experience the full cycle: requirement spec -&gt; architecture design -&gt; code generation -&gt; unit tests -&gt; integration tests -&gt; CI/CD pipeline.</a:t>
            </a:r>
          </a:p>
          <a:p/>
          <a:p>
            <a:r>
              <a:t>4. EVALUATE GOVERNANCE &amp; SECURITY: AI-generated code introduces unique risks — hallucinated dependencies, insecure defaults, data exposure in prompts. We'll cover governance frameworks, responsible AI principles, and practical security checklists.</a:t>
            </a:r>
          </a:p>
          <a:p/>
          <a:p>
            <a:r>
              <a:t>5. EXPLORE MULTI-AGENT DEVELOPMENT: The cutting edge of AI-native development uses multiple specialized AI agents (Requirements Agent, Architect Agent, Coder, Tester, Security, DevOps) orchestrated together. We'll explore this emerging paradigm.</a:t>
            </a:r>
          </a:p>
          <a:p/>
          <a:p>
            <a:r>
              <a:t>Point out the three cards on the right:</a:t>
            </a:r>
          </a:p>
          <a:p>
            <a:r>
              <a:t>- Teaching approach follows a structured cycle</a:t>
            </a:r>
          </a:p>
          <a:p>
            <a:r>
              <a:t>- The practical lab is a real, implementable example</a:t>
            </a:r>
          </a:p>
          <a:p>
            <a:r>
              <a:t>- Participants will produce concrete, reviewable artifacts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 Session Agenda</a:t>
            </a:r>
          </a:p>
          <a:p>
            <a:r>
              <a:t>-----------------------------------------</a:t>
            </a:r>
          </a:p>
          <a:p>
            <a:r>
              <a:t>Walk through the timeline so participants know what to expect:</a:t>
            </a:r>
          </a:p>
          <a:p/>
          <a:p>
            <a:r>
              <a:t>PART 1 - FOUNDATIONS &amp; METHODOLOGY (~90 minutes):</a:t>
            </a:r>
          </a:p>
          <a:p>
            <a:r>
              <a:t>- Start with "What is AI-Native?" — the core concepts and why this matters NOW</a:t>
            </a:r>
          </a:p>
          <a:p>
            <a:r>
              <a:t>- Cover the AI tool landscape — what's available, what works, what doesn't</a:t>
            </a:r>
          </a:p>
          <a:p>
            <a:r>
              <a:t>- Deep dive into spec-driven development — the methodology that makes AI code generation actually useful</a:t>
            </a:r>
          </a:p>
          <a:p>
            <a:r>
              <a:t>- Architecture design principles — how to make architectural decisions with AI assistance</a:t>
            </a:r>
          </a:p>
          <a:p>
            <a:r>
              <a:t>- Prompt engineering for software engineering — not generic prompting, but structured approaches for code, specs, and tests</a:t>
            </a:r>
          </a:p>
          <a:p/>
          <a:p>
            <a:r>
              <a:t>BREAK (15 minutes) — Encourage participants to install any required tools if not already done</a:t>
            </a:r>
          </a:p>
          <a:p/>
          <a:p>
            <a:r>
              <a:t>PART 2 - GUIDED HANDS-ON LAB (~120 minutes):</a:t>
            </a:r>
          </a:p>
          <a:p>
            <a:r>
              <a:t>- This is the core of the workshop. Participants will build a Task Management REST API</a:t>
            </a:r>
          </a:p>
          <a:p>
            <a:r>
              <a:t>- Exercise 1: Write the specification using a structured template</a:t>
            </a:r>
          </a:p>
          <a:p>
            <a:r>
              <a:t>- Exercise 2: Generate architecture and API contracts</a:t>
            </a:r>
          </a:p>
          <a:p>
            <a:r>
              <a:t>- Exercise 3: Generate and review backend code</a:t>
            </a:r>
          </a:p>
          <a:p>
            <a:r>
              <a:t>- Exercise 4: Write and run tests</a:t>
            </a:r>
          </a:p>
          <a:p>
            <a:r>
              <a:t>- Exercise 5: Set up a CI/CD pipeline</a:t>
            </a:r>
          </a:p>
          <a:p>
            <a:r>
              <a:t>- Each exercise builds on the previous one — it's a continuous flow</a:t>
            </a:r>
          </a:p>
          <a:p/>
          <a:p>
            <a:r>
              <a:t>BREAK (15 minutes)</a:t>
            </a:r>
          </a:p>
          <a:p/>
          <a:p>
            <a:r>
              <a:t>PART 3 - ADVANCED TOPICS &amp; WRAP-UP (~60 minutes):</a:t>
            </a:r>
          </a:p>
          <a:p>
            <a:r>
              <a:t>- Multi-agent development — the future of AI-native SDLC</a:t>
            </a:r>
          </a:p>
          <a:p>
            <a:r>
              <a:t>- AI governance and responsible use</a:t>
            </a:r>
          </a:p>
          <a:p>
            <a:r>
              <a:t>- Security considerations specific to AI-generated code</a:t>
            </a:r>
          </a:p>
          <a:p>
            <a:r>
              <a:t>- Homework assignments for continued practice</a:t>
            </a:r>
          </a:p>
          <a:p>
            <a:r>
              <a:t>- Discussion, Q&amp;A, and key takeaways</a:t>
            </a:r>
          </a:p>
          <a:p/>
          <a:p>
            <a:r>
              <a:t>Emphasize the flow at the bottom: every topic follows Concepts -&gt; Demo -&gt; Hands-on -&gt; Review -&gt; Discuss. This is a pedagogical loop that ensures deep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 What is AI-Native Software Development?</a:t>
            </a:r>
          </a:p>
          <a:p>
            <a:r>
              <a:t>------------------------------------------------------------------</a:t>
            </a:r>
          </a:p>
          <a:p>
            <a:r>
              <a:t>This is the foundational slide. Spend time here — make sure everyone understands the paradigm shift.</a:t>
            </a:r>
          </a:p>
          <a:p/>
          <a:p>
            <a:r>
              <a:t>KEY DISTINCTION - AI-Assisted vs AI-Native:</a:t>
            </a:r>
          </a:p>
          <a:p>
            <a:r>
              <a:t>- AI-ASSISTED: You write code, AI helps with autocomplete, suggestions, and refactoring. AI is a tool you use occasionally. The human drives the process.</a:t>
            </a:r>
          </a:p>
          <a:p>
            <a:r>
              <a:t>- AI-NATIVE: AI is embedded in EVERY phase. Requirements are captured in structured formats that AI can process. Architecture decisions are proposed by AI and validated by humans. Code, tests, and pipelines are generated from specifications. Feedback from CI/CD and production flows back to improve the next iteration.</a:t>
            </a:r>
          </a:p>
          <a:p/>
          <a:p>
            <a:r>
              <a:t>Walk through each principle:</a:t>
            </a:r>
          </a:p>
          <a:p>
            <a:r>
              <a:t>1. SPEC-FIRST: "The biggest mistake teams make is opening an IDE and asking AI to 'build me a todo app.' Instead, you write a structured specification — functional requirements, non-functional requirements, API contracts, acceptance criteria — and THEN generate. The spec IS the product; code is a byproduct."</a:t>
            </a:r>
          </a:p>
          <a:p/>
          <a:p>
            <a:r>
              <a:t>2. HUMAN-IN-THE-LOOP: "AI is powerful but not infallible. It hallucinates APIs that don't exist, generates plausible but incorrect business logic, and can introduce security vulnerabilities. Every critical decision — architecture choices, security boundaries, data model design — requires human review."</a:t>
            </a:r>
          </a:p>
          <a:p/>
          <a:p>
            <a:r>
              <a:t>3. AUTOMATED VALIDATION: "When code is generated at scale, you cannot manually review everything. Automated tests, static analysis, security scans, and CI/CD pipelines become your safety net. If the generated code doesn't pass the validation suite, it doesn't ship."</a:t>
            </a:r>
          </a:p>
          <a:p/>
          <a:p>
            <a:r>
              <a:t>4. CONTINUOUS LEARNING: "Production telemetry, bug reports, and user feedback become inputs for the next generation cycle. The system gets better over time."</a:t>
            </a:r>
          </a:p>
          <a:p/>
          <a:p>
            <a:r>
              <a:t>Ask the audience: "In your current teaching, where does AI fit? Is it a tool students use for homework, or is it part of how you teach the engineering process itself?" This question frames the rest of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5: Traditional vs AI-Native SDLC</a:t>
            </a:r>
          </a:p>
          <a:p>
            <a:r>
              <a:t>--------------------------------------------------------</a:t>
            </a:r>
          </a:p>
          <a:p>
            <a:r>
              <a:t>Use this comparison table to make the paradigm shift concrete. Walk through each row:</a:t>
            </a:r>
          </a:p>
          <a:p/>
          <a:p>
            <a:r>
              <a:t>1. REQUIREMENTS: Traditional — someone writes a Word doc or Confluence page; it gets outdated within weeks. AI-Native — requirements are structured (YAML, JSON, or templated markdown) so AI can consume them programmatically. They are version-controlled alongside code.</a:t>
            </a:r>
          </a:p>
          <a:p/>
          <a:p>
            <a:r>
              <a:t>2. DESIGN: Traditional — architects draw diagrams in Visio or Lucidchart; they live in a separate repo and drift. AI-Native — AI proposes architecture based on requirements, generates UML diagrams, and humans validate the choices. Diagrams are generated from specs.</a:t>
            </a:r>
          </a:p>
          <a:p/>
          <a:p>
            <a:r>
              <a:t>3. IMPLEMENTATION: Traditional — developers spend 60-80% of their time writing code. AI-Native — developers spend 60-80% of their time reviewing and refining specs and generated outputs. Code writing shifts to code curation.</a:t>
            </a:r>
          </a:p>
          <a:p/>
          <a:p>
            <a:r>
              <a:t>4. TESTING: This is where the biggest ROI is. Traditional testing is often an afterthought — "we'll write tests later." AI-native generates tests FROM acceptance criteria, which means tests exist BEFORE code.</a:t>
            </a:r>
          </a:p>
          <a:p/>
          <a:p>
            <a:r>
              <a:t>5. CODE REVIEW: In traditional development, you review code someone already spent hours writing. In AI-native, you review the SPECIFICATION first. If the spec is wrong, regenerating code is cheap. Catching errors at the spec level saves enormous time.</a:t>
            </a:r>
          </a:p>
          <a:p/>
          <a:p>
            <a:r>
              <a:t>6-9. Walk through CI/CD, Security, Documentation, and Feedback similarly.</a:t>
            </a:r>
          </a:p>
          <a:p/>
          <a:p>
            <a:r>
              <a:t>KEY INSIGHT at bottom: "In AI-native development, the specification and test suite are more valuable than the code itself. Code can be regenerated in minutes; a well-crafted specification represents the team's understanding of the problem."</a:t>
            </a:r>
          </a:p>
          <a:p/>
          <a:p>
            <a:r>
              <a:t>Discussion question for the audience: "Which of these shifts do you think would have the biggest impact on how you teach software engineering?" This gets faculty thinking about curriculum implications.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6: AI-Native SDLC Lifecycle</a:t>
            </a:r>
          </a:p>
          <a:p>
            <a:r>
              <a:t>---------------------------------------------------</a:t>
            </a:r>
          </a:p>
          <a:p>
            <a:r>
              <a:t>This diagram shows the continuous cycle of AI-native development. Unlike traditional waterfall (linear) or even agile (iterative but still human-driven), AI-native is a CONTINUOUS FEEDBACK LOOP where AI participates at every stage.</a:t>
            </a:r>
          </a:p>
          <a:p/>
          <a:p>
            <a:r>
              <a:t>Walk through each stage clockwise:</a:t>
            </a:r>
          </a:p>
          <a:p/>
          <a:p>
            <a:r>
              <a:t>1. CAPTURE INTENT: Everything starts with human intent. What problem are we solving? Who are the users? What are the constraints? This is captured in structured formats — not free-form emails, but templated requirement documents that AI can process.</a:t>
            </a:r>
          </a:p>
          <a:p/>
          <a:p>
            <a:r>
              <a:t>2. WRITE SPECIFICATION: Requirements are formalized into executable specifications: functional requirements with acceptance criteria, non-functional requirements with measurable targets, API contracts in OpenAPI format, data models with constraints. KEY POINT: This step is the most important. The quality of AI-generated output is directly proportional to the quality of input specifications.</a:t>
            </a:r>
          </a:p>
          <a:p/>
          <a:p>
            <a:r>
              <a:t>3. AI-ASSISTED DESIGN: AI proposes architecture options — microservices vs monolith, database choices, API patterns. It generates UML class diagrams, sequence diagrams, and deployment views. Humans evaluate trade-offs and approve. Architecture Decision Records (ADRs) document the rationale.</a:t>
            </a:r>
          </a:p>
          <a:p/>
          <a:p>
            <a:r>
              <a:t>4. GENERATE CODE: With approved specs and architecture, AI generates implementation code — controllers, services, repositories, DTOs. The code follows the approved patterns and conventions. But it MUST be reviewed. Generation is fast; review is where engineering skill matters.</a:t>
            </a:r>
          </a:p>
          <a:p/>
          <a:p>
            <a:r>
              <a:t>5. AUTOMATED TESTING: Tests are generated from acceptance criteria. Unit tests cover business rules, integration tests cover API behavior, E2E tests cover user journeys. The test suite becomes the contract — if generated code passes all tests, it meets the specification.</a:t>
            </a:r>
          </a:p>
          <a:p/>
          <a:p>
            <a:r>
              <a:t>6. CI/CD DEPLOY: Every commit triggers an automated pipeline: build -&gt; test -&gt; security scan -&gt; package -&gt; deploy to staging -&gt; smoke test. Quality gates enforce minimum coverage, zero critical vulnerabilities, and performance budgets.</a:t>
            </a:r>
          </a:p>
          <a:p/>
          <a:p>
            <a:r>
              <a:t>7. MONITOR &amp; FEEDBACK: Production telemetry (response times, error rates, user behavior) feeds back into the next cycle. Bugs become new acceptance criteria. Performance bottlenecks become new non-functional requirements. The cycle never stops.</a:t>
            </a:r>
          </a:p>
          <a:p/>
          <a:p>
            <a:r>
              <a:t>CRITICAL INSIGHT: The arrow from step 7 back to step 1 is what makes this AI-NATIVE, not just AI-ASSISTED. The system learns and improves continuously.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7: AI Tool Ecosystem for Software Development</a:t>
            </a:r>
          </a:p>
          <a:p>
            <a:r>
              <a:t>----------------------------------------------------------------------</a:t>
            </a:r>
          </a:p>
          <a:p>
            <a:r>
              <a:t>This slide gives a bird's-eye view of the AI-powered development tool landscape. The goal is to help faculty understand that there is no single "AI tool" - there is an entire ecosystem, and effective AI-native development requires choosing the right tools for each role.</a:t>
            </a:r>
          </a:p>
          <a:p/>
          <a:p>
            <a:r>
              <a:t>Walk through each category:</a:t>
            </a:r>
          </a:p>
          <a:p/>
          <a:p>
            <a:r>
              <a:t>1. IDE ASSISTANTS (Green box):</a:t>
            </a:r>
          </a:p>
          <a:p>
            <a:r>
              <a:t>- GitHub Copilot: The most widely adopted. Works inside VS Code, JetBrains, Neovim. Strong at code completion, inline suggestions, and chat-based refactoring.</a:t>
            </a:r>
          </a:p>
          <a:p>
            <a:r>
              <a:t>- Cursor: A fork of VS Code built from the ground up for AI-first development. Excellent at multi-file edits, codebase-aware context, and composer mode for complex changes.</a:t>
            </a:r>
          </a:p>
          <a:p>
            <a:r>
              <a:t>- JetBrains AI: Integrated into IntelliJ, PyCharm, etc. Leverages JetBrains deep code analysis with AI suggestions. Great for Java/Kotlin ecosystems.</a:t>
            </a:r>
          </a:p>
          <a:p>
            <a:r>
              <a:t>- Windsurf: Another AI-native IDE with Cascade (agentic) and autocomplete flows. Emphasizes deep contextual understanding.</a:t>
            </a:r>
          </a:p>
          <a:p>
            <a:r>
              <a:t>- WHEN TO USE: Always-on during coding. These are your primary coding companions. Best for implementation phase.</a:t>
            </a:r>
          </a:p>
          <a:p/>
          <a:p>
            <a:r>
              <a:t>2. CHAT / LLM INTERFACES (Orange box):</a:t>
            </a:r>
          </a:p>
          <a:p>
            <a:r>
              <a:t>- ChatGPT: General-purpose, great for brainstorming, explaining concepts, debugging complex issues.</a:t>
            </a:r>
          </a:p>
          <a:p>
            <a:r>
              <a:t>- Claude: Strong at long-context understanding, analysis, and careful reasoning. Excellent for reviewing specifications and architecture documents.</a:t>
            </a:r>
          </a:p>
          <a:p>
            <a:r>
              <a:t>- Gemini: Google's multimodal model. Strong integration with Google Cloud ecosystem.</a:t>
            </a:r>
          </a:p>
          <a:p>
            <a:r>
              <a:t>- M365 Copilot: Integrated into Microsoft tools - useful for documentation, project planning, and team communication.</a:t>
            </a:r>
          </a:p>
          <a:p>
            <a:r>
              <a:t>- WHEN TO USE: For exploration, learning, debugging complex issues, reviewing architecture decisions.</a:t>
            </a:r>
          </a:p>
          <a:p/>
          <a:p>
            <a:r>
              <a:t>3. WORKFLOW &amp; AGENT FRAMEWORKS (Purple box):</a:t>
            </a:r>
          </a:p>
          <a:p>
            <a:r>
              <a:t>- LangChain: The most popular framework for building LLM-powered applications. Chains, agents, retrieval-augmented generation.</a:t>
            </a:r>
          </a:p>
          <a:p>
            <a:r>
              <a:t>- Semantic Kernel: Microsoft's SDK for integrating AI into applications. Strong .NET integration.</a:t>
            </a:r>
          </a:p>
          <a:p>
            <a:r>
              <a:t>- CrewAI: Framework for orchestrating multiple AI agents that collaborate on tasks.</a:t>
            </a:r>
          </a:p>
          <a:p>
            <a:r>
              <a:t>- AutoGen: Microsoft Research framework for multi-agent conversations.</a:t>
            </a:r>
          </a:p>
          <a:p>
            <a:r>
              <a:t>- WHEN TO USE: When building AI-powered features in your applications, or when orchestrating multi-agent development workflows.</a:t>
            </a:r>
          </a:p>
          <a:p/>
          <a:p>
            <a:r>
              <a:t>4. DEVOPS &amp; CI/CD INTELLIGENCE (Teal box):</a:t>
            </a:r>
          </a:p>
          <a:p>
            <a:r>
              <a:t>- GitHub Actions AI: AI-powered workflow suggestions, automated PR checks.</a:t>
            </a:r>
          </a:p>
          <a:p>
            <a:r>
              <a:t>- SonarQube AI: AI-enhanced static analysis, code smell detection, and quality scoring.</a:t>
            </a:r>
          </a:p>
          <a:p>
            <a:r>
              <a:t>- Snyk AI: AI-powered security vulnerability detection, dependency scanning, and fix suggestions.</a:t>
            </a:r>
          </a:p>
          <a:p>
            <a:r>
              <a:t>- WHEN TO USE: Integrated into your CI/CD pipeline. These run automatically on every commit and PR.</a:t>
            </a:r>
          </a:p>
          <a:p/>
          <a:p>
            <a:r>
              <a:t>5. CODE REVIEW (Yellow box):</a:t>
            </a:r>
          </a:p>
          <a:p>
            <a:r>
              <a:t>- CodeRabbit: Automated PR review bot that provides detailed, contextual code review comments.</a:t>
            </a:r>
          </a:p>
          <a:p>
            <a:r>
              <a:t>- Copilot PR Review: GitHub's built-in PR review summarization.</a:t>
            </a:r>
          </a:p>
          <a:p>
            <a:r>
              <a:t>- Qodo: Focuses on test generation and code quality analysis.</a:t>
            </a:r>
          </a:p>
          <a:p>
            <a:r>
              <a:t>- WHEN TO USE: On every pull request. Augments human review, catches issues human reviewers miss.</a:t>
            </a:r>
          </a:p>
          <a:p/>
          <a:p>
            <a:r>
              <a:t>Emphasize: The best AI-native teams use tools from MULTIPLE categories. A typical stack might be: Cursor (IDE) + Claude (reasoning/review) + GitHub Actions (CI/CD) + CodeRabbit (PR review). The tools complement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8: IDE Assistants &amp; Code Generation Deep Dive</a:t>
            </a:r>
          </a:p>
          <a:p>
            <a:r>
              <a:t>----------------------------------------------------------------------</a:t>
            </a:r>
          </a:p>
          <a:p>
            <a:r>
              <a:t>This slide goes deeper into the IDE assistant category, which is what most developers interact with daily.</a:t>
            </a:r>
          </a:p>
          <a:p/>
          <a:p>
            <a:r>
              <a:t>LEFT SIDE - KEY CAPABILITIES:</a:t>
            </a:r>
          </a:p>
          <a:p>
            <a:r>
              <a:t>Walk through each capability with live examples if possible:</a:t>
            </a:r>
          </a:p>
          <a:p/>
          <a:p>
            <a:r>
              <a:t>1. INLINE CODE COMPLETION: The bread-and-butter feature. As you type, AI suggests completions - sometimes single lines, sometimes entire functions. The suggestions are context-aware, looking at your current file, open files, imports, and variable names. Tip: Write clear function signatures and docstrings FIRST, then let AI complete the implementation.</a:t>
            </a:r>
          </a:p>
          <a:p/>
          <a:p>
            <a:r>
              <a:t>2. EXPLAIN &amp; DOCUMENT CODE: Select a block of code and ask "explain this." The AI provides a plain-English explanation. Extremely valuable for onboarding to unfamiliar codebases, understanding legacy code, and generating documentation.</a:t>
            </a:r>
          </a:p>
          <a:p/>
          <a:p>
            <a:r>
              <a:t>3. REFACTORING SUGGESTIONS: AI can suggest renaming variables for clarity, extracting methods, converting imperative code to functional style. This goes beyond simple IDE refactoring because AI understands INTENT, not just syntax.</a:t>
            </a:r>
          </a:p>
          <a:p/>
          <a:p>
            <a:r>
              <a:t>4. TEST GENERATION: One of the highest-ROI features. Point AI at a method and ask it to generate unit tests. LIMITATION: AI-generated tests may have incorrect assertions if the AI misunderstands the business logic. Always review test assertions.</a:t>
            </a:r>
          </a:p>
          <a:p/>
          <a:p>
            <a:r>
              <a:t>5. CHAT-IN-EDITOR: Cursor's Composer and Copilot Chat let you describe what you want in natural language and get multi-file edits.</a:t>
            </a:r>
          </a:p>
          <a:p/>
          <a:p>
            <a:r>
              <a:t>RIGHT SIDE - TOOL COMPARISON:</a:t>
            </a:r>
          </a:p>
          <a:p>
            <a:r>
              <a:t>GITHUB COPILOT: Most mature and widely adopted. Enterprise tier offers organization-level policy controls, code reference tracking, and IP indemnity.</a:t>
            </a:r>
          </a:p>
          <a:p>
            <a:r>
              <a:t>CURSOR: Built specifically for AI-first development. Killer features: codebase indexing, Composer mode, better at complex multi-step tasks.</a:t>
            </a:r>
          </a:p>
          <a:p>
            <a:r>
              <a:t>DEVIN / AI AGENTS: Next evolution - autonomous AI agents that can plan, implement, test, and debug entire features. Still requires significant review.</a:t>
            </a:r>
          </a:p>
          <a:p/>
          <a:p>
            <a:r>
              <a:t>PRACTICAL GUIDANCE for faculty:</a:t>
            </a:r>
          </a:p>
          <a:p>
            <a:r>
              <a:t>- Start students with Copilot (most accessible, free for students)</a:t>
            </a:r>
          </a:p>
          <a:p>
            <a:r>
              <a:t>- Introduce Cursor for project work requiring multi-file changes</a:t>
            </a:r>
          </a:p>
          <a:p>
            <a:r>
              <a:t>- Discuss Devin/agents as the future direction</a:t>
            </a:r>
          </a:p>
          <a:p>
            <a:r>
              <a:t>- Emphasize that ALL tools require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9: LLM Capabilities &amp; Limitations</a:t>
            </a:r>
          </a:p>
          <a:p>
            <a:r>
              <a:t>----------------------------------------------------------</a:t>
            </a:r>
          </a:p>
          <a:p>
            <a:r>
              <a:t>This is a critical reality-check slide. Faculty need to understand both what AI can and cannot do so they can set appropriate expectations for students.</a:t>
            </a:r>
          </a:p>
          <a:p/>
          <a:p>
            <a:r>
              <a:t>LEFT SIDE - WHAT AI DOES WELL:</a:t>
            </a:r>
          </a:p>
          <a:p>
            <a:r>
              <a:t>1. CODE PATTERN GENERATION: AI excels at generating standard patterns - design patterns (factory, singleton, observer), framework boilerplate (Spring Boot controllers, React components), and common algorithms.</a:t>
            </a:r>
          </a:p>
          <a:p>
            <a:r>
              <a:t>2. TEST SCAFFOLDING: Given a method signature and description, AI can generate comprehensive test structures: happy path, error cases, boundary conditions.</a:t>
            </a:r>
          </a:p>
          <a:p>
            <a:r>
              <a:t>3. DOCUMENTATION: AI can generate JavaDoc/JSDoc/docstrings, README files, API documentation, and inline comments.</a:t>
            </a:r>
          </a:p>
          <a:p>
            <a:r>
              <a:t>4. EXPLAINING CODE: Paste complex code and ask "explain this." AI will break it down step-by-step. Extremely valuable for teaching.</a:t>
            </a:r>
          </a:p>
          <a:p>
            <a:r>
              <a:t>5. REFACTORING: AI can suggest how to simplify complex methods, extract common logic, apply SOLID principles.</a:t>
            </a:r>
          </a:p>
          <a:p>
            <a:r>
              <a:t>6. LANGUAGE TRANSLATION: Convert Python to Java, SQL to ORM queries, REST to GraphQL.</a:t>
            </a:r>
          </a:p>
          <a:p/>
          <a:p>
            <a:r>
              <a:t>RIGHT SIDE - WHAT AI STRUGGLES WITH:</a:t>
            </a:r>
          </a:p>
          <a:p>
            <a:r>
              <a:t>1. NOVEL ALGORITHMS: If the problem requires a truly novel algorithm not well-represented in training data, AI will either fail or generate something plausible but wrong.</a:t>
            </a:r>
          </a:p>
          <a:p>
            <a:r>
              <a:t>2. COMPLEX BUSINESS LOGIC: AI may miss domain-specific rules. Domain expertise is still human territory.</a:t>
            </a:r>
          </a:p>
          <a:p>
            <a:r>
              <a:t>3. SECURITY: AI may generate code with SQL injection vulnerabilities, improper authentication, or insecure defaults.</a:t>
            </a:r>
          </a:p>
          <a:p>
            <a:r>
              <a:t>4. LARGE CODEBASE: Current context windows cannot hold an entire enterprise codebase. AI may generate code that conflicts with existing patterns.</a:t>
            </a:r>
          </a:p>
          <a:p>
            <a:r>
              <a:t>5. TRAINING CUTOFF: APIs change. Libraries release new versions. AI may suggest deprecated methods or non-existent API endpoints.</a:t>
            </a:r>
          </a:p>
          <a:p/>
          <a:p>
            <a:r>
              <a:t>BOTTOM BOX - CRITICAL CONSIDERATIONS:</a:t>
            </a:r>
          </a:p>
          <a:p>
            <a:r>
              <a:t>- Context windows are real constraints</a:t>
            </a:r>
          </a:p>
          <a:p>
            <a:r>
              <a:t>- Hallucinations are common and dangerous</a:t>
            </a:r>
          </a:p>
          <a:p>
            <a:r>
              <a:t>- Every AI output requires human verification - treat AI output like code from a junior developer</a:t>
            </a:r>
          </a:p>
          <a:p>
            <a:r>
              <a:t>- Prompt quality directly affects output quality</a:t>
            </a:r>
          </a:p>
          <a:p/>
          <a:p>
            <a:r>
              <a:t>Discussion prompt: "Has anyone experienced an AI hallucination in their work? What happened?" This generates great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10: Prompt Engineering for Software Engineering</a:t>
            </a:r>
          </a:p>
          <a:p>
            <a:r>
              <a:t>-----------------------------------------------------------------------</a:t>
            </a:r>
          </a:p>
          <a:p>
            <a:r>
              <a:t>This slide bridges general prompt engineering and SOFTWARE-SPECIFIC prompt engineering. The key insight: prompting for code is fundamentally different from prompting for essays or summaries.</a:t>
            </a:r>
          </a:p>
          <a:p/>
          <a:p>
            <a:r>
              <a:t>THE STRUCTURED PROMPT TEMPLATE:</a:t>
            </a:r>
          </a:p>
          <a:p>
            <a:r>
              <a:t>Walk through each section:</a:t>
            </a:r>
          </a:p>
          <a:p/>
          <a:p>
            <a:r>
              <a:t>1. ROLE: Setting a role dramatically improves output quality. "You are a senior backend engineer" produces different (better) code than "Write some code." The role establishes expertise level, domain context, and quality expectations.</a:t>
            </a:r>
          </a:p>
          <a:p>
            <a:r>
              <a:t>   Bad: "You are an AI assistant" (too generic)</a:t>
            </a:r>
          </a:p>
          <a:p>
            <a:r>
              <a:t>   Good: "You are a senior Java developer with 10 years of Spring Boot experience, specializing in microservices architecture"</a:t>
            </a:r>
          </a:p>
          <a:p/>
          <a:p>
            <a:r>
              <a:t>2. CONTEXT: Provide project-specific information: Tech stack and versions (Java 17, not just "Java"), architecture decisions already made, existing code patterns, database choice.</a:t>
            </a:r>
          </a:p>
          <a:p>
            <a:r>
              <a:t>   WHY IT MATTERS: Without context, AI will use its most common training patterns, which may not match your project.</a:t>
            </a:r>
          </a:p>
          <a:p/>
          <a:p>
            <a:r>
              <a:t>3. TASK: Be specific and bounded. Compare:</a:t>
            </a:r>
          </a:p>
          <a:p>
            <a:r>
              <a:t>   Bad: "Write a service class"</a:t>
            </a:r>
          </a:p>
          <a:p>
            <a:r>
              <a:t>   Good: "Create the TaskService class that implements CRUD operations for Task entities with validation and error handling"</a:t>
            </a:r>
          </a:p>
          <a:p/>
          <a:p>
            <a:r>
              <a:t>4. CONSTRAINTS: Non-negotiable engineering requirements: coding standards, dependency injection approach, error handling strategy, security requirements.</a:t>
            </a:r>
          </a:p>
          <a:p/>
          <a:p>
            <a:r>
              <a:t>5. OUTPUT FORMAT: Tell AI exactly what you want back: "Complete class with imports" vs "just the method body", "Include unit tests" vs "code only."</a:t>
            </a:r>
          </a:p>
          <a:p/>
          <a:p>
            <a:r>
              <a:t>ADVANCED TECHNIQUES:</a:t>
            </a:r>
          </a:p>
          <a:p>
            <a:r>
              <a:t>- CHAIN PROMPTING: Break complex tasks into steps. First: "Design the API contract." Second: "Given this API contract, generate the controller."</a:t>
            </a:r>
          </a:p>
          <a:p>
            <a:r>
              <a:t>- FEW-SHOT EXAMPLES: "Here is an example of our service pattern: [example]. Now generate TaskService following the same pattern."</a:t>
            </a:r>
          </a:p>
          <a:p>
            <a:r>
              <a:t>- ITERATIVE REFINEMENT: Start broad, then narrow. "Generate the service" -&gt; "Add error handling" -&gt; "Add logging" -&gt; "Add caching."</a:t>
            </a:r>
          </a:p>
          <a:p/>
          <a:p>
            <a:r>
              <a:t>DEMO IDEA: Show the same task prompted two ways - vaguely and with the structured template - and compare the output quality.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11: Spec-Driven Development: Core Methodology</a:t>
            </a:r>
          </a:p>
          <a:p>
            <a:r>
              <a:t>----------------------------------------------------------------------</a:t>
            </a:r>
          </a:p>
          <a:p>
            <a:r>
              <a:t>This is one of the most important slides in the entire workshop. Spec-driven development is the METHODOLOGY that makes AI-native development reliable and repeatable.</a:t>
            </a:r>
          </a:p>
          <a:p/>
          <a:p>
            <a:r>
              <a:t>THE FLOW DIAGRAM:</a:t>
            </a:r>
          </a:p>
          <a:p>
            <a:r>
              <a:t>Walk through each step and explain why the ORDER matters:</a:t>
            </a:r>
          </a:p>
          <a:p/>
          <a:p>
            <a:r>
              <a:t>1. REQUIREMENTS: Start with structured requirements. Not "build a todo app" but specific functional and non-functional requirements with acceptance criteria.</a:t>
            </a:r>
          </a:p>
          <a:p/>
          <a:p>
            <a:r>
              <a:t>2. DOMAIN MODEL: Define the core entities, their attributes, relationships, and business rules. For a Task Management system: Task (id, title, description, status, priority, assignee, due_date). Status transitions: OPEN -&gt; IN_PROGRESS -&gt; DONE.</a:t>
            </a:r>
          </a:p>
          <a:p/>
          <a:p>
            <a:r>
              <a:t>3. API CONTRACT: Define endpoints, HTTP methods, request/response formats, status codes, and error responses. Use OpenAPI/Swagger format.</a:t>
            </a:r>
          </a:p>
          <a:p/>
          <a:p>
            <a:r>
              <a:t>4. ACCEPTANCE TESTS: Write test scenarios BEFORE code. "Given a user with create permission, when they POST a valid task, then the response is 201 and the task appears in GET /tasks."</a:t>
            </a:r>
          </a:p>
          <a:p/>
          <a:p>
            <a:r>
              <a:t>5. CODE GENERATION: NOW - and only now - feed the spec to AI and generate implementation. Output quality is dramatically better with a clear spec.</a:t>
            </a:r>
          </a:p>
          <a:p/>
          <a:p>
            <a:r>
              <a:t>6. REVIEW &amp; REFINE: Review generated code against the spec. Does it implement all requirements? Do all acceptance tests pass?</a:t>
            </a:r>
          </a:p>
          <a:p/>
          <a:p>
            <a:r>
              <a:t>KEY PRINCIPLES:</a:t>
            </a:r>
          </a:p>
          <a:p>
            <a:r>
              <a:t>"NEVER START WITH CODE GENERATION" - This is the number one mistake. Demo: Show what happens when you just say "build a task API" to an LLM vs when you provide a structured spec. The difference in output quality is dramatic.</a:t>
            </a:r>
          </a:p>
          <a:p/>
          <a:p>
            <a:r>
              <a:t>RIGHT SIDE COMPARISON:</a:t>
            </a:r>
          </a:p>
          <a:p>
            <a:r>
              <a:t>The Code-First anti-pattern produces: unclear scope, inconsistent logic, missing edge cases, and expensive rework.</a:t>
            </a:r>
          </a:p>
          <a:p>
            <a:r>
              <a:t>The Spec-First approach produces: clear scope, verified logic, predictable output, and reviewable artifacts at every stage.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12: Software Design Document (SDD) Structure</a:t>
            </a:r>
          </a:p>
          <a:p>
            <a:r>
              <a:t>----------------------------------------------------------------------</a:t>
            </a:r>
          </a:p>
          <a:p>
            <a:r>
              <a:t>This slide provides the concrete template that participants will use in the practical exercise.</a:t>
            </a:r>
          </a:p>
          <a:p/>
          <a:p>
            <a:r>
              <a:t>SECTION 1 - OVERVIEW: Purpose, scope, definitions, stakeholders. Provides context that shapes all AI-generated output.</a:t>
            </a:r>
          </a:p>
          <a:p/>
          <a:p>
            <a:r>
              <a:t>SECTION 2 - FUNCTIONAL REQUIREMENTS: Features listed with acceptance criteria, user stories, actors and permissions, business rules and validation constraints. These directly map to controller endpoints, service methods, and test cases.</a:t>
            </a:r>
          </a:p>
          <a:p/>
          <a:p>
            <a:r>
              <a:t>SECTION 3 - NON-FUNCTIONAL REQUIREMENTS: Performance targets ("API response time &lt; 200ms at P95"), security policies, scalability targets, availability SLAs. These shape architectural decisions.</a:t>
            </a:r>
          </a:p>
          <a:p/>
          <a:p>
            <a:r>
              <a:t>SECTION 4 - ARCHITECTURE &amp; DESIGN: High-level system architecture, technology choices with rationale, design patterns, Architecture Decision Records (ADRs).</a:t>
            </a:r>
          </a:p>
          <a:p/>
          <a:p>
            <a:r>
              <a:t>SECTION 5 - API CONTRACTS: REST endpoints with HTTP methods, paths, descriptions. Request/response schemas with validation rules. Error response formats. Auth requirements per endpoint.</a:t>
            </a:r>
          </a:p>
          <a:p/>
          <a:p>
            <a:r>
              <a:t>SECTION 6 - DATA MODEL: Entity definitions with attributes and data types. Relationships, constraints, foreign keys. Database migration strategy.</a:t>
            </a:r>
          </a:p>
          <a:p/>
          <a:p>
            <a:r>
              <a:t>SECTION 7 - TEST STRATEGY: Unit test scope and coverage targets. Integration test approach. E2E test scenarios. Acceptance criteria mapped to test cases.</a:t>
            </a:r>
          </a:p>
          <a:p/>
          <a:p>
            <a:r>
              <a:t>SECTION 8 - DEPLOYMENT &amp; CI/CD: Pipeline stages, environment definitions, rollback strategy, monitoring configuration.</a:t>
            </a:r>
          </a:p>
          <a:p/>
          <a:p>
            <a:r>
              <a:t>IMPORTANT: Emphasize that students should fill in EVERY section before generating code. Incomplete SDDs produce incomplete code.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13: Example Task Management API Specification</a:t>
            </a:r>
          </a:p>
          <a:p>
            <a:r>
              <a:t>----------------------------------------------------------------------</a:t>
            </a:r>
          </a:p>
          <a:p>
            <a:r>
              <a:t>This slide is the bridge to the practical exercise. It shows a CONCRETE, REALISTIC specification.</a:t>
            </a:r>
          </a:p>
          <a:p/>
          <a:p>
            <a:r>
              <a:t>LEFT SIDE - THE SPECIFICATION:</a:t>
            </a:r>
          </a:p>
          <a:p>
            <a:r>
              <a:t>Walk through each element:</a:t>
            </a:r>
          </a:p>
          <a:p/>
          <a:p>
            <a:r>
              <a:t>FEATURE DESCRIPTION: "Create and manage tasks with priority and status tracking." One-sentence summary.</a:t>
            </a:r>
          </a:p>
          <a:p/>
          <a:p>
            <a:r>
              <a:t>ACTORS: Two roles with different permissions:</a:t>
            </a:r>
          </a:p>
          <a:p>
            <a:r>
              <a:t>- Admin: Full CRUD plus administrative actions</a:t>
            </a:r>
          </a:p>
          <a:p>
            <a:r>
              <a:t>- User: Can create tasks, view all tasks, update own tasks</a:t>
            </a:r>
          </a:p>
          <a:p>
            <a:r>
              <a:t>NOTE: Ask the audience - "Should users see ALL tasks or only their own? This is exactly the kind of ambiguity that specs should resolve BEFORE coding."</a:t>
            </a:r>
          </a:p>
          <a:p/>
          <a:p>
            <a:r>
              <a:t>FUNCTIONAL RULES (FR-1 through FR-6):</a:t>
            </a:r>
          </a:p>
          <a:p>
            <a:r>
              <a:t>- FR-1 (Title validation): 3-100 characters. These numbers are design decisions that should be in the spec.</a:t>
            </a:r>
          </a:p>
          <a:p>
            <a:r>
              <a:t>- FR-2 (Priority enum): Exactly four values. This generates an enum class and validation logic.</a:t>
            </a:r>
          </a:p>
          <a:p>
            <a:r>
              <a:t>- FR-3 (Status transitions): OPEN -&gt; IN_PROGRESS -&gt; DONE. Ask: "Can a task go from DONE back to IN_PROGRESS?"</a:t>
            </a:r>
          </a:p>
          <a:p>
            <a:r>
              <a:t>- FR-4 (Delete permission): Only Admin can delete. Generates authorization checks.</a:t>
            </a:r>
          </a:p>
          <a:p>
            <a:r>
              <a:t>- FR-5 (Due date validation): Must be in the future. Generates validation logic.</a:t>
            </a:r>
          </a:p>
          <a:p>
            <a:r>
              <a:t>- FR-6 (Assignee validation): Must be a valid user. Creates foreign key relationship.</a:t>
            </a:r>
          </a:p>
          <a:p/>
          <a:p>
            <a:r>
              <a:t>ACCEPTANCE CRITERIA (BDD Format):</a:t>
            </a:r>
          </a:p>
          <a:p>
            <a:r>
              <a:t>Behavior-Driven Development format: Given/When/Then. Maps directly to test methods.</a:t>
            </a:r>
          </a:p>
          <a:p/>
          <a:p>
            <a:r>
              <a:t>RIGHT SIDE - HOW THE SPEC DRIVES DEVELOPMENT:</a:t>
            </a:r>
          </a:p>
          <a:p>
            <a:r>
              <a:t>1. DOMAIN MODEL: Spec defines Task entity attributes and enums</a:t>
            </a:r>
          </a:p>
          <a:p>
            <a:r>
              <a:t>2. API CONTRACT: From actors and rules, we derive endpoints</a:t>
            </a:r>
          </a:p>
          <a:p>
            <a:r>
              <a:t>3. GENERATED TESTS: From acceptance criteria, AI generates test methods</a:t>
            </a:r>
          </a:p>
          <a:p>
            <a:r>
              <a:t>4. CODE GENERATION: With all above defined, AI generates the full stack</a:t>
            </a:r>
          </a:p>
          <a:p/>
          <a:p>
            <a:r>
              <a:t>TRANSITION: "In our practical exercise, you will take this specification, expand it, and use it to generate a working API."</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14: Architecture Design with AI Assistance</a:t>
            </a:r>
          </a:p>
          <a:p>
            <a:r>
              <a:t>-------------------------------------------------------------------</a:t>
            </a:r>
          </a:p>
          <a:p>
            <a:r>
              <a:t>This slide introduces how AI transforms the architecture decision process.</a:t>
            </a:r>
          </a:p>
          <a:p/>
          <a:p>
            <a:r>
              <a:t>1. HOW AI PROPOSES ARCHITECTURE:</a:t>
            </a:r>
          </a:p>
          <a:p>
            <a:r>
              <a:t>   - Feed your requirements specification into the AI (functional reqs, NFRs, constraints)</a:t>
            </a:r>
          </a:p>
          <a:p>
            <a:r>
              <a:t>   - Ask it to propose 2-3 architecture options with trade-offs</a:t>
            </a:r>
          </a:p>
          <a:p>
            <a:r>
              <a:t>   - AI considers factors like team size, deployment target, scale requirements, budget</a:t>
            </a:r>
          </a:p>
          <a:p>
            <a:r>
              <a:t>   - Example prompt: "Given these requirements for a Task Management API serving 1000 users, propose three architecture options with trade-offs"</a:t>
            </a:r>
          </a:p>
          <a:p/>
          <a:p>
            <a:r>
              <a:t>2. THE DECISION MATRIX:</a:t>
            </a:r>
          </a:p>
          <a:p>
            <a:r>
              <a:t>   - Walk through each row comparing Monolith, Microservices, and Serverless</a:t>
            </a:r>
          </a:p>
          <a:p>
            <a:r>
              <a:t>   - Complexity: Monoliths are simpler to build and deploy initially</a:t>
            </a:r>
          </a:p>
          <a:p>
            <a:r>
              <a:t>   - Scalability: Microservices scale independently; serverless auto-scales</a:t>
            </a:r>
          </a:p>
          <a:p>
            <a:r>
              <a:t>   - Team Size: Microservices need larger teams due to operational overhead</a:t>
            </a:r>
          </a:p>
          <a:p/>
          <a:p>
            <a:r>
              <a:t>3. WHEN TO OVERRIDE AI SUGGESTIONS:</a:t>
            </a:r>
          </a:p>
          <a:p>
            <a:r>
              <a:t>   - AI may recommend microservices because it is trained on large-scale examples</a:t>
            </a:r>
          </a:p>
          <a:p>
            <a:r>
              <a:t>   - For a teaching context or small team, a monolith is almost always the right starting point</a:t>
            </a:r>
          </a:p>
          <a:p/>
          <a:p>
            <a:r>
              <a:t>4. ARCHITECTURE DECISION RECORDS (ADRs):</a:t>
            </a:r>
          </a:p>
          <a:p>
            <a:r>
              <a:t>   - ADRs document the WHY behind architecture decisions</a:t>
            </a:r>
          </a:p>
          <a:p>
            <a:r>
              <a:t>   - Template: Title, Status, Context, Decision, Consequences</a:t>
            </a:r>
          </a:p>
          <a:p>
            <a:r>
              <a:t>   - AI can generate ADRs from a conversation about trade-offs</a:t>
            </a:r>
          </a:p>
          <a:p/>
          <a:p>
            <a:r>
              <a:t>5. OUR RECOMMENDATION:</a:t>
            </a:r>
          </a:p>
          <a:p>
            <a:r>
              <a:t>   - For the Task Management API, we choose a Modular Monolith</a:t>
            </a:r>
          </a:p>
          <a:p>
            <a:r>
              <a:t>   - Simple to start, clear module boundaries, can be split later</a:t>
            </a:r>
          </a:p>
          <a:p/>
          <a:p>
            <a:r>
              <a:t>DISCUSSION: Ask faculty what architecture they would choose for a student project.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15: System Architecture Block Diagram</a:t>
            </a:r>
          </a:p>
          <a:p>
            <a:r>
              <a:t>--------------------------------------------------------------</a:t>
            </a:r>
          </a:p>
          <a:p>
            <a:r>
              <a:t>This slide presents the layered architecture for our Task Management API. Walk through each layer:</a:t>
            </a:r>
          </a:p>
          <a:p/>
          <a:p>
            <a:r>
              <a:t>1. PRESENTATION LAYER (Client): The consumer of our API -- could be web frontend, mobile app, or other services.</a:t>
            </a:r>
          </a:p>
          <a:p/>
          <a:p>
            <a:r>
              <a:t>2. GATEWAY LAYER (API Gateway / Auth): All requests pass through authentication middleware first. JWT token validation happens here. Rate limiting, logging, CORS handled at this layer.</a:t>
            </a:r>
          </a:p>
          <a:p/>
          <a:p>
            <a:r>
              <a:t>3. BUSINESS LOGIC LAYER (Services): Task Service handles CRUD operations. User Service handles auth, profiles, roles. Separate modules within our modular monolith.</a:t>
            </a:r>
          </a:p>
          <a:p/>
          <a:p>
            <a:r>
              <a:t>4. DATA LAYER: PostgreSQL for primary storage with ACID transactions. Redis for caching frequently read data.</a:t>
            </a:r>
          </a:p>
          <a:p/>
          <a:p>
            <a:r>
              <a:t>5. DESIGN RATIONALE (right cards): Walk through each rationale card and explain WHY this architecture was chosen.</a:t>
            </a:r>
          </a:p>
          <a:p/>
          <a:p>
            <a:r>
              <a:t>HOW AI HELPED: Prompted AI with functional requirements and NFRs. AI proposed this layered architecture with rationale. We validated against constraints (small team, moderate scale).</a:t>
            </a:r>
          </a:p>
          <a:p/>
          <a:p>
            <a:r>
              <a:t>DISCUSSION: Ask participants which layer they think is most important to get right. Answer: the interfaces between layers.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16: UML Class Diagram - Domain Model</a:t>
            </a:r>
          </a:p>
          <a:p>
            <a:r>
              <a:t>-------------------------------------------------------------</a:t>
            </a:r>
          </a:p>
          <a:p>
            <a:r>
              <a:t>Walk through each entity:</a:t>
            </a:r>
          </a:p>
          <a:p/>
          <a:p>
            <a:r>
              <a:t>1. TASK ENTITY: Central entity. UUID primary key. title/description for content. status and priority as enums with validated transitions. assigneeId and categoryId as foreign keys. Audit timestamps.</a:t>
            </a:r>
          </a:p>
          <a:p/>
          <a:p>
            <a:r>
              <a:t>2. USER ENTITY: email has UNIQUE constraint. role is ENUM (ADMIN, MEMBER, VIEWER). Password hash NOT in this table for security.</a:t>
            </a:r>
          </a:p>
          <a:p/>
          <a:p>
            <a:r>
              <a:t>3. CATEGORY ENTITY: Simple grouping mechanism for tasks. Separate table because categories are reusable entities.</a:t>
            </a:r>
          </a:p>
          <a:p/>
          <a:p>
            <a:r>
              <a:t>4. COMMENT ENTITY: Links tasks and users for collaboration. Both task_id and user_id are foreign keys.</a:t>
            </a:r>
          </a:p>
          <a:p/>
          <a:p>
            <a:r>
              <a:t>5. RELATIONSHIPS: Task to User is many-to-one. Task to Category is many-to-one. Task to Comment is one-to-many.</a:t>
            </a:r>
          </a:p>
          <a:p/>
          <a:p>
            <a:r>
              <a:t>HOW AI GENERATES CLASS DIAGRAMS:</a:t>
            </a:r>
          </a:p>
          <a:p>
            <a:r>
              <a:t>   - Provide natural language description of your domain</a:t>
            </a:r>
          </a:p>
          <a:p>
            <a:r>
              <a:t>   - AI proposes entities, attributes, and relationships</a:t>
            </a:r>
          </a:p>
          <a:p>
            <a:r>
              <a:t>   - Human reviews for correctness, validates cardinality</a:t>
            </a:r>
          </a:p>
          <a:p>
            <a:r>
              <a:t>   - AI can output PlantUML, Mermaid, or direct code</a:t>
            </a:r>
          </a:p>
          <a:p/>
          <a:p>
            <a:r>
              <a:t>DISCUSSION: Ask participants to identify a missing entity. Example: task attachments? task history/audit log?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17: UML Sequence Diagram - Create Task Flow</a:t>
            </a:r>
          </a:p>
          <a:p>
            <a:r>
              <a:t>--------------------------------------------------------------------</a:t>
            </a:r>
          </a:p>
          <a:p>
            <a:r>
              <a:t>Walk through each message in order:</a:t>
            </a:r>
          </a:p>
          <a:p/>
          <a:p>
            <a:r>
              <a:t>1. POST /api/tasks (Client -&gt; API Gateway): HTTP POST with task data. Authorization: Bearer JWT in header.</a:t>
            </a:r>
          </a:p>
          <a:p/>
          <a:p>
            <a:r>
              <a:t>2. validateToken() (API Gateway self-call): Validates JWT token. Checks token not expired, signature valid, user has CREATE permission. If fails: 401 Unauthorized.</a:t>
            </a:r>
          </a:p>
          <a:p/>
          <a:p>
            <a:r>
              <a:t>3. createTask(dto) (API Gateway -&gt; Task Service): Forwards validated request using DTO. Strips fields user should not set (id, createdAt).</a:t>
            </a:r>
          </a:p>
          <a:p/>
          <a:p>
            <a:r>
              <a:t>4. validate &amp; INSERT (Task Service -&gt; Database): Validates business rules: title required, valid status, assignee exists. Executes INSERT. Database enforces FK constraints.</a:t>
            </a:r>
          </a:p>
          <a:p/>
          <a:p>
            <a:r>
              <a:t>5. return taskId (Database -&gt; Task Service): Returns generated UUID for new task.</a:t>
            </a:r>
          </a:p>
          <a:p/>
          <a:p>
            <a:r>
              <a:t>6. 201 Created (Task Service -&gt; Client): Response includes created task with ID. HTTP 201 indicates new resource created.</a:t>
            </a:r>
          </a:p>
          <a:p/>
          <a:p>
            <a:r>
              <a:t>WHY SEQUENCE DIAGRAMS MATTER:</a:t>
            </a:r>
          </a:p>
          <a:p>
            <a:r>
              <a:t>   - Reveal runtime behavior that class diagrams cannot show</a:t>
            </a:r>
          </a:p>
          <a:p>
            <a:r>
              <a:t>   - Help identify performance bottlenecks</a:t>
            </a:r>
          </a:p>
          <a:p>
            <a:r>
              <a:t>   - Expose error handling gaps</a:t>
            </a:r>
          </a:p>
          <a:p/>
          <a:p>
            <a:r>
              <a:t>EXERCISE PREVIEW: Participants will ask AI to generate a sequence diagram for "Update Task Status" flow.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18: API Contract-First Design</a:t>
            </a:r>
          </a:p>
          <a:p>
            <a:r>
              <a:t>------------------------------------------------------</a:t>
            </a:r>
          </a:p>
          <a:p>
            <a:r>
              <a:t>Contract-first API design using OpenAPI is a cornerstone of AI-native development.</a:t>
            </a:r>
          </a:p>
          <a:p/>
          <a:p>
            <a:r>
              <a:t>1. WHAT IS CONTRACT-FIRST? Define the API contract FIRST, then generate code. The OpenAPI spec describes every endpoint, schema, status code.</a:t>
            </a:r>
          </a:p>
          <a:p/>
          <a:p>
            <a:r>
              <a:t>2. WALK THROUGH THE OPENAPI SNIPPET: paths, HTTP method, requestBody, responses, $ref for reusable schemas.</a:t>
            </a:r>
          </a:p>
          <a:p/>
          <a:p>
            <a:r>
              <a:t>3. BENEFITS: Parallel development (frontend mocks from spec), auto-generated docs, contract tests, breaking change detection, client SDK generation.</a:t>
            </a:r>
          </a:p>
          <a:p/>
          <a:p>
            <a:r>
              <a:t>4. WORKFLOW (bottom flow): Write spec -&gt; Review -&gt; Generate stubs -&gt; Implement logic -&gt; Contract tests.</a:t>
            </a:r>
          </a:p>
          <a:p/>
          <a:p>
            <a:r>
              <a:t>5. HOW AI HELPS: AI generates entire OpenAPI spec from requirements. AI validates spec for consistency. AI generates mock data from schemas. Always review: AI may generate overly permissive schemas.</a:t>
            </a:r>
          </a:p>
          <a:p/>
          <a:p>
            <a:r>
              <a:t>TOOLS: Swagger Editor, Stoplight Studio, Spectral (linting), Prism (mock server).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19: Data Model Design</a:t>
            </a:r>
          </a:p>
          <a:p>
            <a:r>
              <a:t>----------------------------------------------</a:t>
            </a:r>
          </a:p>
          <a:p>
            <a:r>
              <a:t>Walk through each table and design decisions:</a:t>
            </a:r>
          </a:p>
          <a:p/>
          <a:p>
            <a:r>
              <a:t>1. TASKS TABLE: UUID primary key (globally unique, better for distributed systems). Status/priority as ENUMs enforced at DB level. FK to users and categories.</a:t>
            </a:r>
          </a:p>
          <a:p/>
          <a:p>
            <a:r>
              <a:t>2. USERS TABLE: Email UNIQUE constraint. Password hash NOT in this table (separate auth table for security).</a:t>
            </a:r>
          </a:p>
          <a:p/>
          <a:p>
            <a:r>
              <a:t>3. CATEGORIES TABLE: Simple lookup table. Separate table because categories are reusable entities.</a:t>
            </a:r>
          </a:p>
          <a:p/>
          <a:p>
            <a:r>
              <a:t>4. COMMENTS TABLE: Links tasks and users. Both FKs ensure referential integrity.</a:t>
            </a:r>
          </a:p>
          <a:p/>
          <a:p>
            <a:r>
              <a:t>KEY DESIGN PRINCIPLES:</a:t>
            </a:r>
          </a:p>
          <a:p>
            <a:r>
              <a:t>- NORMALIZATION: 3NF to reduce redundancy</a:t>
            </a:r>
          </a:p>
          <a:p>
            <a:r>
              <a:t>- CONSTRAINTS: Let the database enforce business rules</a:t>
            </a:r>
          </a:p>
          <a:p>
            <a:r>
              <a:t>- INDEXING: FK columns and common query columns</a:t>
            </a:r>
          </a:p>
          <a:p>
            <a:r>
              <a:t>- AUDIT FIELDS: created_at, updated_at on every table</a:t>
            </a:r>
          </a:p>
          <a:p>
            <a:r>
              <a:t>- SOFT DELETES: deleted_at instead of permanent removal</a:t>
            </a:r>
          </a:p>
          <a:p/>
          <a:p>
            <a:r>
              <a:t>HOW AI HELPS: Generates CREATE TABLE statements, suggests indexes, generates migration scripts. Always review: AI may miss unique constraints or incorrect FK directions.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20: AI Code Generation Workflow</a:t>
            </a:r>
          </a:p>
          <a:p>
            <a:r>
              <a:t>--------------------------------------------------------</a:t>
            </a:r>
          </a:p>
          <a:p>
            <a:r>
              <a:t>Disciplined workflow for generating code with AI. This is where many teams go wrong.</a:t>
            </a:r>
          </a:p>
          <a:p/>
          <a:p>
            <a:r>
              <a:t>1. WORKFLOW: Approved Spec -&gt; Prompt Construction -&gt; AI Generation -&gt; Human Review -&gt; Refactor -&gt; Commit.</a:t>
            </a:r>
          </a:p>
          <a:p/>
          <a:p>
            <a:r>
              <a:t>2. BEST PRACTICES:</a:t>
            </a:r>
          </a:p>
          <a:p>
            <a:r>
              <a:t>   - ONE COMPONENT AT A TIME: Generate controller, then service, then repository, reviewing each.</a:t>
            </a:r>
          </a:p>
          <a:p>
            <a:r>
              <a:t>   - REVIEW BEFORE NEXT: If the service layer has a bug, generating the controller on top compounds the error.</a:t>
            </a:r>
          </a:p>
          <a:p>
            <a:r>
              <a:t>   - PROMPTS TIED TO SPECS: "Implement FR-3 from task-management.spec.yaml" is better than generic requests.</a:t>
            </a:r>
          </a:p>
          <a:p>
            <a:r>
              <a:t>   - COMMIT FREQUENTLY: Working increments create rollback points.</a:t>
            </a:r>
          </a:p>
          <a:p>
            <a:r>
              <a:t>   - NEVER SKIP REVIEW: AI makes subtle errors -- off-by-one, incorrect null handling, wrong status codes.</a:t>
            </a:r>
          </a:p>
          <a:p/>
          <a:p>
            <a:r>
              <a:t>3. SAMPLE PROMPT: Walk through each section -- Context, Spec file, Layer, Component, numbered requirements, tech stack, convention reference.</a:t>
            </a:r>
          </a:p>
          <a:p/>
          <a:p>
            <a:r>
              <a:t>4. ANTI-PATTERN: "Build me a task management API" produces a monolithic blob that is hard to review. Decompose into 10-15 focused generation prompts.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21: Code Review in AI-Native Development</a:t>
            </a:r>
          </a:p>
          <a:p>
            <a:r>
              <a:t>-----------------------------------------------------------------</a:t>
            </a:r>
          </a:p>
          <a:p>
            <a:r>
              <a:t>Code review becomes MORE important when code is AI-generated.</a:t>
            </a:r>
          </a:p>
          <a:p/>
          <a:p>
            <a:r>
              <a:t>LEFT COLUMN -- WHAT TO REVIEW:</a:t>
            </a:r>
          </a:p>
          <a:p>
            <a:r>
              <a:t>1. SPEC COMPLIANCE: Does generated code implement what the specification says? AI may add extra features or miss edge cases.</a:t>
            </a:r>
          </a:p>
          <a:p>
            <a:r>
              <a:t>2. BUSINESS RULES: Domain-specific rules correctly implemented? "Only ADMIN can delete" -- is this enforced?</a:t>
            </a:r>
          </a:p>
          <a:p>
            <a:r>
              <a:t>3. ERROR HANDLING: All error cases handled? AI tends to generate optimistic code.</a:t>
            </a:r>
          </a:p>
          <a:p>
            <a:r>
              <a:t>4. NAMING &amp; STYLE: Follows project naming conventions?</a:t>
            </a:r>
          </a:p>
          <a:p>
            <a:r>
              <a:t>5. SECURITY: Authentication enforced? Input validated? Sensitive data excluded from responses?</a:t>
            </a:r>
          </a:p>
          <a:p>
            <a:r>
              <a:t>6. TEST COVERAGE: Tests actually testing business logic, not just trivially asserting?</a:t>
            </a:r>
          </a:p>
          <a:p/>
          <a:p>
            <a:r>
              <a:t>RIGHT COLUMN -- REVIEW WORKFLOW: AI generates -&gt; Static analysis -&gt; AI-assisted review -&gt; Human review -&gt; Approve/Reject. The final decision is always human.</a:t>
            </a:r>
          </a:p>
          <a:p/>
          <a:p>
            <a:r>
              <a:t>KEY INSIGHT: Review the spec first. In AI-native development, 60% of review effort on specifications, 40% on code.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22: Refactoring AI-Generated Code</a:t>
            </a:r>
          </a:p>
          <a:p>
            <a:r>
              <a:t>-----------------------------------------------------------</a:t>
            </a:r>
          </a:p>
          <a:p>
            <a:r>
              <a:t>AI-generated code almost always needs refactoring.</a:t>
            </a:r>
          </a:p>
          <a:p/>
          <a:p>
            <a:r>
              <a:t>LEFT COLUMN -- COMMON ISSUES:</a:t>
            </a:r>
          </a:p>
          <a:p>
            <a:r>
              <a:t>1. DUPLICATION: Each prompt is independent so AI duplicates validation, error handling, utility functions.</a:t>
            </a:r>
          </a:p>
          <a:p>
            <a:r>
              <a:t>2. UNCLEAR NAMING: Generic variable names (data, result, response). Should be specific (task, userProfile).</a:t>
            </a:r>
          </a:p>
          <a:p>
            <a:r>
              <a:t>3. MISSING ERROR BOUNDARIES: AI generates happy path but skips error handling.</a:t>
            </a:r>
          </a:p>
          <a:p>
            <a:r>
              <a:t>4. OVER-ENGINEERING: AI sometimes applies unnecessary design patterns. Simplicity is a feature.</a:t>
            </a:r>
          </a:p>
          <a:p>
            <a:r>
              <a:t>5. HARDCODED VALUES: Database URLs, port numbers, API keys embedded directly in code.</a:t>
            </a:r>
          </a:p>
          <a:p/>
          <a:p>
            <a:r>
              <a:t>RIGHT COLUMN -- REFACTORING STRATEGIES:</a:t>
            </a:r>
          </a:p>
          <a:p>
            <a:r>
              <a:t>1. EXTRACT SERVICES: One service per domain entity.</a:t>
            </a:r>
          </a:p>
          <a:p>
            <a:r>
              <a:t>2. APPLY CONVENTIONS: Systematic renaming.</a:t>
            </a:r>
          </a:p>
          <a:p>
            <a:r>
              <a:t>3. ADD ERROR HANDLING: Try-catch around DB calls, proper HTTP status codes.</a:t>
            </a:r>
          </a:p>
          <a:p>
            <a:r>
              <a:t>4. SIMPLIFY: Remove unnecessary abstractions.</a:t>
            </a:r>
          </a:p>
          <a:p>
            <a:r>
              <a:t>5. USE CONFIGURATION: Environment variables for env-specific values.</a:t>
            </a:r>
          </a:p>
          <a:p/>
          <a:p>
            <a:r>
              <a:t>BOTTOM EXAMPLE: Walk through before/after. Before: flat handler with no layers. After: layered architecture with middleware.</a:t>
            </a:r>
          </a:p>
          <a:p/>
          <a:p>
            <a:r>
              <a:t>PRACTICAL TIP: Ask AI to review its own output: "Review this code for duplication, naming issues, missing error handling." AI is good at reviewing when specifically asked.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23: Testing Strategy in AI-Native Development</a:t>
            </a:r>
          </a:p>
          <a:p>
            <a:r>
              <a:t>----------------------------------------------------------------------</a:t>
            </a:r>
          </a:p>
          <a:p>
            <a:r>
              <a:t>THE TESTING PYRAMID:</a:t>
            </a:r>
          </a:p>
          <a:p>
            <a:r>
              <a:t>- Base (Unit Tests): Most numerous. Test business rules, service methods, utility functions. Run in milliseconds. AI generates these FROM acceptance criteria.</a:t>
            </a:r>
          </a:p>
          <a:p>
            <a:r>
              <a:t>- Middle (Integration Tests): Tests how components work together -- API endpoints, database queries. Slower but catch issues unit tests miss.</a:t>
            </a:r>
          </a:p>
          <a:p>
            <a:r>
              <a:t>- Top (E2E Tests): Tests complete user journeys. Expensive to write/maintain, only cover critical paths.</a:t>
            </a:r>
          </a:p>
          <a:p/>
          <a:p>
            <a:r>
              <a:t>WHY TESTING IS MORE IMPORTANT IN AI-NATIVE:</a:t>
            </a:r>
          </a:p>
          <a:p>
            <a:r>
              <a:t>1. AI-generated code is plausible but potentially incorrect. Tests catch subtle bugs.</a:t>
            </a:r>
          </a:p>
          <a:p>
            <a:r>
              <a:t>2. When specs change and code is regenerated, tests ensure no regressions.</a:t>
            </a:r>
          </a:p>
          <a:p>
            <a:r>
              <a:t>3. Tests are executable documentation of what the system should do.</a:t>
            </a:r>
          </a:p>
          <a:p/>
          <a:p>
            <a:r>
              <a:t>THE TEST-FIRST APPROACH:</a:t>
            </a:r>
          </a:p>
          <a:p>
            <a:r>
              <a:t>- Prompt AI to generate tests from acceptance criteria BEFORE generating implementation code.</a:t>
            </a:r>
          </a:p>
          <a:p>
            <a:r>
              <a:t>- This gives you a validation harness that every generated implementation must pass.</a:t>
            </a:r>
          </a:p>
          <a:p/>
          <a:p>
            <a:r>
              <a:t>FLOW AT BOTTOM: Acceptance Criteria -&gt; Tests -&gt; Code -&gt; Validation. This is the AI-native quality loop.</a:t>
            </a:r>
          </a:p>
          <a:p/>
          <a:p>
            <a:r>
              <a:t>Discussion: "How does this change the way you teach testing? If tests come first and code is generated, what skills do students need?"</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24: AI-Assisted Test Generation</a:t>
            </a:r>
          </a:p>
          <a:p>
            <a:r>
              <a:t>--------------------------------------------------------</a:t>
            </a:r>
          </a:p>
          <a:p>
            <a:r>
              <a:t>THE FLOW: Acceptance Criteria -&gt; AI Prompt -&gt; Generated Tests -&gt; Human Review -&gt; Test Suite.</a:t>
            </a:r>
          </a:p>
          <a:p/>
          <a:p>
            <a:r>
              <a:t>THE CODE EXAMPLE:</a:t>
            </a:r>
          </a:p>
          <a:p>
            <a:r>
              <a:t>- shouldCreateTaskSuccessfully(): Happy path. Creates valid request, verifies response has ID and status is OPEN.</a:t>
            </a:r>
          </a:p>
          <a:p>
            <a:r>
              <a:t>- shouldRejectDuplicateTask(): Negative test. Verifies DuplicateTaskException on duplicate title. AI often misses negative tests.</a:t>
            </a:r>
          </a:p>
          <a:p/>
          <a:p>
            <a:r>
              <a:t>BEST PRACTICES:</a:t>
            </a:r>
          </a:p>
          <a:p>
            <a:r>
              <a:t>1. PROMPT STRATEGY: Include acceptance criteria, mention edge cases explicitly, specify framework.</a:t>
            </a:r>
          </a:p>
          <a:p>
            <a:r>
              <a:t>2. REVIEW CHECKLIST: Verify assertions match spec, check boundaries, ensure negative tests exist.</a:t>
            </a:r>
          </a:p>
          <a:p>
            <a:r>
              <a:t>3. COVERAGE TARGETS: Line &gt; 80%, Branch &gt; 70%, Mutation score &gt; 60% (tests actually catch bugs).</a:t>
            </a:r>
          </a:p>
          <a:p/>
          <a:p>
            <a:r>
              <a:t>Ask: "What's the difference between a test that runs code and a test that validates behavior?" High coverage doesn't mean good tests.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25: Validation Matrix &amp; Quality Gates</a:t>
            </a:r>
          </a:p>
          <a:p>
            <a:r>
              <a:t>--------------------------------------------------------------</a:t>
            </a:r>
          </a:p>
          <a:p>
            <a:r>
              <a:t>VALIDATION MATRIX:</a:t>
            </a:r>
          </a:p>
          <a:p>
            <a:r>
              <a:t>1. Requirements Validation (Before Coding): Check that spec captures stakeholder needs. AI can help: "Review this spec for ambiguity and contradictions."</a:t>
            </a:r>
          </a:p>
          <a:p>
            <a:r>
              <a:t>2. Functional Validation (Every Commit): Unit + integration tests verify code works correctly. Automated in CI.</a:t>
            </a:r>
          </a:p>
          <a:p>
            <a:r>
              <a:t>3. Security Validation (Every Commit): SAST (SonarQube, Snyk Code) and DAST (OWASP ZAP). AI-generated code is particularly prone to security issues.</a:t>
            </a:r>
          </a:p>
          <a:p>
            <a:r>
              <a:t>4. Performance Validation (Before Release): Load testing with measurable targets. AI code often has N+1 queries and missing indexes.</a:t>
            </a:r>
          </a:p>
          <a:p>
            <a:r>
              <a:t>5. Operational Validation (After Deployment): Smoke tests, health checks in target environment.</a:t>
            </a:r>
          </a:p>
          <a:p/>
          <a:p>
            <a:r>
              <a:t>QUALITY GATES: Non-negotiable thresholds:</a:t>
            </a:r>
          </a:p>
          <a:p>
            <a:r>
              <a:t>- Code Coverage &gt; 80%: Most code paths tested</a:t>
            </a:r>
          </a:p>
          <a:p>
            <a:r>
              <a:t>- Critical Vulnerabilities = 0: No known critical security issues</a:t>
            </a:r>
          </a:p>
          <a:p>
            <a:r>
              <a:t>- P95 Response &lt; 200ms: Response time under 200ms</a:t>
            </a:r>
          </a:p>
          <a:p>
            <a:r>
              <a:t>- Mutation Score &gt; 60%: Tests actually catch injected bugs</a:t>
            </a:r>
          </a:p>
          <a:p>
            <a:r>
              <a:t>- Lint 0 Warnings: Clean code standards enforced</a:t>
            </a:r>
          </a:p>
          <a:p/>
          <a:p>
            <a:r>
              <a:t>KEY MESSAGE: All gates must pass. No manual overrides.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26: Security in AI-Generated Software</a:t>
            </a:r>
          </a:p>
          <a:p>
            <a:r>
              <a:t>--------------------------------------------------------------</a:t>
            </a:r>
          </a:p>
          <a:p>
            <a:r>
              <a:t>UNIQUE RISKS:</a:t>
            </a:r>
          </a:p>
          <a:p>
            <a:r>
              <a:t>1. INSECURE DEFAULTS: AI often generates CORS "*", .permitAll(), HTTP instead of HTTPS.</a:t>
            </a:r>
          </a:p>
          <a:p>
            <a:r>
              <a:t>2. HALLUCINATED DEPENDENCIES: AI suggests packages that don't exist. Attackers register them ("dependency confusion").</a:t>
            </a:r>
          </a:p>
          <a:p>
            <a:r>
              <a:t>3. SECRET LEAKAGE: Credentials in prompts may end up in generated code or AI training data.</a:t>
            </a:r>
          </a:p>
          <a:p>
            <a:r>
              <a:t>4. OVER-PERMISSIVE AUTH: AI generates simple auth checks -- authenticated but not authorized for the specific resource.</a:t>
            </a:r>
          </a:p>
          <a:p>
            <a:r>
              <a:t>5. MISSING INPUT VALIDATION: No @Valid annotations, no size limits, no format checks.</a:t>
            </a:r>
          </a:p>
          <a:p>
            <a:r>
              <a:t>6. OUTDATED PATTERNS: MD5 for password hashing, JWT without expiration, etc.</a:t>
            </a:r>
          </a:p>
          <a:p/>
          <a:p>
            <a:r>
              <a:t>MITIGATION STRATEGIES:</a:t>
            </a:r>
          </a:p>
          <a:p>
            <a:r>
              <a:t>1. Manual auth review -- too critical for AI alone.</a:t>
            </a:r>
          </a:p>
          <a:p>
            <a:r>
              <a:t>2. Snyk/Dependabot for dependency scanning.</a:t>
            </a:r>
          </a:p>
          <a:p>
            <a:r>
              <a:t>3. Secret managers (Vault, AWS Secrets Manager).</a:t>
            </a:r>
          </a:p>
          <a:p>
            <a:r>
              <a:t>4. OWASP Top 10 checklist per endpoint.</a:t>
            </a:r>
          </a:p>
          <a:p>
            <a:r>
              <a:t>5. SAST/DAST in CI pipeline.</a:t>
            </a:r>
          </a:p>
          <a:p>
            <a:r>
              <a:t>6. Regular security code reviews.</a:t>
            </a:r>
          </a:p>
          <a:p/>
          <a:p>
            <a:r>
              <a:t>SECURITY WORKFLOW: Generate -&gt; SAST -&gt; Dependency Audit -&gt; Manual Review -&gt; Secure Code.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27: OWASP-Oriented Security Review</a:t>
            </a:r>
          </a:p>
          <a:p>
            <a:r>
              <a:t>------------------------------------------------------------</a:t>
            </a:r>
          </a:p>
          <a:p>
            <a:r>
              <a:t>OWASP CATEGORIES:</a:t>
            </a:r>
          </a:p>
          <a:p>
            <a:r>
              <a:t>1. A01 - BROKEN ACCESS CONTROL: AI checks auth but not authorization. Does every endpoint validate resource ownership?</a:t>
            </a:r>
          </a:p>
          <a:p>
            <a:r>
              <a:t>2. A03 - INJECTION: AI sometimes generates raw SQL with string concatenation. Always use parameterized queries.</a:t>
            </a:r>
          </a:p>
          <a:p>
            <a:r>
              <a:t>3. A05 - SECURITY MISCONFIGURATION: Debug mode, open CORS, default accounts. Create a security config checklist.</a:t>
            </a:r>
          </a:p>
          <a:p>
            <a:r>
              <a:t>4. A06 - VULNERABLE DEPENDENCIES: Outdated versions with CVEs. Hallucinated packages. Run npm audit / mvn dependency-check.</a:t>
            </a:r>
          </a:p>
          <a:p>
            <a:r>
              <a:t>5. A02 - CRYPTOGRAPHIC FAILURES: MD5 instead of bcrypt. Sensitive data in logs. Missing TLS.</a:t>
            </a:r>
          </a:p>
          <a:p/>
          <a:p>
            <a:r>
              <a:t>THREAT MODELING FRAMEWORK:</a:t>
            </a:r>
          </a:p>
          <a:p>
            <a:r>
              <a:t>- ASSET: What you're protecting (user data, auth tokens, API keys)</a:t>
            </a:r>
          </a:p>
          <a:p>
            <a:r>
              <a:t>- THREAT: What could go wrong (unauthorized access, data exposure, injection)</a:t>
            </a:r>
          </a:p>
          <a:p>
            <a:r>
              <a:t>- CONTROL: How to prevent (authentication, authorization, input validation)</a:t>
            </a:r>
          </a:p>
          <a:p>
            <a:r>
              <a:t>- EVIDENCE: How to verify (security tests, SAST scans, penetration testing)</a:t>
            </a:r>
          </a:p>
          <a:p/>
          <a:p>
            <a:r>
              <a:t>Exercise idea: Take one endpoint and apply this framework.</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28: Secure Coding Practices &amp; DevSecOps</a:t>
            </a:r>
          </a:p>
          <a:p>
            <a:r>
              <a:t>-----------------------------------------------------------------</a:t>
            </a:r>
          </a:p>
          <a:p>
            <a:r>
              <a:t>CODE EXAMPLE WALKTHROUGH:</a:t>
            </a:r>
          </a:p>
          <a:p>
            <a:r>
              <a:t>1. @PreAuthorize("hasRole('USER')"): Method-level authorization. AI often omits this.</a:t>
            </a:r>
          </a:p>
          <a:p>
            <a:r>
              <a:t>2. @Valid on @RequestBody: Triggers Bean Validation. AI sometimes skips validation.</a:t>
            </a:r>
          </a:p>
          <a:p>
            <a:r>
              <a:t>3. @AuthenticationPrincipal: Injects authenticated user. Critical for ownership validation.</a:t>
            </a:r>
          </a:p>
          <a:p>
            <a:r>
              <a:t>4. user.getId() passed to service: Prevents horizontal privilege escalation. AI often accepts userId from request body.</a:t>
            </a:r>
          </a:p>
          <a:p/>
          <a:p>
            <a:r>
              <a:t>KEY PRACTICES:</a:t>
            </a:r>
          </a:p>
          <a:p>
            <a:r>
              <a:t>1. Method-Level Auth: Every endpoint needs authorization.</a:t>
            </a:r>
          </a:p>
          <a:p>
            <a:r>
              <a:t>2. Input Validation: @NotBlank, @Size, @Email on DTOs.</a:t>
            </a:r>
          </a:p>
          <a:p>
            <a:r>
              <a:t>3. Audit Logging: Log security events for forensic analysis.</a:t>
            </a:r>
          </a:p>
          <a:p>
            <a:r>
              <a:t>4. Secret Management: Environment variables or secret managers.</a:t>
            </a:r>
          </a:p>
          <a:p>
            <a:r>
              <a:t>5. Dependency Audit: Run scans on every build.</a:t>
            </a:r>
          </a:p>
          <a:p/>
          <a:p>
            <a:r>
              <a:t>DEVSECOPS: Security is embedded in spec review, code generation prompts, CI pipeline, and post-deployment monitoring.</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29: CI/CD Pipeline Architecture</a:t>
            </a:r>
          </a:p>
          <a:p>
            <a:r>
              <a:t>--------------------------------------------------------</a:t>
            </a:r>
          </a:p>
          <a:p>
            <a:r>
              <a:t>PIPELINE STAGES:</a:t>
            </a:r>
          </a:p>
          <a:p>
            <a:r>
              <a:t>1. COMMIT: Push triggers pipeline.</a:t>
            </a:r>
          </a:p>
          <a:p>
            <a:r>
              <a:t>2. BUILD: Compile, resolve dependencies, generate artifacts. Fails fast on compilation errors.</a:t>
            </a:r>
          </a:p>
          <a:p>
            <a:r>
              <a:t>3. UNIT TESTS: Run all unit tests (&lt; 60 seconds). Pipeline stops on failure.</a:t>
            </a:r>
          </a:p>
          <a:p>
            <a:r>
              <a:t>4. SAST SCAN: SonarQube/Snyk Code analyzes source for vulnerabilities.</a:t>
            </a:r>
          </a:p>
          <a:p>
            <a:r>
              <a:t>5. INTEGRATION TESTS: Test API endpoints, DB interactions. Use Testcontainers.</a:t>
            </a:r>
          </a:p>
          <a:p>
            <a:r>
              <a:t>6. DOCKER BUILD: Build minimal image, tag with commit SHA.</a:t>
            </a:r>
          </a:p>
          <a:p>
            <a:r>
              <a:t>7. SECURITY SCAN: Scan Docker image with Trivy/Snyk Container.</a:t>
            </a:r>
          </a:p>
          <a:p>
            <a:r>
              <a:t>8. DEPLOY STAGING: Apply K8s manifests to staging environment.</a:t>
            </a:r>
          </a:p>
          <a:p>
            <a:r>
              <a:t>9. SMOKE TESTS: Hit health endpoints, verify key flows.</a:t>
            </a:r>
          </a:p>
          <a:p>
            <a:r>
              <a:t>10. APPROVAL GATE: Manual checkpoint before production.</a:t>
            </a:r>
          </a:p>
          <a:p>
            <a:r>
              <a:t>11. DEPLOY PROD: Blue-green or canary with automatic rollback.</a:t>
            </a:r>
          </a:p>
          <a:p/>
          <a:p>
            <a:r>
              <a:t>QUALITY GATES: Non-negotiable. No manual overrides.</a:t>
            </a:r>
          </a:p>
          <a:p>
            <a:r>
              <a:t>RELEASE STRATEGY: Trunk-based development with feature branches and PRs.</a:t>
            </a:r>
          </a:p>
          <a:p/>
          <a:p>
            <a:r>
              <a:t>Ask: "Does your curriculum include CI/CD? This is critical for industry readiness."</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30: CI/CD Implementation: GitHub Actions</a:t>
            </a:r>
          </a:p>
          <a:p>
            <a:r>
              <a:t>-----------------------------------------------------------------</a:t>
            </a:r>
          </a:p>
          <a:p>
            <a:r>
              <a:t>LINE-BY-LINE:</a:t>
            </a:r>
          </a:p>
          <a:p>
            <a:r>
              <a:t>- on: [push, pull_request]: Triggers on every push and PR.</a:t>
            </a:r>
          </a:p>
          <a:p>
            <a:r>
              <a:t>- actions/checkout@v4: Checks out code.</a:t>
            </a:r>
          </a:p>
          <a:p>
            <a:r>
              <a:t>- actions/setup-java@v4: Installs Java 21.</a:t>
            </a:r>
          </a:p>
          <a:p>
            <a:r>
              <a:t>- ./mvnw verify: Compiles, runs tests, packages. Fails on test failure.</a:t>
            </a:r>
          </a:p>
          <a:p>
            <a:r>
              <a:t>- ./mvnw sonar:sonar: Code quality analysis.</a:t>
            </a:r>
          </a:p>
          <a:p>
            <a:r>
              <a:t>- snyk/actions/maven@master: Dependency vulnerability scan.</a:t>
            </a:r>
          </a:p>
          <a:p>
            <a:r>
              <a:t>- docker/build-push-action@v5: Build Docker image tagged with commit SHA.</a:t>
            </a:r>
          </a:p>
          <a:p>
            <a:r>
              <a:t>- deploy-staging needs build-test-scan: Only deploys after all checks pass.</a:t>
            </a:r>
          </a:p>
          <a:p>
            <a:r>
              <a:t>- kubectl apply + smoke-test.sh: Deploy and verify.</a:t>
            </a:r>
          </a:p>
          <a:p/>
          <a:p>
            <a:r>
              <a:t>HOW AI HELPS: Prompt "Generate GitHub Actions workflow for Spring Boot with Maven, SonarQube, Snyk, Docker build, K8s deployment." AI generates 80-90%.</a:t>
            </a:r>
          </a:p>
          <a:p/>
          <a:p>
            <a:r>
              <a:t>Ask: "Does your curriculum include CI/CD? This is critical for industry readiness."</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31: Containerization &amp; Deployment</a:t>
            </a:r>
          </a:p>
          <a:p>
            <a:r>
              <a:t>-----------------------------------------------------------</a:t>
            </a:r>
          </a:p>
          <a:p>
            <a:r>
              <a:t>DOCKERFILE:</a:t>
            </a:r>
          </a:p>
          <a:p>
            <a:r>
              <a:t>1. FROM eclipse-temurin:21-jre-alpine: JRE only (not JDK), Alpine for minimal size (~80MB vs ~400MB).</a:t>
            </a:r>
          </a:p>
          <a:p>
            <a:r>
              <a:t>2. WORKDIR /app: Working directory inside container.</a:t>
            </a:r>
          </a:p>
          <a:p>
            <a:r>
              <a:t>3. COPY target/task-api.jar: Copy compiled JAR.</a:t>
            </a:r>
          </a:p>
          <a:p>
            <a:r>
              <a:t>4. EXPOSE 8080: Document the port (metadata only).</a:t>
            </a:r>
          </a:p>
          <a:p>
            <a:r>
              <a:t>5. USER 1001: CRITICAL -- run as non-root. AI often generates root Dockerfiles.</a:t>
            </a:r>
          </a:p>
          <a:p>
            <a:r>
              <a:t>6. ENTRYPOINT: Exec form for proper signal handling.</a:t>
            </a:r>
          </a:p>
          <a:p/>
          <a:p>
            <a:r>
              <a:t>DEPLOYMENT ARCHITECTURE: Docker Image -&gt; Registry -&gt; K8s Cluster -&gt; Pods. Supporting: ConfigMap, Secret, Service, Ingress.</a:t>
            </a:r>
          </a:p>
          <a:p/>
          <a:p>
            <a:r>
              <a:t>DEPLOYMENT STRATEGIES:</a:t>
            </a:r>
          </a:p>
          <a:p>
            <a:r>
              <a:t>1. Rolling Update: Replace pods one at a time. Zero downtime.</a:t>
            </a:r>
          </a:p>
          <a:p>
            <a:r>
              <a:t>2. Blue-Green: Two environments, instant switch, easy rollback.</a:t>
            </a:r>
          </a:p>
          <a:p>
            <a:r>
              <a:t>3. Canary: Route small traffic %, monitor, gradually increase.</a:t>
            </a:r>
          </a:p>
          <a:p>
            <a:r>
              <a:t>4. Feature Flags: Deploy disabled, toggle for specific users.</a:t>
            </a:r>
          </a:p>
          <a:p/>
          <a:p>
            <a:r>
              <a:t>AI generates K8s manifests from specs. Always review security (non-root, resource limits, secrets).</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32: Performance &amp; Scale Testing</a:t>
            </a:r>
          </a:p>
          <a:p>
            <a:r>
              <a:t>--------------------------------------------------------</a:t>
            </a:r>
          </a:p>
          <a:p>
            <a:r>
              <a:t>PERFORMANCE RISKS:</a:t>
            </a:r>
          </a:p>
          <a:p>
            <a:r>
              <a:t>1. N+1 QUERIES: AI loops with individual DB queries. Fix: JOIN FETCH, @EntityGraph.</a:t>
            </a:r>
          </a:p>
          <a:p>
            <a:r>
              <a:t>2. MISSING INDEXES: No @Index on queried columns. Performance: O(n) -&gt; O(log n).</a:t>
            </a:r>
          </a:p>
          <a:p>
            <a:r>
              <a:t>3. INEFFICIENT SERIALIZATION: Return entities directly, triggering lazy loads. Fix: Use DTOs.</a:t>
            </a:r>
          </a:p>
          <a:p>
            <a:r>
              <a:t>4. OVER-FETCHING: findAll() with no pagination. Fix: Pageable, projections.</a:t>
            </a:r>
          </a:p>
          <a:p>
            <a:r>
              <a:t>5. NO CACHING: Every request hits DB. Fix: @Cacheable, Redis/Caffeine.</a:t>
            </a:r>
          </a:p>
          <a:p/>
          <a:p>
            <a:r>
              <a:t>K6 LOAD TEST: 50 virtual users for 30 seconds. Output: P50/P90/P95/P99, error rate.</a:t>
            </a:r>
          </a:p>
          <a:p/>
          <a:p>
            <a:r>
              <a:t>MONITORING: OpenTelemetry for tracing, Prometheus for metrics, Grafana for dashboards.</a:t>
            </a:r>
          </a:p>
          <a:p/>
          <a:p>
            <a:r>
              <a:t>EXERCISE: Run k6 against Task API, identify slow endpoints, add indexes, measure improvement.</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33: Multi-Agent AI Development Architecture</a:t>
            </a:r>
          </a:p>
          <a:p>
            <a:r>
              <a:t>--------------------------------------------------------------------</a:t>
            </a:r>
          </a:p>
          <a:p>
            <a:r>
              <a:t>This slide introduces the concept of multi-agent AI development, which represents the next evolution of AI-native software engineering.</a:t>
            </a:r>
          </a:p>
          <a:p/>
          <a:p>
            <a:r>
              <a:t>WHAT IS MULTI-AGENT DEVELOPMENT?</a:t>
            </a:r>
          </a:p>
          <a:p>
            <a:r>
              <a:t>Multi-agent development uses multiple specialized AI agents, each responsible for a distinct phase of the software development lifecycle, coordinated by a central orchestrator. Think of it like a well-organized engineering team — except the team members are AI agents with specialized capabilities.</a:t>
            </a:r>
          </a:p>
          <a:p/>
          <a:p>
            <a:r>
              <a:t>WHY CAN'T A SINGLE LLM DO EVERYTHING?</a:t>
            </a:r>
          </a:p>
          <a:p>
            <a:r>
              <a:t>1. Context window limitations — a single LLM can't hold an entire codebase, all test results, security reports, and deployment configs simultaneously.</a:t>
            </a:r>
          </a:p>
          <a:p>
            <a:r>
              <a:t>2. Specialization — an agent fine-tuned or prompted for security analysis performs better than a general-purpose LLM doing security review.</a:t>
            </a:r>
          </a:p>
          <a:p>
            <a:r>
              <a:t>3. Tool access — different agents need different tools (code editor, test runner, CI/CD system, security scanner).</a:t>
            </a:r>
          </a:p>
          <a:p>
            <a:r>
              <a:t>4. Accountability — when agents have clear boundaries, it's easier to audit what happened and why.</a:t>
            </a:r>
          </a:p>
          <a:p/>
          <a:p>
            <a:r>
              <a:t>ORCHESTRATION PATTERNS:</a:t>
            </a:r>
          </a:p>
          <a:p>
            <a:r>
              <a:t>- Sequential: agents work in order (requirements -&gt; architecture -&gt; code -&gt; test -&gt; security -&gt; deploy)</a:t>
            </a:r>
          </a:p>
          <a:p>
            <a:r>
              <a:t>- Parallel: independent agents work simultaneously (security and testing run in parallel)</a:t>
            </a:r>
          </a:p>
          <a:p>
            <a:r>
              <a:t>- Iterative: agents loop until quality criteria are met (test agent sends failures back to coding agent)</a:t>
            </a:r>
          </a:p>
          <a:p>
            <a:r>
              <a:t>- Human-gated: certain transitions require human approval (architecture decisions, deployment to production)</a:t>
            </a:r>
          </a:p>
          <a:p/>
          <a:p>
            <a:r>
              <a:t>REAL-WORLD EXAMPLES:</a:t>
            </a:r>
          </a:p>
          <a:p>
            <a:r>
              <a:t>- Microsoft AutoGen: framework for building multi-agent conversations</a:t>
            </a:r>
          </a:p>
          <a:p>
            <a:r>
              <a:t>- CrewAI: role-based multi-agent orchestration with memory</a:t>
            </a:r>
          </a:p>
          <a:p>
            <a:r>
              <a:t>- LangGraph: graph-based agent orchestration</a:t>
            </a:r>
          </a:p>
          <a:p>
            <a:r>
              <a:t>- Custom solutions: many organizations build bespoke multi-agent pipelines using LLM APIs + tool calling</a:t>
            </a:r>
          </a:p>
          <a:p/>
          <a:p>
            <a:r>
              <a:t>CHALLENGES:</a:t>
            </a:r>
          </a:p>
          <a:p>
            <a:r>
              <a:t>- Coordination overhead: agents must share context without losing information</a:t>
            </a:r>
          </a:p>
          <a:p>
            <a:r>
              <a:t>- Conflict resolution: what if the coding agent and security agent disagree?</a:t>
            </a:r>
          </a:p>
          <a:p>
            <a:r>
              <a:t>- Cost management: multiple LLM calls add up quickly</a:t>
            </a:r>
          </a:p>
          <a:p>
            <a:r>
              <a:t>- Debugging: tracing issues across multiple agent interactions is complex</a:t>
            </a:r>
          </a:p>
          <a:p>
            <a:r>
              <a:t>- Determinism: ensuring reproducible results across agent runs</a:t>
            </a:r>
          </a:p>
          <a:p/>
          <a:p>
            <a:r>
              <a:t>This is the future direction of AI-native development — moving from single-prompt interactions to orchestrated multi-agent workflows.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34: Agent Roles &amp; Orchestration Workflow</a:t>
            </a:r>
          </a:p>
          <a:p>
            <a:r>
              <a:t>-----------------------------------------------------------------</a:t>
            </a:r>
          </a:p>
          <a:p>
            <a:r>
              <a:t>This slide maps each agent to its specific responsibilities and outputs. Walk through the workflow from left to right.</a:t>
            </a:r>
          </a:p>
          <a:p/>
          <a:p>
            <a:r>
              <a:t>THE FLOW:</a:t>
            </a:r>
          </a:p>
          <a:p>
            <a:r>
              <a:t>1. USER REQUEST: A human provides the initial intent — "Build a task management API" or "Add authentication to the existing service."</a:t>
            </a:r>
          </a:p>
          <a:p>
            <a:r>
              <a:t>2. REQUIREMENTS AGENT: Takes the vague request and produces a structured specification. It asks clarifying questions, identifies edge cases, writes acceptance criteria. Output: a formal requirements document and draft acceptance tests.</a:t>
            </a:r>
          </a:p>
          <a:p>
            <a:r>
              <a:t>3. ARCHITECT AGENT: Takes the requirements and proposes a system design. It evaluates trade-offs (monolith vs. microservice, SQL vs. NoSQL, REST vs. GraphQL) and documents decisions. Output: architecture diagrams, API contracts, Architecture Decision Records (ADRs).</a:t>
            </a:r>
          </a:p>
          <a:p>
            <a:r>
              <a:t>4. CODING AGENT: Takes the approved architecture and specs and generates implementation code. It follows established patterns, naming conventions, and project structure. Output: source code files and unit tests.</a:t>
            </a:r>
          </a:p>
          <a:p>
            <a:r>
              <a:t>5. TESTING AGENT: Runs the generated tests, analyzes coverage, identifies gaps. It may generate additional tests for edge cases not covered. Output: test results, coverage reports, quality metrics.</a:t>
            </a:r>
          </a:p>
          <a:p>
            <a:r>
              <a:t>6. SECURITY AGENT: Scans the code for vulnerabilities — SQL injection, XSS, insecure dependencies, exposed secrets. It proposes fixes for any issues found. Output: security analysis report and remediation code.</a:t>
            </a:r>
          </a:p>
          <a:p>
            <a:r>
              <a:t>7. DEVOPS AGENT: Creates or updates the CI/CD pipeline, Dockerfiles, Kubernetes manifests, and deployment configurations. Output: CI/CD configs, infrastructure-as-code, deployment scripts.</a:t>
            </a:r>
          </a:p>
          <a:p>
            <a:r>
              <a:t>8. DEPLOYED SYSTEM: The final output — a running, tested, secured, and deployed application.</a:t>
            </a:r>
          </a:p>
          <a:p/>
          <a:p>
            <a:r>
              <a:t>HOW THE ORCHESTRATOR COORDINATES:</a:t>
            </a:r>
          </a:p>
          <a:p>
            <a:r>
              <a:t>- Maintains a shared memory/context that all agents can read from</a:t>
            </a:r>
          </a:p>
          <a:p>
            <a:r>
              <a:t>- Decides when to hand off from one agent to the next</a:t>
            </a:r>
          </a:p>
          <a:p>
            <a:r>
              <a:t>- Implements quality gates — e.g., code can't go to security review until tests pass</a:t>
            </a:r>
          </a:p>
          <a:p>
            <a:r>
              <a:t>- Handles iteration — if the testing agent finds failures, the orchestrator routes them back to the coding agent</a:t>
            </a:r>
          </a:p>
          <a:p>
            <a:r>
              <a:t>- Logs every decision for audit trail</a:t>
            </a:r>
          </a:p>
          <a:p/>
          <a:p>
            <a:r>
              <a:t>HUMAN CHECKPOINTS:</a:t>
            </a:r>
          </a:p>
          <a:p>
            <a:r>
              <a:t>- After requirements (approve scope)</a:t>
            </a:r>
          </a:p>
          <a:p>
            <a:r>
              <a:t>- After architecture (approve design decisions)</a:t>
            </a:r>
          </a:p>
          <a:p>
            <a:r>
              <a:t>- After security review (approve deployment)</a:t>
            </a:r>
          </a:p>
          <a:p>
            <a:r>
              <a:t>These are non-negotiable in production workflows.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35: Model Context Protocol &amp; Tool Integration</a:t>
            </a:r>
          </a:p>
          <a:p>
            <a:r>
              <a:t>----------------------------------------------------------------------</a:t>
            </a:r>
          </a:p>
          <a:p>
            <a:r>
              <a:t>This slide explains the Model Context Protocol (MCP) and why it's critical for multi-agent AI development.</a:t>
            </a:r>
          </a:p>
          <a:p/>
          <a:p>
            <a:r>
              <a:t>WHAT IS MCP?</a:t>
            </a:r>
          </a:p>
          <a:p>
            <a:r>
              <a:t>MCP is a standardized protocol (pioneered by Anthropic) that defines how AI models/agents connect to external tools and data sources. Think of it as a USB-C for AI — a universal interface that allows any AI agent to connect to any compatible tool.</a:t>
            </a:r>
          </a:p>
          <a:p/>
          <a:p>
            <a:r>
              <a:t>Without MCP, every agent-tool integration is custom — you'd write separate code for each AI model to talk to each tool. MCP standardizes this with a clean client-server architecture.</a:t>
            </a:r>
          </a:p>
          <a:p/>
          <a:p>
            <a:r>
              <a:t>HOW IT WORKS:</a:t>
            </a:r>
          </a:p>
          <a:p>
            <a:r>
              <a:t>1. The AI agent (client) connects to an MCP server</a:t>
            </a:r>
          </a:p>
          <a:p>
            <a:r>
              <a:t>2. The server exposes available tools (e.g., "read_file", "create_issue", "run_tests")</a:t>
            </a:r>
          </a:p>
          <a:p>
            <a:r>
              <a:t>3. The agent discovers tools and their schemas</a:t>
            </a:r>
          </a:p>
          <a:p>
            <a:r>
              <a:t>4. The agent makes tool calls through the protocol</a:t>
            </a:r>
          </a:p>
          <a:p>
            <a:r>
              <a:t>5. The server executes actions and returns results</a:t>
            </a:r>
          </a:p>
          <a:p>
            <a:r>
              <a:t>6. All interactions are logged for audit</a:t>
            </a:r>
          </a:p>
          <a:p/>
          <a:p>
            <a:r>
              <a:t>WHY IT MATTERS FOR MULTI-AGENT WORKFLOWS:</a:t>
            </a:r>
          </a:p>
          <a:p>
            <a:r>
              <a:t>- Different agents need different tools — the Requirements Agent needs Jira access, the Coding Agent needs the code editor, the DevOps Agent needs CI/CD systems</a:t>
            </a:r>
          </a:p>
          <a:p>
            <a:r>
              <a:t>- MCP provides a uniform interface so you don't have to build custom integrations for each agent-tool pair</a:t>
            </a:r>
          </a:p>
          <a:p>
            <a:r>
              <a:t>- Permissions can be set per-agent — the Testing Agent shouldn't be able to deploy to production</a:t>
            </a:r>
          </a:p>
          <a:p>
            <a:r>
              <a:t>- Shared context servers allow agents to pass information to each other without expensive LLM-to-LLM conversations</a:t>
            </a:r>
          </a:p>
          <a:p/>
          <a:p>
            <a:r>
              <a:t>PRACTICAL SETUP:</a:t>
            </a:r>
          </a:p>
          <a:p>
            <a:r>
              <a:t>- MCP servers can be local (filesystem access, local databases) or remote (GitHub API, cloud services)</a:t>
            </a:r>
          </a:p>
          <a:p>
            <a:r>
              <a:t>- Configuration is typically done via JSON config files that map tools to servers</a:t>
            </a:r>
          </a:p>
          <a:p>
            <a:r>
              <a:t>- Popular MCP servers exist for: GitHub, GitLab, Slack, PostgreSQL, filesystem, web search</a:t>
            </a:r>
          </a:p>
          <a:p>
            <a:r>
              <a:t>- You can build custom MCP servers for your organization's internal tools</a:t>
            </a:r>
          </a:p>
          <a:p/>
          <a:p>
            <a:r>
              <a:t>ANTHROPIC'S MCP PROTOCOL:</a:t>
            </a:r>
          </a:p>
          <a:p>
            <a:r>
              <a:t>- Open-source specification (github.com/modelcontextprotocol)</a:t>
            </a:r>
          </a:p>
          <a:p>
            <a:r>
              <a:t>- Adopted by Claude, Cursor, Windsurf, and other AI development tools</a:t>
            </a:r>
          </a:p>
          <a:p>
            <a:r>
              <a:t>- Growing ecosystem of community-built MCP servers</a:t>
            </a:r>
          </a:p>
          <a:p>
            <a:r>
              <a:t>- Represents the emerging standard for agent-tool communication</a:t>
            </a:r>
          </a:p>
          <a:p/>
          <a:p>
            <a:r>
              <a:t>This is important for faculty to understand because it shows how AI agents will interact with real-world systems — not just generate text, but actually take actions in the development pipeline.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36: AI Governance Framework for Software Development</a:t>
            </a:r>
          </a:p>
          <a:p>
            <a:r>
              <a:t>------------------------------------------------------------------------------</a:t>
            </a:r>
          </a:p>
          <a:p>
            <a:r>
              <a:t>This is one of the most important slides in the entire workshop. As AI becomes embedded in software development, governance is not optional — it's a necessity.</a:t>
            </a:r>
          </a:p>
          <a:p/>
          <a:p>
            <a:r>
              <a:t>THE PYRAMID FRAMEWORK (bottom to top):</a:t>
            </a:r>
          </a:p>
          <a:p/>
          <a:p>
            <a:r>
              <a:t>1. POLICIES &amp; STANDARDS (Base Layer):</a:t>
            </a:r>
          </a:p>
          <a:p>
            <a:r>
              <a:t>- Every organization needs a clear AI usage policy: what tools are approved, what data can be shared with AI services, what review processes are required</a:t>
            </a:r>
          </a:p>
          <a:p>
            <a:r>
              <a:t>- Standards define: coding conventions for AI-generated code, documentation requirements, testing minimums, security baselines</a:t>
            </a:r>
          </a:p>
          <a:p>
            <a:r>
              <a:t>- This is the foundation — without clear policies, individual teams will make inconsistent decisions</a:t>
            </a:r>
          </a:p>
          <a:p/>
          <a:p>
            <a:r>
              <a:t>2. DATA PROTECTION &amp; PRIVACY:</a:t>
            </a:r>
          </a:p>
          <a:p>
            <a:r>
              <a:t>- What data can be included in prompts? Can you paste production data into an AI chat?</a:t>
            </a:r>
          </a:p>
          <a:p>
            <a:r>
              <a:t>- GDPR, CCPA, HIPAA implications — AI services may store prompts and outputs</a:t>
            </a:r>
          </a:p>
          <a:p>
            <a:r>
              <a:t>- Sensitive data (API keys, credentials, PII) must NEVER appear in prompts</a:t>
            </a:r>
          </a:p>
          <a:p>
            <a:r>
              <a:t>- Consider on-premises or private AI deployments for sensitive projects</a:t>
            </a:r>
          </a:p>
          <a:p/>
          <a:p>
            <a:r>
              <a:t>3. MODEL MANAGEMENT &amp; VALIDATION:</a:t>
            </a:r>
          </a:p>
          <a:p>
            <a:r>
              <a:t>- Which AI models are approved for use? (Not all models are equal in quality or safety)</a:t>
            </a:r>
          </a:p>
          <a:p>
            <a:r>
              <a:t>- How do you validate that AI outputs meet quality standards?</a:t>
            </a:r>
          </a:p>
          <a:p>
            <a:r>
              <a:t>- Version control for prompts and AI configurations</a:t>
            </a:r>
          </a:p>
          <a:p>
            <a:r>
              <a:t>- Benchmark AI performance on your specific domain/codebase</a:t>
            </a:r>
          </a:p>
          <a:p/>
          <a:p>
            <a:r>
              <a:t>4. HUMAN REVIEW &amp; OVERSIGHT:</a:t>
            </a:r>
          </a:p>
          <a:p>
            <a:r>
              <a:t>- Define which decisions require human approval (architecture, security, deployment)</a:t>
            </a:r>
          </a:p>
          <a:p>
            <a:r>
              <a:t>- Establish review workflows — who reviews AI-generated code, how is it tracked?</a:t>
            </a:r>
          </a:p>
          <a:p>
            <a:r>
              <a:t>- Set clear accountability — if AI-generated code causes a production incident, who is responsible?</a:t>
            </a:r>
          </a:p>
          <a:p>
            <a:r>
              <a:t>- Create escalation paths for when AI outputs are uncertain or conflicting</a:t>
            </a:r>
          </a:p>
          <a:p/>
          <a:p>
            <a:r>
              <a:t>5. AUDIT TRAIL &amp; ACCOUNTABILITY (Top Layer):</a:t>
            </a:r>
          </a:p>
          <a:p>
            <a:r>
              <a:t>- Every AI interaction should be logged: what was asked, what was generated, who approved it</a:t>
            </a:r>
          </a:p>
          <a:p>
            <a:r>
              <a:t>- Audit trails enable: post-incident analysis, compliance reporting, continuous improvement</a:t>
            </a:r>
          </a:p>
          <a:p>
            <a:r>
              <a:t>- Traceability from requirement to spec to code to test to deployment</a:t>
            </a:r>
          </a:p>
          <a:p/>
          <a:p>
            <a:r>
              <a:t>REGULATORY CONSIDERATIONS:</a:t>
            </a:r>
          </a:p>
          <a:p>
            <a:r>
              <a:t>- EU AI Act — classifies AI systems by risk level; development tools may fall under various categories</a:t>
            </a:r>
          </a:p>
          <a:p>
            <a:r>
              <a:t>- Industry-specific regulations (healthcare, finance, government) may impose additional requirements</a:t>
            </a:r>
          </a:p>
          <a:p>
            <a:r>
              <a:t>- Export controls and data residency requirements affect which AI services you can use</a:t>
            </a:r>
          </a:p>
          <a:p>
            <a:r>
              <a:t>- Intellectual property questions: who owns AI-generated code? (Currently a legal gray area)</a:t>
            </a:r>
          </a:p>
          <a:p/>
          <a:p>
            <a:r>
              <a:t>ORGANIZATIONAL POLICIES:</a:t>
            </a:r>
          </a:p>
          <a:p>
            <a:r>
              <a:t>- Start small: begin with a pilot team, iterate on governance processes, then expand</a:t>
            </a:r>
          </a:p>
          <a:p>
            <a:r>
              <a:t>- Appoint an AI governance champion or committee</a:t>
            </a:r>
          </a:p>
          <a:p>
            <a:r>
              <a:t>- Regular training and awareness programs</a:t>
            </a:r>
          </a:p>
          <a:p>
            <a:r>
              <a:t>- Quarterly reviews of governance effectiveness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37: Responsible AI Principles in Practice</a:t>
            </a:r>
          </a:p>
          <a:p>
            <a:r>
              <a:t>------------------------------------------------------------------</a:t>
            </a:r>
          </a:p>
          <a:p>
            <a:r>
              <a:t>Walk through each principle and connect it specifically to software engineering practice:</a:t>
            </a:r>
          </a:p>
          <a:p/>
          <a:p>
            <a:r>
              <a:t>1. FAIRNESS:</a:t>
            </a:r>
          </a:p>
          <a:p>
            <a:r>
              <a:t>- AI models can embed biases from training data. Generated code may make assumptions about user demographics, language, accessibility needs.</a:t>
            </a:r>
          </a:p>
          <a:p>
            <a:r>
              <a:t>- Example: An AI-generated user registration form might default to "Mr/Mrs" titles — excluding non-binary options.</a:t>
            </a:r>
          </a:p>
          <a:p>
            <a:r>
              <a:t>- Mitigation: Include diversity and accessibility requirements in your specifications. Review generated UIs for inclusive design.</a:t>
            </a:r>
          </a:p>
          <a:p>
            <a:r>
              <a:t>- In teaching: Use biased AI outputs as teaching moments. Have students analyze AI-generated code for implicit assumptions.</a:t>
            </a:r>
          </a:p>
          <a:p/>
          <a:p>
            <a:r>
              <a:t>2. RELIABILITY:</a:t>
            </a:r>
          </a:p>
          <a:p>
            <a:r>
              <a:t>- AI-generated code can look correct but contain subtle logic errors, edge case failures, or hallucinated API calls.</a:t>
            </a:r>
          </a:p>
          <a:p>
            <a:r>
              <a:t>- Every AI output must be validated through testing — unit tests, integration tests, property-based tests.</a:t>
            </a:r>
          </a:p>
          <a:p>
            <a:r>
              <a:t>- Example: AI might generate a function that works for typical inputs but fails for empty arrays, negative numbers, or unicode strings.</a:t>
            </a:r>
          </a:p>
          <a:p>
            <a:r>
              <a:t>- In teaching: Emphasize that "AI generated it" is never a valid acceptance criterion. Tests and evidence are the standard.</a:t>
            </a:r>
          </a:p>
          <a:p/>
          <a:p>
            <a:r>
              <a:t>3. PRIVACY:</a:t>
            </a:r>
          </a:p>
          <a:p>
            <a:r>
              <a:t>- Developers often paste code snippets, error messages, and data samples into AI prompts. This can inadvertently expose sensitive information.</a:t>
            </a:r>
          </a:p>
          <a:p>
            <a:r>
              <a:t>- Production database queries, API keys, customer data, and proprietary algorithms should NEVER appear in AI prompts.</a:t>
            </a:r>
          </a:p>
          <a:p>
            <a:r>
              <a:t>- Use sanitized examples and mock data when working with AI.</a:t>
            </a:r>
          </a:p>
          <a:p>
            <a:r>
              <a:t>- In teaching: Establish classroom rules about what data can be shared with AI tools.</a:t>
            </a:r>
          </a:p>
          <a:p/>
          <a:p>
            <a:r>
              <a:t>4. TRANSPARENCY:</a:t>
            </a:r>
          </a:p>
          <a:p>
            <a:r>
              <a:t>- Document when and how AI was used in development. Include AI attribution in code comments, PR descriptions, and documentation.</a:t>
            </a:r>
          </a:p>
          <a:p>
            <a:r>
              <a:t>- Be transparent about AI limitations — generated code may not handle all edge cases, may not be optimized for performance.</a:t>
            </a:r>
          </a:p>
          <a:p>
            <a:r>
              <a:t>- In teaching: Require students to document their AI interactions — what they asked, what they got, what they changed and why.</a:t>
            </a:r>
          </a:p>
          <a:p/>
          <a:p>
            <a:r>
              <a:t>5. ACCOUNTABILITY:</a:t>
            </a:r>
          </a:p>
          <a:p>
            <a:r>
              <a:t>- When AI-generated code causes a production incident, someone must be accountable.</a:t>
            </a:r>
          </a:p>
          <a:p>
            <a:r>
              <a:t>- Audit trails track: who requested the generation, what prompt was used, who reviewed and approved the output.</a:t>
            </a:r>
          </a:p>
          <a:p>
            <a:r>
              <a:t>- In organizations: establish clear ownership — the developer who approves AI-generated code owns its behavior.</a:t>
            </a:r>
          </a:p>
          <a:p>
            <a:r>
              <a:t>- In teaching: Teach students that using AI doesn't absolve them of responsibility for their code.</a:t>
            </a:r>
          </a:p>
          <a:p/>
          <a:p>
            <a:r>
              <a:t>6. SAFETY:</a:t>
            </a:r>
          </a:p>
          <a:p>
            <a:r>
              <a:t>- Implement guardrails: code review requirements, automated security scanning, deployment approval gates.</a:t>
            </a:r>
          </a:p>
          <a:p>
            <a:r>
              <a:t>- Have rollback plans — if AI-generated code causes issues in production, can you quickly revert?</a:t>
            </a:r>
          </a:p>
          <a:p>
            <a:r>
              <a:t>- In teaching: Discuss real-world AI failures and their consequences. Safety is not theoretical.</a:t>
            </a:r>
          </a:p>
          <a:p/>
          <a:p>
            <a:r>
              <a:t>ACADEMIC INTEGRITY SECTION:</a:t>
            </a:r>
          </a:p>
          <a:p>
            <a:r>
              <a:t>This is critical for faculty. Discussion points:</a:t>
            </a:r>
          </a:p>
          <a:p>
            <a:r>
              <a:t>- How do you assess student work when AI can generate most of it?</a:t>
            </a:r>
          </a:p>
          <a:p>
            <a:r>
              <a:t>- Strategy 1: Assess understanding through oral explanations, code walkthroughs, and modification exercises</a:t>
            </a:r>
          </a:p>
          <a:p>
            <a:r>
              <a:t>- Strategy 2: Focus on specification quality, not just code output</a:t>
            </a:r>
          </a:p>
          <a:p>
            <a:r>
              <a:t>- Strategy 3: Require process documentation — the AI conversation log, revision history, decision rationale</a:t>
            </a:r>
          </a:p>
          <a:p>
            <a:r>
              <a:t>- Strategy 4: Design assessments that require contextual judgment AI cannot provide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38: AI-Native Adoption Maturity Model</a:t>
            </a:r>
          </a:p>
          <a:p>
            <a:r>
              <a:t>--------------------------------------------------------------</a:t>
            </a:r>
          </a:p>
          <a:p>
            <a:r>
              <a:t>This maturity model helps organizations (and academic institutions) assess where they are and plan their AI-native adoption journey.</a:t>
            </a:r>
          </a:p>
          <a:p/>
          <a:p>
            <a:r>
              <a:t>LEVEL 1 - AD-HOC:</a:t>
            </a:r>
          </a:p>
          <a:p>
            <a:r>
              <a:t>- Individual developers use ChatGPT, Copilot, or similar tools on their own initiative</a:t>
            </a:r>
          </a:p>
          <a:p>
            <a:r>
              <a:t>- No organizational policy or standardization</a:t>
            </a:r>
          </a:p>
          <a:p>
            <a:r>
              <a:t>- Benefits are inconsistent — some developers see productivity gains, others don't</a:t>
            </a:r>
          </a:p>
          <a:p>
            <a:r>
              <a:t>- Risks: no governance, potential data leaks, inconsistent code quality</a:t>
            </a:r>
          </a:p>
          <a:p>
            <a:r>
              <a:t>- What's needed to advance: awareness training, initial tool evaluation</a:t>
            </a:r>
          </a:p>
          <a:p/>
          <a:p>
            <a:r>
              <a:t>LEVEL 2 - EXPERIMENTATION:</a:t>
            </a:r>
          </a:p>
          <a:p>
            <a:r>
              <a:t>- Teams formally pilot AI tools on selected projects</a:t>
            </a:r>
          </a:p>
          <a:p>
            <a:r>
              <a:t>- Some measurement of benefits (productivity, quality, speed)</a:t>
            </a:r>
          </a:p>
          <a:p>
            <a:r>
              <a:t>- Initial guidelines emerging (which tools are approved, basic data handling rules)</a:t>
            </a:r>
          </a:p>
          <a:p>
            <a:r>
              <a:t>- Risks: pilots may not represent broader use; success metrics may be biased</a:t>
            </a:r>
          </a:p>
          <a:p>
            <a:r>
              <a:t>- What's needed: formal evaluation framework, pilot results documentation, initial policies</a:t>
            </a:r>
          </a:p>
          <a:p/>
          <a:p>
            <a:r>
              <a:t>LEVEL 3 - STANDARDIZED:</a:t>
            </a:r>
          </a:p>
          <a:p>
            <a:r>
              <a:t>- AI-native practices are documented and formalized across the organization</a:t>
            </a:r>
          </a:p>
          <a:p>
            <a:r>
              <a:t>- Governance framework in place: approved tools, data policies, review requirements</a:t>
            </a:r>
          </a:p>
          <a:p>
            <a:r>
              <a:t>- Training programs for all developers</a:t>
            </a:r>
          </a:p>
          <a:p>
            <a:r>
              <a:t>- Consistent workflows: spec-driven development, automated testing, CI/CD integration</a:t>
            </a:r>
          </a:p>
          <a:p>
            <a:r>
              <a:t>- What's needed: measurement systems, feedback loops, governance reviews</a:t>
            </a:r>
          </a:p>
          <a:p/>
          <a:p>
            <a:r>
              <a:t>LEVEL 4 - OPTIMIZED:</a:t>
            </a:r>
          </a:p>
          <a:p>
            <a:r>
              <a:t>- AI is deeply embedded in every phase of development</a:t>
            </a:r>
          </a:p>
          <a:p>
            <a:r>
              <a:t>- Multi-agent workflows are in production</a:t>
            </a:r>
          </a:p>
          <a:p>
            <a:r>
              <a:t>- Continuous measurement and optimization of AI impact</a:t>
            </a:r>
          </a:p>
          <a:p>
            <a:r>
              <a:t>- Advanced governance: automated compliance checks, AI-assisted code review</a:t>
            </a:r>
          </a:p>
          <a:p>
            <a:r>
              <a:t>- What's needed: cultural change, organizational restructuring, advanced tooling</a:t>
            </a:r>
          </a:p>
          <a:p/>
          <a:p>
            <a:r>
              <a:t>LEVEL 5 - TRANSFORMATIONAL:</a:t>
            </a:r>
          </a:p>
          <a:p>
            <a:r>
              <a:t>- AI-native is the default development paradigm</a:t>
            </a:r>
          </a:p>
          <a:p>
            <a:r>
              <a:t>- Organization culture has shifted — "specification-first" is how everyone thinks</a:t>
            </a:r>
          </a:p>
          <a:p>
            <a:r>
              <a:t>- Innovation-driven: using AI to explore new architectures, products, and approaches</a:t>
            </a:r>
          </a:p>
          <a:p>
            <a:r>
              <a:t>- Continuous learning: AI models are fine-tuned on organizational context</a:t>
            </a:r>
          </a:p>
          <a:p>
            <a:r>
              <a:t>- Faculty role: training the next generation of developers who think AI-natively</a:t>
            </a:r>
          </a:p>
          <a:p/>
          <a:p>
            <a:r>
              <a:t>FACULTY'S ROLE IN THIS PROGRESSION:</a:t>
            </a:r>
          </a:p>
          <a:p>
            <a:r>
              <a:t>- Faculty train the developers who will drive Levels 1-5 in their organizations</a:t>
            </a:r>
          </a:p>
          <a:p>
            <a:r>
              <a:t>- Curriculum that teaches AI-native practices prepares students for the modern workplace</a:t>
            </a:r>
          </a:p>
          <a:p>
            <a:r>
              <a:t>- Research opportunities exist at every level — measuring effectiveness, developing new methods, studying human-AI collaboration patterns</a:t>
            </a:r>
          </a:p>
          <a:p>
            <a:r>
              <a:t>- Academic institutions themselves can progress through these maturity levels in their own development practices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39: Hands-On Practical Examples</a:t>
            </a:r>
          </a:p>
          <a:p>
            <a:r>
              <a:t>-------------------------------------------------------</a:t>
            </a:r>
          </a:p>
          <a:p>
            <a:r>
              <a:t>This slide summarizes the practical exercises available in the workshop and provides guidance for facilitation.</a:t>
            </a:r>
          </a:p>
          <a:p/>
          <a:p>
            <a:r>
              <a:t>EXAMPLE 1 — TASK MANAGEMENT REST API (Primary, 1-2 hours):</a:t>
            </a:r>
          </a:p>
          <a:p>
            <a:r>
              <a:t>This is the main hands-on exercise. Walk participants through:</a:t>
            </a:r>
          </a:p>
          <a:p>
            <a:r>
              <a:t>1. Writing the specification: functional requirements (CRUD for tasks), non-functional requirements (response time, data validation), API contract (endpoints, request/response schemas)</a:t>
            </a:r>
          </a:p>
          <a:p>
            <a:r>
              <a:t>2. Generating architecture: project structure, database schema, service layer design</a:t>
            </a:r>
          </a:p>
          <a:p>
            <a:r>
              <a:t>3. Code generation: controllers, services, repositories using AI tools</a:t>
            </a:r>
          </a:p>
          <a:p>
            <a:r>
              <a:t>4. Testing: unit tests for business logic, integration tests for API endpoints</a:t>
            </a:r>
          </a:p>
          <a:p>
            <a:r>
              <a:t>5. CI/CD: GitHub Actions workflow with build, test, lint, security scan stages</a:t>
            </a:r>
          </a:p>
          <a:p/>
          <a:p>
            <a:r>
              <a:t>Time allocation:</a:t>
            </a:r>
          </a:p>
          <a:p>
            <a:r>
              <a:t>- Spec writing: 20 minutes</a:t>
            </a:r>
          </a:p>
          <a:p>
            <a:r>
              <a:t>- Architecture review: 15 minutes</a:t>
            </a:r>
          </a:p>
          <a:p>
            <a:r>
              <a:t>- Code generation &amp; review: 30 minutes</a:t>
            </a:r>
          </a:p>
          <a:p>
            <a:r>
              <a:t>- Test generation &amp; execution: 20 minutes</a:t>
            </a:r>
          </a:p>
          <a:p>
            <a:r>
              <a:t>- CI/CD setup: 15 minutes</a:t>
            </a:r>
          </a:p>
          <a:p/>
          <a:p>
            <a:r>
              <a:t>EXAMPLE 2 — STUDENT GRADE CALCULATOR (Secondary, 1 hour):</a:t>
            </a:r>
          </a:p>
          <a:p>
            <a:r>
              <a:t>A simpler exercise for shorter sessions or as a warm-up:</a:t>
            </a:r>
          </a:p>
          <a:p>
            <a:r>
              <a:t>- Calculate weighted grades from multiple assignments</a:t>
            </a:r>
          </a:p>
          <a:p>
            <a:r>
              <a:t>- Generate grade reports with statistics</a:t>
            </a:r>
          </a:p>
          <a:p>
            <a:r>
              <a:t>- Focus on business logic correctness and comprehensive testing</a:t>
            </a:r>
          </a:p>
          <a:p>
            <a:r>
              <a:t>- Good for participants new to AI-native practices</a:t>
            </a:r>
          </a:p>
          <a:p/>
          <a:p>
            <a:r>
              <a:t>HOMEWORK EXERCISES:</a:t>
            </a:r>
          </a:p>
          <a:p>
            <a:r>
              <a:t>These are designed for participants to practice independently after the workshop:</a:t>
            </a:r>
          </a:p>
          <a:p>
            <a:r>
              <a:t>1. Book Library System: Full CRUD with relationships (books-authors-categories), search functionality, pagination. This exercises the complete spec-driven workflow.</a:t>
            </a:r>
          </a:p>
          <a:p>
            <a:r>
              <a:t>2. Event Registration Platform: More complex — includes business rules (capacity limits, registration deadlines), notifications, and multi-tier architecture.</a:t>
            </a:r>
          </a:p>
          <a:p/>
          <a:p>
            <a:r>
              <a:t>FACILITATION TIPS:</a:t>
            </a:r>
          </a:p>
          <a:p>
            <a:r>
              <a:t>- Have pre-written partial specs available for participants who struggle to start from scratch</a:t>
            </a:r>
          </a:p>
          <a:p>
            <a:r>
              <a:t>- Pair experienced and novice participants for pair-programming exercises</a:t>
            </a:r>
          </a:p>
          <a:p>
            <a:r>
              <a:t>- Use screen sharing to demonstrate each step before participants try it themselves</a:t>
            </a:r>
          </a:p>
          <a:p>
            <a:r>
              <a:t>- Common issue: participants want to jump straight to code — gently redirect to spec-first</a:t>
            </a:r>
          </a:p>
          <a:p>
            <a:r>
              <a:t>- Have backup solutions ready in case of tool/network issues</a:t>
            </a:r>
          </a:p>
          <a:p>
            <a:r>
              <a:t>- Allow time for discussion after each exercise — "What surprised you?" "What was harder/easier than expected?"</a:t>
            </a:r>
          </a:p>
          <a:p>
            <a:r>
              <a:t>- Encourage experimentation — there's no single "right" way to prompt AI</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40: Key Takeaways &amp; Next Steps</a:t>
            </a:r>
          </a:p>
          <a:p>
            <a:r>
              <a:t>------------------------------------------------------</a:t>
            </a:r>
          </a:p>
          <a:p>
            <a:r>
              <a:t>This is your closing slide for the main content. Make it impactful and action-oriented.</a:t>
            </a:r>
          </a:p>
          <a:p/>
          <a:p>
            <a:r>
              <a:t>WALK THROUGH EACH TAKEAWAY — connect it back to what they experienced:</a:t>
            </a:r>
          </a:p>
          <a:p/>
          <a:p>
            <a:r>
              <a:t>1. SPECS, NOT CODE: "Remember how we started every exercise with a specification? That's the foundation. When you teach your students, start with 'What are we building and why?' before 'How do we code it?'"</a:t>
            </a:r>
          </a:p>
          <a:p/>
          <a:p>
            <a:r>
              <a:t>2. HUMAN OVERSIGHT: "AI is powerful but not infallible. Every piece of generated code we reviewed today had at least something that needed human judgment — an edge case, a naming convention, a security consideration. Teach your students to be critical reviewers, not passive acceptors of AI output."</a:t>
            </a:r>
          </a:p>
          <a:p/>
          <a:p>
            <a:r>
              <a:t>3. TESTING &amp; SECURITY: "The test suite is your contract. If you have comprehensive tests, you can regenerate code with confidence. If you skip tests, you're building on sand. Security scanning isn't optional — it's a hygiene practice like testing."</a:t>
            </a:r>
          </a:p>
          <a:p/>
          <a:p>
            <a:r>
              <a:t>4. CI/CD: "Automation isn't about convenience — it's about consistency. Every commit gets the same rigorous checks. No human can maintain that consistency manually across hundreds of commits."</a:t>
            </a:r>
          </a:p>
          <a:p/>
          <a:p>
            <a:r>
              <a:t>5. MULTI-AGENT FUTURE: "Today we saw the foundations of multi-agent development. Within 2-3 years, most professional development environments will use orchestrated AI agents for different phases of the SDLC. Your students need to understand this paradigm."</a:t>
            </a:r>
          </a:p>
          <a:p/>
          <a:p>
            <a:r>
              <a:t>6. GOVERNANCE: "As AI becomes more powerful, governance becomes more important. Teach your students not just how to USE AI, but how to use it RESPONSIBLY — with policies, audit trails, and ethical consideration."</a:t>
            </a:r>
          </a:p>
          <a:p/>
          <a:p>
            <a:r>
              <a:t>NEXT STEPS — Make these concrete and actionable:</a:t>
            </a:r>
          </a:p>
          <a:p>
            <a:r>
              <a:t>1. Complete the homework exercises within the next 2 weeks</a:t>
            </a:r>
          </a:p>
          <a:p>
            <a:r>
              <a:t>2. Try using AI tools in your own development work before introducing them to students</a:t>
            </a:r>
          </a:p>
          <a:p>
            <a:r>
              <a:t>3. Start adapting one course to include spec-driven development concepts</a:t>
            </a:r>
          </a:p>
          <a:p>
            <a:r>
              <a:t>4. Share your experience with other faculty — be an advocate for AI-native practices</a:t>
            </a:r>
          </a:p>
          <a:p>
            <a:r>
              <a:t>5. Consider research opportunities — measuring AI impact on student learning, developing new assessment methods</a:t>
            </a:r>
          </a:p>
          <a:p/>
          <a:p>
            <a:r>
              <a:t>CALL TO ACTION: "You are the bridge between the AI revolution and the next generation of software engineers. How you teach will shape how they build. Thank you for investing this time in your professional development."</a:t>
            </a:r>
          </a:p>
          <a:p/>
          <a:p>
            <a:r>
              <a:t>RESOURCES:</a:t>
            </a:r>
          </a:p>
          <a:p>
            <a:r>
              <a:t>- Workshop materials will be shared via the course repository</a:t>
            </a:r>
          </a:p>
          <a:p>
            <a:r>
              <a:t>- Follow-up office hours available for implementation questions</a:t>
            </a:r>
          </a:p>
          <a:p>
            <a:r>
              <a:t>- Community of practice Slack/Discord channel for ongoing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41 (BACKUP): Prompt Engineering Templates</a:t>
            </a:r>
          </a:p>
          <a:p>
            <a:r>
              <a:t>-----------------------------------------------------------------</a:t>
            </a:r>
          </a:p>
          <a:p>
            <a:r>
              <a:t>This backup slide provides ready-to-use prompt templates for common software development tasks. Use this when participants need concrete examples.</a:t>
            </a:r>
          </a:p>
          <a:p/>
          <a:p>
            <a:r>
              <a:t>TEMPLATE 1 — REQUIREMENTS GATHERING:</a:t>
            </a:r>
          </a:p>
          <a:p>
            <a:r>
              <a:t>This template transforms a vague feature request into a structured specification. Key elements:</a:t>
            </a:r>
          </a:p>
          <a:p>
            <a:r>
              <a:t>- Role assignment: "You are a requirements analyst" — this primes the AI to think in terms of requirements, not code</a:t>
            </a:r>
          </a:p>
          <a:p>
            <a:r>
              <a:t>- Structured output: numbered functional requirements, non-functional requirements, acceptance criteria in Given/When/Then format</a:t>
            </a:r>
          </a:p>
          <a:p>
            <a:r>
              <a:t>- Edge cases: explicitly asking for edge cases catches scenarios humans often miss</a:t>
            </a:r>
          </a:p>
          <a:p>
            <a:r>
              <a:t>- Customization: replace {feature_description} with the actual feature. Be as detailed as possible.</a:t>
            </a:r>
          </a:p>
          <a:p/>
          <a:p>
            <a:r>
              <a:t>TEMPLATE 2 — CODE GENERATION:</a:t>
            </a:r>
          </a:p>
          <a:p>
            <a:r>
              <a:t>This template generates implementation code from an approved specification. Key elements:</a:t>
            </a:r>
          </a:p>
          <a:p>
            <a:r>
              <a:t>- Role: "senior backend developer" — encourages production-quality patterns</a:t>
            </a:r>
          </a:p>
          <a:p>
            <a:r>
              <a:t>- Input: the full specification, not just a one-line description</a:t>
            </a:r>
          </a:p>
          <a:p>
            <a:r>
              <a:t>- Constraints: specific language, framework, and patterns to follow</a:t>
            </a:r>
          </a:p>
          <a:p>
            <a:r>
              <a:t>- Quality requirements: validation, error handling, docstrings, type hints</a:t>
            </a:r>
          </a:p>
          <a:p>
            <a:r>
              <a:t>- Customization: adjust language/framework as needed, add project-specific conventions</a:t>
            </a:r>
          </a:p>
          <a:p/>
          <a:p>
            <a:r>
              <a:t>TEMPLATE 3 — TEST GENERATION:</a:t>
            </a:r>
          </a:p>
          <a:p>
            <a:r>
              <a:t>This template generates comprehensive tests. Key elements:</a:t>
            </a:r>
          </a:p>
          <a:p>
            <a:r>
              <a:t>- Dual input: both the code and the acceptance criteria — this ensures tests validate business requirements, not just code coverage</a:t>
            </a:r>
          </a:p>
          <a:p>
            <a:r>
              <a:t>- Multiple test types: unit, edge case, and integration</a:t>
            </a:r>
          </a:p>
          <a:p>
            <a:r>
              <a:t>- Customization: add specific testing framework preferences, mocking strategies</a:t>
            </a:r>
          </a:p>
          <a:p/>
          <a:p>
            <a:r>
              <a:t>GENERAL TIPS:</a:t>
            </a:r>
          </a:p>
          <a:p>
            <a:r>
              <a:t>- The "tips" column on the right provides meta-guidance for effective prompting</a:t>
            </a:r>
          </a:p>
          <a:p>
            <a:r>
              <a:t>- Chain-of-thought prompting is especially useful for architecture decisions</a:t>
            </a:r>
          </a:p>
          <a:p>
            <a:r>
              <a:t>- Iterative refinement is normal — first prompt rarely produces perfect output</a:t>
            </a:r>
          </a:p>
          <a:p>
            <a:r>
              <a:t>- Templates should be version-controlled alongside code</a:t>
            </a:r>
          </a:p>
          <a:p>
            <a:r>
              <a:t>- Encourage participants to build their own template library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42 (BACKUP): Kubernetes Deployment Architecture</a:t>
            </a:r>
          </a:p>
          <a:p>
            <a:r>
              <a:t>----------------------------------------------------------------------</a:t>
            </a:r>
          </a:p>
          <a:p>
            <a:r>
              <a:t>Use this slide when participants ask about container orchestration or production deployment.</a:t>
            </a:r>
          </a:p>
          <a:p/>
          <a:p>
            <a:r>
              <a:t>KUBERNETES CONCEPTS FOR FACULTY:</a:t>
            </a:r>
          </a:p>
          <a:p>
            <a:r>
              <a:t>- Kubernetes (K8s) is the industry standard for container orchestration</a:t>
            </a:r>
          </a:p>
          <a:p>
            <a:r>
              <a:t>- It automates deployment, scaling, and management of containerized applications</a:t>
            </a:r>
          </a:p>
          <a:p>
            <a:r>
              <a:t>- Even if students don't use K8s directly, understanding the concepts is valuable</a:t>
            </a:r>
          </a:p>
          <a:p/>
          <a:p>
            <a:r>
              <a:t>DEPLOYMENT YAML EXPLAINED:</a:t>
            </a:r>
          </a:p>
          <a:p>
            <a:r>
              <a:t>- apiVersion/kind: declares this is a Deployment resource</a:t>
            </a:r>
          </a:p>
          <a:p>
            <a:r>
              <a:t>- replicas: 3: runs three identical copies for availability</a:t>
            </a:r>
          </a:p>
          <a:p>
            <a:r>
              <a:t>- selector: tells K8s which pods belong to this deployment</a:t>
            </a:r>
          </a:p>
          <a:p>
            <a:r>
              <a:t>- container spec: which image to run, which ports to expose</a:t>
            </a:r>
          </a:p>
          <a:p>
            <a:r>
              <a:t>- resources: CPU and memory limits prevent runaway consumption</a:t>
            </a:r>
          </a:p>
          <a:p/>
          <a:p>
            <a:r>
              <a:t>ARCHITECTURE COMPONENTS:</a:t>
            </a:r>
          </a:p>
          <a:p>
            <a:r>
              <a:t>- Ingress Controller: routes external traffic to internal services (like a reverse proxy)</a:t>
            </a:r>
          </a:p>
          <a:p>
            <a:r>
              <a:t>- Service: provides a stable internal DNS name and load-balances across pods</a:t>
            </a:r>
          </a:p>
          <a:p>
            <a:r>
              <a:t>- Pods: the actual running containers — if one crashes, K8s restarts it automatically</a:t>
            </a:r>
          </a:p>
          <a:p>
            <a:r>
              <a:t>- PersistentVolume: durable storage that survives pod restarts (for databases)</a:t>
            </a:r>
          </a:p>
          <a:p/>
          <a:p>
            <a:r>
              <a:t>WHEN TO INTRODUCE TO STUDENTS:</a:t>
            </a:r>
          </a:p>
          <a:p>
            <a:r>
              <a:t>- After they understand Docker basics (containerization)</a:t>
            </a:r>
          </a:p>
          <a:p>
            <a:r>
              <a:t>- When discussing production deployment and scaling</a:t>
            </a:r>
          </a:p>
          <a:p>
            <a:r>
              <a:t>- In advanced courses on cloud computing or DevOps</a:t>
            </a:r>
          </a:p>
          <a:p>
            <a:r>
              <a:t>- Not necessary for introductory courses — Docker Compose is a simpler alternative</a:t>
            </a:r>
          </a:p>
          <a:p/>
          <a:p>
            <a:r>
              <a:t>AI-NATIVE CONNECTION:</a:t>
            </a:r>
          </a:p>
          <a:p>
            <a:r>
              <a:t>- AI can generate K8s YAML from high-level descriptions</a:t>
            </a:r>
          </a:p>
          <a:p>
            <a:r>
              <a:t>- "Deploy a Python API with 3 replicas, 256MB memory limit, and a PostgreSQL database"</a:t>
            </a:r>
          </a:p>
          <a:p>
            <a:r>
              <a:t>- AI can also generate Helm charts, Kustomize overlays, and ArgoCD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43 (BACKUP): Observability with OpenTelemetry</a:t>
            </a:r>
          </a:p>
          <a:p>
            <a:r>
              <a:t>---------------------------------------------------------------------</a:t>
            </a:r>
          </a:p>
          <a:p>
            <a:r>
              <a:t>Use this slide when discussing production monitoring or when participants ask about how to know if AI-generated code performs well in production.</a:t>
            </a:r>
          </a:p>
          <a:p/>
          <a:p>
            <a:r>
              <a:t>WHAT IS OBSERVABILITY?</a:t>
            </a:r>
          </a:p>
          <a:p>
            <a:r>
              <a:t>Observability is the ability to understand a system's internal state by examining its external outputs. The three pillars are:</a:t>
            </a:r>
          </a:p>
          <a:p>
            <a:r>
              <a:t>1. Metrics: numerical measurements over time (latency, throughput, error rates)</a:t>
            </a:r>
          </a:p>
          <a:p>
            <a:r>
              <a:t>2. Traces: end-to-end request journeys through distributed systems</a:t>
            </a:r>
          </a:p>
          <a:p>
            <a:r>
              <a:t>3. Logs: discrete events with context (error messages, audit records)</a:t>
            </a:r>
          </a:p>
          <a:p/>
          <a:p>
            <a:r>
              <a:t>OPENTELEMETRY (OTel):</a:t>
            </a:r>
          </a:p>
          <a:p>
            <a:r>
              <a:t>- Vendor-neutral, open-source observability framework</a:t>
            </a:r>
          </a:p>
          <a:p>
            <a:r>
              <a:t>- Provides APIs and SDKs for instrumenting applications</a:t>
            </a:r>
          </a:p>
          <a:p>
            <a:r>
              <a:t>- Supports all three pillars: metrics, traces, and logs</a:t>
            </a:r>
          </a:p>
          <a:p>
            <a:r>
              <a:t>- Works with most programming languages (Python, Java, Go, Node.js, etc.)</a:t>
            </a:r>
          </a:p>
          <a:p>
            <a:r>
              <a:t>- The OTel Collector receives, processes, and exports telemetry data</a:t>
            </a:r>
          </a:p>
          <a:p/>
          <a:p>
            <a:r>
              <a:t>ARCHITECTURE EXPLAINED:</a:t>
            </a:r>
          </a:p>
          <a:p>
            <a:r>
              <a:t>1. Application is instrumented with OTel SDK — adds automatic and custom telemetry</a:t>
            </a:r>
          </a:p>
          <a:p>
            <a:r>
              <a:t>2. OTel Collector aggregates data — acts as a pipeline for processing and routing</a:t>
            </a:r>
          </a:p>
          <a:p>
            <a:r>
              <a:t>3. Prometheus stores metrics — time-series database optimized for monitoring</a:t>
            </a:r>
          </a:p>
          <a:p>
            <a:r>
              <a:t>4. Jaeger stores traces — distributed tracing backend for request flow analysis</a:t>
            </a:r>
          </a:p>
          <a:p>
            <a:r>
              <a:t>5. Grafana visualizes everything — dashboards, alerts, and exploration</a:t>
            </a:r>
          </a:p>
          <a:p/>
          <a:p>
            <a:r>
              <a:t>WHY IT MATTERS FOR AI-NATIVE DEVELOPMENT:</a:t>
            </a:r>
          </a:p>
          <a:p>
            <a:r>
              <a:t>- AI-generated code may have performance characteristics you didn't expect</a:t>
            </a:r>
          </a:p>
          <a:p>
            <a:r>
              <a:t>- Monitoring helps you identify issues before users are affected</a:t>
            </a:r>
          </a:p>
          <a:p>
            <a:r>
              <a:t>- Feedback from production metrics feeds back into the AI-native cycle</a:t>
            </a:r>
          </a:p>
          <a:p>
            <a:r>
              <a:t>- Automated alerts can trigger re-generation or rollback of problematic code</a:t>
            </a:r>
          </a:p>
          <a:p/>
          <a:p>
            <a:r>
              <a:t>SETUP GUIDANCE:</a:t>
            </a:r>
          </a:p>
          <a:p>
            <a:r>
              <a:t>- Start simple: just metrics (Prometheus + Grafana)</a:t>
            </a:r>
          </a:p>
          <a:p>
            <a:r>
              <a:t>- Add traces when debugging distributed systems</a:t>
            </a:r>
          </a:p>
          <a:p>
            <a:r>
              <a:t>- OpenTelemetry auto-instrumentation requires minimal code changes</a:t>
            </a:r>
          </a:p>
          <a:p>
            <a:r>
              <a:t>- Docker Compose setups available for local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44 (BACKUP): Load Testing with k6</a:t>
            </a:r>
          </a:p>
          <a:p>
            <a:r>
              <a:t>---------------------------------------------------------</a:t>
            </a:r>
          </a:p>
          <a:p>
            <a:r>
              <a:t>Use this slide to demonstrate performance testing concepts and practices.</a:t>
            </a:r>
          </a:p>
          <a:p/>
          <a:p>
            <a:r>
              <a:t>WHAT IS K6?</a:t>
            </a:r>
          </a:p>
          <a:p>
            <a:r>
              <a:t>- Open-source load testing tool by Grafana Labs</a:t>
            </a:r>
          </a:p>
          <a:p>
            <a:r>
              <a:t>- Written in Go but tests are scripted in JavaScript</a:t>
            </a:r>
          </a:p>
          <a:p>
            <a:r>
              <a:t>- Designed for developer experience — tests are code, not GUI configurations</a:t>
            </a:r>
          </a:p>
          <a:p>
            <a:r>
              <a:t>- Integrates with CI/CD pipelines, Grafana dashboards, and cloud execution</a:t>
            </a:r>
          </a:p>
          <a:p/>
          <a:p>
            <a:r>
              <a:t>SCRIPT WALKTHROUGH:</a:t>
            </a:r>
          </a:p>
          <a:p>
            <a:r>
              <a:t>1. Import statements: http for making requests, check for assertions, sleep for pacing</a:t>
            </a:r>
          </a:p>
          <a:p>
            <a:r>
              <a:t>2. Options block defines the test profile:</a:t>
            </a:r>
          </a:p>
          <a:p>
            <a:r>
              <a:t>   - stages: ramp up to 20 virtual users over 30s, then to 50 users for 1 minute, then ramp down</a:t>
            </a:r>
          </a:p>
          <a:p>
            <a:r>
              <a:t>   - thresholds: the test FAILS if 95th percentile latency exceeds 500ms or if more than 1% of requests fail</a:t>
            </a:r>
          </a:p>
          <a:p>
            <a:r>
              <a:t>3. Default function: what each virtual user does per iteration</a:t>
            </a:r>
          </a:p>
          <a:p>
            <a:r>
              <a:t>   - Makes a GET request to the tasks API</a:t>
            </a:r>
          </a:p>
          <a:p>
            <a:r>
              <a:t>   - Checks the response status and timing</a:t>
            </a:r>
          </a:p>
          <a:p>
            <a:r>
              <a:t>   - Sleeps 1 second (simulates user think time)</a:t>
            </a:r>
          </a:p>
          <a:p/>
          <a:p>
            <a:r>
              <a:t>INTERPRETING RESULTS:</a:t>
            </a:r>
          </a:p>
          <a:p>
            <a:r>
              <a:t>- http_req_duration: how long requests take (look at p50, p90, p95, p99)</a:t>
            </a:r>
          </a:p>
          <a:p>
            <a:r>
              <a:t>- http_req_failed: percentage of failed requests</a:t>
            </a:r>
          </a:p>
          <a:p>
            <a:r>
              <a:t>- iterations: total number of complete test iterations</a:t>
            </a:r>
          </a:p>
          <a:p>
            <a:r>
              <a:t>- vus: number of active virtual users at any point</a:t>
            </a:r>
          </a:p>
          <a:p>
            <a:r>
              <a:t>- data_received/sent: network throughput</a:t>
            </a:r>
          </a:p>
          <a:p/>
          <a:p>
            <a:r>
              <a:t>COMMON BOTTLENECKS k6 HELPS IDENTIFY:</a:t>
            </a:r>
          </a:p>
          <a:p>
            <a:r>
              <a:t>- Database connection pool exhaustion</a:t>
            </a:r>
          </a:p>
          <a:p>
            <a:r>
              <a:t>- Memory leaks under sustained load</a:t>
            </a:r>
          </a:p>
          <a:p>
            <a:r>
              <a:t>- CPU-bound operations that don't scale</a:t>
            </a:r>
          </a:p>
          <a:p>
            <a:r>
              <a:t>- Network timeouts and connection limits</a:t>
            </a:r>
          </a:p>
          <a:p>
            <a:r>
              <a:t>- Thread/process starvation</a:t>
            </a:r>
          </a:p>
          <a:p/>
          <a:p>
            <a:r>
              <a:t>AI-NATIVE CONNECTION:</a:t>
            </a:r>
          </a:p>
          <a:p>
            <a:r>
              <a:t>- AI can generate k6 scripts from API specs</a:t>
            </a:r>
          </a:p>
          <a:p>
            <a:r>
              <a:t>- "Generate a k6 load test for the Task Management API that tests all CRUD endpoints with realistic data"</a:t>
            </a:r>
          </a:p>
          <a:p>
            <a:r>
              <a:t>- AI can also help interpret results and suggest optimizations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45 (BACKUP): End-to-End Testing with Playwright</a:t>
            </a:r>
          </a:p>
          <a:p>
            <a:r>
              <a:t>----------------------------------------------------------------------</a:t>
            </a:r>
          </a:p>
          <a:p>
            <a:r>
              <a:t>Use this slide when discussing comprehensive testing strategies or when participants ask about UI testing.</a:t>
            </a:r>
          </a:p>
          <a:p/>
          <a:p>
            <a:r>
              <a:t>WHAT IS PLAYWRIGHT?</a:t>
            </a:r>
          </a:p>
          <a:p>
            <a:r>
              <a:t>- Modern end-to-end testing framework by Microsoft</a:t>
            </a:r>
          </a:p>
          <a:p>
            <a:r>
              <a:t>- Supports Chromium, Firefox, and WebKit browsers</a:t>
            </a:r>
          </a:p>
          <a:p>
            <a:r>
              <a:t>- Auto-waits for elements — no manual sleep/wait statements needed</a:t>
            </a:r>
          </a:p>
          <a:p>
            <a:r>
              <a:t>- Supports multiple programming languages (JavaScript, Python, Java, C#)</a:t>
            </a:r>
          </a:p>
          <a:p>
            <a:r>
              <a:t>- Built-in test runner with parallel execution and reporting</a:t>
            </a:r>
          </a:p>
          <a:p/>
          <a:p>
            <a:r>
              <a:t>SCRIPT WALKTHROUGH:</a:t>
            </a:r>
          </a:p>
          <a:p>
            <a:r>
              <a:t>1. Import test and expect from Playwright's test library</a:t>
            </a:r>
          </a:p>
          <a:p>
            <a:r>
              <a:t>2. Define a test case: "create a new task"</a:t>
            </a:r>
          </a:p>
          <a:p>
            <a:r>
              <a:t>3. Navigate to the application URL</a:t>
            </a:r>
          </a:p>
          <a:p>
            <a:r>
              <a:t>4. Interact with UI elements: click buttons, fill inputs</a:t>
            </a:r>
          </a:p>
          <a:p>
            <a:r>
              <a:t>5. Submit the form</a:t>
            </a:r>
          </a:p>
          <a:p>
            <a:r>
              <a:t>6. Assert that the expected result appears on the page</a:t>
            </a:r>
          </a:p>
          <a:p/>
          <a:p>
            <a:r>
              <a:t>KEY PLAYWRIGHT FEATURES:</a:t>
            </a:r>
          </a:p>
          <a:p>
            <a:r>
              <a:t>- Auto-waiting: Playwright waits for elements to be ready before interacting</a:t>
            </a:r>
          </a:p>
          <a:p>
            <a:r>
              <a:t>- Locator strategies: text, CSS selectors, role-based selectors, XPath</a:t>
            </a:r>
          </a:p>
          <a:p>
            <a:r>
              <a:t>- Network interception: mock API responses for isolated testing</a:t>
            </a:r>
          </a:p>
          <a:p>
            <a:r>
              <a:t>- Screenshot and video recording for debugging</a:t>
            </a:r>
          </a:p>
          <a:p>
            <a:r>
              <a:t>- Parallel execution across browsers for faster CI/CD</a:t>
            </a:r>
          </a:p>
          <a:p/>
          <a:p>
            <a:r>
              <a:t>TESTING PYRAMID CONCEPT:</a:t>
            </a:r>
          </a:p>
          <a:p>
            <a:r>
              <a:t>- Unit Tests (base, most numerous): fast, isolated, test individual functions</a:t>
            </a:r>
          </a:p>
          <a:p>
            <a:r>
              <a:t>- Integration Tests (middle): test how components work together, API contracts</a:t>
            </a:r>
          </a:p>
          <a:p>
            <a:r>
              <a:t>- E2E Tests (top, fewest): test full user workflows through the actual UI</a:t>
            </a:r>
          </a:p>
          <a:p>
            <a:r>
              <a:t>- Rule of thumb: 70% unit, 20% integration, 10% E2E</a:t>
            </a:r>
          </a:p>
          <a:p>
            <a:r>
              <a:t>- E2E tests are expensive to write and maintain — use them for critical user journeys only</a:t>
            </a:r>
          </a:p>
          <a:p/>
          <a:p>
            <a:r>
              <a:t>AI-NATIVE CONNECTION:</a:t>
            </a:r>
          </a:p>
          <a:p>
            <a:r>
              <a:t>- AI can generate Playwright tests from user stories or UI mockups</a:t>
            </a:r>
          </a:p>
          <a:p>
            <a:r>
              <a:t>- "Given this user story: 'As a user, I can create a task with a title and description', generate a Playwright E2E test"</a:t>
            </a:r>
          </a:p>
          <a:p>
            <a:r>
              <a:t>- AI can also generate Page Object Models from HTML structure</a:t>
            </a:r>
          </a:p>
          <a:p>
            <a:r>
              <a:t>- Combine with visual regression testing for comprehensive coverage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46 (BACKUP): Research Opportunities for Faculty</a:t>
            </a:r>
          </a:p>
          <a:p>
            <a:r>
              <a:t>----------------------------------------------------------------------</a:t>
            </a:r>
          </a:p>
          <a:p>
            <a:r>
              <a:t>This slide is specifically for faculty who are interested in conducting research in AI-native software engineering. Use it to spark research conversations.</a:t>
            </a:r>
          </a:p>
          <a:p/>
          <a:p>
            <a:r>
              <a:t>RESEARCH AREA 1 — AI-ASSISTED SE EDUCATION:</a:t>
            </a:r>
          </a:p>
          <a:p>
            <a:r>
              <a:t>- Research questions: Does AI-native methodology improve student learning outcomes? Does it help or hinder conceptual understanding? How do students' problem-solving strategies change?</a:t>
            </a:r>
          </a:p>
          <a:p>
            <a:r>
              <a:t>- Methods: controlled studies comparing AI-native vs. traditional teaching, surveys, code quality analysis</a:t>
            </a:r>
          </a:p>
          <a:p>
            <a:r>
              <a:t>- Potential venues: SIGCSE, ITiCSE, ICSE-SEET, ACM TOCE</a:t>
            </a:r>
          </a:p>
          <a:p/>
          <a:p>
            <a:r>
              <a:t>RESEARCH AREA 2 — SPEC-TO-CODE TRACEABILITY:</a:t>
            </a:r>
          </a:p>
          <a:p>
            <a:r>
              <a:t>- Research questions: Can formal traceability be maintained when AI generates code from specs? How do we verify that generated code satisfies the original requirements?</a:t>
            </a:r>
          </a:p>
          <a:p>
            <a:r>
              <a:t>- Methods: static analysis, formal verification, mutation testing of generated code</a:t>
            </a:r>
          </a:p>
          <a:p>
            <a:r>
              <a:t>- Potential venues: ICSE, FSE, ASE, TOSEM</a:t>
            </a:r>
          </a:p>
          <a:p/>
          <a:p>
            <a:r>
              <a:t>RESEARCH AREA 3 — AGENTIC SDLC EFFECTIVENESS:</a:t>
            </a:r>
          </a:p>
          <a:p>
            <a:r>
              <a:t>- Research questions: Are multi-agent workflows more effective than single LLM approaches? What orchestration patterns yield the best results? How does agent specialization affect output quality?</a:t>
            </a:r>
          </a:p>
          <a:p>
            <a:r>
              <a:t>- Methods: empirical studies, case studies, benchmarking frameworks</a:t>
            </a:r>
          </a:p>
          <a:p>
            <a:r>
              <a:t>- Potential venues: ICSE, FSE, AAAI, NeurIPS (AI agent tracks)</a:t>
            </a:r>
          </a:p>
          <a:p/>
          <a:p>
            <a:r>
              <a:t>RESEARCH AREA 4 — SECURITY OF GENERATED CODE:</a:t>
            </a:r>
          </a:p>
          <a:p>
            <a:r>
              <a:t>- Research questions: What vulnerability patterns are common in AI-generated code? Are they different from human-introduced vulnerabilities? Can AI-based security tools catch AI-introduced bugs?</a:t>
            </a:r>
          </a:p>
          <a:p>
            <a:r>
              <a:t>- Methods: static analysis of generated codebases, vulnerability benchmarks, red-team exercises</a:t>
            </a:r>
          </a:p>
          <a:p>
            <a:r>
              <a:t>- Potential venues: USENIX Security, CCS, S&amp;P, NDSS</a:t>
            </a:r>
          </a:p>
          <a:p/>
          <a:p>
            <a:r>
              <a:t>RESEARCH AREA 5 — HUMAN-AI COLLABORATION:</a:t>
            </a:r>
          </a:p>
          <a:p>
            <a:r>
              <a:t>- Research questions: How do developers' roles evolve? What skills become more important? How does team dynamics change?</a:t>
            </a:r>
          </a:p>
          <a:p>
            <a:r>
              <a:t>- Methods: ethnographic studies, longitudinal observations, interview studies</a:t>
            </a:r>
          </a:p>
          <a:p/>
          <a:p>
            <a:r>
              <a:t>RESEARCH AREA 6 — COST-BENEFIT ANALYSIS:</a:t>
            </a:r>
          </a:p>
          <a:p>
            <a:r>
              <a:t>- Research questions: What is the true ROI? How do we measure it? What are the hidden costs?</a:t>
            </a:r>
          </a:p>
          <a:p>
            <a:r>
              <a:t>- Methods: case studies, time-motion studies, productivity metrics analysis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47 (BACKUP): Instructor Guide &amp; Pitfalls</a:t>
            </a:r>
          </a:p>
          <a:p>
            <a:r>
              <a:t>----------------------------------------------------------------</a:t>
            </a:r>
          </a:p>
          <a:p>
            <a:r>
              <a:t>This slide is a practical guide for facilitators delivering this workshop or teaching AI-native practices in their own courses.</a:t>
            </a:r>
          </a:p>
          <a:p/>
          <a:p>
            <a:r>
              <a:t>COMMON PITFALLS IN DETAIL:</a:t>
            </a:r>
          </a:p>
          <a:p/>
          <a:p>
            <a:r>
              <a:t>1. SKIPPING THE SPEC: The most common issue. Students (and professionals!) want to immediately start generating code. Mitigation: make spec submission a prerequisite for the next stage. Grade the spec independently. Show examples of how bad specs produce bad code.</a:t>
            </a:r>
          </a:p>
          <a:p/>
          <a:p>
            <a:r>
              <a:t>2. OVER-RELIANCE WITHOUT UNDERSTANDING: Students may produce working code without understanding how it works. This is dangerous in professional settings. Mitigation: require oral defenses, code modification exercises ("change the data model from X to Y and explain what else needs to change"), and design justification documentation.</a:t>
            </a:r>
          </a:p>
          <a:p/>
          <a:p>
            <a:r>
              <a:t>3. COPY-PASTE WITHOUT REVIEW: AI output is treated as gospel. Mitigation: implement mandatory code review checklists, require students to annotate generated code with comments explaining what each section does, mandate minimum test coverage.</a:t>
            </a:r>
          </a:p>
          <a:p/>
          <a:p>
            <a:r>
              <a:t>4. IGNORING SECURITY: AI-generated code may include vulnerabilities that students don't recognize. Mitigation: integrate automated security scanning (Snyk, Bandit, etc.) into the CI/CD pipeline, make security findings a graded component.</a:t>
            </a:r>
          </a:p>
          <a:p/>
          <a:p>
            <a:r>
              <a:t>5. PROMPT FRUSTRATION: Students may struggle to get useful outputs from AI. Mitigation: provide starter prompt templates, teach the iterative refinement process (prompt -&gt; review -&gt; refine -&gt; repeat), share examples of effective vs. ineffective prompts.</a:t>
            </a:r>
          </a:p>
          <a:p/>
          <a:p>
            <a:r>
              <a:t>6. TOOL ACCESS: Not all students have access to paid AI tools. Mitigation: use free tiers (GitHub Copilot for students, free ChatGPT), have offline exercises as backup, consider institutional licenses.</a:t>
            </a:r>
          </a:p>
          <a:p/>
          <a:p>
            <a:r>
              <a:t>FACILITATION BEST PRACTICES:</a:t>
            </a:r>
          </a:p>
          <a:p>
            <a:r>
              <a:t>- Read the room: if participants are experienced, go faster through basics; if novice, spend more time on fundamentals</a:t>
            </a:r>
          </a:p>
          <a:p>
            <a:r>
              <a:t>- Use the "I do, we do, you do" progression for each exercise</a:t>
            </a:r>
          </a:p>
          <a:p>
            <a:r>
              <a:t>- Keep energy high: alternate between presentation, discussion, and hands-on every 20-30 minutes</a:t>
            </a:r>
          </a:p>
          <a:p>
            <a:r>
              <a:t>- Collect feedback: end-of-session survey to improve future deliveries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48 (BACKUP): Assessment Rubric for AI-Native Projects</a:t>
            </a:r>
          </a:p>
          <a:p>
            <a:r>
              <a:t>---------------------------------------------------------------------------</a:t>
            </a:r>
          </a:p>
          <a:p>
            <a:r>
              <a:t>This rubric provides a framework for fairly assessing student work in AI-native development courses.</a:t>
            </a:r>
          </a:p>
          <a:p/>
          <a:p>
            <a:r>
              <a:t>THE CHALLENGE: When AI can generate most of the code, how do you assess student learning?</a:t>
            </a:r>
          </a:p>
          <a:p/>
          <a:p>
            <a:r>
              <a:t>RUBRIC WALKTHROUGH:</a:t>
            </a:r>
          </a:p>
          <a:p/>
          <a:p>
            <a:r>
              <a:t>1. SPECIFICATION QUALITY (Most Important):</a:t>
            </a:r>
          </a:p>
          <a:p>
            <a:r>
              <a:t>- Excellent: Complete functional and non-functional requirements, structured format, clear acceptance criteria in Given/When/Then, edge cases identified</a:t>
            </a:r>
          </a:p>
          <a:p>
            <a:r>
              <a:t>- This is the primary indicator of student understanding — writing a good spec requires deep domain knowledge</a:t>
            </a:r>
          </a:p>
          <a:p>
            <a:r>
              <a:t>- Tip: Weight this criterion heavily (25-30% of total grade)</a:t>
            </a:r>
          </a:p>
          <a:p/>
          <a:p>
            <a:r>
              <a:t>2. ARCHITECTURE DECISION:</a:t>
            </a:r>
          </a:p>
          <a:p>
            <a:r>
              <a:t>- Excellent: Clear architecture choice with documented trade-offs, Architecture Decision Records (ADRs), consideration of alternatives</a:t>
            </a:r>
          </a:p>
          <a:p>
            <a:r>
              <a:t>- This tests critical thinking — can the student evaluate options and justify choices?</a:t>
            </a:r>
          </a:p>
          <a:p>
            <a:r>
              <a:t>- Tip: Require oral defense of architecture decisions</a:t>
            </a:r>
          </a:p>
          <a:p/>
          <a:p>
            <a:r>
              <a:t>3. CODE QUALITY &amp; REVIEW:</a:t>
            </a:r>
          </a:p>
          <a:p>
            <a:r>
              <a:t>- Excellent: Evidence of human review — meaningful modifications to AI output, comments explaining changes, consistent style</a:t>
            </a:r>
          </a:p>
          <a:p>
            <a:r>
              <a:t>- Red flag: code that looks 100% AI-generated with no human fingerprint</a:t>
            </a:r>
          </a:p>
          <a:p>
            <a:r>
              <a:t>- Tip: Use diff tools to compare AI-generated code with submitted version</a:t>
            </a:r>
          </a:p>
          <a:p/>
          <a:p>
            <a:r>
              <a:t>4. TESTING COVERAGE:</a:t>
            </a:r>
          </a:p>
          <a:p>
            <a:r>
              <a:t>- Excellent: Multiple test types, edge cases covered, meaningful assertions (not just "test passes")</a:t>
            </a:r>
          </a:p>
          <a:p>
            <a:r>
              <a:t>- Tests should validate spec requirements, not just code paths</a:t>
            </a:r>
          </a:p>
          <a:p>
            <a:r>
              <a:t>- Tip: Review test quality, not just coverage percentage</a:t>
            </a:r>
          </a:p>
          <a:p/>
          <a:p>
            <a:r>
              <a:t>5. SECURITY PRACTICE:</a:t>
            </a:r>
          </a:p>
          <a:p>
            <a:r>
              <a:t>- Excellent: Automated security scanning in CI/CD, vulnerabilities identified and addressed, security considerations documented</a:t>
            </a:r>
          </a:p>
          <a:p>
            <a:r>
              <a:t>- This teaches professional practice — security is not optional</a:t>
            </a:r>
          </a:p>
          <a:p/>
          <a:p>
            <a:r>
              <a:t>6. PROCESS DOCUMENTATION:</a:t>
            </a:r>
          </a:p>
          <a:p>
            <a:r>
              <a:t>- Excellent: Full log of AI interactions (what prompts were used, what was generated, what was changed and why)</a:t>
            </a:r>
          </a:p>
          <a:p>
            <a:r>
              <a:t>- This is unique to AI-native assessment — it shows the student's thinking process</a:t>
            </a:r>
          </a:p>
          <a:p>
            <a:r>
              <a:t>- Tip: Use this as the primary evidence of learning when code quality alone is ambiguous</a:t>
            </a:r>
          </a:p>
          <a:p/>
          <a:p>
            <a:r>
              <a:t>RECOMMENDED GRADE WEIGHTS:</a:t>
            </a:r>
          </a:p>
          <a:p>
            <a:r>
              <a:t>- Specification: 25%</a:t>
            </a:r>
          </a:p>
          <a:p>
            <a:r>
              <a:t>- Architecture: 15%</a:t>
            </a:r>
          </a:p>
          <a:p>
            <a:r>
              <a:t>- Code Quality: 15%</a:t>
            </a:r>
          </a:p>
          <a:p>
            <a:r>
              <a:t>- Testing: 20%</a:t>
            </a:r>
          </a:p>
          <a:p>
            <a:r>
              <a:t>- Security: 10%</a:t>
            </a:r>
          </a:p>
          <a:p>
            <a:r>
              <a:t>- Documentation: 15%</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49 (BACKUP): AI Development Tool Comparison</a:t>
            </a:r>
          </a:p>
          <a:p>
            <a:r>
              <a:t>-------------------------------------------------------------------</a:t>
            </a:r>
          </a:p>
          <a:p>
            <a:r>
              <a:t>This comparison helps participants choose the right tools for their teaching context.</a:t>
            </a:r>
          </a:p>
          <a:p/>
          <a:p>
            <a:r>
              <a:t>TOOL DETAILS:</a:t>
            </a:r>
          </a:p>
          <a:p/>
          <a:p>
            <a:r>
              <a:t>GITHUB COPILOT:</a:t>
            </a:r>
          </a:p>
          <a:p>
            <a:r>
              <a:t>- Best for: inline code completion, test generation, code explanation</a:t>
            </a:r>
          </a:p>
          <a:p>
            <a:r>
              <a:t>- Integration: VS Code, JetBrains, Neovim</a:t>
            </a:r>
          </a:p>
          <a:p>
            <a:r>
              <a:t>- Free for verified students and teachers through GitHub Education</a:t>
            </a:r>
          </a:p>
          <a:p>
            <a:r>
              <a:t>- Strengths: seamless IDE integration, learns from your codebase context</a:t>
            </a:r>
          </a:p>
          <a:p>
            <a:r>
              <a:t>- Limitations: less effective for architectural decisions, doesn't do full-file edits</a:t>
            </a:r>
          </a:p>
          <a:p/>
          <a:p>
            <a:r>
              <a:t>CURSOR:</a:t>
            </a:r>
          </a:p>
          <a:p>
            <a:r>
              <a:t>- Best for: agentic coding workflows, full-file editing, multi-file changes</a:t>
            </a:r>
          </a:p>
          <a:p>
            <a:r>
              <a:t>- Built on VS Code — familiar interface with AI superpowers</a:t>
            </a:r>
          </a:p>
          <a:p>
            <a:r>
              <a:t>- Composer mode for multi-file generation, chat for Q&amp;A, agent mode for autonomous tasks</a:t>
            </a:r>
          </a:p>
          <a:p>
            <a:r>
              <a:t>- Strengths: context-aware across entire projects, supports multiple AI models</a:t>
            </a:r>
          </a:p>
          <a:p>
            <a:r>
              <a:t>- Cost consideration: $20/month may be a barrier for students</a:t>
            </a:r>
          </a:p>
          <a:p/>
          <a:p>
            <a:r>
              <a:t>CLAUDE (ANTHROPIC):</a:t>
            </a:r>
          </a:p>
          <a:p>
            <a:r>
              <a:t>- Best for: long-context analysis, architecture discussions, specification writing</a:t>
            </a:r>
          </a:p>
          <a:p>
            <a:r>
              <a:t>- 200K token context window — can analyze large codebases</a:t>
            </a:r>
          </a:p>
          <a:p>
            <a:r>
              <a:t>- Strong reasoning capabilities for complex design decisions</a:t>
            </a:r>
          </a:p>
          <a:p>
            <a:r>
              <a:t>- Artifacts feature for generating structured documents</a:t>
            </a:r>
          </a:p>
          <a:p>
            <a:r>
              <a:t>- MCP integration for tool connectivity</a:t>
            </a:r>
          </a:p>
          <a:p/>
          <a:p>
            <a:r>
              <a:t>CHATGPT (OPENAI):</a:t>
            </a:r>
          </a:p>
          <a:p>
            <a:r>
              <a:t>- Best for: general-purpose coding assistance, explaining concepts, brainstorming</a:t>
            </a:r>
          </a:p>
          <a:p>
            <a:r>
              <a:t>- Broad training data covers many languages and frameworks</a:t>
            </a:r>
          </a:p>
          <a:p>
            <a:r>
              <a:t>- Code Interpreter for running Python code directly</a:t>
            </a:r>
          </a:p>
          <a:p>
            <a:r>
              <a:t>- Plugin ecosystem for extended capabilities</a:t>
            </a:r>
          </a:p>
          <a:p/>
          <a:p>
            <a:r>
              <a:t>WINDSURF:</a:t>
            </a:r>
          </a:p>
          <a:p>
            <a:r>
              <a:t>- Best for: end-to-end AI-native development with Cascade flows</a:t>
            </a:r>
          </a:p>
          <a:p>
            <a:r>
              <a:t>- Unique approach: multi-step workflows that chain AI actions</a:t>
            </a:r>
          </a:p>
          <a:p>
            <a:r>
              <a:t>- Good for demonstrating AI-native SDLC in practice</a:t>
            </a:r>
          </a:p>
          <a:p/>
          <a:p>
            <a:r>
              <a:t>COST CONSIDERATIONS FOR ACADEMIC USE:</a:t>
            </a:r>
          </a:p>
          <a:p>
            <a:r>
              <a:t>- Start with free tiers to evaluate</a:t>
            </a:r>
          </a:p>
          <a:p>
            <a:r>
              <a:t>- Apply for educational discounts where available</a:t>
            </a:r>
          </a:p>
          <a:p>
            <a:r>
              <a:t>- Consider institutional licenses for class-wide access</a:t>
            </a:r>
          </a:p>
          <a:p>
            <a:r>
              <a:t>- Have offline alternatives ready for students without access</a:t>
            </a:r>
          </a:p>
          <a:p>
            <a:r>
              <a:t>- Mix of tools often works best — different tools for different tasks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50 (BACKUP): Architecture Patterns for AI-Native Systems</a:t>
            </a:r>
          </a:p>
          <a:p>
            <a:r>
              <a:t>--------------------------------------------------------------------------------</a:t>
            </a:r>
          </a:p>
          <a:p>
            <a:r>
              <a:t>Use this slide when discussing advanced architecture topics or when participants ask about more complex system designs.</a:t>
            </a:r>
          </a:p>
          <a:p/>
          <a:p>
            <a:r>
              <a:t>EVENT-DRIVEN ARCHITECTURE:</a:t>
            </a:r>
          </a:p>
          <a:p>
            <a:r>
              <a:t>- Components communicate by producing and consuming events through an event bus (Kafka, RabbitMQ, AWS SNS/SQS)</a:t>
            </a:r>
          </a:p>
          <a:p>
            <a:r>
              <a:t>- Producers don't know about consumers — loose coupling</a:t>
            </a:r>
          </a:p>
          <a:p>
            <a:r>
              <a:t>- Events are immutable facts: "TaskCreated", "UserRegistered", "PaymentProcessed"</a:t>
            </a:r>
          </a:p>
          <a:p>
            <a:r>
              <a:t>- Benefits for AI-native: AI can generate event schemas, producers, and consumers independently</a:t>
            </a:r>
          </a:p>
          <a:p>
            <a:r>
              <a:t>- When to use: microservices that need to communicate asynchronously, systems with complex workflows, real-time data processing</a:t>
            </a:r>
          </a:p>
          <a:p>
            <a:r>
              <a:t>- Example prompt: "Design an event-driven architecture for a task management system where task creation triggers notification and audit logging"</a:t>
            </a:r>
          </a:p>
          <a:p/>
          <a:p>
            <a:r>
              <a:t>CQRS (COMMAND QUERY RESPONSIBILITY SEGREGATION):</a:t>
            </a:r>
          </a:p>
          <a:p>
            <a:r>
              <a:t>- Separate the read model (optimized for queries) from the write model (optimized for commands)</a:t>
            </a:r>
          </a:p>
          <a:p>
            <a:r>
              <a:t>- Commands change state: CreateTask, UpdateTask, DeleteTask</a:t>
            </a:r>
          </a:p>
          <a:p>
            <a:r>
              <a:t>- Queries read state: GetTasks, GetTaskById, SearchTasks</a:t>
            </a:r>
          </a:p>
          <a:p>
            <a:r>
              <a:t>- Often combined with Event Sourcing — store events instead of current state</a:t>
            </a:r>
          </a:p>
          <a:p>
            <a:r>
              <a:t>- Benefits for AI-native: clear separation makes it easier for AI to generate each side independently</a:t>
            </a:r>
          </a:p>
          <a:p>
            <a:r>
              <a:t>- When to use: systems with very different read and write patterns, complex domains, audit requirements</a:t>
            </a:r>
          </a:p>
          <a:p>
            <a:r>
              <a:t>- Example prompt: "Generate a CQRS implementation for task management with separate command and query handlers"</a:t>
            </a:r>
          </a:p>
          <a:p/>
          <a:p>
            <a:r>
              <a:t>HEXAGONAL ARCHITECTURE (PORTS &amp; ADAPTERS):</a:t>
            </a:r>
          </a:p>
          <a:p>
            <a:r>
              <a:t>- Core business logic is isolated in the center with no external dependencies</a:t>
            </a:r>
          </a:p>
          <a:p>
            <a:r>
              <a:t>- Ports: interfaces that define how the core communicates with the outside world</a:t>
            </a:r>
          </a:p>
          <a:p>
            <a:r>
              <a:t>- Adapters: implementations of ports for specific technologies (REST adapter, database adapter, message queue adapter)</a:t>
            </a:r>
          </a:p>
          <a:p>
            <a:r>
              <a:t>- Benefits for AI-native: the core logic is testable without infrastructure, AI can generate adapters for different technologies without touching business logic</a:t>
            </a:r>
          </a:p>
          <a:p>
            <a:r>
              <a:t>- When to use: any system where you want maintainability, testability, and flexibility</a:t>
            </a:r>
          </a:p>
          <a:p>
            <a:r>
              <a:t>- Example prompt: "Generate a hexagonal architecture for a grade calculator with ports for input (REST API) and output (database, PDF report)"</a:t>
            </a:r>
          </a:p>
          <a:p/>
          <a:p>
            <a:r>
              <a:t>AI-NATIVE CONNECTION:</a:t>
            </a:r>
          </a:p>
          <a:p>
            <a:r>
              <a:t>- These patterns make AI-generated code more maintainable because they enforce clear boundaries</a:t>
            </a:r>
          </a:p>
          <a:p>
            <a:r>
              <a:t>- AI excels at generating adapter code (boilerplate) while humans focus on core business rules</a:t>
            </a:r>
          </a:p>
          <a:p>
            <a:r>
              <a:t>- Pattern selection itself can be AI-assisted: describe your requirements and ask AI to recommend and justify a pattern choice</a:t>
            </a:r>
          </a:p>
          <a:p>
            <a:r>
              <a:t>- Each pattern has well-documented templates that AI can follow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DDEBF7"/>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640080"/>
          </a:xfrm>
          <a:prstGeom prst="rect">
            <a:avLst/>
          </a:prstGeom>
          <a:noFill/>
        </p:spPr>
        <p:txBody>
          <a:bodyPr wrap="square">
            <a:spAutoFit/>
          </a:bodyPr>
          <a:lstStyle/>
          <a:p>
            <a:pPr algn="l"/>
            <a:r>
              <a:rPr sz="3800" b="1">
                <a:solidFill>
                  <a:srgbClr val="FFFFFF"/>
                </a:solidFill>
                <a:latin typeface="Calibri"/>
              </a:rPr>
              <a:t>AI-Native Software Development</a:t>
            </a:r>
          </a:p>
        </p:txBody>
      </p:sp>
      <p:sp>
        <p:nvSpPr>
          <p:cNvPr id="4" name="TextBox 3"/>
          <p:cNvSpPr txBox="1"/>
          <p:nvPr/>
        </p:nvSpPr>
        <p:spPr>
          <a:xfrm>
            <a:off x="548640" y="822960"/>
            <a:ext cx="10972800" cy="457200"/>
          </a:xfrm>
          <a:prstGeom prst="rect">
            <a:avLst/>
          </a:prstGeom>
          <a:noFill/>
        </p:spPr>
        <p:txBody>
          <a:bodyPr wrap="square">
            <a:spAutoFit/>
          </a:bodyPr>
          <a:lstStyle/>
          <a:p>
            <a:pPr algn="l"/>
            <a:r>
              <a:rPr sz="2200" b="0">
                <a:solidFill>
                  <a:srgbClr val="DDEBF7"/>
                </a:solidFill>
                <a:latin typeface="Calibri"/>
              </a:rPr>
              <a:t>Theory, Methodology &amp; Hands-On Practical Sessions</a:t>
            </a:r>
          </a:p>
        </p:txBody>
      </p:sp>
      <p:sp>
        <p:nvSpPr>
          <p:cNvPr id="5" name="TextBox 4"/>
          <p:cNvSpPr txBox="1"/>
          <p:nvPr/>
        </p:nvSpPr>
        <p:spPr>
          <a:xfrm>
            <a:off x="548640" y="1828800"/>
            <a:ext cx="7315200" cy="457200"/>
          </a:xfrm>
          <a:prstGeom prst="rect">
            <a:avLst/>
          </a:prstGeom>
          <a:noFill/>
        </p:spPr>
        <p:txBody>
          <a:bodyPr wrap="square">
            <a:spAutoFit/>
          </a:bodyPr>
          <a:lstStyle/>
          <a:p>
            <a:pPr algn="l"/>
            <a:r>
              <a:rPr sz="1800" b="0">
                <a:solidFill>
                  <a:srgbClr val="2D3436"/>
                </a:solidFill>
                <a:latin typeface="Calibri"/>
              </a:rPr>
              <a:t>Faculty Development Program  |  4-5 Hour Interactive Workshop</a:t>
            </a:r>
          </a:p>
        </p:txBody>
      </p:sp>
      <p:sp>
        <p:nvSpPr>
          <p:cNvPr id="6" name="TextBox 5"/>
          <p:cNvSpPr txBox="1"/>
          <p:nvPr/>
        </p:nvSpPr>
        <p:spPr>
          <a:xfrm>
            <a:off x="548640" y="2377440"/>
            <a:ext cx="9144000" cy="731520"/>
          </a:xfrm>
          <a:prstGeom prst="rect">
            <a:avLst/>
          </a:prstGeom>
          <a:noFill/>
        </p:spPr>
        <p:txBody>
          <a:bodyPr wrap="square">
            <a:spAutoFit/>
          </a:bodyPr>
          <a:lstStyle/>
          <a:p>
            <a:pPr algn="l"/>
            <a:r>
              <a:rPr sz="1400" b="0">
                <a:solidFill>
                  <a:srgbClr val="636E72"/>
                </a:solidFill>
                <a:latin typeface="Calibri"/>
              </a:rPr>
              <a:t>From foundational concepts to advanced AI-native engineering
Includes guided practical labs, spec-driven development &amp; multi-agent workflows</a:t>
            </a:r>
          </a:p>
        </p:txBody>
      </p:sp>
      <p:sp>
        <p:nvSpPr>
          <p:cNvPr id="7" name="Rounded Rectangle 6"/>
          <p:cNvSpPr/>
          <p:nvPr/>
        </p:nvSpPr>
        <p:spPr>
          <a:xfrm>
            <a:off x="548640" y="3474720"/>
            <a:ext cx="1371600" cy="77724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Human</a:t>
            </a:r>
          </a:p>
          <a:p>
            <a:pPr algn="ctr"/>
            <a:r>
              <a:rPr sz="1100" b="0">
                <a:solidFill>
                  <a:srgbClr val="FFFFFF"/>
                </a:solidFill>
                <a:latin typeface="Calibri"/>
              </a:rPr>
              <a:t>Intent</a:t>
            </a:r>
          </a:p>
        </p:txBody>
      </p:sp>
      <p:sp>
        <p:nvSpPr>
          <p:cNvPr id="8" name="Right Arrow 7"/>
          <p:cNvSpPr/>
          <p:nvPr/>
        </p:nvSpPr>
        <p:spPr>
          <a:xfrm>
            <a:off x="1938528"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48840" y="3474720"/>
            <a:ext cx="1371600" cy="77724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Executable</a:t>
            </a:r>
          </a:p>
          <a:p>
            <a:pPr algn="ctr"/>
            <a:r>
              <a:rPr sz="1100" b="0">
                <a:solidFill>
                  <a:srgbClr val="FFFFFF"/>
                </a:solidFill>
                <a:latin typeface="Calibri"/>
              </a:rPr>
              <a:t>Specification</a:t>
            </a:r>
          </a:p>
        </p:txBody>
      </p:sp>
      <p:sp>
        <p:nvSpPr>
          <p:cNvPr id="10" name="Right Arrow 9"/>
          <p:cNvSpPr/>
          <p:nvPr/>
        </p:nvSpPr>
        <p:spPr>
          <a:xfrm>
            <a:off x="3538728"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49039" y="3474720"/>
            <a:ext cx="1371600" cy="7772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AI-Assisted</a:t>
            </a:r>
          </a:p>
          <a:p>
            <a:pPr algn="ctr"/>
            <a:r>
              <a:rPr sz="1100" b="0">
                <a:solidFill>
                  <a:srgbClr val="FFFFFF"/>
                </a:solidFill>
                <a:latin typeface="Calibri"/>
              </a:rPr>
              <a:t>Design</a:t>
            </a:r>
          </a:p>
        </p:txBody>
      </p:sp>
      <p:sp>
        <p:nvSpPr>
          <p:cNvPr id="12" name="Right Arrow 11"/>
          <p:cNvSpPr/>
          <p:nvPr/>
        </p:nvSpPr>
        <p:spPr>
          <a:xfrm>
            <a:off x="5138927"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49240" y="3474720"/>
            <a:ext cx="1371600" cy="77724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Code</a:t>
            </a:r>
          </a:p>
          <a:p>
            <a:pPr algn="ctr"/>
            <a:r>
              <a:rPr sz="1100" b="0">
                <a:solidFill>
                  <a:srgbClr val="FFFFFF"/>
                </a:solidFill>
                <a:latin typeface="Calibri"/>
              </a:rPr>
              <a:t>Generation</a:t>
            </a:r>
          </a:p>
        </p:txBody>
      </p:sp>
      <p:sp>
        <p:nvSpPr>
          <p:cNvPr id="14" name="Right Arrow 13"/>
          <p:cNvSpPr/>
          <p:nvPr/>
        </p:nvSpPr>
        <p:spPr>
          <a:xfrm>
            <a:off x="6739127"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49440" y="3474720"/>
            <a:ext cx="1371600" cy="77724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Automated</a:t>
            </a:r>
          </a:p>
          <a:p>
            <a:pPr algn="ctr"/>
            <a:r>
              <a:rPr sz="1100" b="0">
                <a:solidFill>
                  <a:srgbClr val="FFFFFF"/>
                </a:solidFill>
                <a:latin typeface="Calibri"/>
              </a:rPr>
              <a:t>Testing</a:t>
            </a:r>
          </a:p>
        </p:txBody>
      </p:sp>
      <p:sp>
        <p:nvSpPr>
          <p:cNvPr id="16" name="Right Arrow 15"/>
          <p:cNvSpPr/>
          <p:nvPr/>
        </p:nvSpPr>
        <p:spPr>
          <a:xfrm>
            <a:off x="8339327"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49640" y="3474720"/>
            <a:ext cx="1371600" cy="7772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CI/CD</a:t>
            </a:r>
          </a:p>
          <a:p>
            <a:pPr algn="ctr"/>
            <a:r>
              <a:rPr sz="1100" b="0">
                <a:solidFill>
                  <a:srgbClr val="FFFFFF"/>
                </a:solidFill>
                <a:latin typeface="Calibri"/>
              </a:rPr>
              <a:t>Pipeline</a:t>
            </a:r>
          </a:p>
        </p:txBody>
      </p:sp>
      <p:sp>
        <p:nvSpPr>
          <p:cNvPr id="18" name="Right Arrow 17"/>
          <p:cNvSpPr/>
          <p:nvPr/>
        </p:nvSpPr>
        <p:spPr>
          <a:xfrm>
            <a:off x="9939528"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49840" y="3474720"/>
            <a:ext cx="1371600" cy="77724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Continuous</a:t>
            </a:r>
          </a:p>
          <a:p>
            <a:pPr algn="ctr"/>
            <a:r>
              <a:rPr sz="1100" b="0">
                <a:solidFill>
                  <a:srgbClr val="FFFFFF"/>
                </a:solidFill>
                <a:latin typeface="Calibri"/>
              </a:rPr>
              <a:t>Feedback</a:t>
            </a:r>
          </a:p>
        </p:txBody>
      </p:sp>
      <p:sp>
        <p:nvSpPr>
          <p:cNvPr id="20" name="Rounded Rectangle 19"/>
          <p:cNvSpPr/>
          <p:nvPr/>
        </p:nvSpPr>
        <p:spPr>
          <a:xfrm>
            <a:off x="1371600" y="4663440"/>
            <a:ext cx="9418320" cy="50292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D3436"/>
                </a:solidFill>
                <a:latin typeface="Calibri"/>
              </a:rPr>
              <a:t>AI-Native = Human Intent  +  Executable Specification  +  Automated Feedback Loops</a:t>
            </a:r>
          </a:p>
        </p:txBody>
      </p:sp>
      <p:sp>
        <p:nvSpPr>
          <p:cNvPr id="21" name="Rounded Rectangle 20"/>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Opening</a:t>
            </a:r>
          </a:p>
        </p:txBody>
      </p:sp>
      <p:sp>
        <p:nvSpPr>
          <p:cNvPr id="22" name="TextBox 21"/>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Workshop Learning Outcomes</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Opening</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a:t>
            </a:r>
          </a:p>
        </p:txBody>
      </p:sp>
      <p:sp>
        <p:nvSpPr>
          <p:cNvPr id="5" name="TextBox 4"/>
          <p:cNvSpPr txBox="1"/>
          <p:nvPr/>
        </p:nvSpPr>
        <p:spPr>
          <a:xfrm>
            <a:off x="548640" y="1188720"/>
            <a:ext cx="5943600" cy="4754880"/>
          </a:xfrm>
          <a:prstGeom prst="rect">
            <a:avLst/>
          </a:prstGeom>
          <a:noFill/>
        </p:spPr>
        <p:txBody>
          <a:bodyPr wrap="square">
            <a:spAutoFit/>
          </a:bodyPr>
          <a:lstStyle/>
          <a:p>
            <a:pPr>
              <a:lnSpc>
                <a:spcPct val="130000"/>
              </a:lnSpc>
              <a:spcAft>
                <a:spcPts val="800"/>
              </a:spcAft>
            </a:pPr>
            <a:r>
              <a:rPr sz="1500">
                <a:solidFill>
                  <a:srgbClr val="2D3436"/>
                </a:solidFill>
                <a:latin typeface="Calibri"/>
              </a:rPr>
              <a:t>• Understand AI-Native SDLC</a:t>
            </a:r>
          </a:p>
          <a:p>
            <a:pPr>
              <a:lnSpc>
                <a:spcPct val="130000"/>
              </a:lnSpc>
              <a:spcAft>
                <a:spcPts val="400"/>
              </a:spcAft>
            </a:pPr>
            <a:r>
              <a:rPr sz="1300">
                <a:solidFill>
                  <a:srgbClr val="636E72"/>
                </a:solidFill>
                <a:latin typeface="Calibri"/>
              </a:rPr>
              <a:t>     - Grasp how AI transforms every phase of software development</a:t>
            </a:r>
          </a:p>
          <a:p>
            <a:pPr>
              <a:lnSpc>
                <a:spcPct val="130000"/>
              </a:lnSpc>
              <a:spcAft>
                <a:spcPts val="400"/>
              </a:spcAft>
            </a:pPr>
            <a:r>
              <a:rPr sz="1300">
                <a:solidFill>
                  <a:srgbClr val="636E72"/>
                </a:solidFill>
                <a:latin typeface="Calibri"/>
              </a:rPr>
              <a:t>     - Distinguish AI-native from AI-assisted approaches</a:t>
            </a:r>
          </a:p>
          <a:p>
            <a:pPr>
              <a:lnSpc>
                <a:spcPct val="130000"/>
              </a:lnSpc>
              <a:spcAft>
                <a:spcPts val="800"/>
              </a:spcAft>
            </a:pPr>
            <a:r>
              <a:rPr sz="1500">
                <a:solidFill>
                  <a:srgbClr val="2D3436"/>
                </a:solidFill>
                <a:latin typeface="Calibri"/>
              </a:rPr>
              <a:t>• Apply Spec-Driven Development</a:t>
            </a:r>
          </a:p>
          <a:p>
            <a:pPr>
              <a:lnSpc>
                <a:spcPct val="130000"/>
              </a:lnSpc>
              <a:spcAft>
                <a:spcPts val="400"/>
              </a:spcAft>
            </a:pPr>
            <a:r>
              <a:rPr sz="1300">
                <a:solidFill>
                  <a:srgbClr val="636E72"/>
                </a:solidFill>
                <a:latin typeface="Calibri"/>
              </a:rPr>
              <a:t>     - Write structured specifications BEFORE generating code</a:t>
            </a:r>
          </a:p>
          <a:p>
            <a:pPr>
              <a:lnSpc>
                <a:spcPct val="130000"/>
              </a:lnSpc>
              <a:spcAft>
                <a:spcPts val="400"/>
              </a:spcAft>
            </a:pPr>
            <a:r>
              <a:rPr sz="1300">
                <a:solidFill>
                  <a:srgbClr val="636E72"/>
                </a:solidFill>
                <a:latin typeface="Calibri"/>
              </a:rPr>
              <a:t>     - Use AI to refine requirements, resolve ambiguity</a:t>
            </a:r>
          </a:p>
          <a:p>
            <a:pPr>
              <a:lnSpc>
                <a:spcPct val="130000"/>
              </a:lnSpc>
              <a:spcAft>
                <a:spcPts val="800"/>
              </a:spcAft>
            </a:pPr>
            <a:r>
              <a:rPr sz="1500">
                <a:solidFill>
                  <a:srgbClr val="2D3436"/>
                </a:solidFill>
                <a:latin typeface="Calibri"/>
              </a:rPr>
              <a:t>• Build &amp; Test an Application End-to-End</a:t>
            </a:r>
          </a:p>
          <a:p>
            <a:pPr>
              <a:lnSpc>
                <a:spcPct val="130000"/>
              </a:lnSpc>
              <a:spcAft>
                <a:spcPts val="400"/>
              </a:spcAft>
            </a:pPr>
            <a:r>
              <a:rPr sz="1300">
                <a:solidFill>
                  <a:srgbClr val="636E72"/>
                </a:solidFill>
                <a:latin typeface="Calibri"/>
              </a:rPr>
              <a:t>     - Design, implement, test, secure, and deploy a working system</a:t>
            </a:r>
          </a:p>
          <a:p>
            <a:pPr>
              <a:lnSpc>
                <a:spcPct val="130000"/>
              </a:lnSpc>
              <a:spcAft>
                <a:spcPts val="400"/>
              </a:spcAft>
            </a:pPr>
            <a:r>
              <a:rPr sz="1300">
                <a:solidFill>
                  <a:srgbClr val="636E72"/>
                </a:solidFill>
                <a:latin typeface="Calibri"/>
              </a:rPr>
              <a:t>     - Experience the full AI-native workflow hands-on</a:t>
            </a:r>
          </a:p>
          <a:p>
            <a:pPr>
              <a:lnSpc>
                <a:spcPct val="130000"/>
              </a:lnSpc>
              <a:spcAft>
                <a:spcPts val="800"/>
              </a:spcAft>
            </a:pPr>
            <a:r>
              <a:rPr sz="1500">
                <a:solidFill>
                  <a:srgbClr val="2D3436"/>
                </a:solidFill>
                <a:latin typeface="Calibri"/>
              </a:rPr>
              <a:t>• Evaluate Governance &amp; Security</a:t>
            </a:r>
          </a:p>
          <a:p>
            <a:pPr>
              <a:lnSpc>
                <a:spcPct val="130000"/>
              </a:lnSpc>
              <a:spcAft>
                <a:spcPts val="400"/>
              </a:spcAft>
            </a:pPr>
            <a:r>
              <a:rPr sz="1300">
                <a:solidFill>
                  <a:srgbClr val="636E72"/>
                </a:solidFill>
                <a:latin typeface="Calibri"/>
              </a:rPr>
              <a:t>     - Apply responsible AI principles to software engineering</a:t>
            </a:r>
          </a:p>
          <a:p>
            <a:pPr>
              <a:lnSpc>
                <a:spcPct val="130000"/>
              </a:lnSpc>
              <a:spcAft>
                <a:spcPts val="400"/>
              </a:spcAft>
            </a:pPr>
            <a:r>
              <a:rPr sz="1300">
                <a:solidFill>
                  <a:srgbClr val="636E72"/>
                </a:solidFill>
                <a:latin typeface="Calibri"/>
              </a:rPr>
              <a:t>     - Implement security reviews and quality gates</a:t>
            </a:r>
          </a:p>
          <a:p>
            <a:pPr>
              <a:lnSpc>
                <a:spcPct val="130000"/>
              </a:lnSpc>
              <a:spcAft>
                <a:spcPts val="800"/>
              </a:spcAft>
            </a:pPr>
            <a:r>
              <a:rPr sz="1500">
                <a:solidFill>
                  <a:srgbClr val="2D3436"/>
                </a:solidFill>
                <a:latin typeface="Calibri"/>
              </a:rPr>
              <a:t>• Explore Multi-Agent Development</a:t>
            </a:r>
          </a:p>
          <a:p>
            <a:pPr>
              <a:lnSpc>
                <a:spcPct val="130000"/>
              </a:lnSpc>
              <a:spcAft>
                <a:spcPts val="400"/>
              </a:spcAft>
            </a:pPr>
            <a:r>
              <a:rPr sz="1300">
                <a:solidFill>
                  <a:srgbClr val="636E72"/>
                </a:solidFill>
                <a:latin typeface="Calibri"/>
              </a:rPr>
              <a:t>     - Understand orchestrated AI agent roles in SDLC</a:t>
            </a:r>
          </a:p>
          <a:p>
            <a:pPr>
              <a:lnSpc>
                <a:spcPct val="130000"/>
              </a:lnSpc>
              <a:spcAft>
                <a:spcPts val="400"/>
              </a:spcAft>
            </a:pPr>
            <a:r>
              <a:rPr sz="1300">
                <a:solidFill>
                  <a:srgbClr val="636E72"/>
                </a:solidFill>
                <a:latin typeface="Calibri"/>
              </a:rPr>
              <a:t>     - See how specialized agents collaborate on complex tasks</a:t>
            </a:r>
          </a:p>
        </p:txBody>
      </p:sp>
      <p:sp>
        <p:nvSpPr>
          <p:cNvPr id="6" name="Rounded Rectangle 5"/>
          <p:cNvSpPr/>
          <p:nvPr/>
        </p:nvSpPr>
        <p:spPr>
          <a:xfrm>
            <a:off x="7132320" y="1371600"/>
            <a:ext cx="4572000" cy="12344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Teaching Approach</a:t>
            </a:r>
          </a:p>
          <a:p>
            <a:pPr algn="ctr"/>
            <a:r>
              <a:rPr sz="1300" b="0">
                <a:solidFill>
                  <a:srgbClr val="2D3436"/>
                </a:solidFill>
                <a:latin typeface="Calibri"/>
              </a:rPr>
              <a:t>Explain -&gt; Demonstrate -&gt;</a:t>
            </a:r>
          </a:p>
          <a:p>
            <a:pPr algn="ctr"/>
            <a:r>
              <a:rPr sz="1300" b="0">
                <a:solidFill>
                  <a:srgbClr val="2D3436"/>
                </a:solidFill>
                <a:latin typeface="Calibri"/>
              </a:rPr>
              <a:t>Validate -&gt; Reflect</a:t>
            </a:r>
          </a:p>
        </p:txBody>
      </p:sp>
      <p:sp>
        <p:nvSpPr>
          <p:cNvPr id="7" name="Rounded Rectangle 6"/>
          <p:cNvSpPr/>
          <p:nvPr/>
        </p:nvSpPr>
        <p:spPr>
          <a:xfrm>
            <a:off x="7132320" y="2926080"/>
            <a:ext cx="4572000" cy="12344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Practical Lab</a:t>
            </a:r>
          </a:p>
          <a:p>
            <a:pPr algn="ctr"/>
            <a:r>
              <a:rPr sz="1300" b="0">
                <a:solidFill>
                  <a:srgbClr val="2D3436"/>
                </a:solidFill>
                <a:latin typeface="Calibri"/>
              </a:rPr>
              <a:t>Task Management REST API</a:t>
            </a:r>
          </a:p>
          <a:p>
            <a:pPr algn="ctr"/>
            <a:r>
              <a:rPr sz="1300" b="0">
                <a:solidFill>
                  <a:srgbClr val="2D3436"/>
                </a:solidFill>
                <a:latin typeface="Calibri"/>
              </a:rPr>
              <a:t>Spec -&gt; Code -&gt; Test -&gt; Deploy</a:t>
            </a:r>
          </a:p>
        </p:txBody>
      </p:sp>
      <p:sp>
        <p:nvSpPr>
          <p:cNvPr id="8" name="Rounded Rectangle 7"/>
          <p:cNvSpPr/>
          <p:nvPr/>
        </p:nvSpPr>
        <p:spPr>
          <a:xfrm>
            <a:off x="7132320" y="4480560"/>
            <a:ext cx="4572000" cy="123444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Deliverables</a:t>
            </a:r>
          </a:p>
          <a:p>
            <a:pPr algn="ctr"/>
            <a:r>
              <a:rPr sz="1300" b="0">
                <a:solidFill>
                  <a:srgbClr val="2D3436"/>
                </a:solidFill>
                <a:latin typeface="Calibri"/>
              </a:rPr>
              <a:t>Spec | API | Code | Tests |</a:t>
            </a:r>
          </a:p>
          <a:p>
            <a:pPr algn="ctr"/>
            <a:r>
              <a:rPr sz="1300" b="0">
                <a:solidFill>
                  <a:srgbClr val="2D3436"/>
                </a:solidFill>
                <a:latin typeface="Calibri"/>
              </a:rPr>
              <a:t>CI/CD Pipeline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4-5 Hour Session Agenda</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Opening</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a:t>
            </a:r>
          </a:p>
        </p:txBody>
      </p:sp>
      <p:sp>
        <p:nvSpPr>
          <p:cNvPr id="5" name="Rounded Rectangle 4"/>
          <p:cNvSpPr/>
          <p:nvPr/>
        </p:nvSpPr>
        <p:spPr>
          <a:xfrm>
            <a:off x="457200" y="1188720"/>
            <a:ext cx="320040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Part 1: Foundations</a:t>
            </a:r>
          </a:p>
          <a:p>
            <a:pPr algn="ctr"/>
            <a:r>
              <a:rPr sz="1200" b="0">
                <a:solidFill>
                  <a:srgbClr val="FFFFFF"/>
                </a:solidFill>
                <a:latin typeface="Calibri"/>
              </a:rPr>
              <a:t>&amp; Methodology</a:t>
            </a:r>
          </a:p>
        </p:txBody>
      </p:sp>
      <p:sp>
        <p:nvSpPr>
          <p:cNvPr id="6" name="TextBox 5"/>
          <p:cNvSpPr txBox="1"/>
          <p:nvPr/>
        </p:nvSpPr>
        <p:spPr>
          <a:xfrm>
            <a:off x="457200" y="1874519"/>
            <a:ext cx="3200400" cy="274320"/>
          </a:xfrm>
          <a:prstGeom prst="rect">
            <a:avLst/>
          </a:prstGeom>
          <a:noFill/>
        </p:spPr>
        <p:txBody>
          <a:bodyPr wrap="square">
            <a:spAutoFit/>
          </a:bodyPr>
          <a:lstStyle/>
          <a:p>
            <a:pPr algn="ctr"/>
            <a:r>
              <a:rPr sz="1100" b="1">
                <a:solidFill>
                  <a:srgbClr val="4472C4"/>
                </a:solidFill>
                <a:latin typeface="Calibri"/>
              </a:rPr>
              <a:t>~90 min</a:t>
            </a:r>
          </a:p>
        </p:txBody>
      </p:sp>
      <p:sp>
        <p:nvSpPr>
          <p:cNvPr id="7" name="Rounded Rectangle 6"/>
          <p:cNvSpPr/>
          <p:nvPr/>
        </p:nvSpPr>
        <p:spPr>
          <a:xfrm>
            <a:off x="457200" y="2194560"/>
            <a:ext cx="3200400" cy="16459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0">
                <a:solidFill>
                  <a:srgbClr val="2D3436"/>
                </a:solidFill>
                <a:latin typeface="Calibri"/>
              </a:rPr>
              <a:t>AI-Native concepts</a:t>
            </a:r>
          </a:p>
          <a:p>
            <a:pPr algn="l"/>
            <a:r>
              <a:rPr sz="1100" b="0">
                <a:solidFill>
                  <a:srgbClr val="2D3436"/>
                </a:solidFill>
                <a:latin typeface="Calibri"/>
              </a:rPr>
              <a:t>Spec-driven development</a:t>
            </a:r>
          </a:p>
          <a:p>
            <a:pPr algn="l"/>
            <a:r>
              <a:rPr sz="1100" b="0">
                <a:solidFill>
                  <a:srgbClr val="2D3436"/>
                </a:solidFill>
                <a:latin typeface="Calibri"/>
              </a:rPr>
              <a:t>Tools &amp; prompt engineering</a:t>
            </a:r>
          </a:p>
          <a:p>
            <a:pPr algn="l"/>
            <a:r>
              <a:rPr sz="1100" b="0">
                <a:solidFill>
                  <a:srgbClr val="2D3436"/>
                </a:solidFill>
                <a:latin typeface="Calibri"/>
              </a:rPr>
              <a:t>Architecture design</a:t>
            </a:r>
          </a:p>
        </p:txBody>
      </p:sp>
      <p:sp>
        <p:nvSpPr>
          <p:cNvPr id="8" name="Rounded Rectangle 7"/>
          <p:cNvSpPr/>
          <p:nvPr/>
        </p:nvSpPr>
        <p:spPr>
          <a:xfrm>
            <a:off x="3840480" y="1188720"/>
            <a:ext cx="1097280" cy="640080"/>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Break</a:t>
            </a:r>
          </a:p>
        </p:txBody>
      </p:sp>
      <p:sp>
        <p:nvSpPr>
          <p:cNvPr id="9" name="TextBox 8"/>
          <p:cNvSpPr txBox="1"/>
          <p:nvPr/>
        </p:nvSpPr>
        <p:spPr>
          <a:xfrm>
            <a:off x="3840480" y="1874519"/>
            <a:ext cx="1097280" cy="274320"/>
          </a:xfrm>
          <a:prstGeom prst="rect">
            <a:avLst/>
          </a:prstGeom>
          <a:noFill/>
        </p:spPr>
        <p:txBody>
          <a:bodyPr wrap="square">
            <a:spAutoFit/>
          </a:bodyPr>
          <a:lstStyle/>
          <a:p>
            <a:pPr algn="ctr"/>
            <a:r>
              <a:rPr sz="1100" b="1">
                <a:solidFill>
                  <a:srgbClr val="636E72"/>
                </a:solidFill>
                <a:latin typeface="Calibri"/>
              </a:rPr>
              <a:t>15 min</a:t>
            </a:r>
          </a:p>
        </p:txBody>
      </p:sp>
      <p:sp>
        <p:nvSpPr>
          <p:cNvPr id="10" name="Rounded Rectangle 9"/>
          <p:cNvSpPr/>
          <p:nvPr/>
        </p:nvSpPr>
        <p:spPr>
          <a:xfrm>
            <a:off x="5120640" y="1188720"/>
            <a:ext cx="320040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Part 2: Guided</a:t>
            </a:r>
          </a:p>
          <a:p>
            <a:pPr algn="ctr"/>
            <a:r>
              <a:rPr sz="1200" b="0">
                <a:solidFill>
                  <a:srgbClr val="FFFFFF"/>
                </a:solidFill>
                <a:latin typeface="Calibri"/>
              </a:rPr>
              <a:t>Hands-On Lab</a:t>
            </a:r>
          </a:p>
        </p:txBody>
      </p:sp>
      <p:sp>
        <p:nvSpPr>
          <p:cNvPr id="11" name="TextBox 10"/>
          <p:cNvSpPr txBox="1"/>
          <p:nvPr/>
        </p:nvSpPr>
        <p:spPr>
          <a:xfrm>
            <a:off x="5120640" y="1874519"/>
            <a:ext cx="3200400" cy="274320"/>
          </a:xfrm>
          <a:prstGeom prst="rect">
            <a:avLst/>
          </a:prstGeom>
          <a:noFill/>
        </p:spPr>
        <p:txBody>
          <a:bodyPr wrap="square">
            <a:spAutoFit/>
          </a:bodyPr>
          <a:lstStyle/>
          <a:p>
            <a:pPr algn="ctr"/>
            <a:r>
              <a:rPr sz="1100" b="1">
                <a:solidFill>
                  <a:srgbClr val="70AD47"/>
                </a:solidFill>
                <a:latin typeface="Calibri"/>
              </a:rPr>
              <a:t>~120 min</a:t>
            </a:r>
          </a:p>
        </p:txBody>
      </p:sp>
      <p:sp>
        <p:nvSpPr>
          <p:cNvPr id="12" name="Rounded Rectangle 11"/>
          <p:cNvSpPr/>
          <p:nvPr/>
        </p:nvSpPr>
        <p:spPr>
          <a:xfrm>
            <a:off x="5120640" y="2194560"/>
            <a:ext cx="3200400" cy="16459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0">
                <a:solidFill>
                  <a:srgbClr val="2D3436"/>
                </a:solidFill>
                <a:latin typeface="Calibri"/>
              </a:rPr>
              <a:t>Spec writing exercise</a:t>
            </a:r>
          </a:p>
          <a:p>
            <a:pPr algn="l"/>
            <a:r>
              <a:rPr sz="1100" b="0">
                <a:solidFill>
                  <a:srgbClr val="2D3436"/>
                </a:solidFill>
                <a:latin typeface="Calibri"/>
              </a:rPr>
              <a:t>Code generation &amp; review</a:t>
            </a:r>
          </a:p>
          <a:p>
            <a:pPr algn="l"/>
            <a:r>
              <a:rPr sz="1100" b="0">
                <a:solidFill>
                  <a:srgbClr val="2D3436"/>
                </a:solidFill>
                <a:latin typeface="Calibri"/>
              </a:rPr>
              <a:t>Testing &amp; validation</a:t>
            </a:r>
          </a:p>
          <a:p>
            <a:pPr algn="l"/>
            <a:r>
              <a:rPr sz="1100" b="0">
                <a:solidFill>
                  <a:srgbClr val="2D3436"/>
                </a:solidFill>
                <a:latin typeface="Calibri"/>
              </a:rPr>
              <a:t>CI/CD pipeline setup</a:t>
            </a:r>
          </a:p>
        </p:txBody>
      </p:sp>
      <p:sp>
        <p:nvSpPr>
          <p:cNvPr id="13" name="Rounded Rectangle 12"/>
          <p:cNvSpPr/>
          <p:nvPr/>
        </p:nvSpPr>
        <p:spPr>
          <a:xfrm>
            <a:off x="8503920" y="1188720"/>
            <a:ext cx="1097280" cy="640080"/>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Break</a:t>
            </a:r>
          </a:p>
        </p:txBody>
      </p:sp>
      <p:sp>
        <p:nvSpPr>
          <p:cNvPr id="14" name="TextBox 13"/>
          <p:cNvSpPr txBox="1"/>
          <p:nvPr/>
        </p:nvSpPr>
        <p:spPr>
          <a:xfrm>
            <a:off x="8503920" y="1874519"/>
            <a:ext cx="1097280" cy="274320"/>
          </a:xfrm>
          <a:prstGeom prst="rect">
            <a:avLst/>
          </a:prstGeom>
          <a:noFill/>
        </p:spPr>
        <p:txBody>
          <a:bodyPr wrap="square">
            <a:spAutoFit/>
          </a:bodyPr>
          <a:lstStyle/>
          <a:p>
            <a:pPr algn="ctr"/>
            <a:r>
              <a:rPr sz="1100" b="1">
                <a:solidFill>
                  <a:srgbClr val="636E72"/>
                </a:solidFill>
                <a:latin typeface="Calibri"/>
              </a:rPr>
              <a:t>15 min</a:t>
            </a:r>
          </a:p>
        </p:txBody>
      </p:sp>
      <p:sp>
        <p:nvSpPr>
          <p:cNvPr id="15" name="Rounded Rectangle 14"/>
          <p:cNvSpPr/>
          <p:nvPr/>
        </p:nvSpPr>
        <p:spPr>
          <a:xfrm>
            <a:off x="9784080" y="1188720"/>
            <a:ext cx="320040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Part 3: Advanced</a:t>
            </a:r>
          </a:p>
          <a:p>
            <a:pPr algn="ctr"/>
            <a:r>
              <a:rPr sz="1200" b="0">
                <a:solidFill>
                  <a:srgbClr val="FFFFFF"/>
                </a:solidFill>
                <a:latin typeface="Calibri"/>
              </a:rPr>
              <a:t>Topics &amp; Wrap-up</a:t>
            </a:r>
          </a:p>
        </p:txBody>
      </p:sp>
      <p:sp>
        <p:nvSpPr>
          <p:cNvPr id="16" name="TextBox 15"/>
          <p:cNvSpPr txBox="1"/>
          <p:nvPr/>
        </p:nvSpPr>
        <p:spPr>
          <a:xfrm>
            <a:off x="9784080" y="1874519"/>
            <a:ext cx="3200400" cy="274320"/>
          </a:xfrm>
          <a:prstGeom prst="rect">
            <a:avLst/>
          </a:prstGeom>
          <a:noFill/>
        </p:spPr>
        <p:txBody>
          <a:bodyPr wrap="square">
            <a:spAutoFit/>
          </a:bodyPr>
          <a:lstStyle/>
          <a:p>
            <a:pPr algn="ctr"/>
            <a:r>
              <a:rPr sz="1100" b="1">
                <a:solidFill>
                  <a:srgbClr val="9B59B6"/>
                </a:solidFill>
                <a:latin typeface="Calibri"/>
              </a:rPr>
              <a:t>~60 min</a:t>
            </a:r>
          </a:p>
        </p:txBody>
      </p:sp>
      <p:sp>
        <p:nvSpPr>
          <p:cNvPr id="17" name="Rounded Rectangle 16"/>
          <p:cNvSpPr/>
          <p:nvPr/>
        </p:nvSpPr>
        <p:spPr>
          <a:xfrm>
            <a:off x="9784080" y="2194560"/>
            <a:ext cx="3200400" cy="164592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0">
                <a:solidFill>
                  <a:srgbClr val="2D3436"/>
                </a:solidFill>
                <a:latin typeface="Calibri"/>
              </a:rPr>
              <a:t>Multi-agent development</a:t>
            </a:r>
          </a:p>
          <a:p>
            <a:pPr algn="l"/>
            <a:r>
              <a:rPr sz="1100" b="0">
                <a:solidFill>
                  <a:srgbClr val="2D3436"/>
                </a:solidFill>
                <a:latin typeface="Calibri"/>
              </a:rPr>
              <a:t>AI governance &amp; security</a:t>
            </a:r>
          </a:p>
          <a:p>
            <a:pPr algn="l"/>
            <a:r>
              <a:rPr sz="1100" b="0">
                <a:solidFill>
                  <a:srgbClr val="2D3436"/>
                </a:solidFill>
                <a:latin typeface="Calibri"/>
              </a:rPr>
              <a:t>Homework &amp; discussion</a:t>
            </a:r>
          </a:p>
          <a:p>
            <a:pPr algn="l"/>
            <a:r>
              <a:rPr sz="1100" b="0">
                <a:solidFill>
                  <a:srgbClr val="2D3436"/>
                </a:solidFill>
                <a:latin typeface="Calibri"/>
              </a:rPr>
              <a:t>Key takeaways</a:t>
            </a:r>
          </a:p>
        </p:txBody>
      </p:sp>
      <p:sp>
        <p:nvSpPr>
          <p:cNvPr id="18" name="Rounded Rectangle 17"/>
          <p:cNvSpPr/>
          <p:nvPr/>
        </p:nvSpPr>
        <p:spPr>
          <a:xfrm>
            <a:off x="457200" y="4297680"/>
            <a:ext cx="11247120" cy="54864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D3436"/>
                </a:solidFill>
                <a:latin typeface="Calibri"/>
              </a:rPr>
              <a:t>Suggested balance:  40% Concepts &amp; Theory   |   60% Guided Practice &amp; Discussion</a:t>
            </a:r>
          </a:p>
        </p:txBody>
      </p:sp>
      <p:sp>
        <p:nvSpPr>
          <p:cNvPr id="19" name="Rounded Rectangle 18"/>
          <p:cNvSpPr/>
          <p:nvPr/>
        </p:nvSpPr>
        <p:spPr>
          <a:xfrm>
            <a:off x="914400" y="5212080"/>
            <a:ext cx="1645920" cy="5029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Concepts</a:t>
            </a:r>
          </a:p>
        </p:txBody>
      </p:sp>
      <p:sp>
        <p:nvSpPr>
          <p:cNvPr id="20" name="Right Arrow 19"/>
          <p:cNvSpPr/>
          <p:nvPr/>
        </p:nvSpPr>
        <p:spPr>
          <a:xfrm>
            <a:off x="2578608" y="5321808"/>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08960" y="5212080"/>
            <a:ext cx="1645920" cy="50292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Demo</a:t>
            </a:r>
          </a:p>
        </p:txBody>
      </p:sp>
      <p:sp>
        <p:nvSpPr>
          <p:cNvPr id="22" name="Right Arrow 21"/>
          <p:cNvSpPr/>
          <p:nvPr/>
        </p:nvSpPr>
        <p:spPr>
          <a:xfrm>
            <a:off x="4773168" y="5321808"/>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03520" y="5212080"/>
            <a:ext cx="1645920" cy="50292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Hands-on</a:t>
            </a:r>
          </a:p>
        </p:txBody>
      </p:sp>
      <p:sp>
        <p:nvSpPr>
          <p:cNvPr id="24" name="Right Arrow 23"/>
          <p:cNvSpPr/>
          <p:nvPr/>
        </p:nvSpPr>
        <p:spPr>
          <a:xfrm>
            <a:off x="6967728" y="5321808"/>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98079" y="5212080"/>
            <a:ext cx="1645920" cy="50292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Review</a:t>
            </a:r>
          </a:p>
        </p:txBody>
      </p:sp>
      <p:sp>
        <p:nvSpPr>
          <p:cNvPr id="26" name="Right Arrow 25"/>
          <p:cNvSpPr/>
          <p:nvPr/>
        </p:nvSpPr>
        <p:spPr>
          <a:xfrm>
            <a:off x="9162288" y="5321808"/>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92640" y="5212080"/>
            <a:ext cx="1645920" cy="50292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Discuss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What is AI-Native Software Development?</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Foundations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a:t>
            </a:r>
          </a:p>
        </p:txBody>
      </p:sp>
      <p:sp>
        <p:nvSpPr>
          <p:cNvPr id="5" name="TextBox 4"/>
          <p:cNvSpPr txBox="1"/>
          <p:nvPr/>
        </p:nvSpPr>
        <p:spPr>
          <a:xfrm>
            <a:off x="548640" y="1188720"/>
            <a:ext cx="5486400" cy="365760"/>
          </a:xfrm>
          <a:prstGeom prst="rect">
            <a:avLst/>
          </a:prstGeom>
          <a:noFill/>
        </p:spPr>
        <p:txBody>
          <a:bodyPr wrap="square">
            <a:spAutoFit/>
          </a:bodyPr>
          <a:lstStyle/>
          <a:p>
            <a:pPr algn="l"/>
            <a:r>
              <a:rPr sz="1800" b="1">
                <a:solidFill>
                  <a:srgbClr val="4472C4"/>
                </a:solidFill>
                <a:latin typeface="Calibri"/>
              </a:rPr>
              <a:t>Definition</a:t>
            </a:r>
          </a:p>
        </p:txBody>
      </p:sp>
      <p:sp>
        <p:nvSpPr>
          <p:cNvPr id="6" name="TextBox 5"/>
          <p:cNvSpPr txBox="1"/>
          <p:nvPr/>
        </p:nvSpPr>
        <p:spPr>
          <a:xfrm>
            <a:off x="548640" y="1645920"/>
            <a:ext cx="5486400" cy="2286000"/>
          </a:xfrm>
          <a:prstGeom prst="rect">
            <a:avLst/>
          </a:prstGeom>
          <a:noFill/>
        </p:spPr>
        <p:txBody>
          <a:bodyPr wrap="square">
            <a:spAutoFit/>
          </a:bodyPr>
          <a:lstStyle/>
          <a:p>
            <a:pPr>
              <a:lnSpc>
                <a:spcPct val="130000"/>
              </a:lnSpc>
              <a:spcAft>
                <a:spcPts val="800"/>
              </a:spcAft>
            </a:pPr>
            <a:r>
              <a:rPr sz="1400">
                <a:solidFill>
                  <a:srgbClr val="2D3436"/>
                </a:solidFill>
                <a:latin typeface="Calibri"/>
              </a:rPr>
              <a:t>• AI participates across the ENTIRE lifecycle, not just coding</a:t>
            </a:r>
          </a:p>
          <a:p>
            <a:pPr>
              <a:lnSpc>
                <a:spcPct val="130000"/>
              </a:lnSpc>
              <a:spcAft>
                <a:spcPts val="800"/>
              </a:spcAft>
            </a:pPr>
            <a:r>
              <a:rPr sz="1400">
                <a:solidFill>
                  <a:srgbClr val="2D3436"/>
                </a:solidFill>
                <a:latin typeface="Calibri"/>
              </a:rPr>
              <a:t>• Specifications become the primary control mechanism</a:t>
            </a:r>
          </a:p>
          <a:p>
            <a:pPr>
              <a:lnSpc>
                <a:spcPct val="130000"/>
              </a:lnSpc>
              <a:spcAft>
                <a:spcPts val="800"/>
              </a:spcAft>
            </a:pPr>
            <a:r>
              <a:rPr sz="1400">
                <a:solidFill>
                  <a:srgbClr val="2D3436"/>
                </a:solidFill>
                <a:latin typeface="Calibri"/>
              </a:rPr>
              <a:t>• Humans review intent, architecture, safety &amp; fitness</a:t>
            </a:r>
          </a:p>
          <a:p>
            <a:pPr>
              <a:lnSpc>
                <a:spcPct val="130000"/>
              </a:lnSpc>
              <a:spcAft>
                <a:spcPts val="800"/>
              </a:spcAft>
            </a:pPr>
            <a:r>
              <a:rPr sz="1400">
                <a:solidFill>
                  <a:srgbClr val="2D3436"/>
                </a:solidFill>
                <a:latin typeface="Calibri"/>
              </a:rPr>
              <a:t>• Continuous feedback loops improve every iteration</a:t>
            </a:r>
          </a:p>
          <a:p>
            <a:pPr>
              <a:lnSpc>
                <a:spcPct val="130000"/>
              </a:lnSpc>
              <a:spcAft>
                <a:spcPts val="800"/>
              </a:spcAft>
            </a:pPr>
            <a:r>
              <a:rPr sz="1400">
                <a:solidFill>
                  <a:srgbClr val="2D3436"/>
                </a:solidFill>
                <a:latin typeface="Calibri"/>
              </a:rPr>
              <a:t>• Code is a generated artifact — specs are the source of truth</a:t>
            </a:r>
          </a:p>
        </p:txBody>
      </p:sp>
      <p:sp>
        <p:nvSpPr>
          <p:cNvPr id="7" name="TextBox 6"/>
          <p:cNvSpPr txBox="1"/>
          <p:nvPr/>
        </p:nvSpPr>
        <p:spPr>
          <a:xfrm>
            <a:off x="6858000" y="1188720"/>
            <a:ext cx="4572000" cy="365760"/>
          </a:xfrm>
          <a:prstGeom prst="rect">
            <a:avLst/>
          </a:prstGeom>
          <a:noFill/>
        </p:spPr>
        <p:txBody>
          <a:bodyPr wrap="square">
            <a:spAutoFit/>
          </a:bodyPr>
          <a:lstStyle/>
          <a:p>
            <a:pPr algn="l"/>
            <a:r>
              <a:rPr sz="1800" b="1">
                <a:solidFill>
                  <a:srgbClr val="4472C4"/>
                </a:solidFill>
                <a:latin typeface="Calibri"/>
              </a:rPr>
              <a:t>Core Principles</a:t>
            </a:r>
          </a:p>
        </p:txBody>
      </p:sp>
      <p:sp>
        <p:nvSpPr>
          <p:cNvPr id="8" name="Rounded Rectangle 7"/>
          <p:cNvSpPr/>
          <p:nvPr/>
        </p:nvSpPr>
        <p:spPr>
          <a:xfrm>
            <a:off x="6858000" y="1691640"/>
            <a:ext cx="4754880" cy="8686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Spec-First</a:t>
            </a:r>
          </a:p>
          <a:p>
            <a:pPr algn="ctr"/>
            <a:r>
              <a:rPr sz="1200" b="0">
                <a:solidFill>
                  <a:srgbClr val="2D3436"/>
                </a:solidFill>
                <a:latin typeface="Calibri"/>
              </a:rPr>
              <a:t>Specifications before code.</a:t>
            </a:r>
          </a:p>
          <a:p>
            <a:pPr algn="ctr"/>
            <a:r>
              <a:rPr sz="1200" b="0">
                <a:solidFill>
                  <a:srgbClr val="2D3436"/>
                </a:solidFill>
                <a:latin typeface="Calibri"/>
              </a:rPr>
              <a:t>AI refines, humans approve.</a:t>
            </a:r>
          </a:p>
        </p:txBody>
      </p:sp>
      <p:sp>
        <p:nvSpPr>
          <p:cNvPr id="9" name="Rounded Rectangle 8"/>
          <p:cNvSpPr/>
          <p:nvPr/>
        </p:nvSpPr>
        <p:spPr>
          <a:xfrm>
            <a:off x="6858000" y="2743200"/>
            <a:ext cx="4754880" cy="86868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Human-in-the-Loop</a:t>
            </a:r>
          </a:p>
          <a:p>
            <a:pPr algn="ctr"/>
            <a:r>
              <a:rPr sz="1200" b="0">
                <a:solidFill>
                  <a:srgbClr val="2D3436"/>
                </a:solidFill>
                <a:latin typeface="Calibri"/>
              </a:rPr>
              <a:t>Critical decisions require</a:t>
            </a:r>
          </a:p>
          <a:p>
            <a:pPr algn="ctr"/>
            <a:r>
              <a:rPr sz="1200" b="0">
                <a:solidFill>
                  <a:srgbClr val="2D3436"/>
                </a:solidFill>
                <a:latin typeface="Calibri"/>
              </a:rPr>
              <a:t>human judgment &amp; review.</a:t>
            </a:r>
          </a:p>
        </p:txBody>
      </p:sp>
      <p:sp>
        <p:nvSpPr>
          <p:cNvPr id="10" name="Rounded Rectangle 9"/>
          <p:cNvSpPr/>
          <p:nvPr/>
        </p:nvSpPr>
        <p:spPr>
          <a:xfrm>
            <a:off x="6858000" y="3794760"/>
            <a:ext cx="4754880" cy="86868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Automated Validation</a:t>
            </a:r>
          </a:p>
          <a:p>
            <a:pPr algn="ctr"/>
            <a:r>
              <a:rPr sz="1200" b="0">
                <a:solidFill>
                  <a:srgbClr val="2D3436"/>
                </a:solidFill>
                <a:latin typeface="Calibri"/>
              </a:rPr>
              <a:t>Tests, scans &amp; CI/CD verify</a:t>
            </a:r>
          </a:p>
          <a:p>
            <a:pPr algn="ctr"/>
            <a:r>
              <a:rPr sz="1200" b="0">
                <a:solidFill>
                  <a:srgbClr val="2D3436"/>
                </a:solidFill>
                <a:latin typeface="Calibri"/>
              </a:rPr>
              <a:t>every generated artifact.</a:t>
            </a:r>
          </a:p>
        </p:txBody>
      </p:sp>
      <p:sp>
        <p:nvSpPr>
          <p:cNvPr id="11" name="Rounded Rectangle 10"/>
          <p:cNvSpPr/>
          <p:nvPr/>
        </p:nvSpPr>
        <p:spPr>
          <a:xfrm>
            <a:off x="6858000" y="4846320"/>
            <a:ext cx="4754880" cy="86868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Continuous Learning</a:t>
            </a:r>
          </a:p>
          <a:p>
            <a:pPr algn="ctr"/>
            <a:r>
              <a:rPr sz="1200" b="0">
                <a:solidFill>
                  <a:srgbClr val="2D3436"/>
                </a:solidFill>
                <a:latin typeface="Calibri"/>
              </a:rPr>
              <a:t>Feedback from production</a:t>
            </a:r>
          </a:p>
          <a:p>
            <a:pPr algn="ctr"/>
            <a:r>
              <a:rPr sz="1200" b="0">
                <a:solidFill>
                  <a:srgbClr val="2D3436"/>
                </a:solidFill>
                <a:latin typeface="Calibri"/>
              </a:rPr>
              <a:t>improves future generations.</a:t>
            </a:r>
          </a:p>
        </p:txBody>
      </p:sp>
      <p:sp>
        <p:nvSpPr>
          <p:cNvPr id="12" name="Rounded Rectangle 11"/>
          <p:cNvSpPr/>
          <p:nvPr/>
        </p:nvSpPr>
        <p:spPr>
          <a:xfrm>
            <a:off x="914400" y="5577840"/>
            <a:ext cx="10332720" cy="502920"/>
          </a:xfrm>
          <a:prstGeom prst="round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AI-Native  =  Human Intent  +  Executable Specification  +  AI Generation  +  Automated Validation  +  Feedback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Traditional SDLC vs AI-Native SDLC</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Foundations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5</a:t>
            </a:r>
          </a:p>
        </p:txBody>
      </p:sp>
      <p:graphicFrame>
        <p:nvGraphicFramePr>
          <p:cNvPr id="5" name="Table 4"/>
          <p:cNvGraphicFramePr>
            <a:graphicFrameLocks noGrp="1"/>
          </p:cNvGraphicFramePr>
          <p:nvPr/>
        </p:nvGraphicFramePr>
        <p:xfrm>
          <a:off x="457200" y="1188720"/>
          <a:ext cx="11247120" cy="4572000"/>
        </p:xfrm>
        <a:graphic>
          <a:graphicData uri="http://schemas.openxmlformats.org/drawingml/2006/table">
            <a:tbl>
              <a:tblPr firstRow="1" bandRow="1">
                <a:tableStyleId>{5C22544A-7EE6-4342-B048-85BDC9FD1C3A}</a:tableStyleId>
              </a:tblPr>
              <a:tblGrid>
                <a:gridCol w="3749040"/>
                <a:gridCol w="3749040"/>
                <a:gridCol w="3749040"/>
              </a:tblGrid>
              <a:tr h="457200">
                <a:tc>
                  <a:txBody>
                    <a:bodyPr/>
                    <a:lstStyle/>
                    <a:p>
                      <a:r>
                        <a:rPr sz="1200" b="1">
                          <a:solidFill>
                            <a:srgbClr val="FFFFFF"/>
                          </a:solidFill>
                          <a:latin typeface="Calibri"/>
                        </a:rPr>
                        <a:t>Dimension</a:t>
                      </a:r>
                    </a:p>
                  </a:txBody>
                  <a:tcPr>
                    <a:solidFill>
                      <a:srgbClr val="2F75B5"/>
                    </a:solidFill>
                  </a:tcPr>
                </a:tc>
                <a:tc>
                  <a:txBody>
                    <a:bodyPr/>
                    <a:lstStyle/>
                    <a:p>
                      <a:r>
                        <a:rPr sz="1200" b="1">
                          <a:solidFill>
                            <a:srgbClr val="FFFFFF"/>
                          </a:solidFill>
                          <a:latin typeface="Calibri"/>
                        </a:rPr>
                        <a:t>Traditional SDLC</a:t>
                      </a:r>
                    </a:p>
                  </a:txBody>
                  <a:tcPr>
                    <a:solidFill>
                      <a:srgbClr val="2F75B5"/>
                    </a:solidFill>
                  </a:tcPr>
                </a:tc>
                <a:tc>
                  <a:txBody>
                    <a:bodyPr/>
                    <a:lstStyle/>
                    <a:p>
                      <a:r>
                        <a:rPr sz="1200" b="1">
                          <a:solidFill>
                            <a:srgbClr val="FFFFFF"/>
                          </a:solidFill>
                          <a:latin typeface="Calibri"/>
                        </a:rPr>
                        <a:t>AI-Native SDLC</a:t>
                      </a:r>
                    </a:p>
                  </a:txBody>
                  <a:tcPr>
                    <a:solidFill>
                      <a:srgbClr val="2F75B5"/>
                    </a:solidFill>
                  </a:tcPr>
                </a:tc>
              </a:tr>
              <a:tr h="457200">
                <a:tc>
                  <a:txBody>
                    <a:bodyPr/>
                    <a:lstStyle/>
                    <a:p>
                      <a:r>
                        <a:rPr sz="1200">
                          <a:solidFill>
                            <a:srgbClr val="2D3436"/>
                          </a:solidFill>
                          <a:latin typeface="Calibri"/>
                        </a:rPr>
                        <a:t>Requirements</a:t>
                      </a:r>
                    </a:p>
                  </a:txBody>
                  <a:tcPr>
                    <a:solidFill>
                      <a:srgbClr val="FFFFFF"/>
                    </a:solidFill>
                  </a:tcPr>
                </a:tc>
                <a:tc>
                  <a:txBody>
                    <a:bodyPr/>
                    <a:lstStyle/>
                    <a:p>
                      <a:r>
                        <a:rPr sz="1200">
                          <a:solidFill>
                            <a:srgbClr val="2D3436"/>
                          </a:solidFill>
                          <a:latin typeface="Calibri"/>
                        </a:rPr>
                        <a:t>Written documents, often outdated</a:t>
                      </a:r>
                    </a:p>
                  </a:txBody>
                  <a:tcPr>
                    <a:solidFill>
                      <a:srgbClr val="FFFFFF"/>
                    </a:solidFill>
                  </a:tcPr>
                </a:tc>
                <a:tc>
                  <a:txBody>
                    <a:bodyPr/>
                    <a:lstStyle/>
                    <a:p>
                      <a:r>
                        <a:rPr sz="1200">
                          <a:solidFill>
                            <a:srgbClr val="2D3436"/>
                          </a:solidFill>
                          <a:latin typeface="Calibri"/>
                        </a:rPr>
                        <a:t>Structured, machine-readable specs</a:t>
                      </a:r>
                    </a:p>
                  </a:txBody>
                  <a:tcPr>
                    <a:solidFill>
                      <a:srgbClr val="FFFFFF"/>
                    </a:solidFill>
                  </a:tcPr>
                </a:tc>
              </a:tr>
              <a:tr h="457200">
                <a:tc>
                  <a:txBody>
                    <a:bodyPr/>
                    <a:lstStyle/>
                    <a:p>
                      <a:r>
                        <a:rPr sz="1200">
                          <a:solidFill>
                            <a:srgbClr val="2D3436"/>
                          </a:solidFill>
                          <a:latin typeface="Calibri"/>
                        </a:rPr>
                        <a:t>Design</a:t>
                      </a:r>
                    </a:p>
                  </a:txBody>
                  <a:tcPr>
                    <a:solidFill>
                      <a:srgbClr val="DDEBF7"/>
                    </a:solidFill>
                  </a:tcPr>
                </a:tc>
                <a:tc>
                  <a:txBody>
                    <a:bodyPr/>
                    <a:lstStyle/>
                    <a:p>
                      <a:r>
                        <a:rPr sz="1200">
                          <a:solidFill>
                            <a:srgbClr val="2D3436"/>
                          </a:solidFill>
                          <a:latin typeface="Calibri"/>
                        </a:rPr>
                        <a:t>Manual architecture, static diagrams</a:t>
                      </a:r>
                    </a:p>
                  </a:txBody>
                  <a:tcPr>
                    <a:solidFill>
                      <a:srgbClr val="DDEBF7"/>
                    </a:solidFill>
                  </a:tcPr>
                </a:tc>
                <a:tc>
                  <a:txBody>
                    <a:bodyPr/>
                    <a:lstStyle/>
                    <a:p>
                      <a:r>
                        <a:rPr sz="1200">
                          <a:solidFill>
                            <a:srgbClr val="2D3436"/>
                          </a:solidFill>
                          <a:latin typeface="Calibri"/>
                        </a:rPr>
                        <a:t>AI-proposed designs, validated by humans</a:t>
                      </a:r>
                    </a:p>
                  </a:txBody>
                  <a:tcPr>
                    <a:solidFill>
                      <a:srgbClr val="DDEBF7"/>
                    </a:solidFill>
                  </a:tcPr>
                </a:tc>
              </a:tr>
              <a:tr h="457200">
                <a:tc>
                  <a:txBody>
                    <a:bodyPr/>
                    <a:lstStyle/>
                    <a:p>
                      <a:r>
                        <a:rPr sz="1200">
                          <a:solidFill>
                            <a:srgbClr val="2D3436"/>
                          </a:solidFill>
                          <a:latin typeface="Calibri"/>
                        </a:rPr>
                        <a:t>Implementation</a:t>
                      </a:r>
                    </a:p>
                  </a:txBody>
                  <a:tcPr>
                    <a:solidFill>
                      <a:srgbClr val="FFFFFF"/>
                    </a:solidFill>
                  </a:tcPr>
                </a:tc>
                <a:tc>
                  <a:txBody>
                    <a:bodyPr/>
                    <a:lstStyle/>
                    <a:p>
                      <a:r>
                        <a:rPr sz="1200">
                          <a:solidFill>
                            <a:srgbClr val="2D3436"/>
                          </a:solidFill>
                          <a:latin typeface="Calibri"/>
                        </a:rPr>
                        <a:t>Developers write all code manually</a:t>
                      </a:r>
                    </a:p>
                  </a:txBody>
                  <a:tcPr>
                    <a:solidFill>
                      <a:srgbClr val="FFFFFF"/>
                    </a:solidFill>
                  </a:tcPr>
                </a:tc>
                <a:tc>
                  <a:txBody>
                    <a:bodyPr/>
                    <a:lstStyle/>
                    <a:p>
                      <a:r>
                        <a:rPr sz="1200">
                          <a:solidFill>
                            <a:srgbClr val="2D3436"/>
                          </a:solidFill>
                          <a:latin typeface="Calibri"/>
                        </a:rPr>
                        <a:t>AI generates code from specs + review</a:t>
                      </a:r>
                    </a:p>
                  </a:txBody>
                  <a:tcPr>
                    <a:solidFill>
                      <a:srgbClr val="FFFFFF"/>
                    </a:solidFill>
                  </a:tcPr>
                </a:tc>
              </a:tr>
              <a:tr h="457200">
                <a:tc>
                  <a:txBody>
                    <a:bodyPr/>
                    <a:lstStyle/>
                    <a:p>
                      <a:r>
                        <a:rPr sz="1200">
                          <a:solidFill>
                            <a:srgbClr val="2D3436"/>
                          </a:solidFill>
                          <a:latin typeface="Calibri"/>
                        </a:rPr>
                        <a:t>Testing</a:t>
                      </a:r>
                    </a:p>
                  </a:txBody>
                  <a:tcPr>
                    <a:solidFill>
                      <a:srgbClr val="DDEBF7"/>
                    </a:solidFill>
                  </a:tcPr>
                </a:tc>
                <a:tc>
                  <a:txBody>
                    <a:bodyPr/>
                    <a:lstStyle/>
                    <a:p>
                      <a:r>
                        <a:rPr sz="1200">
                          <a:solidFill>
                            <a:srgbClr val="2D3436"/>
                          </a:solidFill>
                          <a:latin typeface="Calibri"/>
                        </a:rPr>
                        <a:t>Manual test writing, often late</a:t>
                      </a:r>
                    </a:p>
                  </a:txBody>
                  <a:tcPr>
                    <a:solidFill>
                      <a:srgbClr val="DDEBF7"/>
                    </a:solidFill>
                  </a:tcPr>
                </a:tc>
                <a:tc>
                  <a:txBody>
                    <a:bodyPr/>
                    <a:lstStyle/>
                    <a:p>
                      <a:r>
                        <a:rPr sz="1200">
                          <a:solidFill>
                            <a:srgbClr val="2D3436"/>
                          </a:solidFill>
                          <a:latin typeface="Calibri"/>
                        </a:rPr>
                        <a:t>AI generates tests from acceptance criteria</a:t>
                      </a:r>
                    </a:p>
                  </a:txBody>
                  <a:tcPr>
                    <a:solidFill>
                      <a:srgbClr val="DDEBF7"/>
                    </a:solidFill>
                  </a:tcPr>
                </a:tc>
              </a:tr>
              <a:tr h="457200">
                <a:tc>
                  <a:txBody>
                    <a:bodyPr/>
                    <a:lstStyle/>
                    <a:p>
                      <a:r>
                        <a:rPr sz="1200">
                          <a:solidFill>
                            <a:srgbClr val="2D3436"/>
                          </a:solidFill>
                          <a:latin typeface="Calibri"/>
                        </a:rPr>
                        <a:t>Code Review</a:t>
                      </a:r>
                    </a:p>
                  </a:txBody>
                  <a:tcPr>
                    <a:solidFill>
                      <a:srgbClr val="FFFFFF"/>
                    </a:solidFill>
                  </a:tcPr>
                </a:tc>
                <a:tc>
                  <a:txBody>
                    <a:bodyPr/>
                    <a:lstStyle/>
                    <a:p>
                      <a:r>
                        <a:rPr sz="1200">
                          <a:solidFill>
                            <a:srgbClr val="2D3436"/>
                          </a:solidFill>
                          <a:latin typeface="Calibri"/>
                        </a:rPr>
                        <a:t>Peer review of finished code</a:t>
                      </a:r>
                    </a:p>
                  </a:txBody>
                  <a:tcPr>
                    <a:solidFill>
                      <a:srgbClr val="FFFFFF"/>
                    </a:solidFill>
                  </a:tcPr>
                </a:tc>
                <a:tc>
                  <a:txBody>
                    <a:bodyPr/>
                    <a:lstStyle/>
                    <a:p>
                      <a:r>
                        <a:rPr sz="1200">
                          <a:solidFill>
                            <a:srgbClr val="2D3436"/>
                          </a:solidFill>
                          <a:latin typeface="Calibri"/>
                        </a:rPr>
                        <a:t>Review starts at specification stage</a:t>
                      </a:r>
                    </a:p>
                  </a:txBody>
                  <a:tcPr>
                    <a:solidFill>
                      <a:srgbClr val="FFFFFF"/>
                    </a:solidFill>
                  </a:tcPr>
                </a:tc>
              </a:tr>
              <a:tr h="457200">
                <a:tc>
                  <a:txBody>
                    <a:bodyPr/>
                    <a:lstStyle/>
                    <a:p>
                      <a:r>
                        <a:rPr sz="1200">
                          <a:solidFill>
                            <a:srgbClr val="2D3436"/>
                          </a:solidFill>
                          <a:latin typeface="Calibri"/>
                        </a:rPr>
                        <a:t>CI/CD</a:t>
                      </a:r>
                    </a:p>
                  </a:txBody>
                  <a:tcPr>
                    <a:solidFill>
                      <a:srgbClr val="DDEBF7"/>
                    </a:solidFill>
                  </a:tcPr>
                </a:tc>
                <a:tc>
                  <a:txBody>
                    <a:bodyPr/>
                    <a:lstStyle/>
                    <a:p>
                      <a:r>
                        <a:rPr sz="1200">
                          <a:solidFill>
                            <a:srgbClr val="2D3436"/>
                          </a:solidFill>
                          <a:latin typeface="Calibri"/>
                        </a:rPr>
                        <a:t>Pipeline configured separately</a:t>
                      </a:r>
                    </a:p>
                  </a:txBody>
                  <a:tcPr>
                    <a:solidFill>
                      <a:srgbClr val="DDEBF7"/>
                    </a:solidFill>
                  </a:tcPr>
                </a:tc>
                <a:tc>
                  <a:txBody>
                    <a:bodyPr/>
                    <a:lstStyle/>
                    <a:p>
                      <a:r>
                        <a:rPr sz="1200">
                          <a:solidFill>
                            <a:srgbClr val="2D3436"/>
                          </a:solidFill>
                          <a:latin typeface="Calibri"/>
                        </a:rPr>
                        <a:t>Pipeline generated alongside code</a:t>
                      </a:r>
                    </a:p>
                  </a:txBody>
                  <a:tcPr>
                    <a:solidFill>
                      <a:srgbClr val="DDEBF7"/>
                    </a:solidFill>
                  </a:tcPr>
                </a:tc>
              </a:tr>
              <a:tr h="457200">
                <a:tc>
                  <a:txBody>
                    <a:bodyPr/>
                    <a:lstStyle/>
                    <a:p>
                      <a:r>
                        <a:rPr sz="1200">
                          <a:solidFill>
                            <a:srgbClr val="2D3436"/>
                          </a:solidFill>
                          <a:latin typeface="Calibri"/>
                        </a:rPr>
                        <a:t>Security</a:t>
                      </a:r>
                    </a:p>
                  </a:txBody>
                  <a:tcPr>
                    <a:solidFill>
                      <a:srgbClr val="FFFFFF"/>
                    </a:solidFill>
                  </a:tcPr>
                </a:tc>
                <a:tc>
                  <a:txBody>
                    <a:bodyPr/>
                    <a:lstStyle/>
                    <a:p>
                      <a:r>
                        <a:rPr sz="1200">
                          <a:solidFill>
                            <a:srgbClr val="2D3436"/>
                          </a:solidFill>
                          <a:latin typeface="Calibri"/>
                        </a:rPr>
                        <a:t>Penetration testing at the end</a:t>
                      </a:r>
                    </a:p>
                  </a:txBody>
                  <a:tcPr>
                    <a:solidFill>
                      <a:srgbClr val="FFFFFF"/>
                    </a:solidFill>
                  </a:tcPr>
                </a:tc>
                <a:tc>
                  <a:txBody>
                    <a:bodyPr/>
                    <a:lstStyle/>
                    <a:p>
                      <a:r>
                        <a:rPr sz="1200">
                          <a:solidFill>
                            <a:srgbClr val="2D3436"/>
                          </a:solidFill>
                          <a:latin typeface="Calibri"/>
                        </a:rPr>
                        <a:t>Continuous security scanning in pipeline</a:t>
                      </a:r>
                    </a:p>
                  </a:txBody>
                  <a:tcPr>
                    <a:solidFill>
                      <a:srgbClr val="FFFFFF"/>
                    </a:solidFill>
                  </a:tcPr>
                </a:tc>
              </a:tr>
              <a:tr h="457200">
                <a:tc>
                  <a:txBody>
                    <a:bodyPr/>
                    <a:lstStyle/>
                    <a:p>
                      <a:r>
                        <a:rPr sz="1200">
                          <a:solidFill>
                            <a:srgbClr val="2D3436"/>
                          </a:solidFill>
                          <a:latin typeface="Calibri"/>
                        </a:rPr>
                        <a:t>Documentation</a:t>
                      </a:r>
                    </a:p>
                  </a:txBody>
                  <a:tcPr>
                    <a:solidFill>
                      <a:srgbClr val="DDEBF7"/>
                    </a:solidFill>
                  </a:tcPr>
                </a:tc>
                <a:tc>
                  <a:txBody>
                    <a:bodyPr/>
                    <a:lstStyle/>
                    <a:p>
                      <a:r>
                        <a:rPr sz="1200">
                          <a:solidFill>
                            <a:srgbClr val="2D3436"/>
                          </a:solidFill>
                          <a:latin typeface="Calibri"/>
                        </a:rPr>
                        <a:t>Docs drift from code over time</a:t>
                      </a:r>
                    </a:p>
                  </a:txBody>
                  <a:tcPr>
                    <a:solidFill>
                      <a:srgbClr val="DDEBF7"/>
                    </a:solidFill>
                  </a:tcPr>
                </a:tc>
                <a:tc>
                  <a:txBody>
                    <a:bodyPr/>
                    <a:lstStyle/>
                    <a:p>
                      <a:r>
                        <a:rPr sz="1200">
                          <a:solidFill>
                            <a:srgbClr val="2D3436"/>
                          </a:solidFill>
                          <a:latin typeface="Calibri"/>
                        </a:rPr>
                        <a:t>Specs, code, tests stay synchronized</a:t>
                      </a:r>
                    </a:p>
                  </a:txBody>
                  <a:tcPr>
                    <a:solidFill>
                      <a:srgbClr val="DDEBF7"/>
                    </a:solidFill>
                  </a:tcPr>
                </a:tc>
              </a:tr>
              <a:tr h="457200">
                <a:tc>
                  <a:txBody>
                    <a:bodyPr/>
                    <a:lstStyle/>
                    <a:p>
                      <a:r>
                        <a:rPr sz="1200">
                          <a:solidFill>
                            <a:srgbClr val="2D3436"/>
                          </a:solidFill>
                          <a:latin typeface="Calibri"/>
                        </a:rPr>
                        <a:t>Feedback</a:t>
                      </a:r>
                    </a:p>
                  </a:txBody>
                  <a:tcPr>
                    <a:solidFill>
                      <a:srgbClr val="FFFFFF"/>
                    </a:solidFill>
                  </a:tcPr>
                </a:tc>
                <a:tc>
                  <a:txBody>
                    <a:bodyPr/>
                    <a:lstStyle/>
                    <a:p>
                      <a:r>
                        <a:rPr sz="1200">
                          <a:solidFill>
                            <a:srgbClr val="2D3436"/>
                          </a:solidFill>
                          <a:latin typeface="Calibri"/>
                        </a:rPr>
                        <a:t>Quarterly retrospectives</a:t>
                      </a:r>
                    </a:p>
                  </a:txBody>
                  <a:tcPr>
                    <a:solidFill>
                      <a:srgbClr val="FFFFFF"/>
                    </a:solidFill>
                  </a:tcPr>
                </a:tc>
                <a:tc>
                  <a:txBody>
                    <a:bodyPr/>
                    <a:lstStyle/>
                    <a:p>
                      <a:r>
                        <a:rPr sz="1200">
                          <a:solidFill>
                            <a:srgbClr val="2D3436"/>
                          </a:solidFill>
                          <a:latin typeface="Calibri"/>
                        </a:rPr>
                        <a:t>Continuous automated feedback loops</a:t>
                      </a:r>
                    </a:p>
                  </a:txBody>
                  <a:tcPr>
                    <a:solidFill>
                      <a:srgbClr val="FFFFFF"/>
                    </a:solidFill>
                  </a:tcPr>
                </a:tc>
              </a:tr>
            </a:tbl>
          </a:graphicData>
        </a:graphic>
      </p:graphicFrame>
      <p:sp>
        <p:nvSpPr>
          <p:cNvPr id="6" name="Rounded Rectangle 5"/>
          <p:cNvSpPr/>
          <p:nvPr/>
        </p:nvSpPr>
        <p:spPr>
          <a:xfrm>
            <a:off x="1371600" y="5623560"/>
            <a:ext cx="9418320" cy="4572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Key Insight: In AI-native development, specifications and tests are MORE important than code itself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AI-Native SDLC Lifecycle</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Foundations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6</a:t>
            </a:r>
          </a:p>
        </p:txBody>
      </p:sp>
      <p:sp>
        <p:nvSpPr>
          <p:cNvPr id="5" name="Rounded Rectangle 4"/>
          <p:cNvSpPr/>
          <p:nvPr/>
        </p:nvSpPr>
        <p:spPr>
          <a:xfrm>
            <a:off x="3200400" y="1234439"/>
            <a:ext cx="128016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1. Capture</a:t>
            </a:r>
          </a:p>
          <a:p>
            <a:pPr algn="ctr"/>
            <a:r>
              <a:rPr sz="1000" b="0">
                <a:solidFill>
                  <a:srgbClr val="FFFFFF"/>
                </a:solidFill>
                <a:latin typeface="Calibri"/>
              </a:rPr>
              <a:t>Intent</a:t>
            </a:r>
          </a:p>
        </p:txBody>
      </p:sp>
      <p:sp>
        <p:nvSpPr>
          <p:cNvPr id="6" name="Rounded Rectangle 5"/>
          <p:cNvSpPr/>
          <p:nvPr/>
        </p:nvSpPr>
        <p:spPr>
          <a:xfrm>
            <a:off x="4773194" y="1991858"/>
            <a:ext cx="128016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2. Write</a:t>
            </a:r>
          </a:p>
          <a:p>
            <a:pPr algn="ctr"/>
            <a:r>
              <a:rPr sz="1000" b="0">
                <a:solidFill>
                  <a:srgbClr val="FFFFFF"/>
                </a:solidFill>
                <a:latin typeface="Calibri"/>
              </a:rPr>
              <a:t>Specification</a:t>
            </a:r>
          </a:p>
        </p:txBody>
      </p:sp>
      <p:sp>
        <p:nvSpPr>
          <p:cNvPr id="7" name="Rounded Rectangle 6"/>
          <p:cNvSpPr/>
          <p:nvPr/>
        </p:nvSpPr>
        <p:spPr>
          <a:xfrm>
            <a:off x="5161642" y="3693760"/>
            <a:ext cx="128016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3. AI-Assisted</a:t>
            </a:r>
          </a:p>
          <a:p>
            <a:pPr algn="ctr"/>
            <a:r>
              <a:rPr sz="1000" b="0">
                <a:solidFill>
                  <a:srgbClr val="FFFFFF"/>
                </a:solidFill>
                <a:latin typeface="Calibri"/>
              </a:rPr>
              <a:t>Design</a:t>
            </a:r>
          </a:p>
        </p:txBody>
      </p:sp>
      <p:sp>
        <p:nvSpPr>
          <p:cNvPr id="8" name="Rounded Rectangle 7"/>
          <p:cNvSpPr/>
          <p:nvPr/>
        </p:nvSpPr>
        <p:spPr>
          <a:xfrm>
            <a:off x="4073235" y="5058581"/>
            <a:ext cx="128016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4. Generate</a:t>
            </a:r>
          </a:p>
          <a:p>
            <a:pPr algn="ctr"/>
            <a:r>
              <a:rPr sz="1000" b="0">
                <a:solidFill>
                  <a:srgbClr val="FFFFFF"/>
                </a:solidFill>
                <a:latin typeface="Calibri"/>
              </a:rPr>
              <a:t>Code</a:t>
            </a:r>
          </a:p>
        </p:txBody>
      </p:sp>
      <p:sp>
        <p:nvSpPr>
          <p:cNvPr id="9" name="Rounded Rectangle 8"/>
          <p:cNvSpPr/>
          <p:nvPr/>
        </p:nvSpPr>
        <p:spPr>
          <a:xfrm>
            <a:off x="2327564" y="5058581"/>
            <a:ext cx="128016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5. Automated</a:t>
            </a:r>
          </a:p>
          <a:p>
            <a:pPr algn="ctr"/>
            <a:r>
              <a:rPr sz="1000" b="0">
                <a:solidFill>
                  <a:srgbClr val="FFFFFF"/>
                </a:solidFill>
                <a:latin typeface="Calibri"/>
              </a:rPr>
              <a:t>Testing</a:t>
            </a:r>
          </a:p>
        </p:txBody>
      </p:sp>
      <p:sp>
        <p:nvSpPr>
          <p:cNvPr id="10" name="Rounded Rectangle 9"/>
          <p:cNvSpPr/>
          <p:nvPr/>
        </p:nvSpPr>
        <p:spPr>
          <a:xfrm>
            <a:off x="1239157" y="3693760"/>
            <a:ext cx="128016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6. CI/CD</a:t>
            </a:r>
          </a:p>
          <a:p>
            <a:pPr algn="ctr"/>
            <a:r>
              <a:rPr sz="1000" b="0">
                <a:solidFill>
                  <a:srgbClr val="FFFFFF"/>
                </a:solidFill>
                <a:latin typeface="Calibri"/>
              </a:rPr>
              <a:t>Deploy</a:t>
            </a:r>
          </a:p>
        </p:txBody>
      </p:sp>
      <p:sp>
        <p:nvSpPr>
          <p:cNvPr id="11" name="Rounded Rectangle 10"/>
          <p:cNvSpPr/>
          <p:nvPr/>
        </p:nvSpPr>
        <p:spPr>
          <a:xfrm>
            <a:off x="1627605" y="1991858"/>
            <a:ext cx="1280160" cy="64008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7. Monitor &amp;</a:t>
            </a:r>
          </a:p>
          <a:p>
            <a:pPr algn="ctr"/>
            <a:r>
              <a:rPr sz="1000" b="0">
                <a:solidFill>
                  <a:srgbClr val="FFFFFF"/>
                </a:solidFill>
                <a:latin typeface="Calibri"/>
              </a:rPr>
              <a:t>Feedback</a:t>
            </a:r>
          </a:p>
        </p:txBody>
      </p:sp>
      <p:sp>
        <p:nvSpPr>
          <p:cNvPr id="12" name="Rounded Rectangle 11"/>
          <p:cNvSpPr/>
          <p:nvPr/>
        </p:nvSpPr>
        <p:spPr>
          <a:xfrm>
            <a:off x="3108960" y="3246120"/>
            <a:ext cx="1463040" cy="640080"/>
          </a:xfrm>
          <a:prstGeom prst="round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AI-Native</a:t>
            </a:r>
          </a:p>
          <a:p>
            <a:pPr algn="ctr"/>
            <a:r>
              <a:rPr sz="1400" b="0">
                <a:solidFill>
                  <a:srgbClr val="FFFFFF"/>
                </a:solidFill>
                <a:latin typeface="Calibri"/>
              </a:rPr>
              <a:t>SDLC</a:t>
            </a:r>
          </a:p>
        </p:txBody>
      </p:sp>
      <p:sp>
        <p:nvSpPr>
          <p:cNvPr id="13" name="TextBox 12"/>
          <p:cNvSpPr txBox="1"/>
          <p:nvPr/>
        </p:nvSpPr>
        <p:spPr>
          <a:xfrm>
            <a:off x="6858000" y="1188720"/>
            <a:ext cx="4572000" cy="365760"/>
          </a:xfrm>
          <a:prstGeom prst="rect">
            <a:avLst/>
          </a:prstGeom>
          <a:noFill/>
        </p:spPr>
        <p:txBody>
          <a:bodyPr wrap="square">
            <a:spAutoFit/>
          </a:bodyPr>
          <a:lstStyle/>
          <a:p>
            <a:pPr algn="l"/>
            <a:r>
              <a:rPr sz="1600" b="1">
                <a:solidFill>
                  <a:srgbClr val="4472C4"/>
                </a:solidFill>
                <a:latin typeface="Calibri"/>
              </a:rPr>
              <a:t>What Happens at Each Stage</a:t>
            </a:r>
          </a:p>
        </p:txBody>
      </p:sp>
      <p:sp>
        <p:nvSpPr>
          <p:cNvPr id="14" name="Rounded Rectangle 13"/>
          <p:cNvSpPr/>
          <p:nvPr/>
        </p:nvSpPr>
        <p:spPr>
          <a:xfrm>
            <a:off x="6858000" y="1691640"/>
            <a:ext cx="4754880" cy="50292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Intent Capture:  Stakeholder needs converted to structured requirements</a:t>
            </a:r>
          </a:p>
        </p:txBody>
      </p:sp>
      <p:sp>
        <p:nvSpPr>
          <p:cNvPr id="15" name="Rounded Rectangle 14"/>
          <p:cNvSpPr/>
          <p:nvPr/>
        </p:nvSpPr>
        <p:spPr>
          <a:xfrm>
            <a:off x="6858000" y="2331720"/>
            <a:ext cx="4754880" cy="50292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Specification:  Functional/non-functional reqs, API contracts, acceptance criteria</a:t>
            </a:r>
          </a:p>
        </p:txBody>
      </p:sp>
      <p:sp>
        <p:nvSpPr>
          <p:cNvPr id="16" name="Rounded Rectangle 15"/>
          <p:cNvSpPr/>
          <p:nvPr/>
        </p:nvSpPr>
        <p:spPr>
          <a:xfrm>
            <a:off x="6858000" y="2971800"/>
            <a:ext cx="4754880" cy="50292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AI Design:  Architecture proposals, trade-off analysis, UML generation</a:t>
            </a:r>
          </a:p>
        </p:txBody>
      </p:sp>
      <p:sp>
        <p:nvSpPr>
          <p:cNvPr id="17" name="Rounded Rectangle 16"/>
          <p:cNvSpPr/>
          <p:nvPr/>
        </p:nvSpPr>
        <p:spPr>
          <a:xfrm>
            <a:off x="6858000" y="3611879"/>
            <a:ext cx="4754880" cy="502920"/>
          </a:xfrm>
          <a:prstGeom prst="roundRect">
            <a:avLst/>
          </a:prstGeom>
          <a:solidFill>
            <a:srgbClr val="EFE8F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Code Generation:  AI generates implementation; humans review &amp; refine</a:t>
            </a:r>
          </a:p>
        </p:txBody>
      </p:sp>
      <p:sp>
        <p:nvSpPr>
          <p:cNvPr id="18" name="Rounded Rectangle 17"/>
          <p:cNvSpPr/>
          <p:nvPr/>
        </p:nvSpPr>
        <p:spPr>
          <a:xfrm>
            <a:off x="6858000" y="4251960"/>
            <a:ext cx="4754880" cy="50292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Testing:  Unit, integration, E2E tests generated from specs</a:t>
            </a:r>
          </a:p>
        </p:txBody>
      </p:sp>
      <p:sp>
        <p:nvSpPr>
          <p:cNvPr id="19" name="Rounded Rectangle 18"/>
          <p:cNvSpPr/>
          <p:nvPr/>
        </p:nvSpPr>
        <p:spPr>
          <a:xfrm>
            <a:off x="6858000" y="4892040"/>
            <a:ext cx="4754880" cy="50292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CI/CD Deploy:  Automated build, scan, deploy with quality gates</a:t>
            </a:r>
          </a:p>
        </p:txBody>
      </p:sp>
      <p:sp>
        <p:nvSpPr>
          <p:cNvPr id="20" name="Rounded Rectangle 19"/>
          <p:cNvSpPr/>
          <p:nvPr/>
        </p:nvSpPr>
        <p:spPr>
          <a:xfrm>
            <a:off x="6858000" y="5532119"/>
            <a:ext cx="4754880" cy="50292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Feedback:  Telemetry, bug reports, and metrics feed next cycle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AI Tool Ecosystem for Software Development</a:t>
            </a:r>
          </a:p>
        </p:txBody>
      </p:sp>
      <p:sp>
        <p:nvSpPr>
          <p:cNvPr id="3" name="Rounded Rectangle 2"/>
          <p:cNvSpPr/>
          <p:nvPr/>
        </p:nvSpPr>
        <p:spPr>
          <a:xfrm>
            <a:off x="365760" y="6263640"/>
            <a:ext cx="4114800" cy="347472"/>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Tools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7</a:t>
            </a:r>
          </a:p>
        </p:txBody>
      </p:sp>
      <p:sp>
        <p:nvSpPr>
          <p:cNvPr id="5" name="TextBox 4"/>
          <p:cNvSpPr txBox="1"/>
          <p:nvPr/>
        </p:nvSpPr>
        <p:spPr>
          <a:xfrm>
            <a:off x="457200" y="1051560"/>
            <a:ext cx="11247120" cy="365760"/>
          </a:xfrm>
          <a:prstGeom prst="rect">
            <a:avLst/>
          </a:prstGeom>
          <a:noFill/>
        </p:spPr>
        <p:txBody>
          <a:bodyPr wrap="square">
            <a:spAutoFit/>
          </a:bodyPr>
          <a:lstStyle/>
          <a:p>
            <a:pPr algn="l"/>
            <a:r>
              <a:rPr sz="1600" b="1">
                <a:solidFill>
                  <a:srgbClr val="008B8B"/>
                </a:solidFill>
                <a:latin typeface="Calibri"/>
              </a:rPr>
              <a:t>Categorized Landscape of AI-Powered Development Tools</a:t>
            </a:r>
          </a:p>
        </p:txBody>
      </p:sp>
      <p:sp>
        <p:nvSpPr>
          <p:cNvPr id="6" name="Rounded Rectangle 5"/>
          <p:cNvSpPr/>
          <p:nvPr/>
        </p:nvSpPr>
        <p:spPr>
          <a:xfrm>
            <a:off x="457200" y="1554480"/>
            <a:ext cx="5486400" cy="11887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IDE Assistants</a:t>
            </a:r>
          </a:p>
          <a:p>
            <a:pPr algn="ctr"/>
            <a:r>
              <a:rPr sz="1200" b="0">
                <a:solidFill>
                  <a:srgbClr val="2D3436"/>
                </a:solidFill>
                <a:latin typeface="Calibri"/>
              </a:rPr>
              <a:t>GitHub Copilot  |  Cursor  |  JetBrains AI  |  Windsurf</a:t>
            </a:r>
          </a:p>
          <a:p>
            <a:pPr algn="ctr"/>
            <a:r>
              <a:rPr sz="1200" b="0">
                <a:solidFill>
                  <a:srgbClr val="2D3436"/>
                </a:solidFill>
                <a:latin typeface="Calibri"/>
              </a:rPr>
              <a:t>Inline code completion, refactoring, chat-in-editor</a:t>
            </a:r>
          </a:p>
        </p:txBody>
      </p:sp>
      <p:sp>
        <p:nvSpPr>
          <p:cNvPr id="7" name="Rounded Rectangle 6"/>
          <p:cNvSpPr/>
          <p:nvPr/>
        </p:nvSpPr>
        <p:spPr>
          <a:xfrm>
            <a:off x="6217920" y="1554480"/>
            <a:ext cx="5394960" cy="118872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Chat / LLM Interfaces</a:t>
            </a:r>
          </a:p>
          <a:p>
            <a:pPr algn="ctr"/>
            <a:r>
              <a:rPr sz="1200" b="0">
                <a:solidFill>
                  <a:srgbClr val="2D3436"/>
                </a:solidFill>
                <a:latin typeface="Calibri"/>
              </a:rPr>
              <a:t>ChatGPT  |  Claude  |  Gemini  |  M365 Copilot</a:t>
            </a:r>
          </a:p>
          <a:p>
            <a:pPr algn="ctr"/>
            <a:r>
              <a:rPr sz="1200" b="0">
                <a:solidFill>
                  <a:srgbClr val="2D3436"/>
                </a:solidFill>
                <a:latin typeface="Calibri"/>
              </a:rPr>
              <a:t>Conversational coding, explanation, brainstorming</a:t>
            </a:r>
          </a:p>
        </p:txBody>
      </p:sp>
      <p:sp>
        <p:nvSpPr>
          <p:cNvPr id="8" name="Rounded Rectangle 7"/>
          <p:cNvSpPr/>
          <p:nvPr/>
        </p:nvSpPr>
        <p:spPr>
          <a:xfrm>
            <a:off x="457200" y="2926080"/>
            <a:ext cx="5486400" cy="118872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Workflow &amp; Agent Frameworks</a:t>
            </a:r>
          </a:p>
          <a:p>
            <a:pPr algn="ctr"/>
            <a:r>
              <a:rPr sz="1200" b="0">
                <a:solidFill>
                  <a:srgbClr val="2D3436"/>
                </a:solidFill>
                <a:latin typeface="Calibri"/>
              </a:rPr>
              <a:t>LangChain  |  Semantic Kernel  |  CrewAI  |  AutoGen</a:t>
            </a:r>
          </a:p>
          <a:p>
            <a:pPr algn="ctr"/>
            <a:r>
              <a:rPr sz="1200" b="0">
                <a:solidFill>
                  <a:srgbClr val="2D3436"/>
                </a:solidFill>
                <a:latin typeface="Calibri"/>
              </a:rPr>
              <a:t>Orchestrate multi-step AI pipelines &amp; agent teams</a:t>
            </a:r>
          </a:p>
        </p:txBody>
      </p:sp>
      <p:sp>
        <p:nvSpPr>
          <p:cNvPr id="9" name="Rounded Rectangle 8"/>
          <p:cNvSpPr/>
          <p:nvPr/>
        </p:nvSpPr>
        <p:spPr>
          <a:xfrm>
            <a:off x="6217920" y="2926080"/>
            <a:ext cx="5394960" cy="118872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DevOps &amp; CI/CD Intelligence</a:t>
            </a:r>
          </a:p>
          <a:p>
            <a:pPr algn="ctr"/>
            <a:r>
              <a:rPr sz="1200" b="0">
                <a:solidFill>
                  <a:srgbClr val="2D3436"/>
                </a:solidFill>
                <a:latin typeface="Calibri"/>
              </a:rPr>
              <a:t>GitHub Actions AI  |  SonarQube AI  |  Snyk AI</a:t>
            </a:r>
          </a:p>
          <a:p>
            <a:pPr algn="ctr"/>
            <a:r>
              <a:rPr sz="1200" b="0">
                <a:solidFill>
                  <a:srgbClr val="2D3436"/>
                </a:solidFill>
                <a:latin typeface="Calibri"/>
              </a:rPr>
              <a:t>Automated quality gates, vulnerability detection</a:t>
            </a:r>
          </a:p>
        </p:txBody>
      </p:sp>
      <p:sp>
        <p:nvSpPr>
          <p:cNvPr id="10" name="Rounded Rectangle 9"/>
          <p:cNvSpPr/>
          <p:nvPr/>
        </p:nvSpPr>
        <p:spPr>
          <a:xfrm>
            <a:off x="2926080" y="4297680"/>
            <a:ext cx="6309360" cy="9144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Code Review &amp; PR Analysis</a:t>
            </a:r>
          </a:p>
          <a:p>
            <a:pPr algn="ctr"/>
            <a:r>
              <a:rPr sz="1200" b="0">
                <a:solidFill>
                  <a:srgbClr val="2D3436"/>
                </a:solidFill>
                <a:latin typeface="Calibri"/>
              </a:rPr>
              <a:t>CodeRabbit  |  Copilot PR Review  |  Qodo (formerly CodiumAI)</a:t>
            </a:r>
          </a:p>
          <a:p>
            <a:pPr algn="ctr"/>
            <a:r>
              <a:rPr sz="1200" b="0">
                <a:solidFill>
                  <a:srgbClr val="2D3436"/>
                </a:solidFill>
                <a:latin typeface="Calibri"/>
              </a:rPr>
              <a:t>Automated code review, PR summaries, test suggestions</a:t>
            </a:r>
          </a:p>
        </p:txBody>
      </p:sp>
      <p:sp>
        <p:nvSpPr>
          <p:cNvPr id="11" name="Rounded Rectangle 10"/>
          <p:cNvSpPr/>
          <p:nvPr/>
        </p:nvSpPr>
        <p:spPr>
          <a:xfrm>
            <a:off x="1371600" y="5440680"/>
            <a:ext cx="9418320" cy="5029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Key Takeaway: No single tool covers everything — build a complementary toolchain across categories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IDE Assistants &amp; Code Generation Deep Dive</a:t>
            </a:r>
          </a:p>
        </p:txBody>
      </p:sp>
      <p:sp>
        <p:nvSpPr>
          <p:cNvPr id="3" name="Rounded Rectangle 2"/>
          <p:cNvSpPr/>
          <p:nvPr/>
        </p:nvSpPr>
        <p:spPr>
          <a:xfrm>
            <a:off x="365760" y="6263640"/>
            <a:ext cx="4114800" cy="347472"/>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Tools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8</a:t>
            </a:r>
          </a:p>
        </p:txBody>
      </p:sp>
      <p:sp>
        <p:nvSpPr>
          <p:cNvPr id="5" name="TextBox 4"/>
          <p:cNvSpPr txBox="1"/>
          <p:nvPr/>
        </p:nvSpPr>
        <p:spPr>
          <a:xfrm>
            <a:off x="457200" y="1097280"/>
            <a:ext cx="5029200" cy="365760"/>
          </a:xfrm>
          <a:prstGeom prst="rect">
            <a:avLst/>
          </a:prstGeom>
          <a:noFill/>
        </p:spPr>
        <p:txBody>
          <a:bodyPr wrap="square">
            <a:spAutoFit/>
          </a:bodyPr>
          <a:lstStyle/>
          <a:p>
            <a:pPr algn="l"/>
            <a:r>
              <a:rPr sz="1600" b="1">
                <a:solidFill>
                  <a:srgbClr val="008B8B"/>
                </a:solidFill>
                <a:latin typeface="Calibri"/>
              </a:rPr>
              <a:t>Key Capabilities</a:t>
            </a:r>
          </a:p>
        </p:txBody>
      </p:sp>
      <p:sp>
        <p:nvSpPr>
          <p:cNvPr id="6" name="TextBox 5"/>
          <p:cNvSpPr txBox="1"/>
          <p:nvPr/>
        </p:nvSpPr>
        <p:spPr>
          <a:xfrm>
            <a:off x="457200" y="1554480"/>
            <a:ext cx="5029200" cy="3657600"/>
          </a:xfrm>
          <a:prstGeom prst="rect">
            <a:avLst/>
          </a:prstGeom>
          <a:noFill/>
        </p:spPr>
        <p:txBody>
          <a:bodyPr wrap="square">
            <a:spAutoFit/>
          </a:bodyPr>
          <a:lstStyle/>
          <a:p>
            <a:pPr>
              <a:lnSpc>
                <a:spcPct val="130000"/>
              </a:lnSpc>
              <a:spcAft>
                <a:spcPts val="800"/>
              </a:spcAft>
            </a:pPr>
            <a:r>
              <a:rPr sz="1300">
                <a:solidFill>
                  <a:srgbClr val="2D3436"/>
                </a:solidFill>
                <a:latin typeface="Calibri"/>
              </a:rPr>
              <a:t>• Inline Code Completion</a:t>
            </a:r>
          </a:p>
          <a:p>
            <a:pPr>
              <a:lnSpc>
                <a:spcPct val="130000"/>
              </a:lnSpc>
              <a:spcAft>
                <a:spcPts val="400"/>
              </a:spcAft>
            </a:pPr>
            <a:r>
              <a:rPr sz="1100">
                <a:solidFill>
                  <a:srgbClr val="636E72"/>
                </a:solidFill>
                <a:latin typeface="Calibri"/>
              </a:rPr>
              <a:t>     - Real-time suggestions as you type</a:t>
            </a:r>
          </a:p>
          <a:p>
            <a:pPr>
              <a:lnSpc>
                <a:spcPct val="130000"/>
              </a:lnSpc>
              <a:spcAft>
                <a:spcPts val="400"/>
              </a:spcAft>
            </a:pPr>
            <a:r>
              <a:rPr sz="1100">
                <a:solidFill>
                  <a:srgbClr val="636E72"/>
                </a:solidFill>
                <a:latin typeface="Calibri"/>
              </a:rPr>
              <a:t>     - Context-aware multi-line completions</a:t>
            </a:r>
          </a:p>
          <a:p>
            <a:pPr>
              <a:lnSpc>
                <a:spcPct val="130000"/>
              </a:lnSpc>
              <a:spcAft>
                <a:spcPts val="800"/>
              </a:spcAft>
            </a:pPr>
            <a:r>
              <a:rPr sz="1300">
                <a:solidFill>
                  <a:srgbClr val="2D3436"/>
                </a:solidFill>
                <a:latin typeface="Calibri"/>
              </a:rPr>
              <a:t>• Explain &amp; Document Code</a:t>
            </a:r>
          </a:p>
          <a:p>
            <a:pPr>
              <a:lnSpc>
                <a:spcPct val="130000"/>
              </a:lnSpc>
              <a:spcAft>
                <a:spcPts val="400"/>
              </a:spcAft>
            </a:pPr>
            <a:r>
              <a:rPr sz="1100">
                <a:solidFill>
                  <a:srgbClr val="636E72"/>
                </a:solidFill>
                <a:latin typeface="Calibri"/>
              </a:rPr>
              <a:t>     - Explain selected code in plain English</a:t>
            </a:r>
          </a:p>
          <a:p>
            <a:pPr>
              <a:lnSpc>
                <a:spcPct val="130000"/>
              </a:lnSpc>
              <a:spcAft>
                <a:spcPts val="400"/>
              </a:spcAft>
            </a:pPr>
            <a:r>
              <a:rPr sz="1100">
                <a:solidFill>
                  <a:srgbClr val="636E72"/>
                </a:solidFill>
                <a:latin typeface="Calibri"/>
              </a:rPr>
              <a:t>     - Generate docstrings and comments</a:t>
            </a:r>
          </a:p>
          <a:p>
            <a:pPr>
              <a:lnSpc>
                <a:spcPct val="130000"/>
              </a:lnSpc>
              <a:spcAft>
                <a:spcPts val="800"/>
              </a:spcAft>
            </a:pPr>
            <a:r>
              <a:rPr sz="1300">
                <a:solidFill>
                  <a:srgbClr val="2D3436"/>
                </a:solidFill>
                <a:latin typeface="Calibri"/>
              </a:rPr>
              <a:t>• Refactoring Suggestions</a:t>
            </a:r>
          </a:p>
          <a:p>
            <a:pPr>
              <a:lnSpc>
                <a:spcPct val="130000"/>
              </a:lnSpc>
              <a:spcAft>
                <a:spcPts val="400"/>
              </a:spcAft>
            </a:pPr>
            <a:r>
              <a:rPr sz="1100">
                <a:solidFill>
                  <a:srgbClr val="636E72"/>
                </a:solidFill>
                <a:latin typeface="Calibri"/>
              </a:rPr>
              <a:t>     - Rename, extract, restructure code</a:t>
            </a:r>
          </a:p>
          <a:p>
            <a:pPr>
              <a:lnSpc>
                <a:spcPct val="130000"/>
              </a:lnSpc>
              <a:spcAft>
                <a:spcPts val="400"/>
              </a:spcAft>
            </a:pPr>
            <a:r>
              <a:rPr sz="1100">
                <a:solidFill>
                  <a:srgbClr val="636E72"/>
                </a:solidFill>
                <a:latin typeface="Calibri"/>
              </a:rPr>
              <a:t>     - Convert patterns (e.g., loops to streams)</a:t>
            </a:r>
          </a:p>
          <a:p>
            <a:pPr>
              <a:lnSpc>
                <a:spcPct val="130000"/>
              </a:lnSpc>
              <a:spcAft>
                <a:spcPts val="800"/>
              </a:spcAft>
            </a:pPr>
            <a:r>
              <a:rPr sz="1300">
                <a:solidFill>
                  <a:srgbClr val="2D3436"/>
                </a:solidFill>
                <a:latin typeface="Calibri"/>
              </a:rPr>
              <a:t>• Test Generation</a:t>
            </a:r>
          </a:p>
          <a:p>
            <a:pPr>
              <a:lnSpc>
                <a:spcPct val="130000"/>
              </a:lnSpc>
              <a:spcAft>
                <a:spcPts val="400"/>
              </a:spcAft>
            </a:pPr>
            <a:r>
              <a:rPr sz="1100">
                <a:solidFill>
                  <a:srgbClr val="636E72"/>
                </a:solidFill>
                <a:latin typeface="Calibri"/>
              </a:rPr>
              <a:t>     - Generate unit tests from implementation</a:t>
            </a:r>
          </a:p>
          <a:p>
            <a:pPr>
              <a:lnSpc>
                <a:spcPct val="130000"/>
              </a:lnSpc>
              <a:spcAft>
                <a:spcPts val="400"/>
              </a:spcAft>
            </a:pPr>
            <a:r>
              <a:rPr sz="1100">
                <a:solidFill>
                  <a:srgbClr val="636E72"/>
                </a:solidFill>
                <a:latin typeface="Calibri"/>
              </a:rPr>
              <a:t>     - Suggest edge cases and boundary tests</a:t>
            </a:r>
          </a:p>
          <a:p>
            <a:pPr>
              <a:lnSpc>
                <a:spcPct val="130000"/>
              </a:lnSpc>
              <a:spcAft>
                <a:spcPts val="800"/>
              </a:spcAft>
            </a:pPr>
            <a:r>
              <a:rPr sz="1300">
                <a:solidFill>
                  <a:srgbClr val="2D3436"/>
                </a:solidFill>
                <a:latin typeface="Calibri"/>
              </a:rPr>
              <a:t>• Chat-in-Editor</a:t>
            </a:r>
          </a:p>
          <a:p>
            <a:pPr>
              <a:lnSpc>
                <a:spcPct val="130000"/>
              </a:lnSpc>
              <a:spcAft>
                <a:spcPts val="400"/>
              </a:spcAft>
            </a:pPr>
            <a:r>
              <a:rPr sz="1100">
                <a:solidFill>
                  <a:srgbClr val="636E72"/>
                </a:solidFill>
                <a:latin typeface="Calibri"/>
              </a:rPr>
              <a:t>     - Ask questions without leaving the IDE</a:t>
            </a:r>
          </a:p>
          <a:p>
            <a:pPr>
              <a:lnSpc>
                <a:spcPct val="130000"/>
              </a:lnSpc>
              <a:spcAft>
                <a:spcPts val="400"/>
              </a:spcAft>
            </a:pPr>
            <a:r>
              <a:rPr sz="1100">
                <a:solidFill>
                  <a:srgbClr val="636E72"/>
                </a:solidFill>
                <a:latin typeface="Calibri"/>
              </a:rPr>
              <a:t>     - Multi-file edits from natural language</a:t>
            </a:r>
          </a:p>
        </p:txBody>
      </p:sp>
      <p:sp>
        <p:nvSpPr>
          <p:cNvPr id="7" name="TextBox 6"/>
          <p:cNvSpPr txBox="1"/>
          <p:nvPr/>
        </p:nvSpPr>
        <p:spPr>
          <a:xfrm>
            <a:off x="6217920" y="1097280"/>
            <a:ext cx="5303520" cy="365760"/>
          </a:xfrm>
          <a:prstGeom prst="rect">
            <a:avLst/>
          </a:prstGeom>
          <a:noFill/>
        </p:spPr>
        <p:txBody>
          <a:bodyPr wrap="square">
            <a:spAutoFit/>
          </a:bodyPr>
          <a:lstStyle/>
          <a:p>
            <a:pPr algn="l"/>
            <a:r>
              <a:rPr sz="1600" b="1">
                <a:solidFill>
                  <a:srgbClr val="008B8B"/>
                </a:solidFill>
                <a:latin typeface="Calibri"/>
              </a:rPr>
              <a:t>Tool Comparison</a:t>
            </a:r>
          </a:p>
        </p:txBody>
      </p:sp>
      <p:sp>
        <p:nvSpPr>
          <p:cNvPr id="8" name="Rounded Rectangle 7"/>
          <p:cNvSpPr/>
          <p:nvPr/>
        </p:nvSpPr>
        <p:spPr>
          <a:xfrm>
            <a:off x="6217920" y="1554480"/>
            <a:ext cx="5303520" cy="123444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GitHub Copilot</a:t>
            </a:r>
          </a:p>
          <a:p>
            <a:pPr algn="l"/>
            <a:r>
              <a:rPr sz="1100" b="0">
                <a:solidFill>
                  <a:srgbClr val="2D3436"/>
                </a:solidFill>
                <a:latin typeface="Calibri"/>
              </a:rPr>
              <a:t>Strengths: Widest IDE support, strong autocomplete,</a:t>
            </a:r>
          </a:p>
          <a:p>
            <a:pPr algn="l"/>
            <a:r>
              <a:rPr sz="1100" b="0">
                <a:solidFill>
                  <a:srgbClr val="2D3436"/>
                </a:solidFill>
                <a:latin typeface="Calibri"/>
              </a:rPr>
              <a:t>enterprise features, Copilot Chat &amp; Workspace</a:t>
            </a:r>
          </a:p>
          <a:p>
            <a:pPr algn="l"/>
            <a:r>
              <a:rPr sz="1100" b="0">
                <a:solidFill>
                  <a:srgbClr val="2D3436"/>
                </a:solidFill>
                <a:latin typeface="Calibri"/>
              </a:rPr>
              <a:t>Best for: General-purpose coding across languages</a:t>
            </a:r>
          </a:p>
        </p:txBody>
      </p:sp>
      <p:sp>
        <p:nvSpPr>
          <p:cNvPr id="9" name="Rounded Rectangle 8"/>
          <p:cNvSpPr/>
          <p:nvPr/>
        </p:nvSpPr>
        <p:spPr>
          <a:xfrm>
            <a:off x="6217920" y="2926080"/>
            <a:ext cx="5303520" cy="12344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Cursor</a:t>
            </a:r>
          </a:p>
          <a:p>
            <a:pPr algn="l"/>
            <a:r>
              <a:rPr sz="1100" b="0">
                <a:solidFill>
                  <a:srgbClr val="2D3436"/>
                </a:solidFill>
                <a:latin typeface="Calibri"/>
              </a:rPr>
              <a:t>Strengths: Codebase-aware context, Composer mode,</a:t>
            </a:r>
          </a:p>
          <a:p>
            <a:pPr algn="l"/>
            <a:r>
              <a:rPr sz="1100" b="0">
                <a:solidFill>
                  <a:srgbClr val="2D3436"/>
                </a:solidFill>
                <a:latin typeface="Calibri"/>
              </a:rPr>
              <a:t>multi-file edits, agentic workflows</a:t>
            </a:r>
          </a:p>
          <a:p>
            <a:pPr algn="l"/>
            <a:r>
              <a:rPr sz="1100" b="0">
                <a:solidFill>
                  <a:srgbClr val="2D3436"/>
                </a:solidFill>
                <a:latin typeface="Calibri"/>
              </a:rPr>
              <a:t>Best for: Complex refactors, full-feature development</a:t>
            </a:r>
          </a:p>
        </p:txBody>
      </p:sp>
      <p:sp>
        <p:nvSpPr>
          <p:cNvPr id="10" name="Rounded Rectangle 9"/>
          <p:cNvSpPr/>
          <p:nvPr/>
        </p:nvSpPr>
        <p:spPr>
          <a:xfrm>
            <a:off x="6217920" y="4297680"/>
            <a:ext cx="5303520" cy="123444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Devin / AI Agents</a:t>
            </a:r>
          </a:p>
          <a:p>
            <a:pPr algn="l"/>
            <a:r>
              <a:rPr sz="1100" b="0">
                <a:solidFill>
                  <a:srgbClr val="2D3436"/>
                </a:solidFill>
                <a:latin typeface="Calibri"/>
              </a:rPr>
              <a:t>Strengths: Autonomous task execution, end-to-end</a:t>
            </a:r>
          </a:p>
          <a:p>
            <a:pPr algn="l"/>
            <a:r>
              <a:rPr sz="1100" b="0">
                <a:solidFill>
                  <a:srgbClr val="2D3436"/>
                </a:solidFill>
                <a:latin typeface="Calibri"/>
              </a:rPr>
              <a:t>implementation, planning &amp; debugging loops</a:t>
            </a:r>
          </a:p>
          <a:p>
            <a:pPr algn="l"/>
            <a:r>
              <a:rPr sz="1100" b="0">
                <a:solidFill>
                  <a:srgbClr val="2D3436"/>
                </a:solidFill>
                <a:latin typeface="Calibri"/>
              </a:rPr>
              <a:t>Best for: Complete feature implementation, boilerplate</a:t>
            </a:r>
          </a:p>
        </p:txBody>
      </p:sp>
      <p:sp>
        <p:nvSpPr>
          <p:cNvPr id="11" name="Rounded Rectangle 10"/>
          <p:cNvSpPr/>
          <p:nvPr/>
        </p:nvSpPr>
        <p:spPr>
          <a:xfrm>
            <a:off x="457200" y="5669280"/>
            <a:ext cx="11247120" cy="41148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Practical Tip:  Use Copilot for quick completions  |  Cursor for complex multi-file work  |  Devin for end-to-end tasks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LLM Capabilities &amp; Limitations</a:t>
            </a:r>
          </a:p>
        </p:txBody>
      </p:sp>
      <p:sp>
        <p:nvSpPr>
          <p:cNvPr id="3" name="Rounded Rectangle 2"/>
          <p:cNvSpPr/>
          <p:nvPr/>
        </p:nvSpPr>
        <p:spPr>
          <a:xfrm>
            <a:off x="365760" y="6263640"/>
            <a:ext cx="4114800" cy="347472"/>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Tools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9</a:t>
            </a:r>
          </a:p>
        </p:txBody>
      </p:sp>
      <p:sp>
        <p:nvSpPr>
          <p:cNvPr id="5" name="Rounded Rectangle 4"/>
          <p:cNvSpPr/>
          <p:nvPr/>
        </p:nvSpPr>
        <p:spPr>
          <a:xfrm>
            <a:off x="457200" y="1097280"/>
            <a:ext cx="5303520" cy="45720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What AI Does Well</a:t>
            </a:r>
          </a:p>
        </p:txBody>
      </p:sp>
      <p:sp>
        <p:nvSpPr>
          <p:cNvPr id="6" name="TextBox 5"/>
          <p:cNvSpPr txBox="1"/>
          <p:nvPr/>
        </p:nvSpPr>
        <p:spPr>
          <a:xfrm>
            <a:off x="548640" y="1691640"/>
            <a:ext cx="5120640" cy="2926080"/>
          </a:xfrm>
          <a:prstGeom prst="rect">
            <a:avLst/>
          </a:prstGeom>
          <a:noFill/>
        </p:spPr>
        <p:txBody>
          <a:bodyPr wrap="square">
            <a:spAutoFit/>
          </a:bodyPr>
          <a:lstStyle/>
          <a:p>
            <a:pPr>
              <a:lnSpc>
                <a:spcPct val="130000"/>
              </a:lnSpc>
              <a:spcAft>
                <a:spcPts val="800"/>
              </a:spcAft>
            </a:pPr>
            <a:r>
              <a:rPr sz="1300">
                <a:solidFill>
                  <a:srgbClr val="2D3436"/>
                </a:solidFill>
                <a:latin typeface="Calibri"/>
              </a:rPr>
              <a:t>✓ Code pattern generation &amp; boilerplate</a:t>
            </a:r>
          </a:p>
          <a:p>
            <a:pPr>
              <a:lnSpc>
                <a:spcPct val="130000"/>
              </a:lnSpc>
              <a:spcAft>
                <a:spcPts val="800"/>
              </a:spcAft>
            </a:pPr>
            <a:r>
              <a:rPr sz="1300">
                <a:solidFill>
                  <a:srgbClr val="2D3436"/>
                </a:solidFill>
                <a:latin typeface="Calibri"/>
              </a:rPr>
              <a:t>✓ Test scaffolding from descriptions</a:t>
            </a:r>
          </a:p>
          <a:p>
            <a:pPr>
              <a:lnSpc>
                <a:spcPct val="130000"/>
              </a:lnSpc>
              <a:spcAft>
                <a:spcPts val="800"/>
              </a:spcAft>
            </a:pPr>
            <a:r>
              <a:rPr sz="1300">
                <a:solidFill>
                  <a:srgbClr val="2D3436"/>
                </a:solidFill>
                <a:latin typeface="Calibri"/>
              </a:rPr>
              <a:t>✓ Documentation &amp; comment generation</a:t>
            </a:r>
          </a:p>
          <a:p>
            <a:pPr>
              <a:lnSpc>
                <a:spcPct val="130000"/>
              </a:lnSpc>
              <a:spcAft>
                <a:spcPts val="800"/>
              </a:spcAft>
            </a:pPr>
            <a:r>
              <a:rPr sz="1300">
                <a:solidFill>
                  <a:srgbClr val="2D3436"/>
                </a:solidFill>
                <a:latin typeface="Calibri"/>
              </a:rPr>
              <a:t>✓ Explaining and summarizing code</a:t>
            </a:r>
          </a:p>
          <a:p>
            <a:pPr>
              <a:lnSpc>
                <a:spcPct val="130000"/>
              </a:lnSpc>
              <a:spcAft>
                <a:spcPts val="800"/>
              </a:spcAft>
            </a:pPr>
            <a:r>
              <a:rPr sz="1300">
                <a:solidFill>
                  <a:srgbClr val="2D3436"/>
                </a:solidFill>
                <a:latin typeface="Calibri"/>
              </a:rPr>
              <a:t>✓ Suggesting refactoring approaches</a:t>
            </a:r>
          </a:p>
          <a:p>
            <a:pPr>
              <a:lnSpc>
                <a:spcPct val="130000"/>
              </a:lnSpc>
              <a:spcAft>
                <a:spcPts val="800"/>
              </a:spcAft>
            </a:pPr>
            <a:r>
              <a:rPr sz="1300">
                <a:solidFill>
                  <a:srgbClr val="2D3436"/>
                </a:solidFill>
                <a:latin typeface="Calibri"/>
              </a:rPr>
              <a:t>✓ Translating between languages/frameworks</a:t>
            </a:r>
          </a:p>
          <a:p>
            <a:pPr>
              <a:lnSpc>
                <a:spcPct val="130000"/>
              </a:lnSpc>
              <a:spcAft>
                <a:spcPts val="800"/>
              </a:spcAft>
            </a:pPr>
            <a:r>
              <a:rPr sz="1300">
                <a:solidFill>
                  <a:srgbClr val="2D3436"/>
                </a:solidFill>
                <a:latin typeface="Calibri"/>
              </a:rPr>
              <a:t>✓ Generating CRUD operations &amp; REST APIs</a:t>
            </a:r>
          </a:p>
          <a:p>
            <a:pPr>
              <a:lnSpc>
                <a:spcPct val="130000"/>
              </a:lnSpc>
              <a:spcAft>
                <a:spcPts val="800"/>
              </a:spcAft>
            </a:pPr>
            <a:r>
              <a:rPr sz="1300">
                <a:solidFill>
                  <a:srgbClr val="2D3436"/>
                </a:solidFill>
                <a:latin typeface="Calibri"/>
              </a:rPr>
              <a:t>✓ Regex, SQL queries, config files</a:t>
            </a:r>
          </a:p>
        </p:txBody>
      </p:sp>
      <p:sp>
        <p:nvSpPr>
          <p:cNvPr id="7" name="Rounded Rectangle 6"/>
          <p:cNvSpPr/>
          <p:nvPr/>
        </p:nvSpPr>
        <p:spPr>
          <a:xfrm>
            <a:off x="6309360" y="1097280"/>
            <a:ext cx="5303520" cy="45720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What AI Struggles With</a:t>
            </a:r>
          </a:p>
        </p:txBody>
      </p:sp>
      <p:sp>
        <p:nvSpPr>
          <p:cNvPr id="8" name="TextBox 7"/>
          <p:cNvSpPr txBox="1"/>
          <p:nvPr/>
        </p:nvSpPr>
        <p:spPr>
          <a:xfrm>
            <a:off x="6400800" y="1691640"/>
            <a:ext cx="5120640" cy="2926080"/>
          </a:xfrm>
          <a:prstGeom prst="rect">
            <a:avLst/>
          </a:prstGeom>
          <a:noFill/>
        </p:spPr>
        <p:txBody>
          <a:bodyPr wrap="square">
            <a:spAutoFit/>
          </a:bodyPr>
          <a:lstStyle/>
          <a:p>
            <a:pPr>
              <a:lnSpc>
                <a:spcPct val="130000"/>
              </a:lnSpc>
              <a:spcAft>
                <a:spcPts val="800"/>
              </a:spcAft>
            </a:pPr>
            <a:r>
              <a:rPr sz="1300">
                <a:solidFill>
                  <a:srgbClr val="2D3436"/>
                </a:solidFill>
                <a:latin typeface="Calibri"/>
              </a:rPr>
              <a:t>✗ Novel / unique algorithms</a:t>
            </a:r>
          </a:p>
          <a:p>
            <a:pPr>
              <a:lnSpc>
                <a:spcPct val="130000"/>
              </a:lnSpc>
              <a:spcAft>
                <a:spcPts val="800"/>
              </a:spcAft>
            </a:pPr>
            <a:r>
              <a:rPr sz="1300">
                <a:solidFill>
                  <a:srgbClr val="2D3436"/>
                </a:solidFill>
                <a:latin typeface="Calibri"/>
              </a:rPr>
              <a:t>✗ Complex business logic &amp; domain rules</a:t>
            </a:r>
          </a:p>
          <a:p>
            <a:pPr>
              <a:lnSpc>
                <a:spcPct val="130000"/>
              </a:lnSpc>
              <a:spcAft>
                <a:spcPts val="800"/>
              </a:spcAft>
            </a:pPr>
            <a:r>
              <a:rPr sz="1300">
                <a:solidFill>
                  <a:srgbClr val="2D3436"/>
                </a:solidFill>
                <a:latin typeface="Calibri"/>
              </a:rPr>
              <a:t>✗ Security guarantees &amp; threat modeling</a:t>
            </a:r>
          </a:p>
          <a:p>
            <a:pPr>
              <a:lnSpc>
                <a:spcPct val="130000"/>
              </a:lnSpc>
              <a:spcAft>
                <a:spcPts val="800"/>
              </a:spcAft>
            </a:pPr>
            <a:r>
              <a:rPr sz="1300">
                <a:solidFill>
                  <a:srgbClr val="2D3436"/>
                </a:solidFill>
                <a:latin typeface="Calibri"/>
              </a:rPr>
              <a:t>✗ Large codebase holistic understanding</a:t>
            </a:r>
          </a:p>
          <a:p>
            <a:pPr>
              <a:lnSpc>
                <a:spcPct val="130000"/>
              </a:lnSpc>
              <a:spcAft>
                <a:spcPts val="800"/>
              </a:spcAft>
            </a:pPr>
            <a:r>
              <a:rPr sz="1300">
                <a:solidFill>
                  <a:srgbClr val="2D3436"/>
                </a:solidFill>
                <a:latin typeface="Calibri"/>
              </a:rPr>
              <a:t>✗ Up-to-date API knowledge (training cutoff)</a:t>
            </a:r>
          </a:p>
          <a:p>
            <a:pPr>
              <a:lnSpc>
                <a:spcPct val="130000"/>
              </a:lnSpc>
              <a:spcAft>
                <a:spcPts val="800"/>
              </a:spcAft>
            </a:pPr>
            <a:r>
              <a:rPr sz="1300">
                <a:solidFill>
                  <a:srgbClr val="2D3436"/>
                </a:solidFill>
                <a:latin typeface="Calibri"/>
              </a:rPr>
              <a:t>✗ Stateful debugging across sessions</a:t>
            </a:r>
          </a:p>
          <a:p>
            <a:pPr>
              <a:lnSpc>
                <a:spcPct val="130000"/>
              </a:lnSpc>
              <a:spcAft>
                <a:spcPts val="800"/>
              </a:spcAft>
            </a:pPr>
            <a:r>
              <a:rPr sz="1300">
                <a:solidFill>
                  <a:srgbClr val="2D3436"/>
                </a:solidFill>
                <a:latin typeface="Calibri"/>
              </a:rPr>
              <a:t>✗ Performance optimization trade-offs</a:t>
            </a:r>
          </a:p>
          <a:p>
            <a:pPr>
              <a:lnSpc>
                <a:spcPct val="130000"/>
              </a:lnSpc>
              <a:spcAft>
                <a:spcPts val="800"/>
              </a:spcAft>
            </a:pPr>
            <a:r>
              <a:rPr sz="1300">
                <a:solidFill>
                  <a:srgbClr val="2D3436"/>
                </a:solidFill>
                <a:latin typeface="Calibri"/>
              </a:rPr>
              <a:t>✗ Architectural consistency over time</a:t>
            </a:r>
          </a:p>
        </p:txBody>
      </p:sp>
      <p:sp>
        <p:nvSpPr>
          <p:cNvPr id="9" name="Rounded Rectangle 8"/>
          <p:cNvSpPr/>
          <p:nvPr/>
        </p:nvSpPr>
        <p:spPr>
          <a:xfrm>
            <a:off x="457200" y="4754880"/>
            <a:ext cx="11247120" cy="109728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Critical Considerations for AI-Generated Code</a:t>
            </a:r>
          </a:p>
          <a:p>
            <a:pPr algn="l"/>
            <a:r>
              <a:rPr sz="1200" b="0">
                <a:solidFill>
                  <a:srgbClr val="2D3436"/>
                </a:solidFill>
                <a:latin typeface="Calibri"/>
              </a:rPr>
              <a:t>• Context Windows: LLMs have finite context - large codebases exceed their memory</a:t>
            </a:r>
          </a:p>
          <a:p>
            <a:pPr algn="l"/>
            <a:r>
              <a:rPr sz="1200" b="0">
                <a:solidFill>
                  <a:srgbClr val="2D3436"/>
                </a:solidFill>
                <a:latin typeface="Calibri"/>
              </a:rPr>
              <a:t>• Hallucinations: AI may generate plausible but non-existent APIs, libraries, or methods</a:t>
            </a:r>
          </a:p>
          <a:p>
            <a:pPr algn="l"/>
            <a:r>
              <a:rPr sz="1200" b="0">
                <a:solidFill>
                  <a:srgbClr val="2D3436"/>
                </a:solidFill>
                <a:latin typeface="Calibri"/>
              </a:rPr>
              <a:t>• Verification Required: Every AI output must be reviewed, tested, and validated by humans</a:t>
            </a:r>
          </a:p>
          <a:p>
            <a:pPr algn="l"/>
            <a:r>
              <a:rPr sz="1200" b="0">
                <a:solidFill>
                  <a:srgbClr val="2D3436"/>
                </a:solidFill>
                <a:latin typeface="Calibri"/>
              </a:rPr>
              <a:t>• Prompt Sensitivity: Small changes in prompts can dramatically change output quality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Prompt Engineering for Software Engineering</a:t>
            </a:r>
          </a:p>
        </p:txBody>
      </p:sp>
      <p:sp>
        <p:nvSpPr>
          <p:cNvPr id="3" name="Rounded Rectangle 2"/>
          <p:cNvSpPr/>
          <p:nvPr/>
        </p:nvSpPr>
        <p:spPr>
          <a:xfrm>
            <a:off x="365760" y="6263640"/>
            <a:ext cx="4114800"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Spec-Driven</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10</a:t>
            </a:r>
          </a:p>
        </p:txBody>
      </p:sp>
      <p:sp>
        <p:nvSpPr>
          <p:cNvPr id="5" name="TextBox 4"/>
          <p:cNvSpPr txBox="1"/>
          <p:nvPr/>
        </p:nvSpPr>
        <p:spPr>
          <a:xfrm>
            <a:off x="457200" y="1051560"/>
            <a:ext cx="5029200" cy="365760"/>
          </a:xfrm>
          <a:prstGeom prst="rect">
            <a:avLst/>
          </a:prstGeom>
          <a:noFill/>
        </p:spPr>
        <p:txBody>
          <a:bodyPr wrap="square">
            <a:spAutoFit/>
          </a:bodyPr>
          <a:lstStyle/>
          <a:p>
            <a:pPr algn="l"/>
            <a:r>
              <a:rPr sz="1600" b="1">
                <a:solidFill>
                  <a:srgbClr val="70AD47"/>
                </a:solidFill>
                <a:latin typeface="Calibri"/>
              </a:rPr>
              <a:t>Structured Prompt Template</a:t>
            </a:r>
          </a:p>
        </p:txBody>
      </p:sp>
      <p:sp>
        <p:nvSpPr>
          <p:cNvPr id="6" name="Rectangle 5"/>
          <p:cNvSpPr/>
          <p:nvPr/>
        </p:nvSpPr>
        <p:spPr>
          <a:xfrm>
            <a:off x="457200" y="1463040"/>
            <a:ext cx="5669280" cy="420624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1000">
                <a:solidFill>
                  <a:srgbClr val="2D3436"/>
                </a:solidFill>
                <a:latin typeface="Consolas"/>
              </a:rPr>
              <a:t>## ROLE</a:t>
            </a:r>
          </a:p>
          <a:p>
            <a:pPr>
              <a:spcAft>
                <a:spcPts val="100"/>
              </a:spcAft>
            </a:pPr>
            <a:r>
              <a:rPr sz="1000">
                <a:solidFill>
                  <a:srgbClr val="2D3436"/>
                </a:solidFill>
                <a:latin typeface="Consolas"/>
              </a:rPr>
              <a:t>You are a senior backend engineer with</a:t>
            </a:r>
          </a:p>
          <a:p>
            <a:pPr>
              <a:spcAft>
                <a:spcPts val="100"/>
              </a:spcAft>
            </a:pPr>
            <a:r>
              <a:rPr sz="1000">
                <a:solidFill>
                  <a:srgbClr val="2D3436"/>
                </a:solidFill>
                <a:latin typeface="Consolas"/>
              </a:rPr>
              <a:t>expertise in Spring Boot and REST APIs.</a:t>
            </a:r>
          </a:p>
          <a:p>
            <a:pPr>
              <a:spcAft>
                <a:spcPts val="100"/>
              </a:spcAft>
            </a:pPr>
            <a:r>
              <a:rPr sz="1000">
                <a:solidFill>
                  <a:srgbClr val="2D3436"/>
                </a:solidFill>
                <a:latin typeface="Consolas"/>
              </a:rPr>
              <a:t/>
            </a:r>
          </a:p>
          <a:p>
            <a:pPr>
              <a:spcAft>
                <a:spcPts val="100"/>
              </a:spcAft>
            </a:pPr>
            <a:r>
              <a:rPr sz="1000">
                <a:solidFill>
                  <a:srgbClr val="2D3436"/>
                </a:solidFill>
                <a:latin typeface="Consolas"/>
              </a:rPr>
              <a:t>## CONTEXT</a:t>
            </a:r>
          </a:p>
          <a:p>
            <a:pPr>
              <a:spcAft>
                <a:spcPts val="100"/>
              </a:spcAft>
            </a:pPr>
            <a:r>
              <a:rPr sz="1000">
                <a:solidFill>
                  <a:srgbClr val="2D3436"/>
                </a:solidFill>
                <a:latin typeface="Consolas"/>
              </a:rPr>
              <a:t>We are building a Task Management API.</a:t>
            </a:r>
          </a:p>
          <a:p>
            <a:pPr>
              <a:spcAft>
                <a:spcPts val="100"/>
              </a:spcAft>
            </a:pPr>
            <a:r>
              <a:rPr sz="1000">
                <a:solidFill>
                  <a:srgbClr val="2D3436"/>
                </a:solidFill>
                <a:latin typeface="Consolas"/>
              </a:rPr>
              <a:t>Tech stack: Java 17, Spring Boot 3,</a:t>
            </a:r>
          </a:p>
          <a:p>
            <a:pPr>
              <a:spcAft>
                <a:spcPts val="100"/>
              </a:spcAft>
            </a:pPr>
            <a:r>
              <a:rPr sz="1000">
                <a:solidFill>
                  <a:srgbClr val="2D3436"/>
                </a:solidFill>
                <a:latin typeface="Consolas"/>
              </a:rPr>
              <a:t>PostgreSQL, JUnit 5.</a:t>
            </a:r>
          </a:p>
          <a:p>
            <a:pPr>
              <a:spcAft>
                <a:spcPts val="100"/>
              </a:spcAft>
            </a:pPr>
            <a:r>
              <a:rPr sz="1000">
                <a:solidFill>
                  <a:srgbClr val="2D3436"/>
                </a:solidFill>
                <a:latin typeface="Consolas"/>
              </a:rPr>
              <a:t/>
            </a:r>
          </a:p>
          <a:p>
            <a:pPr>
              <a:spcAft>
                <a:spcPts val="100"/>
              </a:spcAft>
            </a:pPr>
            <a:r>
              <a:rPr sz="1000">
                <a:solidFill>
                  <a:srgbClr val="2D3436"/>
                </a:solidFill>
                <a:latin typeface="Consolas"/>
              </a:rPr>
              <a:t>## TASK</a:t>
            </a:r>
          </a:p>
          <a:p>
            <a:pPr>
              <a:spcAft>
                <a:spcPts val="100"/>
              </a:spcAft>
            </a:pPr>
            <a:r>
              <a:rPr sz="1000">
                <a:solidFill>
                  <a:srgbClr val="2D3436"/>
                </a:solidFill>
                <a:latin typeface="Consolas"/>
              </a:rPr>
              <a:t>Create the TaskService class that</a:t>
            </a:r>
          </a:p>
          <a:p>
            <a:pPr>
              <a:spcAft>
                <a:spcPts val="100"/>
              </a:spcAft>
            </a:pPr>
            <a:r>
              <a:rPr sz="1000">
                <a:solidFill>
                  <a:srgbClr val="2D3436"/>
                </a:solidFill>
                <a:latin typeface="Consolas"/>
              </a:rPr>
              <a:t>implements CRUD operations with</a:t>
            </a:r>
          </a:p>
          <a:p>
            <a:pPr>
              <a:spcAft>
                <a:spcPts val="100"/>
              </a:spcAft>
            </a:pPr>
            <a:r>
              <a:rPr sz="1000">
                <a:solidFill>
                  <a:srgbClr val="2D3436"/>
                </a:solidFill>
                <a:latin typeface="Consolas"/>
              </a:rPr>
              <a:t>validation and error handling.</a:t>
            </a:r>
          </a:p>
          <a:p>
            <a:pPr>
              <a:spcAft>
                <a:spcPts val="100"/>
              </a:spcAft>
            </a:pPr>
            <a:r>
              <a:rPr sz="1000">
                <a:solidFill>
                  <a:srgbClr val="2D3436"/>
                </a:solidFill>
                <a:latin typeface="Consolas"/>
              </a:rPr>
              <a:t/>
            </a:r>
          </a:p>
          <a:p>
            <a:pPr>
              <a:spcAft>
                <a:spcPts val="100"/>
              </a:spcAft>
            </a:pPr>
            <a:r>
              <a:rPr sz="1000">
                <a:solidFill>
                  <a:srgbClr val="2D3436"/>
                </a:solidFill>
                <a:latin typeface="Consolas"/>
              </a:rPr>
              <a:t>## CONSTRAINTS</a:t>
            </a:r>
          </a:p>
          <a:p>
            <a:pPr>
              <a:spcAft>
                <a:spcPts val="100"/>
              </a:spcAft>
            </a:pPr>
            <a:r>
              <a:rPr sz="1000">
                <a:solidFill>
                  <a:srgbClr val="2D3436"/>
                </a:solidFill>
                <a:latin typeface="Consolas"/>
              </a:rPr>
              <a:t>- Follow SOLID principles</a:t>
            </a:r>
          </a:p>
          <a:p>
            <a:pPr>
              <a:spcAft>
                <a:spcPts val="100"/>
              </a:spcAft>
            </a:pPr>
            <a:r>
              <a:rPr sz="1000">
                <a:solidFill>
                  <a:srgbClr val="2D3436"/>
                </a:solidFill>
                <a:latin typeface="Consolas"/>
              </a:rPr>
              <a:t>- Use constructor injection</a:t>
            </a:r>
          </a:p>
          <a:p>
            <a:pPr>
              <a:spcAft>
                <a:spcPts val="100"/>
              </a:spcAft>
            </a:pPr>
            <a:r>
              <a:rPr sz="1000">
                <a:solidFill>
                  <a:srgbClr val="2D3436"/>
                </a:solidFill>
                <a:latin typeface="Consolas"/>
              </a:rPr>
              <a:t>- Throw custom exceptions</a:t>
            </a:r>
          </a:p>
          <a:p>
            <a:pPr>
              <a:spcAft>
                <a:spcPts val="100"/>
              </a:spcAft>
            </a:pPr>
            <a:r>
              <a:rPr sz="1000">
                <a:solidFill>
                  <a:srgbClr val="2D3436"/>
                </a:solidFill>
                <a:latin typeface="Consolas"/>
              </a:rPr>
              <a:t>- Include input validation</a:t>
            </a:r>
          </a:p>
          <a:p>
            <a:pPr>
              <a:spcAft>
                <a:spcPts val="100"/>
              </a:spcAft>
            </a:pPr>
            <a:r>
              <a:rPr sz="1000">
                <a:solidFill>
                  <a:srgbClr val="2D3436"/>
                </a:solidFill>
                <a:latin typeface="Consolas"/>
              </a:rPr>
              <a:t/>
            </a:r>
          </a:p>
          <a:p>
            <a:pPr>
              <a:spcAft>
                <a:spcPts val="100"/>
              </a:spcAft>
            </a:pPr>
            <a:r>
              <a:rPr sz="1000">
                <a:solidFill>
                  <a:srgbClr val="2D3436"/>
                </a:solidFill>
                <a:latin typeface="Consolas"/>
              </a:rPr>
              <a:t>## OUTPUT FORMAT</a:t>
            </a:r>
          </a:p>
          <a:p>
            <a:pPr>
              <a:spcAft>
                <a:spcPts val="100"/>
              </a:spcAft>
            </a:pPr>
            <a:r>
              <a:rPr sz="1000">
                <a:solidFill>
                  <a:srgbClr val="2D3436"/>
                </a:solidFill>
                <a:latin typeface="Consolas"/>
              </a:rPr>
              <a:t>- Complete Java class with annotations</a:t>
            </a:r>
          </a:p>
          <a:p>
            <a:pPr>
              <a:spcAft>
                <a:spcPts val="100"/>
              </a:spcAft>
            </a:pPr>
            <a:r>
              <a:rPr sz="1000">
                <a:solidFill>
                  <a:srgbClr val="2D3436"/>
                </a:solidFill>
                <a:latin typeface="Consolas"/>
              </a:rPr>
              <a:t>- Inline Javadoc comments</a:t>
            </a:r>
          </a:p>
          <a:p>
            <a:pPr>
              <a:spcAft>
                <a:spcPts val="100"/>
              </a:spcAft>
            </a:pPr>
            <a:r>
              <a:rPr sz="1000">
                <a:solidFill>
                  <a:srgbClr val="2D3436"/>
                </a:solidFill>
                <a:latin typeface="Consolas"/>
              </a:rPr>
              <a:t>- Corresponding unit test class</a:t>
            </a:r>
          </a:p>
        </p:txBody>
      </p:sp>
      <p:sp>
        <p:nvSpPr>
          <p:cNvPr id="7" name="TextBox 6"/>
          <p:cNvSpPr txBox="1"/>
          <p:nvPr/>
        </p:nvSpPr>
        <p:spPr>
          <a:xfrm>
            <a:off x="6583680" y="1051560"/>
            <a:ext cx="5029200" cy="365760"/>
          </a:xfrm>
          <a:prstGeom prst="rect">
            <a:avLst/>
          </a:prstGeom>
          <a:noFill/>
        </p:spPr>
        <p:txBody>
          <a:bodyPr wrap="square">
            <a:spAutoFit/>
          </a:bodyPr>
          <a:lstStyle/>
          <a:p>
            <a:pPr algn="l"/>
            <a:r>
              <a:rPr sz="1600" b="1">
                <a:solidFill>
                  <a:srgbClr val="70AD47"/>
                </a:solidFill>
                <a:latin typeface="Calibri"/>
              </a:rPr>
              <a:t>Why Each Section Matters</a:t>
            </a:r>
          </a:p>
        </p:txBody>
      </p:sp>
      <p:sp>
        <p:nvSpPr>
          <p:cNvPr id="8" name="Rounded Rectangle 7"/>
          <p:cNvSpPr/>
          <p:nvPr/>
        </p:nvSpPr>
        <p:spPr>
          <a:xfrm>
            <a:off x="6583680" y="1508760"/>
            <a:ext cx="5029200" cy="7315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Role</a:t>
            </a:r>
          </a:p>
          <a:p>
            <a:pPr algn="l"/>
            <a:r>
              <a:rPr sz="1200" b="0">
                <a:solidFill>
                  <a:srgbClr val="2D3436"/>
                </a:solidFill>
                <a:latin typeface="Calibri"/>
              </a:rPr>
              <a:t>Sets the AI's expertise level and</a:t>
            </a:r>
          </a:p>
          <a:p>
            <a:pPr algn="l"/>
            <a:r>
              <a:rPr sz="1200" b="0">
                <a:solidFill>
                  <a:srgbClr val="2D3436"/>
                </a:solidFill>
                <a:latin typeface="Calibri"/>
              </a:rPr>
              <a:t>domain knowledge persona</a:t>
            </a:r>
          </a:p>
        </p:txBody>
      </p:sp>
      <p:sp>
        <p:nvSpPr>
          <p:cNvPr id="9" name="Rounded Rectangle 8"/>
          <p:cNvSpPr/>
          <p:nvPr/>
        </p:nvSpPr>
        <p:spPr>
          <a:xfrm>
            <a:off x="6583680" y="2377439"/>
            <a:ext cx="5029200" cy="7315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Context</a:t>
            </a:r>
          </a:p>
          <a:p>
            <a:pPr algn="l"/>
            <a:r>
              <a:rPr sz="1200" b="0">
                <a:solidFill>
                  <a:srgbClr val="2D3436"/>
                </a:solidFill>
                <a:latin typeface="Calibri"/>
              </a:rPr>
              <a:t>Provides project background, tech</a:t>
            </a:r>
          </a:p>
          <a:p>
            <a:pPr algn="l"/>
            <a:r>
              <a:rPr sz="1200" b="0">
                <a:solidFill>
                  <a:srgbClr val="2D3436"/>
                </a:solidFill>
                <a:latin typeface="Calibri"/>
              </a:rPr>
              <a:t>stack, and architectural decisions</a:t>
            </a:r>
          </a:p>
        </p:txBody>
      </p:sp>
      <p:sp>
        <p:nvSpPr>
          <p:cNvPr id="10" name="Rounded Rectangle 9"/>
          <p:cNvSpPr/>
          <p:nvPr/>
        </p:nvSpPr>
        <p:spPr>
          <a:xfrm>
            <a:off x="6583680" y="3246120"/>
            <a:ext cx="5029200" cy="73152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Task</a:t>
            </a:r>
          </a:p>
          <a:p>
            <a:pPr algn="l"/>
            <a:r>
              <a:rPr sz="1200" b="0">
                <a:solidFill>
                  <a:srgbClr val="2D3436"/>
                </a:solidFill>
                <a:latin typeface="Calibri"/>
              </a:rPr>
              <a:t>Defines the specific deliverable</a:t>
            </a:r>
          </a:p>
          <a:p>
            <a:pPr algn="l"/>
            <a:r>
              <a:rPr sz="1200" b="0">
                <a:solidFill>
                  <a:srgbClr val="2D3436"/>
                </a:solidFill>
                <a:latin typeface="Calibri"/>
              </a:rPr>
              <a:t>with clear scope boundaries</a:t>
            </a:r>
          </a:p>
        </p:txBody>
      </p:sp>
      <p:sp>
        <p:nvSpPr>
          <p:cNvPr id="11" name="Rounded Rectangle 10"/>
          <p:cNvSpPr/>
          <p:nvPr/>
        </p:nvSpPr>
        <p:spPr>
          <a:xfrm>
            <a:off x="6583680" y="4114800"/>
            <a:ext cx="5029200" cy="73152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Constraints</a:t>
            </a:r>
          </a:p>
          <a:p>
            <a:pPr algn="l"/>
            <a:r>
              <a:rPr sz="1200" b="0">
                <a:solidFill>
                  <a:srgbClr val="2D3436"/>
                </a:solidFill>
                <a:latin typeface="Calibri"/>
              </a:rPr>
              <a:t>Enforces coding standards, patterns,</a:t>
            </a:r>
          </a:p>
          <a:p>
            <a:pPr algn="l"/>
            <a:r>
              <a:rPr sz="1200" b="0">
                <a:solidFill>
                  <a:srgbClr val="2D3436"/>
                </a:solidFill>
                <a:latin typeface="Calibri"/>
              </a:rPr>
              <a:t>and non-negotiable requirements</a:t>
            </a:r>
          </a:p>
        </p:txBody>
      </p:sp>
      <p:sp>
        <p:nvSpPr>
          <p:cNvPr id="12" name="Rounded Rectangle 11"/>
          <p:cNvSpPr/>
          <p:nvPr/>
        </p:nvSpPr>
        <p:spPr>
          <a:xfrm>
            <a:off x="6583680" y="4983479"/>
            <a:ext cx="5029200" cy="73152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Output Format</a:t>
            </a:r>
          </a:p>
          <a:p>
            <a:pPr algn="l"/>
            <a:r>
              <a:rPr sz="1200" b="0">
                <a:solidFill>
                  <a:srgbClr val="2D3436"/>
                </a:solidFill>
                <a:latin typeface="Calibri"/>
              </a:rPr>
              <a:t>Specifies structure, format, and</a:t>
            </a:r>
          </a:p>
          <a:p>
            <a:pPr algn="l"/>
            <a:r>
              <a:rPr sz="1200" b="0">
                <a:solidFill>
                  <a:srgbClr val="2D3436"/>
                </a:solidFill>
                <a:latin typeface="Calibri"/>
              </a:rPr>
              <a:t>completeness expectations</a:t>
            </a:r>
          </a:p>
        </p:txBody>
      </p:sp>
      <p:sp>
        <p:nvSpPr>
          <p:cNvPr id="13" name="Rounded Rectangle 12"/>
          <p:cNvSpPr/>
          <p:nvPr/>
        </p:nvSpPr>
        <p:spPr>
          <a:xfrm>
            <a:off x="457200" y="5669280"/>
            <a:ext cx="11247120" cy="41148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Golden Rule:  Vague prompts -&gt; vague code  |  Structured prompts -&gt; production-quality code  |  Iterate &amp; refine!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Spec-Driven Development: Core Methodology</a:t>
            </a:r>
          </a:p>
        </p:txBody>
      </p:sp>
      <p:sp>
        <p:nvSpPr>
          <p:cNvPr id="3" name="Rounded Rectangle 2"/>
          <p:cNvSpPr/>
          <p:nvPr/>
        </p:nvSpPr>
        <p:spPr>
          <a:xfrm>
            <a:off x="365760" y="6263640"/>
            <a:ext cx="4114800"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Spec-Driven</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11</a:t>
            </a:r>
          </a:p>
        </p:txBody>
      </p:sp>
      <p:sp>
        <p:nvSpPr>
          <p:cNvPr id="5" name="TextBox 4"/>
          <p:cNvSpPr txBox="1"/>
          <p:nvPr/>
        </p:nvSpPr>
        <p:spPr>
          <a:xfrm>
            <a:off x="457200" y="1051560"/>
            <a:ext cx="10972800" cy="365760"/>
          </a:xfrm>
          <a:prstGeom prst="rect">
            <a:avLst/>
          </a:prstGeom>
          <a:noFill/>
        </p:spPr>
        <p:txBody>
          <a:bodyPr wrap="square">
            <a:spAutoFit/>
          </a:bodyPr>
          <a:lstStyle/>
          <a:p>
            <a:pPr algn="l"/>
            <a:r>
              <a:rPr sz="1600" b="1">
                <a:solidFill>
                  <a:srgbClr val="70AD47"/>
                </a:solidFill>
                <a:latin typeface="Calibri"/>
              </a:rPr>
              <a:t>The Spec-Driven Development Flow</a:t>
            </a:r>
          </a:p>
        </p:txBody>
      </p:sp>
      <p:sp>
        <p:nvSpPr>
          <p:cNvPr id="6" name="Rounded Rectangle 5"/>
          <p:cNvSpPr/>
          <p:nvPr/>
        </p:nvSpPr>
        <p:spPr>
          <a:xfrm>
            <a:off x="457200" y="1508760"/>
            <a:ext cx="1554480" cy="77724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Requirements</a:t>
            </a:r>
          </a:p>
        </p:txBody>
      </p:sp>
      <p:sp>
        <p:nvSpPr>
          <p:cNvPr id="7" name="Right Arrow 6"/>
          <p:cNvSpPr/>
          <p:nvPr/>
        </p:nvSpPr>
        <p:spPr>
          <a:xfrm>
            <a:off x="2029968" y="1755648"/>
            <a:ext cx="256032"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331720" y="1508760"/>
            <a:ext cx="1554480" cy="77724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Domain</a:t>
            </a:r>
          </a:p>
          <a:p>
            <a:pPr algn="ctr"/>
            <a:r>
              <a:rPr sz="1200" b="0">
                <a:solidFill>
                  <a:srgbClr val="FFFFFF"/>
                </a:solidFill>
                <a:latin typeface="Calibri"/>
              </a:rPr>
              <a:t>Model</a:t>
            </a:r>
          </a:p>
        </p:txBody>
      </p:sp>
      <p:sp>
        <p:nvSpPr>
          <p:cNvPr id="9" name="Right Arrow 8"/>
          <p:cNvSpPr/>
          <p:nvPr/>
        </p:nvSpPr>
        <p:spPr>
          <a:xfrm>
            <a:off x="3904487" y="1755648"/>
            <a:ext cx="256032"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06240" y="1508760"/>
            <a:ext cx="1554480" cy="7772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API</a:t>
            </a:r>
          </a:p>
          <a:p>
            <a:pPr algn="ctr"/>
            <a:r>
              <a:rPr sz="1200" b="0">
                <a:solidFill>
                  <a:srgbClr val="FFFFFF"/>
                </a:solidFill>
                <a:latin typeface="Calibri"/>
              </a:rPr>
              <a:t>Contract</a:t>
            </a:r>
          </a:p>
        </p:txBody>
      </p:sp>
      <p:sp>
        <p:nvSpPr>
          <p:cNvPr id="11" name="Right Arrow 10"/>
          <p:cNvSpPr/>
          <p:nvPr/>
        </p:nvSpPr>
        <p:spPr>
          <a:xfrm>
            <a:off x="5779007" y="1755648"/>
            <a:ext cx="256032"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080759" y="1508760"/>
            <a:ext cx="1554480" cy="77724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Acceptance</a:t>
            </a:r>
          </a:p>
          <a:p>
            <a:pPr algn="ctr"/>
            <a:r>
              <a:rPr sz="1200" b="0">
                <a:solidFill>
                  <a:srgbClr val="FFFFFF"/>
                </a:solidFill>
                <a:latin typeface="Calibri"/>
              </a:rPr>
              <a:t>Tests</a:t>
            </a:r>
          </a:p>
        </p:txBody>
      </p:sp>
      <p:sp>
        <p:nvSpPr>
          <p:cNvPr id="13" name="Right Arrow 12"/>
          <p:cNvSpPr/>
          <p:nvPr/>
        </p:nvSpPr>
        <p:spPr>
          <a:xfrm>
            <a:off x="7653527" y="1755648"/>
            <a:ext cx="256032"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955279" y="1508760"/>
            <a:ext cx="1554480" cy="77724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Code</a:t>
            </a:r>
          </a:p>
          <a:p>
            <a:pPr algn="ctr"/>
            <a:r>
              <a:rPr sz="1200" b="0">
                <a:solidFill>
                  <a:srgbClr val="FFFFFF"/>
                </a:solidFill>
                <a:latin typeface="Calibri"/>
              </a:rPr>
              <a:t>Generation</a:t>
            </a:r>
          </a:p>
        </p:txBody>
      </p:sp>
      <p:sp>
        <p:nvSpPr>
          <p:cNvPr id="15" name="Right Arrow 14"/>
          <p:cNvSpPr/>
          <p:nvPr/>
        </p:nvSpPr>
        <p:spPr>
          <a:xfrm>
            <a:off x="9528047" y="1755648"/>
            <a:ext cx="256032"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29800" y="1508760"/>
            <a:ext cx="1554480" cy="77724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Review &amp;</a:t>
            </a:r>
          </a:p>
          <a:p>
            <a:pPr algn="ctr"/>
            <a:r>
              <a:rPr sz="1200" b="0">
                <a:solidFill>
                  <a:srgbClr val="FFFFFF"/>
                </a:solidFill>
                <a:latin typeface="Calibri"/>
              </a:rPr>
              <a:t>Refine</a:t>
            </a:r>
          </a:p>
        </p:txBody>
      </p:sp>
      <p:sp>
        <p:nvSpPr>
          <p:cNvPr id="17" name="Rounded Rectangle 16"/>
          <p:cNvSpPr/>
          <p:nvPr/>
        </p:nvSpPr>
        <p:spPr>
          <a:xfrm>
            <a:off x="8686800" y="2423160"/>
            <a:ext cx="2834640" cy="36576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  Iterate until spec is reviewable</a:t>
            </a:r>
          </a:p>
        </p:txBody>
      </p:sp>
      <p:sp>
        <p:nvSpPr>
          <p:cNvPr id="18" name="TextBox 17"/>
          <p:cNvSpPr txBox="1"/>
          <p:nvPr/>
        </p:nvSpPr>
        <p:spPr>
          <a:xfrm>
            <a:off x="457200" y="2926080"/>
            <a:ext cx="10972800" cy="365760"/>
          </a:xfrm>
          <a:prstGeom prst="rect">
            <a:avLst/>
          </a:prstGeom>
          <a:noFill/>
        </p:spPr>
        <p:txBody>
          <a:bodyPr wrap="square">
            <a:spAutoFit/>
          </a:bodyPr>
          <a:lstStyle/>
          <a:p>
            <a:pPr algn="l"/>
            <a:r>
              <a:rPr sz="1600" b="1">
                <a:solidFill>
                  <a:srgbClr val="70AD47"/>
                </a:solidFill>
                <a:latin typeface="Calibri"/>
              </a:rPr>
              <a:t>Key Principles</a:t>
            </a:r>
          </a:p>
        </p:txBody>
      </p:sp>
      <p:sp>
        <p:nvSpPr>
          <p:cNvPr id="19" name="TextBox 18"/>
          <p:cNvSpPr txBox="1"/>
          <p:nvPr/>
        </p:nvSpPr>
        <p:spPr>
          <a:xfrm>
            <a:off x="548640" y="3337560"/>
            <a:ext cx="6858000" cy="2743200"/>
          </a:xfrm>
          <a:prstGeom prst="rect">
            <a:avLst/>
          </a:prstGeom>
          <a:noFill/>
        </p:spPr>
        <p:txBody>
          <a:bodyPr wrap="square">
            <a:spAutoFit/>
          </a:bodyPr>
          <a:lstStyle/>
          <a:p>
            <a:pPr>
              <a:lnSpc>
                <a:spcPct val="130000"/>
              </a:lnSpc>
              <a:spcAft>
                <a:spcPts val="800"/>
              </a:spcAft>
            </a:pPr>
            <a:r>
              <a:rPr sz="1300">
                <a:solidFill>
                  <a:srgbClr val="2D3436"/>
                </a:solidFill>
                <a:latin typeface="Calibri"/>
              </a:rPr>
              <a:t>• Never start with code generation</a:t>
            </a:r>
          </a:p>
          <a:p>
            <a:pPr>
              <a:lnSpc>
                <a:spcPct val="130000"/>
              </a:lnSpc>
              <a:spcAft>
                <a:spcPts val="400"/>
              </a:spcAft>
            </a:pPr>
            <a:r>
              <a:rPr sz="1100">
                <a:solidFill>
                  <a:srgbClr val="636E72"/>
                </a:solidFill>
                <a:latin typeface="Calibri"/>
              </a:rPr>
              <a:t>     - Code is a byproduct of good specifications, not the starting point</a:t>
            </a:r>
          </a:p>
          <a:p>
            <a:pPr>
              <a:lnSpc>
                <a:spcPct val="130000"/>
              </a:lnSpc>
              <a:spcAft>
                <a:spcPts val="800"/>
              </a:spcAft>
            </a:pPr>
            <a:r>
              <a:rPr sz="1300">
                <a:solidFill>
                  <a:srgbClr val="2D3436"/>
                </a:solidFill>
                <a:latin typeface="Calibri"/>
              </a:rPr>
              <a:t>• First create requirements, domain model, APIs, acceptance tests</a:t>
            </a:r>
          </a:p>
          <a:p>
            <a:pPr>
              <a:lnSpc>
                <a:spcPct val="130000"/>
              </a:lnSpc>
              <a:spcAft>
                <a:spcPts val="400"/>
              </a:spcAft>
            </a:pPr>
            <a:r>
              <a:rPr sz="1100">
                <a:solidFill>
                  <a:srgbClr val="636E72"/>
                </a:solidFill>
                <a:latin typeface="Calibri"/>
              </a:rPr>
              <a:t>     - Each artifact feeds the next - requirements inform the domain model, which shapes the API</a:t>
            </a:r>
          </a:p>
          <a:p>
            <a:pPr>
              <a:lnSpc>
                <a:spcPct val="130000"/>
              </a:lnSpc>
              <a:spcAft>
                <a:spcPts val="800"/>
              </a:spcAft>
            </a:pPr>
            <a:r>
              <a:rPr sz="1300">
                <a:solidFill>
                  <a:srgbClr val="2D3436"/>
                </a:solidFill>
                <a:latin typeface="Calibri"/>
              </a:rPr>
              <a:t>• Use AI to refine ambiguity BEFORE implementation</a:t>
            </a:r>
          </a:p>
          <a:p>
            <a:pPr>
              <a:lnSpc>
                <a:spcPct val="130000"/>
              </a:lnSpc>
              <a:spcAft>
                <a:spcPts val="400"/>
              </a:spcAft>
            </a:pPr>
            <a:r>
              <a:rPr sz="1100">
                <a:solidFill>
                  <a:srgbClr val="636E72"/>
                </a:solidFill>
                <a:latin typeface="Calibri"/>
              </a:rPr>
              <a:t>     - Ask AI: 'What edge cases does this requirement miss?' - before writing a single line of code</a:t>
            </a:r>
          </a:p>
          <a:p>
            <a:pPr>
              <a:lnSpc>
                <a:spcPct val="130000"/>
              </a:lnSpc>
              <a:spcAft>
                <a:spcPts val="800"/>
              </a:spcAft>
            </a:pPr>
            <a:r>
              <a:rPr sz="1300">
                <a:solidFill>
                  <a:srgbClr val="2D3436"/>
                </a:solidFill>
                <a:latin typeface="Calibri"/>
              </a:rPr>
              <a:t>• Generate code only after reviewable specs exist</a:t>
            </a:r>
          </a:p>
          <a:p>
            <a:pPr>
              <a:lnSpc>
                <a:spcPct val="130000"/>
              </a:lnSpc>
              <a:spcAft>
                <a:spcPts val="400"/>
              </a:spcAft>
            </a:pPr>
            <a:r>
              <a:rPr sz="1100">
                <a:solidFill>
                  <a:srgbClr val="636E72"/>
                </a:solidFill>
                <a:latin typeface="Calibri"/>
              </a:rPr>
              <a:t>     - If a teammate cannot review your spec and understand the system, it is not ready for generation</a:t>
            </a:r>
          </a:p>
          <a:p>
            <a:pPr>
              <a:lnSpc>
                <a:spcPct val="130000"/>
              </a:lnSpc>
              <a:spcAft>
                <a:spcPts val="800"/>
              </a:spcAft>
            </a:pPr>
            <a:r>
              <a:rPr sz="1300">
                <a:solidFill>
                  <a:srgbClr val="2D3436"/>
                </a:solidFill>
                <a:latin typeface="Calibri"/>
              </a:rPr>
              <a:t>• Specs are version-controlled alongside code</a:t>
            </a:r>
          </a:p>
          <a:p>
            <a:pPr>
              <a:lnSpc>
                <a:spcPct val="130000"/>
              </a:lnSpc>
              <a:spcAft>
                <a:spcPts val="400"/>
              </a:spcAft>
            </a:pPr>
            <a:r>
              <a:rPr sz="1100">
                <a:solidFill>
                  <a:srgbClr val="636E72"/>
                </a:solidFill>
                <a:latin typeface="Calibri"/>
              </a:rPr>
              <a:t>     - Specs live in the same repository, same branch, same PR as the code they describe</a:t>
            </a:r>
          </a:p>
        </p:txBody>
      </p:sp>
      <p:sp>
        <p:nvSpPr>
          <p:cNvPr id="20" name="Rounded Rectangle 19"/>
          <p:cNvSpPr/>
          <p:nvPr/>
        </p:nvSpPr>
        <p:spPr>
          <a:xfrm>
            <a:off x="7772400" y="3337560"/>
            <a:ext cx="3840480" cy="109728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Code-First (Anti-Pattern)</a:t>
            </a:r>
          </a:p>
          <a:p>
            <a:pPr algn="l"/>
            <a:r>
              <a:rPr sz="1100" b="0">
                <a:solidFill>
                  <a:srgbClr val="2D3436"/>
                </a:solidFill>
                <a:latin typeface="Calibri"/>
              </a:rPr>
              <a:t>"Hey AI, build me a task app"</a:t>
            </a:r>
          </a:p>
          <a:p>
            <a:pPr algn="l"/>
            <a:r>
              <a:rPr sz="1100" b="0">
                <a:solidFill>
                  <a:srgbClr val="2D3436"/>
                </a:solidFill>
                <a:latin typeface="Calibri"/>
              </a:rPr>
              <a:t>-&gt; Unclear scope, inconsistent logic,</a:t>
            </a:r>
          </a:p>
          <a:p>
            <a:pPr algn="l"/>
            <a:r>
              <a:rPr sz="1100" b="0">
                <a:solidFill>
                  <a:srgbClr val="2D3436"/>
                </a:solidFill>
                <a:latin typeface="Calibri"/>
              </a:rPr>
              <a:t>   missing edge cases, rework</a:t>
            </a:r>
          </a:p>
        </p:txBody>
      </p:sp>
      <p:sp>
        <p:nvSpPr>
          <p:cNvPr id="21" name="Rounded Rectangle 20"/>
          <p:cNvSpPr/>
          <p:nvPr/>
        </p:nvSpPr>
        <p:spPr>
          <a:xfrm>
            <a:off x="7772400" y="4617720"/>
            <a:ext cx="3840480" cy="10972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Spec-First (Best Practice)</a:t>
            </a:r>
          </a:p>
          <a:p>
            <a:pPr algn="l"/>
            <a:r>
              <a:rPr sz="1100" b="0">
                <a:solidFill>
                  <a:srgbClr val="2D3436"/>
                </a:solidFill>
                <a:latin typeface="Calibri"/>
              </a:rPr>
              <a:t>Requirements -&gt; Domain -&gt; API -&gt; Tests</a:t>
            </a:r>
          </a:p>
          <a:p>
            <a:pPr algn="l"/>
            <a:r>
              <a:rPr sz="1100" b="0">
                <a:solidFill>
                  <a:srgbClr val="2D3436"/>
                </a:solidFill>
                <a:latin typeface="Calibri"/>
              </a:rPr>
              <a:t>-&gt; Clear scope, verified logic,</a:t>
            </a:r>
          </a:p>
          <a:p>
            <a:pPr algn="l"/>
            <a:r>
              <a:rPr sz="1100" b="0">
                <a:solidFill>
                  <a:srgbClr val="2D3436"/>
                </a:solidFill>
                <a:latin typeface="Calibri"/>
              </a:rPr>
              <a:t>   predictable, reviewable output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Software Design Document (SDD) Structure</a:t>
            </a:r>
          </a:p>
        </p:txBody>
      </p:sp>
      <p:sp>
        <p:nvSpPr>
          <p:cNvPr id="3" name="Rounded Rectangle 2"/>
          <p:cNvSpPr/>
          <p:nvPr/>
        </p:nvSpPr>
        <p:spPr>
          <a:xfrm>
            <a:off x="365760" y="6263640"/>
            <a:ext cx="4114800"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Spec-Driven</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12</a:t>
            </a:r>
          </a:p>
        </p:txBody>
      </p:sp>
      <p:sp>
        <p:nvSpPr>
          <p:cNvPr id="5" name="Rounded Rectangle 4"/>
          <p:cNvSpPr/>
          <p:nvPr/>
        </p:nvSpPr>
        <p:spPr>
          <a:xfrm>
            <a:off x="457200" y="1097280"/>
            <a:ext cx="5303520" cy="100584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Section 1: Overview</a:t>
            </a:r>
          </a:p>
          <a:p>
            <a:pPr algn="l"/>
            <a:r>
              <a:rPr sz="1200" b="0">
                <a:solidFill>
                  <a:srgbClr val="2D3436"/>
                </a:solidFill>
                <a:latin typeface="Calibri"/>
              </a:rPr>
              <a:t>Purpose, scope, definitions,</a:t>
            </a:r>
          </a:p>
          <a:p>
            <a:pPr algn="l"/>
            <a:r>
              <a:rPr sz="1200" b="0">
                <a:solidFill>
                  <a:srgbClr val="2D3436"/>
                </a:solidFill>
                <a:latin typeface="Calibri"/>
              </a:rPr>
              <a:t>stakeholders, glossary</a:t>
            </a:r>
          </a:p>
        </p:txBody>
      </p:sp>
      <p:sp>
        <p:nvSpPr>
          <p:cNvPr id="6" name="Rounded Rectangle 5"/>
          <p:cNvSpPr/>
          <p:nvPr/>
        </p:nvSpPr>
        <p:spPr>
          <a:xfrm>
            <a:off x="6126480" y="1097280"/>
            <a:ext cx="5303520" cy="10058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Section 2: Functional Requirements</a:t>
            </a:r>
          </a:p>
          <a:p>
            <a:pPr algn="l"/>
            <a:r>
              <a:rPr sz="1200" b="0">
                <a:solidFill>
                  <a:srgbClr val="2D3436"/>
                </a:solidFill>
                <a:latin typeface="Calibri"/>
              </a:rPr>
              <a:t>Features, user stories, actors,</a:t>
            </a:r>
          </a:p>
          <a:p>
            <a:pPr algn="l"/>
            <a:r>
              <a:rPr sz="1200" b="0">
                <a:solidFill>
                  <a:srgbClr val="2D3436"/>
                </a:solidFill>
                <a:latin typeface="Calibri"/>
              </a:rPr>
              <a:t>business rules, use cases</a:t>
            </a:r>
          </a:p>
        </p:txBody>
      </p:sp>
      <p:sp>
        <p:nvSpPr>
          <p:cNvPr id="7" name="Rounded Rectangle 6"/>
          <p:cNvSpPr/>
          <p:nvPr/>
        </p:nvSpPr>
        <p:spPr>
          <a:xfrm>
            <a:off x="457200" y="2240280"/>
            <a:ext cx="5303520" cy="10058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Section 3: Non-Functional Reqs</a:t>
            </a:r>
          </a:p>
          <a:p>
            <a:pPr algn="l"/>
            <a:r>
              <a:rPr sz="1200" b="0">
                <a:solidFill>
                  <a:srgbClr val="2D3436"/>
                </a:solidFill>
                <a:latin typeface="Calibri"/>
              </a:rPr>
              <a:t>Performance targets, security</a:t>
            </a:r>
          </a:p>
          <a:p>
            <a:pPr algn="l"/>
            <a:r>
              <a:rPr sz="1200" b="0">
                <a:solidFill>
                  <a:srgbClr val="2D3436"/>
                </a:solidFill>
                <a:latin typeface="Calibri"/>
              </a:rPr>
              <a:t>policies, scalability, SLAs</a:t>
            </a:r>
          </a:p>
        </p:txBody>
      </p:sp>
      <p:sp>
        <p:nvSpPr>
          <p:cNvPr id="8" name="Rounded Rectangle 7"/>
          <p:cNvSpPr/>
          <p:nvPr/>
        </p:nvSpPr>
        <p:spPr>
          <a:xfrm>
            <a:off x="6126480" y="2240280"/>
            <a:ext cx="5303520" cy="100584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Section 4: Architecture &amp; Design</a:t>
            </a:r>
          </a:p>
          <a:p>
            <a:pPr algn="l"/>
            <a:r>
              <a:rPr sz="1200" b="0">
                <a:solidFill>
                  <a:srgbClr val="2D3436"/>
                </a:solidFill>
                <a:latin typeface="Calibri"/>
              </a:rPr>
              <a:t>System diagrams, patterns,</a:t>
            </a:r>
          </a:p>
          <a:p>
            <a:pPr algn="l"/>
            <a:r>
              <a:rPr sz="1200" b="0">
                <a:solidFill>
                  <a:srgbClr val="2D3436"/>
                </a:solidFill>
                <a:latin typeface="Calibri"/>
              </a:rPr>
              <a:t>decision records (ADRs)</a:t>
            </a:r>
          </a:p>
        </p:txBody>
      </p:sp>
      <p:sp>
        <p:nvSpPr>
          <p:cNvPr id="9" name="Rounded Rectangle 8"/>
          <p:cNvSpPr/>
          <p:nvPr/>
        </p:nvSpPr>
        <p:spPr>
          <a:xfrm>
            <a:off x="457200" y="3383280"/>
            <a:ext cx="5303520" cy="100584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Section 5: API Contracts</a:t>
            </a:r>
          </a:p>
          <a:p>
            <a:pPr algn="l"/>
            <a:r>
              <a:rPr sz="1200" b="0">
                <a:solidFill>
                  <a:srgbClr val="2D3436"/>
                </a:solidFill>
                <a:latin typeface="Calibri"/>
              </a:rPr>
              <a:t>Endpoints, request/response</a:t>
            </a:r>
          </a:p>
          <a:p>
            <a:pPr algn="l"/>
            <a:r>
              <a:rPr sz="1200" b="0">
                <a:solidFill>
                  <a:srgbClr val="2D3436"/>
                </a:solidFill>
                <a:latin typeface="Calibri"/>
              </a:rPr>
              <a:t>schemas, status codes, errors</a:t>
            </a:r>
          </a:p>
        </p:txBody>
      </p:sp>
      <p:sp>
        <p:nvSpPr>
          <p:cNvPr id="10" name="Rounded Rectangle 9"/>
          <p:cNvSpPr/>
          <p:nvPr/>
        </p:nvSpPr>
        <p:spPr>
          <a:xfrm>
            <a:off x="6126480" y="3383280"/>
            <a:ext cx="5303520" cy="100584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Section 6: Data Model</a:t>
            </a:r>
          </a:p>
          <a:p>
            <a:pPr algn="l"/>
            <a:r>
              <a:rPr sz="1200" b="0">
                <a:solidFill>
                  <a:srgbClr val="2D3436"/>
                </a:solidFill>
                <a:latin typeface="Calibri"/>
              </a:rPr>
              <a:t>Entities, relationships,</a:t>
            </a:r>
          </a:p>
          <a:p>
            <a:pPr algn="l"/>
            <a:r>
              <a:rPr sz="1200" b="0">
                <a:solidFill>
                  <a:srgbClr val="2D3436"/>
                </a:solidFill>
                <a:latin typeface="Calibri"/>
              </a:rPr>
              <a:t>constraints, migrations</a:t>
            </a:r>
          </a:p>
        </p:txBody>
      </p:sp>
      <p:sp>
        <p:nvSpPr>
          <p:cNvPr id="11" name="Rounded Rectangle 10"/>
          <p:cNvSpPr/>
          <p:nvPr/>
        </p:nvSpPr>
        <p:spPr>
          <a:xfrm>
            <a:off x="457200" y="4526280"/>
            <a:ext cx="5303520" cy="10058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Section 7: Test Strategy</a:t>
            </a:r>
          </a:p>
          <a:p>
            <a:pPr algn="l"/>
            <a:r>
              <a:rPr sz="1200" b="0">
                <a:solidFill>
                  <a:srgbClr val="2D3436"/>
                </a:solidFill>
                <a:latin typeface="Calibri"/>
              </a:rPr>
              <a:t>Unit, integration, E2E tests,</a:t>
            </a:r>
          </a:p>
          <a:p>
            <a:pPr algn="l"/>
            <a:r>
              <a:rPr sz="1200" b="0">
                <a:solidFill>
                  <a:srgbClr val="2D3436"/>
                </a:solidFill>
                <a:latin typeface="Calibri"/>
              </a:rPr>
              <a:t>acceptance criteria, coverage</a:t>
            </a:r>
          </a:p>
        </p:txBody>
      </p:sp>
      <p:sp>
        <p:nvSpPr>
          <p:cNvPr id="12" name="Rounded Rectangle 11"/>
          <p:cNvSpPr/>
          <p:nvPr/>
        </p:nvSpPr>
        <p:spPr>
          <a:xfrm>
            <a:off x="6126480" y="4526280"/>
            <a:ext cx="5303520" cy="100584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Section 8: Deployment &amp; CI/CD</a:t>
            </a:r>
          </a:p>
          <a:p>
            <a:pPr algn="l"/>
            <a:r>
              <a:rPr sz="1200" b="0">
                <a:solidFill>
                  <a:srgbClr val="2D3436"/>
                </a:solidFill>
                <a:latin typeface="Calibri"/>
              </a:rPr>
              <a:t>Pipeline stages, environments,</a:t>
            </a:r>
          </a:p>
          <a:p>
            <a:pPr algn="l"/>
            <a:r>
              <a:rPr sz="1200" b="0">
                <a:solidFill>
                  <a:srgbClr val="2D3436"/>
                </a:solidFill>
                <a:latin typeface="Calibri"/>
              </a:rPr>
              <a:t>rollback, monitoring</a:t>
            </a:r>
          </a:p>
        </p:txBody>
      </p:sp>
      <p:sp>
        <p:nvSpPr>
          <p:cNvPr id="13" name="Rounded Rectangle 12"/>
          <p:cNvSpPr/>
          <p:nvPr/>
        </p:nvSpPr>
        <p:spPr>
          <a:xfrm>
            <a:off x="457200" y="5669280"/>
            <a:ext cx="11247120" cy="41148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Principle:  The SDD is the single source of truth - AI generates code FROM the SDD, not the other way around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Example: Task Management API Specification</a:t>
            </a:r>
          </a:p>
        </p:txBody>
      </p:sp>
      <p:sp>
        <p:nvSpPr>
          <p:cNvPr id="3" name="Rounded Rectangle 2"/>
          <p:cNvSpPr/>
          <p:nvPr/>
        </p:nvSpPr>
        <p:spPr>
          <a:xfrm>
            <a:off x="365760" y="6263640"/>
            <a:ext cx="4114800"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Spec-Driven</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13</a:t>
            </a:r>
          </a:p>
        </p:txBody>
      </p:sp>
      <p:sp>
        <p:nvSpPr>
          <p:cNvPr id="5" name="TextBox 4"/>
          <p:cNvSpPr txBox="1"/>
          <p:nvPr/>
        </p:nvSpPr>
        <p:spPr>
          <a:xfrm>
            <a:off x="457200" y="1051560"/>
            <a:ext cx="5486400" cy="320040"/>
          </a:xfrm>
          <a:prstGeom prst="rect">
            <a:avLst/>
          </a:prstGeom>
          <a:noFill/>
        </p:spPr>
        <p:txBody>
          <a:bodyPr wrap="square">
            <a:spAutoFit/>
          </a:bodyPr>
          <a:lstStyle/>
          <a:p>
            <a:pPr algn="l"/>
            <a:r>
              <a:rPr sz="1600" b="1">
                <a:solidFill>
                  <a:srgbClr val="70AD47"/>
                </a:solidFill>
                <a:latin typeface="Calibri"/>
              </a:rPr>
              <a:t>Specification Excerpt</a:t>
            </a:r>
          </a:p>
        </p:txBody>
      </p:sp>
      <p:sp>
        <p:nvSpPr>
          <p:cNvPr id="6" name="Rectangle 5"/>
          <p:cNvSpPr/>
          <p:nvPr/>
        </p:nvSpPr>
        <p:spPr>
          <a:xfrm>
            <a:off x="457200" y="1417320"/>
            <a:ext cx="5669280" cy="27432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1000">
                <a:solidFill>
                  <a:srgbClr val="2D3436"/>
                </a:solidFill>
                <a:latin typeface="Consolas"/>
              </a:rPr>
              <a:t>Feature: Task Management</a:t>
            </a:r>
          </a:p>
          <a:p>
            <a:pPr>
              <a:spcAft>
                <a:spcPts val="100"/>
              </a:spcAft>
            </a:pPr>
            <a:r>
              <a:rPr sz="1000">
                <a:solidFill>
                  <a:srgbClr val="2D3436"/>
                </a:solidFill>
                <a:latin typeface="Consolas"/>
              </a:rPr>
              <a:t>  Create and manage tasks with priority</a:t>
            </a:r>
          </a:p>
          <a:p>
            <a:pPr>
              <a:spcAft>
                <a:spcPts val="100"/>
              </a:spcAft>
            </a:pPr>
            <a:r>
              <a:rPr sz="1000">
                <a:solidFill>
                  <a:srgbClr val="2D3436"/>
                </a:solidFill>
                <a:latin typeface="Consolas"/>
              </a:rPr>
              <a:t>  and status tracking.</a:t>
            </a:r>
          </a:p>
          <a:p>
            <a:pPr>
              <a:spcAft>
                <a:spcPts val="100"/>
              </a:spcAft>
            </a:pPr>
            <a:r>
              <a:rPr sz="1000">
                <a:solidFill>
                  <a:srgbClr val="2D3436"/>
                </a:solidFill>
                <a:latin typeface="Consolas"/>
              </a:rPr>
              <a:t/>
            </a:r>
          </a:p>
          <a:p>
            <a:pPr>
              <a:spcAft>
                <a:spcPts val="100"/>
              </a:spcAft>
            </a:pPr>
            <a:r>
              <a:rPr sz="1000">
                <a:solidFill>
                  <a:srgbClr val="2D3436"/>
                </a:solidFill>
                <a:latin typeface="Consolas"/>
              </a:rPr>
              <a:t>Actors:</a:t>
            </a:r>
          </a:p>
          <a:p>
            <a:pPr>
              <a:spcAft>
                <a:spcPts val="100"/>
              </a:spcAft>
            </a:pPr>
            <a:r>
              <a:rPr sz="1000">
                <a:solidFill>
                  <a:srgbClr val="2D3436"/>
                </a:solidFill>
                <a:latin typeface="Consolas"/>
              </a:rPr>
              <a:t>  - Admin: Full CRUD, assign tasks, manage users</a:t>
            </a:r>
          </a:p>
          <a:p>
            <a:pPr>
              <a:spcAft>
                <a:spcPts val="100"/>
              </a:spcAft>
            </a:pPr>
            <a:r>
              <a:rPr sz="1000">
                <a:solidFill>
                  <a:srgbClr val="2D3436"/>
                </a:solidFill>
                <a:latin typeface="Consolas"/>
              </a:rPr>
              <a:t>  - User:  Create, view, update own tasks</a:t>
            </a:r>
          </a:p>
          <a:p>
            <a:pPr>
              <a:spcAft>
                <a:spcPts val="100"/>
              </a:spcAft>
            </a:pPr>
            <a:r>
              <a:rPr sz="1000">
                <a:solidFill>
                  <a:srgbClr val="2D3436"/>
                </a:solidFill>
                <a:latin typeface="Consolas"/>
              </a:rPr>
              <a:t/>
            </a:r>
          </a:p>
          <a:p>
            <a:pPr>
              <a:spcAft>
                <a:spcPts val="100"/>
              </a:spcAft>
            </a:pPr>
            <a:r>
              <a:rPr sz="1000">
                <a:solidFill>
                  <a:srgbClr val="2D3436"/>
                </a:solidFill>
                <a:latin typeface="Consolas"/>
              </a:rPr>
              <a:t>Functional Rules:</a:t>
            </a:r>
          </a:p>
          <a:p>
            <a:pPr>
              <a:spcAft>
                <a:spcPts val="100"/>
              </a:spcAft>
            </a:pPr>
            <a:r>
              <a:rPr sz="1000">
                <a:solidFill>
                  <a:srgbClr val="2D3436"/>
                </a:solidFill>
                <a:latin typeface="Consolas"/>
              </a:rPr>
              <a:t>  FR-1: Task title is required (3-100 chars)</a:t>
            </a:r>
          </a:p>
          <a:p>
            <a:pPr>
              <a:spcAft>
                <a:spcPts val="100"/>
              </a:spcAft>
            </a:pPr>
            <a:r>
              <a:rPr sz="1000">
                <a:solidFill>
                  <a:srgbClr val="2D3436"/>
                </a:solidFill>
                <a:latin typeface="Consolas"/>
              </a:rPr>
              <a:t>  FR-2: Priority: LOW, MEDIUM, HIGH, CRITICAL</a:t>
            </a:r>
          </a:p>
          <a:p>
            <a:pPr>
              <a:spcAft>
                <a:spcPts val="100"/>
              </a:spcAft>
            </a:pPr>
            <a:r>
              <a:rPr sz="1000">
                <a:solidFill>
                  <a:srgbClr val="2D3436"/>
                </a:solidFill>
                <a:latin typeface="Consolas"/>
              </a:rPr>
              <a:t>  FR-3: Status: OPEN -&gt; IN_PROGRESS -&gt; DONE</a:t>
            </a:r>
          </a:p>
          <a:p>
            <a:pPr>
              <a:spcAft>
                <a:spcPts val="100"/>
              </a:spcAft>
            </a:pPr>
            <a:r>
              <a:rPr sz="1000">
                <a:solidFill>
                  <a:srgbClr val="2D3436"/>
                </a:solidFill>
                <a:latin typeface="Consolas"/>
              </a:rPr>
              <a:t>  FR-4: Only Admin can delete tasks</a:t>
            </a:r>
          </a:p>
          <a:p>
            <a:pPr>
              <a:spcAft>
                <a:spcPts val="100"/>
              </a:spcAft>
            </a:pPr>
            <a:r>
              <a:rPr sz="1000">
                <a:solidFill>
                  <a:srgbClr val="2D3436"/>
                </a:solidFill>
                <a:latin typeface="Consolas"/>
              </a:rPr>
              <a:t>  FR-5: Due date must be in the future</a:t>
            </a:r>
          </a:p>
          <a:p>
            <a:pPr>
              <a:spcAft>
                <a:spcPts val="100"/>
              </a:spcAft>
            </a:pPr>
            <a:r>
              <a:rPr sz="1000">
                <a:solidFill>
                  <a:srgbClr val="2D3436"/>
                </a:solidFill>
                <a:latin typeface="Consolas"/>
              </a:rPr>
              <a:t>  FR-6: Assignee must be a valid user</a:t>
            </a:r>
          </a:p>
        </p:txBody>
      </p:sp>
      <p:sp>
        <p:nvSpPr>
          <p:cNvPr id="7" name="TextBox 6"/>
          <p:cNvSpPr txBox="1"/>
          <p:nvPr/>
        </p:nvSpPr>
        <p:spPr>
          <a:xfrm>
            <a:off x="457200" y="4297680"/>
            <a:ext cx="5486400" cy="320040"/>
          </a:xfrm>
          <a:prstGeom prst="rect">
            <a:avLst/>
          </a:prstGeom>
          <a:noFill/>
        </p:spPr>
        <p:txBody>
          <a:bodyPr wrap="square">
            <a:spAutoFit/>
          </a:bodyPr>
          <a:lstStyle/>
          <a:p>
            <a:pPr algn="l"/>
            <a:r>
              <a:rPr sz="1400" b="1">
                <a:solidFill>
                  <a:srgbClr val="70AD47"/>
                </a:solidFill>
                <a:latin typeface="Calibri"/>
              </a:rPr>
              <a:t>Acceptance Criteria (BDD Format)</a:t>
            </a:r>
          </a:p>
        </p:txBody>
      </p:sp>
      <p:sp>
        <p:nvSpPr>
          <p:cNvPr id="8" name="Rectangle 7"/>
          <p:cNvSpPr/>
          <p:nvPr/>
        </p:nvSpPr>
        <p:spPr>
          <a:xfrm>
            <a:off x="457200" y="4663440"/>
            <a:ext cx="5669280" cy="132588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1000">
                <a:solidFill>
                  <a:srgbClr val="2D3436"/>
                </a:solidFill>
                <a:latin typeface="Consolas"/>
              </a:rPr>
              <a:t>Scenario: Create a valid task</a:t>
            </a:r>
          </a:p>
          <a:p>
            <a:pPr>
              <a:spcAft>
                <a:spcPts val="100"/>
              </a:spcAft>
            </a:pPr>
            <a:r>
              <a:rPr sz="1000">
                <a:solidFill>
                  <a:srgbClr val="2D3436"/>
                </a:solidFill>
                <a:latin typeface="Consolas"/>
              </a:rPr>
              <a:t>  Given an authenticated User</a:t>
            </a:r>
          </a:p>
          <a:p>
            <a:pPr>
              <a:spcAft>
                <a:spcPts val="100"/>
              </a:spcAft>
            </a:pPr>
            <a:r>
              <a:rPr sz="1000">
                <a:solidFill>
                  <a:srgbClr val="2D3436"/>
                </a:solidFill>
                <a:latin typeface="Consolas"/>
              </a:rPr>
              <a:t>  When  POST /api/tasks with valid body:</a:t>
            </a:r>
          </a:p>
          <a:p>
            <a:pPr>
              <a:spcAft>
                <a:spcPts val="100"/>
              </a:spcAft>
            </a:pPr>
            <a:r>
              <a:rPr sz="1000">
                <a:solidFill>
                  <a:srgbClr val="2D3436"/>
                </a:solidFill>
                <a:latin typeface="Consolas"/>
              </a:rPr>
              <a:t>        {title, description, priority}</a:t>
            </a:r>
          </a:p>
          <a:p>
            <a:pPr>
              <a:spcAft>
                <a:spcPts val="100"/>
              </a:spcAft>
            </a:pPr>
            <a:r>
              <a:rPr sz="1000">
                <a:solidFill>
                  <a:srgbClr val="2D3436"/>
                </a:solidFill>
                <a:latin typeface="Consolas"/>
              </a:rPr>
              <a:t>  Then  response status is 201</a:t>
            </a:r>
          </a:p>
          <a:p>
            <a:pPr>
              <a:spcAft>
                <a:spcPts val="100"/>
              </a:spcAft>
            </a:pPr>
            <a:r>
              <a:rPr sz="1000">
                <a:solidFill>
                  <a:srgbClr val="2D3436"/>
                </a:solidFill>
                <a:latin typeface="Consolas"/>
              </a:rPr>
              <a:t>  And   response contains task with id</a:t>
            </a:r>
          </a:p>
          <a:p>
            <a:pPr>
              <a:spcAft>
                <a:spcPts val="100"/>
              </a:spcAft>
            </a:pPr>
            <a:r>
              <a:rPr sz="1000">
                <a:solidFill>
                  <a:srgbClr val="2D3436"/>
                </a:solidFill>
                <a:latin typeface="Consolas"/>
              </a:rPr>
              <a:t>  And   task status defaults to OPEN</a:t>
            </a:r>
          </a:p>
        </p:txBody>
      </p:sp>
      <p:sp>
        <p:nvSpPr>
          <p:cNvPr id="9" name="TextBox 8"/>
          <p:cNvSpPr txBox="1"/>
          <p:nvPr/>
        </p:nvSpPr>
        <p:spPr>
          <a:xfrm>
            <a:off x="6583680" y="1051560"/>
            <a:ext cx="5029200" cy="320040"/>
          </a:xfrm>
          <a:prstGeom prst="rect">
            <a:avLst/>
          </a:prstGeom>
          <a:noFill/>
        </p:spPr>
        <p:txBody>
          <a:bodyPr wrap="square">
            <a:spAutoFit/>
          </a:bodyPr>
          <a:lstStyle/>
          <a:p>
            <a:pPr algn="l"/>
            <a:r>
              <a:rPr sz="1600" b="1">
                <a:solidFill>
                  <a:srgbClr val="70AD47"/>
                </a:solidFill>
                <a:latin typeface="Calibri"/>
              </a:rPr>
              <a:t>How This Spec Drives Development</a:t>
            </a:r>
          </a:p>
        </p:txBody>
      </p:sp>
      <p:sp>
        <p:nvSpPr>
          <p:cNvPr id="10" name="Rounded Rectangle 9"/>
          <p:cNvSpPr/>
          <p:nvPr/>
        </p:nvSpPr>
        <p:spPr>
          <a:xfrm>
            <a:off x="6583680" y="1463040"/>
            <a:ext cx="5029200" cy="105156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Domain Model</a:t>
            </a:r>
          </a:p>
          <a:p>
            <a:pPr algn="l"/>
            <a:r>
              <a:rPr sz="1100" b="0">
                <a:solidFill>
                  <a:srgbClr val="2D3436"/>
                </a:solidFill>
                <a:latin typeface="Calibri"/>
              </a:rPr>
              <a:t>Task entity with title, description,</a:t>
            </a:r>
          </a:p>
          <a:p>
            <a:pPr algn="l"/>
            <a:r>
              <a:rPr sz="1100" b="0">
                <a:solidFill>
                  <a:srgbClr val="2D3436"/>
                </a:solidFill>
                <a:latin typeface="Calibri"/>
              </a:rPr>
              <a:t>status, priority, assignee, dueDate</a:t>
            </a:r>
          </a:p>
          <a:p>
            <a:pPr algn="l"/>
            <a:r>
              <a:rPr sz="1100" b="0">
                <a:solidFill>
                  <a:srgbClr val="2D3436"/>
                </a:solidFill>
                <a:latin typeface="Calibri"/>
              </a:rPr>
              <a:t>+ Status enum + Priority enum</a:t>
            </a:r>
          </a:p>
        </p:txBody>
      </p:sp>
      <p:sp>
        <p:nvSpPr>
          <p:cNvPr id="11" name="Rounded Rectangle 10"/>
          <p:cNvSpPr/>
          <p:nvPr/>
        </p:nvSpPr>
        <p:spPr>
          <a:xfrm>
            <a:off x="6583680" y="2651760"/>
            <a:ext cx="5029200" cy="105156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API Contract</a:t>
            </a:r>
          </a:p>
          <a:p>
            <a:pPr algn="l"/>
            <a:r>
              <a:rPr sz="1100" b="0">
                <a:solidFill>
                  <a:srgbClr val="2D3436"/>
                </a:solidFill>
                <a:latin typeface="Calibri"/>
              </a:rPr>
              <a:t>POST /api/tasks -&gt; 201 Created</a:t>
            </a:r>
          </a:p>
          <a:p>
            <a:pPr algn="l"/>
            <a:r>
              <a:rPr sz="1100" b="0">
                <a:solidFill>
                  <a:srgbClr val="2D3436"/>
                </a:solidFill>
                <a:latin typeface="Calibri"/>
              </a:rPr>
              <a:t>GET  /api/tasks -&gt; 200 + List</a:t>
            </a:r>
          </a:p>
          <a:p>
            <a:pPr algn="l"/>
            <a:r>
              <a:rPr sz="1100" b="0">
                <a:solidFill>
                  <a:srgbClr val="2D3436"/>
                </a:solidFill>
                <a:latin typeface="Calibri"/>
              </a:rPr>
              <a:t>PUT  /api/tasks/{id} -&gt; 200</a:t>
            </a:r>
          </a:p>
          <a:p>
            <a:pPr algn="l"/>
            <a:r>
              <a:rPr sz="1100" b="0">
                <a:solidFill>
                  <a:srgbClr val="2D3436"/>
                </a:solidFill>
                <a:latin typeface="Calibri"/>
              </a:rPr>
              <a:t>DEL  /api/tasks/{id} -&gt; 204 (Admin)</a:t>
            </a:r>
          </a:p>
        </p:txBody>
      </p:sp>
      <p:sp>
        <p:nvSpPr>
          <p:cNvPr id="12" name="Rounded Rectangle 11"/>
          <p:cNvSpPr/>
          <p:nvPr/>
        </p:nvSpPr>
        <p:spPr>
          <a:xfrm>
            <a:off x="6583680" y="3840480"/>
            <a:ext cx="5029200" cy="105156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Generated Tests</a:t>
            </a:r>
          </a:p>
          <a:p>
            <a:pPr algn="l"/>
            <a:r>
              <a:rPr sz="1100" b="0">
                <a:solidFill>
                  <a:srgbClr val="2D3436"/>
                </a:solidFill>
                <a:latin typeface="Calibri"/>
              </a:rPr>
              <a:t>testCreateTask_ValidInput_201()</a:t>
            </a:r>
          </a:p>
          <a:p>
            <a:pPr algn="l"/>
            <a:r>
              <a:rPr sz="1100" b="0">
                <a:solidFill>
                  <a:srgbClr val="2D3436"/>
                </a:solidFill>
                <a:latin typeface="Calibri"/>
              </a:rPr>
              <a:t>testCreateTask_MissingTitle_400()</a:t>
            </a:r>
          </a:p>
          <a:p>
            <a:pPr algn="l"/>
            <a:r>
              <a:rPr sz="1100" b="0">
                <a:solidFill>
                  <a:srgbClr val="2D3436"/>
                </a:solidFill>
                <a:latin typeface="Calibri"/>
              </a:rPr>
              <a:t>testDeleteTask_NonAdmin_403()</a:t>
            </a:r>
          </a:p>
          <a:p>
            <a:pPr algn="l"/>
            <a:r>
              <a:rPr sz="1100" b="0">
                <a:solidFill>
                  <a:srgbClr val="2D3436"/>
                </a:solidFill>
                <a:latin typeface="Calibri"/>
              </a:rPr>
              <a:t>testStatusTransition_Valid()</a:t>
            </a:r>
          </a:p>
        </p:txBody>
      </p:sp>
      <p:sp>
        <p:nvSpPr>
          <p:cNvPr id="13" name="Rounded Rectangle 12"/>
          <p:cNvSpPr/>
          <p:nvPr/>
        </p:nvSpPr>
        <p:spPr>
          <a:xfrm>
            <a:off x="6583680" y="5029200"/>
            <a:ext cx="5029200" cy="105156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Code Generation</a:t>
            </a:r>
          </a:p>
          <a:p>
            <a:pPr algn="l"/>
            <a:r>
              <a:rPr sz="1100" b="0">
                <a:solidFill>
                  <a:srgbClr val="2D3436"/>
                </a:solidFill>
                <a:latin typeface="Calibri"/>
              </a:rPr>
              <a:t>TaskController -&gt; TaskService -&gt;</a:t>
            </a:r>
          </a:p>
          <a:p>
            <a:pPr algn="l"/>
            <a:r>
              <a:rPr sz="1100" b="0">
                <a:solidFill>
                  <a:srgbClr val="2D3436"/>
                </a:solidFill>
                <a:latin typeface="Calibri"/>
              </a:rPr>
              <a:t>TaskRepository -&gt; Task entity</a:t>
            </a:r>
          </a:p>
          <a:p>
            <a:pPr algn="l"/>
            <a:r>
              <a:rPr sz="1100" b="0">
                <a:solidFill>
                  <a:srgbClr val="2D3436"/>
                </a:solidFill>
                <a:latin typeface="Calibri"/>
              </a:rPr>
              <a:t>+ DTOs + Validation + Exceptions</a:t>
            </a:r>
          </a:p>
        </p:txBody>
      </p:sp>
      <p:sp>
        <p:nvSpPr>
          <p:cNvPr id="14" name="Right Arrow 13"/>
          <p:cNvSpPr/>
          <p:nvPr/>
        </p:nvSpPr>
        <p:spPr>
          <a:xfrm>
            <a:off x="6172200" y="3200400"/>
            <a:ext cx="365760" cy="274320"/>
          </a:xfrm>
          <a:prstGeom prst="rightArrow">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Architecture Design with AI Assistance</a:t>
            </a:r>
          </a:p>
        </p:txBody>
      </p:sp>
      <p:sp>
        <p:nvSpPr>
          <p:cNvPr id="3" name="Rounded Rectangle 2"/>
          <p:cNvSpPr/>
          <p:nvPr/>
        </p:nvSpPr>
        <p:spPr>
          <a:xfrm>
            <a:off x="365760" y="6263640"/>
            <a:ext cx="4114800"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Architecture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14</a:t>
            </a:r>
          </a:p>
        </p:txBody>
      </p:sp>
      <p:sp>
        <p:nvSpPr>
          <p:cNvPr id="5" name="TextBox 4"/>
          <p:cNvSpPr txBox="1"/>
          <p:nvPr/>
        </p:nvSpPr>
        <p:spPr>
          <a:xfrm>
            <a:off x="548640" y="1097280"/>
            <a:ext cx="5029200" cy="365760"/>
          </a:xfrm>
          <a:prstGeom prst="rect">
            <a:avLst/>
          </a:prstGeom>
          <a:noFill/>
        </p:spPr>
        <p:txBody>
          <a:bodyPr wrap="square">
            <a:spAutoFit/>
          </a:bodyPr>
          <a:lstStyle/>
          <a:p>
            <a:pPr algn="l"/>
            <a:r>
              <a:rPr sz="1700" b="1">
                <a:solidFill>
                  <a:srgbClr val="ED7D31"/>
                </a:solidFill>
                <a:latin typeface="Calibri"/>
              </a:rPr>
              <a:t>AI-Assisted Architecture Decisions</a:t>
            </a:r>
          </a:p>
        </p:txBody>
      </p:sp>
      <p:sp>
        <p:nvSpPr>
          <p:cNvPr id="6" name="TextBox 5"/>
          <p:cNvSpPr txBox="1"/>
          <p:nvPr/>
        </p:nvSpPr>
        <p:spPr>
          <a:xfrm>
            <a:off x="548640" y="1600200"/>
            <a:ext cx="5303520" cy="2743200"/>
          </a:xfrm>
          <a:prstGeom prst="rect">
            <a:avLst/>
          </a:prstGeom>
          <a:noFill/>
        </p:spPr>
        <p:txBody>
          <a:bodyPr wrap="square">
            <a:spAutoFit/>
          </a:bodyPr>
          <a:lstStyle/>
          <a:p>
            <a:pPr>
              <a:lnSpc>
                <a:spcPct val="130000"/>
              </a:lnSpc>
              <a:spcAft>
                <a:spcPts val="800"/>
              </a:spcAft>
            </a:pPr>
            <a:r>
              <a:rPr sz="1400">
                <a:solidFill>
                  <a:srgbClr val="2D3436"/>
                </a:solidFill>
                <a:latin typeface="Calibri"/>
              </a:rPr>
              <a:t>• AI proposes architecture options based on requirements</a:t>
            </a:r>
          </a:p>
          <a:p>
            <a:pPr>
              <a:lnSpc>
                <a:spcPct val="130000"/>
              </a:lnSpc>
              <a:spcAft>
                <a:spcPts val="800"/>
              </a:spcAft>
            </a:pPr>
            <a:r>
              <a:rPr sz="1400">
                <a:solidFill>
                  <a:srgbClr val="2D3436"/>
                </a:solidFill>
                <a:latin typeface="Calibri"/>
              </a:rPr>
              <a:t>• Evaluate trade-offs: simplicity vs scalability, monolith vs microservices</a:t>
            </a:r>
          </a:p>
          <a:p>
            <a:pPr>
              <a:lnSpc>
                <a:spcPct val="130000"/>
              </a:lnSpc>
              <a:spcAft>
                <a:spcPts val="800"/>
              </a:spcAft>
            </a:pPr>
            <a:r>
              <a:rPr sz="1400">
                <a:solidFill>
                  <a:srgbClr val="2D3436"/>
                </a:solidFill>
                <a:latin typeface="Calibri"/>
              </a:rPr>
              <a:t>• Generate Architecture Decision Records (ADRs) automatically</a:t>
            </a:r>
          </a:p>
          <a:p>
            <a:pPr>
              <a:lnSpc>
                <a:spcPct val="130000"/>
              </a:lnSpc>
              <a:spcAft>
                <a:spcPts val="800"/>
              </a:spcAft>
            </a:pPr>
            <a:r>
              <a:rPr sz="1400">
                <a:solidFill>
                  <a:srgbClr val="2D3436"/>
                </a:solidFill>
                <a:latin typeface="Calibri"/>
              </a:rPr>
              <a:t>• Humans validate and approve all design decisions</a:t>
            </a:r>
          </a:p>
          <a:p>
            <a:pPr>
              <a:lnSpc>
                <a:spcPct val="130000"/>
              </a:lnSpc>
              <a:spcAft>
                <a:spcPts val="800"/>
              </a:spcAft>
            </a:pPr>
            <a:r>
              <a:rPr sz="1400">
                <a:solidFill>
                  <a:srgbClr val="2D3436"/>
                </a:solidFill>
                <a:latin typeface="Calibri"/>
              </a:rPr>
              <a:t>• AI provides rationale for each option</a:t>
            </a:r>
          </a:p>
          <a:p>
            <a:pPr>
              <a:lnSpc>
                <a:spcPct val="130000"/>
              </a:lnSpc>
              <a:spcAft>
                <a:spcPts val="400"/>
              </a:spcAft>
            </a:pPr>
            <a:r>
              <a:rPr sz="1200">
                <a:solidFill>
                  <a:srgbClr val="636E72"/>
                </a:solidFill>
                <a:latin typeface="Calibri"/>
              </a:rPr>
              <a:t>     - Cost analysis, team expertise, time-to-market</a:t>
            </a:r>
          </a:p>
          <a:p>
            <a:pPr>
              <a:lnSpc>
                <a:spcPct val="130000"/>
              </a:lnSpc>
              <a:spcAft>
                <a:spcPts val="400"/>
              </a:spcAft>
            </a:pPr>
            <a:r>
              <a:rPr sz="1200">
                <a:solidFill>
                  <a:srgbClr val="636E72"/>
                </a:solidFill>
                <a:latin typeface="Calibri"/>
              </a:rPr>
              <a:t>     - Scalability projections and failure modes</a:t>
            </a:r>
          </a:p>
        </p:txBody>
      </p:sp>
      <p:sp>
        <p:nvSpPr>
          <p:cNvPr id="7" name="TextBox 6"/>
          <p:cNvSpPr txBox="1"/>
          <p:nvPr/>
        </p:nvSpPr>
        <p:spPr>
          <a:xfrm>
            <a:off x="6583680" y="1097280"/>
            <a:ext cx="5029200" cy="365760"/>
          </a:xfrm>
          <a:prstGeom prst="rect">
            <a:avLst/>
          </a:prstGeom>
          <a:noFill/>
        </p:spPr>
        <p:txBody>
          <a:bodyPr wrap="square">
            <a:spAutoFit/>
          </a:bodyPr>
          <a:lstStyle/>
          <a:p>
            <a:pPr algn="l"/>
            <a:r>
              <a:rPr sz="1700" b="1">
                <a:solidFill>
                  <a:srgbClr val="ED7D31"/>
                </a:solidFill>
                <a:latin typeface="Calibri"/>
              </a:rPr>
              <a:t>Architecture Decision Matrix</a:t>
            </a:r>
          </a:p>
        </p:txBody>
      </p:sp>
      <p:graphicFrame>
        <p:nvGraphicFramePr>
          <p:cNvPr id="8" name="Table 7"/>
          <p:cNvGraphicFramePr>
            <a:graphicFrameLocks noGrp="1"/>
          </p:cNvGraphicFramePr>
          <p:nvPr/>
        </p:nvGraphicFramePr>
        <p:xfrm>
          <a:off x="6583680" y="1600200"/>
          <a:ext cx="5120640" cy="2926080"/>
        </p:xfrm>
        <a:graphic>
          <a:graphicData uri="http://schemas.openxmlformats.org/drawingml/2006/table">
            <a:tbl>
              <a:tblPr firstRow="1" bandRow="1">
                <a:tableStyleId>{5C22544A-7EE6-4342-B048-85BDC9FD1C3A}</a:tableStyleId>
              </a:tblPr>
              <a:tblGrid>
                <a:gridCol w="1280160"/>
                <a:gridCol w="1280160"/>
                <a:gridCol w="1280160"/>
                <a:gridCol w="1280160"/>
              </a:tblGrid>
              <a:tr h="418011">
                <a:tc>
                  <a:txBody>
                    <a:bodyPr/>
                    <a:lstStyle/>
                    <a:p>
                      <a:r>
                        <a:rPr sz="1200" b="1">
                          <a:solidFill>
                            <a:srgbClr val="FFFFFF"/>
                          </a:solidFill>
                          <a:latin typeface="Calibri"/>
                        </a:rPr>
                        <a:t>Criteria</a:t>
                      </a:r>
                    </a:p>
                  </a:txBody>
                  <a:tcPr>
                    <a:solidFill>
                      <a:srgbClr val="ED7D31"/>
                    </a:solidFill>
                  </a:tcPr>
                </a:tc>
                <a:tc>
                  <a:txBody>
                    <a:bodyPr/>
                    <a:lstStyle/>
                    <a:p>
                      <a:r>
                        <a:rPr sz="1200" b="1">
                          <a:solidFill>
                            <a:srgbClr val="FFFFFF"/>
                          </a:solidFill>
                          <a:latin typeface="Calibri"/>
                        </a:rPr>
                        <a:t>Monolith</a:t>
                      </a:r>
                    </a:p>
                  </a:txBody>
                  <a:tcPr>
                    <a:solidFill>
                      <a:srgbClr val="ED7D31"/>
                    </a:solidFill>
                  </a:tcPr>
                </a:tc>
                <a:tc>
                  <a:txBody>
                    <a:bodyPr/>
                    <a:lstStyle/>
                    <a:p>
                      <a:r>
                        <a:rPr sz="1200" b="1">
                          <a:solidFill>
                            <a:srgbClr val="FFFFFF"/>
                          </a:solidFill>
                          <a:latin typeface="Calibri"/>
                        </a:rPr>
                        <a:t>Microservices</a:t>
                      </a:r>
                    </a:p>
                  </a:txBody>
                  <a:tcPr>
                    <a:solidFill>
                      <a:srgbClr val="ED7D31"/>
                    </a:solidFill>
                  </a:tcPr>
                </a:tc>
                <a:tc>
                  <a:txBody>
                    <a:bodyPr/>
                    <a:lstStyle/>
                    <a:p>
                      <a:r>
                        <a:rPr sz="1200" b="1">
                          <a:solidFill>
                            <a:srgbClr val="FFFFFF"/>
                          </a:solidFill>
                          <a:latin typeface="Calibri"/>
                        </a:rPr>
                        <a:t>Serverless</a:t>
                      </a:r>
                    </a:p>
                  </a:txBody>
                  <a:tcPr>
                    <a:solidFill>
                      <a:srgbClr val="ED7D31"/>
                    </a:solidFill>
                  </a:tcPr>
                </a:tc>
              </a:tr>
              <a:tr h="418011">
                <a:tc>
                  <a:txBody>
                    <a:bodyPr/>
                    <a:lstStyle/>
                    <a:p>
                      <a:r>
                        <a:rPr sz="1200">
                          <a:solidFill>
                            <a:srgbClr val="2D3436"/>
                          </a:solidFill>
                          <a:latin typeface="Calibri"/>
                        </a:rPr>
                        <a:t>Complexity</a:t>
                      </a:r>
                    </a:p>
                  </a:txBody>
                  <a:tcPr>
                    <a:solidFill>
                      <a:srgbClr val="FFFFFF"/>
                    </a:solidFill>
                  </a:tcPr>
                </a:tc>
                <a:tc>
                  <a:txBody>
                    <a:bodyPr/>
                    <a:lstStyle/>
                    <a:p>
                      <a:r>
                        <a:rPr sz="1200">
                          <a:solidFill>
                            <a:srgbClr val="2D3436"/>
                          </a:solidFill>
                          <a:latin typeface="Calibri"/>
                        </a:rPr>
                        <a:t>Low</a:t>
                      </a:r>
                    </a:p>
                  </a:txBody>
                  <a:tcPr>
                    <a:solidFill>
                      <a:srgbClr val="FFFFFF"/>
                    </a:solidFill>
                  </a:tcPr>
                </a:tc>
                <a:tc>
                  <a:txBody>
                    <a:bodyPr/>
                    <a:lstStyle/>
                    <a:p>
                      <a:r>
                        <a:rPr sz="1200">
                          <a:solidFill>
                            <a:srgbClr val="2D3436"/>
                          </a:solidFill>
                          <a:latin typeface="Calibri"/>
                        </a:rPr>
                        <a:t>High</a:t>
                      </a:r>
                    </a:p>
                  </a:txBody>
                  <a:tcPr>
                    <a:solidFill>
                      <a:srgbClr val="FFFFFF"/>
                    </a:solidFill>
                  </a:tcPr>
                </a:tc>
                <a:tc>
                  <a:txBody>
                    <a:bodyPr/>
                    <a:lstStyle/>
                    <a:p>
                      <a:r>
                        <a:rPr sz="1200">
                          <a:solidFill>
                            <a:srgbClr val="2D3436"/>
                          </a:solidFill>
                          <a:latin typeface="Calibri"/>
                        </a:rPr>
                        <a:t>Medium</a:t>
                      </a:r>
                    </a:p>
                  </a:txBody>
                  <a:tcPr>
                    <a:solidFill>
                      <a:srgbClr val="FFFFFF"/>
                    </a:solidFill>
                  </a:tcPr>
                </a:tc>
              </a:tr>
              <a:tr h="418011">
                <a:tc>
                  <a:txBody>
                    <a:bodyPr/>
                    <a:lstStyle/>
                    <a:p>
                      <a:r>
                        <a:rPr sz="1200">
                          <a:solidFill>
                            <a:srgbClr val="2D3436"/>
                          </a:solidFill>
                          <a:latin typeface="Calibri"/>
                        </a:rPr>
                        <a:t>Scalability</a:t>
                      </a:r>
                    </a:p>
                  </a:txBody>
                  <a:tcPr>
                    <a:solidFill>
                      <a:srgbClr val="DDEBF7"/>
                    </a:solidFill>
                  </a:tcPr>
                </a:tc>
                <a:tc>
                  <a:txBody>
                    <a:bodyPr/>
                    <a:lstStyle/>
                    <a:p>
                      <a:r>
                        <a:rPr sz="1200">
                          <a:solidFill>
                            <a:srgbClr val="2D3436"/>
                          </a:solidFill>
                          <a:latin typeface="Calibri"/>
                        </a:rPr>
                        <a:t>Limited</a:t>
                      </a:r>
                    </a:p>
                  </a:txBody>
                  <a:tcPr>
                    <a:solidFill>
                      <a:srgbClr val="DDEBF7"/>
                    </a:solidFill>
                  </a:tcPr>
                </a:tc>
                <a:tc>
                  <a:txBody>
                    <a:bodyPr/>
                    <a:lstStyle/>
                    <a:p>
                      <a:r>
                        <a:rPr sz="1200">
                          <a:solidFill>
                            <a:srgbClr val="2D3436"/>
                          </a:solidFill>
                          <a:latin typeface="Calibri"/>
                        </a:rPr>
                        <a:t>High</a:t>
                      </a:r>
                    </a:p>
                  </a:txBody>
                  <a:tcPr>
                    <a:solidFill>
                      <a:srgbClr val="DDEBF7"/>
                    </a:solidFill>
                  </a:tcPr>
                </a:tc>
                <a:tc>
                  <a:txBody>
                    <a:bodyPr/>
                    <a:lstStyle/>
                    <a:p>
                      <a:r>
                        <a:rPr sz="1200">
                          <a:solidFill>
                            <a:srgbClr val="2D3436"/>
                          </a:solidFill>
                          <a:latin typeface="Calibri"/>
                        </a:rPr>
                        <a:t>Auto-scale</a:t>
                      </a:r>
                    </a:p>
                  </a:txBody>
                  <a:tcPr>
                    <a:solidFill>
                      <a:srgbClr val="DDEBF7"/>
                    </a:solidFill>
                  </a:tcPr>
                </a:tc>
              </a:tr>
              <a:tr h="418011">
                <a:tc>
                  <a:txBody>
                    <a:bodyPr/>
                    <a:lstStyle/>
                    <a:p>
                      <a:r>
                        <a:rPr sz="1200">
                          <a:solidFill>
                            <a:srgbClr val="2D3436"/>
                          </a:solidFill>
                          <a:latin typeface="Calibri"/>
                        </a:rPr>
                        <a:t>Team Size</a:t>
                      </a:r>
                    </a:p>
                  </a:txBody>
                  <a:tcPr>
                    <a:solidFill>
                      <a:srgbClr val="FFFFFF"/>
                    </a:solidFill>
                  </a:tcPr>
                </a:tc>
                <a:tc>
                  <a:txBody>
                    <a:bodyPr/>
                    <a:lstStyle/>
                    <a:p>
                      <a:r>
                        <a:rPr sz="1200">
                          <a:solidFill>
                            <a:srgbClr val="2D3436"/>
                          </a:solidFill>
                          <a:latin typeface="Calibri"/>
                        </a:rPr>
                        <a:t>Small</a:t>
                      </a:r>
                    </a:p>
                  </a:txBody>
                  <a:tcPr>
                    <a:solidFill>
                      <a:srgbClr val="FFFFFF"/>
                    </a:solidFill>
                  </a:tcPr>
                </a:tc>
                <a:tc>
                  <a:txBody>
                    <a:bodyPr/>
                    <a:lstStyle/>
                    <a:p>
                      <a:r>
                        <a:rPr sz="1200">
                          <a:solidFill>
                            <a:srgbClr val="2D3436"/>
                          </a:solidFill>
                          <a:latin typeface="Calibri"/>
                        </a:rPr>
                        <a:t>Large</a:t>
                      </a:r>
                    </a:p>
                  </a:txBody>
                  <a:tcPr>
                    <a:solidFill>
                      <a:srgbClr val="FFFFFF"/>
                    </a:solidFill>
                  </a:tcPr>
                </a:tc>
                <a:tc>
                  <a:txBody>
                    <a:bodyPr/>
                    <a:lstStyle/>
                    <a:p>
                      <a:r>
                        <a:rPr sz="1200">
                          <a:solidFill>
                            <a:srgbClr val="2D3436"/>
                          </a:solidFill>
                          <a:latin typeface="Calibri"/>
                        </a:rPr>
                        <a:t>Any</a:t>
                      </a:r>
                    </a:p>
                  </a:txBody>
                  <a:tcPr>
                    <a:solidFill>
                      <a:srgbClr val="FFFFFF"/>
                    </a:solidFill>
                  </a:tcPr>
                </a:tc>
              </a:tr>
              <a:tr h="418011">
                <a:tc>
                  <a:txBody>
                    <a:bodyPr/>
                    <a:lstStyle/>
                    <a:p>
                      <a:r>
                        <a:rPr sz="1200">
                          <a:solidFill>
                            <a:srgbClr val="2D3436"/>
                          </a:solidFill>
                          <a:latin typeface="Calibri"/>
                        </a:rPr>
                        <a:t>Deploy Speed</a:t>
                      </a:r>
                    </a:p>
                  </a:txBody>
                  <a:tcPr>
                    <a:solidFill>
                      <a:srgbClr val="DDEBF7"/>
                    </a:solidFill>
                  </a:tcPr>
                </a:tc>
                <a:tc>
                  <a:txBody>
                    <a:bodyPr/>
                    <a:lstStyle/>
                    <a:p>
                      <a:r>
                        <a:rPr sz="1200">
                          <a:solidFill>
                            <a:srgbClr val="2D3436"/>
                          </a:solidFill>
                          <a:latin typeface="Calibri"/>
                        </a:rPr>
                        <a:t>Slower</a:t>
                      </a:r>
                    </a:p>
                  </a:txBody>
                  <a:tcPr>
                    <a:solidFill>
                      <a:srgbClr val="DDEBF7"/>
                    </a:solidFill>
                  </a:tcPr>
                </a:tc>
                <a:tc>
                  <a:txBody>
                    <a:bodyPr/>
                    <a:lstStyle/>
                    <a:p>
                      <a:r>
                        <a:rPr sz="1200">
                          <a:solidFill>
                            <a:srgbClr val="2D3436"/>
                          </a:solidFill>
                          <a:latin typeface="Calibri"/>
                        </a:rPr>
                        <a:t>Independent</a:t>
                      </a:r>
                    </a:p>
                  </a:txBody>
                  <a:tcPr>
                    <a:solidFill>
                      <a:srgbClr val="DDEBF7"/>
                    </a:solidFill>
                  </a:tcPr>
                </a:tc>
                <a:tc>
                  <a:txBody>
                    <a:bodyPr/>
                    <a:lstStyle/>
                    <a:p>
                      <a:r>
                        <a:rPr sz="1200">
                          <a:solidFill>
                            <a:srgbClr val="2D3436"/>
                          </a:solidFill>
                          <a:latin typeface="Calibri"/>
                        </a:rPr>
                        <a:t>Instant</a:t>
                      </a:r>
                    </a:p>
                  </a:txBody>
                  <a:tcPr>
                    <a:solidFill>
                      <a:srgbClr val="DDEBF7"/>
                    </a:solidFill>
                  </a:tcPr>
                </a:tc>
              </a:tr>
              <a:tr h="418011">
                <a:tc>
                  <a:txBody>
                    <a:bodyPr/>
                    <a:lstStyle/>
                    <a:p>
                      <a:r>
                        <a:rPr sz="1200">
                          <a:solidFill>
                            <a:srgbClr val="2D3436"/>
                          </a:solidFill>
                          <a:latin typeface="Calibri"/>
                        </a:rPr>
                        <a:t>Cost (start)</a:t>
                      </a:r>
                    </a:p>
                  </a:txBody>
                  <a:tcPr>
                    <a:solidFill>
                      <a:srgbClr val="FFFFFF"/>
                    </a:solidFill>
                  </a:tcPr>
                </a:tc>
                <a:tc>
                  <a:txBody>
                    <a:bodyPr/>
                    <a:lstStyle/>
                    <a:p>
                      <a:r>
                        <a:rPr sz="1200">
                          <a:solidFill>
                            <a:srgbClr val="2D3436"/>
                          </a:solidFill>
                          <a:latin typeface="Calibri"/>
                        </a:rPr>
                        <a:t>Low</a:t>
                      </a:r>
                    </a:p>
                  </a:txBody>
                  <a:tcPr>
                    <a:solidFill>
                      <a:srgbClr val="FFFFFF"/>
                    </a:solidFill>
                  </a:tcPr>
                </a:tc>
                <a:tc>
                  <a:txBody>
                    <a:bodyPr/>
                    <a:lstStyle/>
                    <a:p>
                      <a:r>
                        <a:rPr sz="1200">
                          <a:solidFill>
                            <a:srgbClr val="2D3436"/>
                          </a:solidFill>
                          <a:latin typeface="Calibri"/>
                        </a:rPr>
                        <a:t>High</a:t>
                      </a:r>
                    </a:p>
                  </a:txBody>
                  <a:tcPr>
                    <a:solidFill>
                      <a:srgbClr val="FFFFFF"/>
                    </a:solidFill>
                  </a:tcPr>
                </a:tc>
                <a:tc>
                  <a:txBody>
                    <a:bodyPr/>
                    <a:lstStyle/>
                    <a:p>
                      <a:r>
                        <a:rPr sz="1200">
                          <a:solidFill>
                            <a:srgbClr val="2D3436"/>
                          </a:solidFill>
                          <a:latin typeface="Calibri"/>
                        </a:rPr>
                        <a:t>Pay-per-use</a:t>
                      </a:r>
                    </a:p>
                  </a:txBody>
                  <a:tcPr>
                    <a:solidFill>
                      <a:srgbClr val="FFFFFF"/>
                    </a:solidFill>
                  </a:tcPr>
                </a:tc>
              </a:tr>
              <a:tr h="418014">
                <a:tc>
                  <a:txBody>
                    <a:bodyPr/>
                    <a:lstStyle/>
                    <a:p>
                      <a:r>
                        <a:rPr sz="1200">
                          <a:solidFill>
                            <a:srgbClr val="2D3436"/>
                          </a:solidFill>
                          <a:latin typeface="Calibri"/>
                        </a:rPr>
                        <a:t>Debugging</a:t>
                      </a:r>
                    </a:p>
                  </a:txBody>
                  <a:tcPr>
                    <a:solidFill>
                      <a:srgbClr val="DDEBF7"/>
                    </a:solidFill>
                  </a:tcPr>
                </a:tc>
                <a:tc>
                  <a:txBody>
                    <a:bodyPr/>
                    <a:lstStyle/>
                    <a:p>
                      <a:r>
                        <a:rPr sz="1200">
                          <a:solidFill>
                            <a:srgbClr val="2D3436"/>
                          </a:solidFill>
                          <a:latin typeface="Calibri"/>
                        </a:rPr>
                        <a:t>Easy</a:t>
                      </a:r>
                    </a:p>
                  </a:txBody>
                  <a:tcPr>
                    <a:solidFill>
                      <a:srgbClr val="DDEBF7"/>
                    </a:solidFill>
                  </a:tcPr>
                </a:tc>
                <a:tc>
                  <a:txBody>
                    <a:bodyPr/>
                    <a:lstStyle/>
                    <a:p>
                      <a:r>
                        <a:rPr sz="1200">
                          <a:solidFill>
                            <a:srgbClr val="2D3436"/>
                          </a:solidFill>
                          <a:latin typeface="Calibri"/>
                        </a:rPr>
                        <a:t>Complex</a:t>
                      </a:r>
                    </a:p>
                  </a:txBody>
                  <a:tcPr>
                    <a:solidFill>
                      <a:srgbClr val="DDEBF7"/>
                    </a:solidFill>
                  </a:tcPr>
                </a:tc>
                <a:tc>
                  <a:txBody>
                    <a:bodyPr/>
                    <a:lstStyle/>
                    <a:p>
                      <a:r>
                        <a:rPr sz="1200">
                          <a:solidFill>
                            <a:srgbClr val="2D3436"/>
                          </a:solidFill>
                          <a:latin typeface="Calibri"/>
                        </a:rPr>
                        <a:t>Moderate</a:t>
                      </a:r>
                    </a:p>
                  </a:txBody>
                  <a:tcPr>
                    <a:solidFill>
                      <a:srgbClr val="DDEBF7"/>
                    </a:solidFill>
                  </a:tcPr>
                </a:tc>
              </a:tr>
            </a:tbl>
          </a:graphicData>
        </a:graphic>
      </p:graphicFrame>
      <p:sp>
        <p:nvSpPr>
          <p:cNvPr id="9" name="Rounded Rectangle 8"/>
          <p:cNvSpPr/>
          <p:nvPr/>
        </p:nvSpPr>
        <p:spPr>
          <a:xfrm>
            <a:off x="548640" y="4846320"/>
            <a:ext cx="11155680" cy="64008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Recommendation for Task Management API:  Modular Monolith</a:t>
            </a:r>
          </a:p>
          <a:p>
            <a:pPr algn="ctr"/>
            <a:r>
              <a:rPr sz="1200" b="0">
                <a:solidFill>
                  <a:srgbClr val="2D3436"/>
                </a:solidFill>
                <a:latin typeface="Calibri"/>
              </a:rPr>
              <a:t>Start simple, evolve to microservices when team/scale demands it  |  AI can generate migration paths</a:t>
            </a:r>
          </a:p>
        </p:txBody>
      </p:sp>
      <p:sp>
        <p:nvSpPr>
          <p:cNvPr id="10" name="Rounded Rectangle 9"/>
          <p:cNvSpPr/>
          <p:nvPr/>
        </p:nvSpPr>
        <p:spPr>
          <a:xfrm>
            <a:off x="548640" y="5623560"/>
            <a:ext cx="2606040" cy="45720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Start Simple</a:t>
            </a:r>
          </a:p>
        </p:txBody>
      </p:sp>
      <p:sp>
        <p:nvSpPr>
          <p:cNvPr id="11" name="Rounded Rectangle 10"/>
          <p:cNvSpPr/>
          <p:nvPr/>
        </p:nvSpPr>
        <p:spPr>
          <a:xfrm>
            <a:off x="3429000" y="5623560"/>
            <a:ext cx="2606040" cy="45720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Document Decisions</a:t>
            </a:r>
          </a:p>
        </p:txBody>
      </p:sp>
      <p:sp>
        <p:nvSpPr>
          <p:cNvPr id="12" name="Rounded Rectangle 11"/>
          <p:cNvSpPr/>
          <p:nvPr/>
        </p:nvSpPr>
        <p:spPr>
          <a:xfrm>
            <a:off x="6309359" y="5623560"/>
            <a:ext cx="2606040" cy="45720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Plan for Evolution</a:t>
            </a:r>
          </a:p>
        </p:txBody>
      </p:sp>
      <p:sp>
        <p:nvSpPr>
          <p:cNvPr id="13" name="Rounded Rectangle 12"/>
          <p:cNvSpPr/>
          <p:nvPr/>
        </p:nvSpPr>
        <p:spPr>
          <a:xfrm>
            <a:off x="9189719" y="5623560"/>
            <a:ext cx="2606040" cy="45720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Validate with 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System Architecture: Task Management API</a:t>
            </a:r>
          </a:p>
        </p:txBody>
      </p:sp>
      <p:sp>
        <p:nvSpPr>
          <p:cNvPr id="3" name="Rounded Rectangle 2"/>
          <p:cNvSpPr/>
          <p:nvPr/>
        </p:nvSpPr>
        <p:spPr>
          <a:xfrm>
            <a:off x="365760" y="6263640"/>
            <a:ext cx="4114800"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Architecture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15</a:t>
            </a:r>
          </a:p>
        </p:txBody>
      </p:sp>
      <p:sp>
        <p:nvSpPr>
          <p:cNvPr id="5" name="TextBox 4"/>
          <p:cNvSpPr txBox="1"/>
          <p:nvPr/>
        </p:nvSpPr>
        <p:spPr>
          <a:xfrm>
            <a:off x="274320" y="1234440"/>
            <a:ext cx="1371600" cy="365760"/>
          </a:xfrm>
          <a:prstGeom prst="rect">
            <a:avLst/>
          </a:prstGeom>
          <a:noFill/>
        </p:spPr>
        <p:txBody>
          <a:bodyPr wrap="square">
            <a:spAutoFit/>
          </a:bodyPr>
          <a:lstStyle/>
          <a:p>
            <a:pPr algn="ctr"/>
            <a:r>
              <a:rPr sz="1100" b="1">
                <a:solidFill>
                  <a:srgbClr val="4472C4"/>
                </a:solidFill>
                <a:latin typeface="Calibri"/>
              </a:rPr>
              <a:t>Presentation</a:t>
            </a:r>
          </a:p>
        </p:txBody>
      </p:sp>
      <p:sp>
        <p:nvSpPr>
          <p:cNvPr id="6" name="TextBox 5"/>
          <p:cNvSpPr txBox="1"/>
          <p:nvPr/>
        </p:nvSpPr>
        <p:spPr>
          <a:xfrm>
            <a:off x="274320" y="2514600"/>
            <a:ext cx="1371600" cy="365760"/>
          </a:xfrm>
          <a:prstGeom prst="rect">
            <a:avLst/>
          </a:prstGeom>
          <a:noFill/>
        </p:spPr>
        <p:txBody>
          <a:bodyPr wrap="square">
            <a:spAutoFit/>
          </a:bodyPr>
          <a:lstStyle/>
          <a:p>
            <a:pPr algn="ctr"/>
            <a:r>
              <a:rPr sz="1100" b="1">
                <a:solidFill>
                  <a:srgbClr val="70AD47"/>
                </a:solidFill>
                <a:latin typeface="Calibri"/>
              </a:rPr>
              <a:t>Gateway</a:t>
            </a:r>
          </a:p>
        </p:txBody>
      </p:sp>
      <p:sp>
        <p:nvSpPr>
          <p:cNvPr id="7" name="TextBox 6"/>
          <p:cNvSpPr txBox="1"/>
          <p:nvPr/>
        </p:nvSpPr>
        <p:spPr>
          <a:xfrm>
            <a:off x="274320" y="3794760"/>
            <a:ext cx="1371600" cy="365760"/>
          </a:xfrm>
          <a:prstGeom prst="rect">
            <a:avLst/>
          </a:prstGeom>
          <a:noFill/>
        </p:spPr>
        <p:txBody>
          <a:bodyPr wrap="square">
            <a:spAutoFit/>
          </a:bodyPr>
          <a:lstStyle/>
          <a:p>
            <a:pPr algn="ctr"/>
            <a:r>
              <a:rPr sz="1100" b="1">
                <a:solidFill>
                  <a:srgbClr val="ED7D31"/>
                </a:solidFill>
                <a:latin typeface="Calibri"/>
              </a:rPr>
              <a:t>Business
Logic</a:t>
            </a:r>
          </a:p>
        </p:txBody>
      </p:sp>
      <p:sp>
        <p:nvSpPr>
          <p:cNvPr id="8" name="TextBox 7"/>
          <p:cNvSpPr txBox="1"/>
          <p:nvPr/>
        </p:nvSpPr>
        <p:spPr>
          <a:xfrm>
            <a:off x="274320" y="5074920"/>
            <a:ext cx="1371600" cy="365760"/>
          </a:xfrm>
          <a:prstGeom prst="rect">
            <a:avLst/>
          </a:prstGeom>
          <a:noFill/>
        </p:spPr>
        <p:txBody>
          <a:bodyPr wrap="square">
            <a:spAutoFit/>
          </a:bodyPr>
          <a:lstStyle/>
          <a:p>
            <a:pPr algn="ctr"/>
            <a:r>
              <a:rPr sz="1100" b="1">
                <a:solidFill>
                  <a:srgbClr val="9B59B6"/>
                </a:solidFill>
                <a:latin typeface="Calibri"/>
              </a:rPr>
              <a:t>Data</a:t>
            </a:r>
          </a:p>
        </p:txBody>
      </p:sp>
      <p:cxnSp>
        <p:nvCxnSpPr>
          <p:cNvPr id="9" name="Connector 8"/>
          <p:cNvCxnSpPr/>
          <p:nvPr/>
        </p:nvCxnSpPr>
        <p:spPr>
          <a:xfrm>
            <a:off x="1737360" y="2148840"/>
            <a:ext cx="6309360" cy="0"/>
          </a:xfrm>
          <a:prstGeom prst="line">
            <a:avLst/>
          </a:prstGeom>
          <a:ln w="9525">
            <a:solidFill>
              <a:srgbClr val="636E7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737360" y="3383280"/>
            <a:ext cx="6309360" cy="0"/>
          </a:xfrm>
          <a:prstGeom prst="line">
            <a:avLst/>
          </a:prstGeom>
          <a:ln w="9525">
            <a:solidFill>
              <a:srgbClr val="636E7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737360" y="4663440"/>
            <a:ext cx="6309360" cy="0"/>
          </a:xfrm>
          <a:prstGeom prst="line">
            <a:avLst/>
          </a:prstGeom>
          <a:ln w="9525">
            <a:solidFill>
              <a:srgbClr val="636E72"/>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26080" y="1097280"/>
            <a:ext cx="3931920" cy="64008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D3436"/>
                </a:solidFill>
                <a:latin typeface="Calibri"/>
              </a:rPr>
              <a:t>Client (Web / Mobile)</a:t>
            </a:r>
          </a:p>
        </p:txBody>
      </p:sp>
      <p:sp>
        <p:nvSpPr>
          <p:cNvPr id="13" name="Down Arrow 12"/>
          <p:cNvSpPr/>
          <p:nvPr/>
        </p:nvSpPr>
        <p:spPr>
          <a:xfrm>
            <a:off x="4754880" y="1783080"/>
            <a:ext cx="274320" cy="320040"/>
          </a:xfrm>
          <a:prstGeom prst="down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26080" y="2331720"/>
            <a:ext cx="3931920" cy="6400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D3436"/>
                </a:solidFill>
                <a:latin typeface="Calibri"/>
              </a:rPr>
              <a:t>API Gateway  /  Auth Middleware</a:t>
            </a:r>
          </a:p>
        </p:txBody>
      </p:sp>
      <p:sp>
        <p:nvSpPr>
          <p:cNvPr id="15" name="Down Arrow 14"/>
          <p:cNvSpPr/>
          <p:nvPr/>
        </p:nvSpPr>
        <p:spPr>
          <a:xfrm>
            <a:off x="4754880" y="3017520"/>
            <a:ext cx="274320" cy="320040"/>
          </a:xfrm>
          <a:prstGeom prst="downArrow">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103120" y="3566160"/>
            <a:ext cx="2743200" cy="68580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Task Service</a:t>
            </a:r>
          </a:p>
          <a:p>
            <a:pPr algn="ctr"/>
            <a:r>
              <a:rPr sz="1200" b="0">
                <a:solidFill>
                  <a:srgbClr val="2D3436"/>
                </a:solidFill>
                <a:latin typeface="Calibri"/>
              </a:rPr>
              <a:t>create | read | update | delete</a:t>
            </a:r>
          </a:p>
        </p:txBody>
      </p:sp>
      <p:sp>
        <p:nvSpPr>
          <p:cNvPr id="17" name="Rounded Rectangle 16"/>
          <p:cNvSpPr/>
          <p:nvPr/>
        </p:nvSpPr>
        <p:spPr>
          <a:xfrm>
            <a:off x="5212080" y="3566160"/>
            <a:ext cx="2743200" cy="68580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User Service</a:t>
            </a:r>
          </a:p>
          <a:p>
            <a:pPr algn="ctr"/>
            <a:r>
              <a:rPr sz="1200" b="0">
                <a:solidFill>
                  <a:srgbClr val="2D3436"/>
                </a:solidFill>
                <a:latin typeface="Calibri"/>
              </a:rPr>
              <a:t>auth | profile | roles</a:t>
            </a:r>
          </a:p>
        </p:txBody>
      </p:sp>
      <p:sp>
        <p:nvSpPr>
          <p:cNvPr id="18" name="Down Arrow 17"/>
          <p:cNvSpPr/>
          <p:nvPr/>
        </p:nvSpPr>
        <p:spPr>
          <a:xfrm>
            <a:off x="3337560" y="4297680"/>
            <a:ext cx="274320" cy="320040"/>
          </a:xfrm>
          <a:prstGeom prst="downArrow">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6446520" y="4297680"/>
            <a:ext cx="274320" cy="320040"/>
          </a:xfrm>
          <a:prstGeom prst="downArrow">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103120" y="4846320"/>
            <a:ext cx="2743200" cy="68580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PostgreSQL</a:t>
            </a:r>
          </a:p>
          <a:p>
            <a:pPr algn="ctr"/>
            <a:r>
              <a:rPr sz="1200" b="0">
                <a:solidFill>
                  <a:srgbClr val="2D3436"/>
                </a:solidFill>
                <a:latin typeface="Calibri"/>
              </a:rPr>
              <a:t>Primary Database</a:t>
            </a:r>
          </a:p>
        </p:txBody>
      </p:sp>
      <p:sp>
        <p:nvSpPr>
          <p:cNvPr id="21" name="Rounded Rectangle 20"/>
          <p:cNvSpPr/>
          <p:nvPr/>
        </p:nvSpPr>
        <p:spPr>
          <a:xfrm>
            <a:off x="5212080" y="4846320"/>
            <a:ext cx="2743200" cy="68580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Redis Cache</a:t>
            </a:r>
          </a:p>
          <a:p>
            <a:pPr algn="ctr"/>
            <a:r>
              <a:rPr sz="1200" b="0">
                <a:solidFill>
                  <a:srgbClr val="2D3436"/>
                </a:solidFill>
                <a:latin typeface="Calibri"/>
              </a:rPr>
              <a:t>Session &amp; Query Cache</a:t>
            </a:r>
          </a:p>
        </p:txBody>
      </p:sp>
      <p:sp>
        <p:nvSpPr>
          <p:cNvPr id="22" name="TextBox 21"/>
          <p:cNvSpPr txBox="1"/>
          <p:nvPr/>
        </p:nvSpPr>
        <p:spPr>
          <a:xfrm>
            <a:off x="8503920" y="1097280"/>
            <a:ext cx="3200400" cy="365760"/>
          </a:xfrm>
          <a:prstGeom prst="rect">
            <a:avLst/>
          </a:prstGeom>
          <a:noFill/>
        </p:spPr>
        <p:txBody>
          <a:bodyPr wrap="square">
            <a:spAutoFit/>
          </a:bodyPr>
          <a:lstStyle/>
          <a:p>
            <a:pPr algn="l"/>
            <a:r>
              <a:rPr sz="1500" b="1">
                <a:solidFill>
                  <a:srgbClr val="ED7D31"/>
                </a:solidFill>
                <a:latin typeface="Calibri"/>
              </a:rPr>
              <a:t>Design Rationale</a:t>
            </a:r>
          </a:p>
        </p:txBody>
      </p:sp>
      <p:sp>
        <p:nvSpPr>
          <p:cNvPr id="23" name="Rounded Rectangle 22"/>
          <p:cNvSpPr/>
          <p:nvPr/>
        </p:nvSpPr>
        <p:spPr>
          <a:xfrm>
            <a:off x="8503920" y="1600200"/>
            <a:ext cx="3383280" cy="86868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Layered Separation</a:t>
            </a:r>
          </a:p>
          <a:p>
            <a:pPr algn="ctr"/>
            <a:r>
              <a:rPr sz="1100" b="0">
                <a:solidFill>
                  <a:srgbClr val="2D3436"/>
                </a:solidFill>
                <a:latin typeface="Calibri"/>
              </a:rPr>
              <a:t>Each layer has clear</a:t>
            </a:r>
          </a:p>
          <a:p>
            <a:pPr algn="ctr"/>
            <a:r>
              <a:rPr sz="1100" b="0">
                <a:solidFill>
                  <a:srgbClr val="2D3436"/>
                </a:solidFill>
                <a:latin typeface="Calibri"/>
              </a:rPr>
              <a:t>responsibility boundary</a:t>
            </a:r>
          </a:p>
        </p:txBody>
      </p:sp>
      <p:sp>
        <p:nvSpPr>
          <p:cNvPr id="24" name="Rounded Rectangle 23"/>
          <p:cNvSpPr/>
          <p:nvPr/>
        </p:nvSpPr>
        <p:spPr>
          <a:xfrm>
            <a:off x="8503920" y="2651760"/>
            <a:ext cx="3383280" cy="86868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Service Modularity</a:t>
            </a:r>
          </a:p>
          <a:p>
            <a:pPr algn="ctr"/>
            <a:r>
              <a:rPr sz="1100" b="0">
                <a:solidFill>
                  <a:srgbClr val="2D3436"/>
                </a:solidFill>
                <a:latin typeface="Calibri"/>
              </a:rPr>
              <a:t>Task &amp; User services</a:t>
            </a:r>
          </a:p>
          <a:p>
            <a:pPr algn="ctr"/>
            <a:r>
              <a:rPr sz="1100" b="0">
                <a:solidFill>
                  <a:srgbClr val="2D3436"/>
                </a:solidFill>
                <a:latin typeface="Calibri"/>
              </a:rPr>
              <a:t>can evolve independently</a:t>
            </a:r>
          </a:p>
        </p:txBody>
      </p:sp>
      <p:sp>
        <p:nvSpPr>
          <p:cNvPr id="25" name="Rounded Rectangle 24"/>
          <p:cNvSpPr/>
          <p:nvPr/>
        </p:nvSpPr>
        <p:spPr>
          <a:xfrm>
            <a:off x="8503920" y="3703320"/>
            <a:ext cx="3383280" cy="86868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Caching Strategy</a:t>
            </a:r>
          </a:p>
          <a:p>
            <a:pPr algn="ctr"/>
            <a:r>
              <a:rPr sz="1100" b="0">
                <a:solidFill>
                  <a:srgbClr val="2D3436"/>
                </a:solidFill>
                <a:latin typeface="Calibri"/>
              </a:rPr>
              <a:t>Redis reduces DB load</a:t>
            </a:r>
          </a:p>
          <a:p>
            <a:pPr algn="ctr"/>
            <a:r>
              <a:rPr sz="1100" b="0">
                <a:solidFill>
                  <a:srgbClr val="2D3436"/>
                </a:solidFill>
                <a:latin typeface="Calibri"/>
              </a:rPr>
              <a:t>for read-heavy queries</a:t>
            </a:r>
          </a:p>
        </p:txBody>
      </p:sp>
      <p:sp>
        <p:nvSpPr>
          <p:cNvPr id="26" name="Rounded Rectangle 25"/>
          <p:cNvSpPr/>
          <p:nvPr/>
        </p:nvSpPr>
        <p:spPr>
          <a:xfrm>
            <a:off x="8503920" y="4754879"/>
            <a:ext cx="3383280" cy="868680"/>
          </a:xfrm>
          <a:prstGeom prst="roundRect">
            <a:avLst/>
          </a:prstGeom>
          <a:solidFill>
            <a:srgbClr val="EFE8F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Auth at Gateway</a:t>
            </a:r>
          </a:p>
          <a:p>
            <a:pPr algn="ctr"/>
            <a:r>
              <a:rPr sz="1100" b="0">
                <a:solidFill>
                  <a:srgbClr val="2D3436"/>
                </a:solidFill>
                <a:latin typeface="Calibri"/>
              </a:rPr>
              <a:t>Single auth checkpoint</a:t>
            </a:r>
          </a:p>
          <a:p>
            <a:pPr algn="ctr"/>
            <a:r>
              <a:rPr sz="1100" b="0">
                <a:solidFill>
                  <a:srgbClr val="2D3436"/>
                </a:solidFill>
                <a:latin typeface="Calibri"/>
              </a:rPr>
              <a:t>before any service call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UML Class Diagram: Task Management Domain</a:t>
            </a:r>
          </a:p>
        </p:txBody>
      </p:sp>
      <p:sp>
        <p:nvSpPr>
          <p:cNvPr id="3" name="Rounded Rectangle 2"/>
          <p:cNvSpPr/>
          <p:nvPr/>
        </p:nvSpPr>
        <p:spPr>
          <a:xfrm>
            <a:off x="365760" y="6263640"/>
            <a:ext cx="4114800"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Architecture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16</a:t>
            </a:r>
          </a:p>
        </p:txBody>
      </p:sp>
      <p:sp>
        <p:nvSpPr>
          <p:cNvPr id="5" name="Rounded Rectangle 4"/>
          <p:cNvSpPr/>
          <p:nvPr/>
        </p:nvSpPr>
        <p:spPr>
          <a:xfrm>
            <a:off x="548640" y="1188720"/>
            <a:ext cx="2743200" cy="25603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Task</a:t>
            </a:r>
          </a:p>
          <a:p>
            <a:pPr algn="l"/>
            <a:r>
              <a:rPr sz="1000" b="0">
                <a:solidFill>
                  <a:srgbClr val="2D3436"/>
                </a:solidFill>
                <a:latin typeface="Calibri"/>
              </a:rPr>
              <a:t>~~~~~~~~~~~~~~~~~~~~~~~~</a:t>
            </a:r>
          </a:p>
          <a:p>
            <a:pPr algn="l"/>
            <a:r>
              <a:rPr sz="1000" b="0">
                <a:solidFill>
                  <a:srgbClr val="2D3436"/>
                </a:solidFill>
                <a:latin typeface="Calibri"/>
              </a:rPr>
              <a:t>  id: UUID (PK)</a:t>
            </a:r>
          </a:p>
          <a:p>
            <a:pPr algn="l"/>
            <a:r>
              <a:rPr sz="1000" b="0">
                <a:solidFill>
                  <a:srgbClr val="2D3436"/>
                </a:solidFill>
                <a:latin typeface="Calibri"/>
              </a:rPr>
              <a:t>  title: String</a:t>
            </a:r>
          </a:p>
          <a:p>
            <a:pPr algn="l"/>
            <a:r>
              <a:rPr sz="1000" b="0">
                <a:solidFill>
                  <a:srgbClr val="2D3436"/>
                </a:solidFill>
                <a:latin typeface="Calibri"/>
              </a:rPr>
              <a:t>  description: Text</a:t>
            </a:r>
          </a:p>
          <a:p>
            <a:pPr algn="l"/>
            <a:r>
              <a:rPr sz="1000" b="0">
                <a:solidFill>
                  <a:srgbClr val="2D3436"/>
                </a:solidFill>
                <a:latin typeface="Calibri"/>
              </a:rPr>
              <a:t>  status: Enum</a:t>
            </a:r>
          </a:p>
          <a:p>
            <a:pPr algn="l"/>
            <a:r>
              <a:rPr sz="1000" b="0">
                <a:solidFill>
                  <a:srgbClr val="2D3436"/>
                </a:solidFill>
                <a:latin typeface="Calibri"/>
              </a:rPr>
              <a:t>  priority: Enum</a:t>
            </a:r>
          </a:p>
          <a:p>
            <a:pPr algn="l"/>
            <a:r>
              <a:rPr sz="1000" b="0">
                <a:solidFill>
                  <a:srgbClr val="2D3436"/>
                </a:solidFill>
                <a:latin typeface="Calibri"/>
              </a:rPr>
              <a:t>  assigneeId: UUID (FK)</a:t>
            </a:r>
          </a:p>
          <a:p>
            <a:pPr algn="l"/>
            <a:r>
              <a:rPr sz="1000" b="0">
                <a:solidFill>
                  <a:srgbClr val="2D3436"/>
                </a:solidFill>
                <a:latin typeface="Calibri"/>
              </a:rPr>
              <a:t>  categoryId: UUID (FK)</a:t>
            </a:r>
          </a:p>
          <a:p>
            <a:pPr algn="l"/>
            <a:r>
              <a:rPr sz="1000" b="0">
                <a:solidFill>
                  <a:srgbClr val="2D3436"/>
                </a:solidFill>
                <a:latin typeface="Calibri"/>
              </a:rPr>
              <a:t>  createdAt: DateTime</a:t>
            </a:r>
          </a:p>
          <a:p>
            <a:pPr algn="l"/>
            <a:r>
              <a:rPr sz="1000" b="0">
                <a:solidFill>
                  <a:srgbClr val="2D3436"/>
                </a:solidFill>
                <a:latin typeface="Calibri"/>
              </a:rPr>
              <a:t>  updatedAt: DateTime</a:t>
            </a:r>
          </a:p>
        </p:txBody>
      </p:sp>
      <p:sp>
        <p:nvSpPr>
          <p:cNvPr id="6" name="Rounded Rectangle 5"/>
          <p:cNvSpPr/>
          <p:nvPr/>
        </p:nvSpPr>
        <p:spPr>
          <a:xfrm>
            <a:off x="3840480" y="1188720"/>
            <a:ext cx="2468880" cy="16459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User</a:t>
            </a:r>
          </a:p>
          <a:p>
            <a:pPr algn="l"/>
            <a:r>
              <a:rPr sz="1000" b="0">
                <a:solidFill>
                  <a:srgbClr val="2D3436"/>
                </a:solidFill>
                <a:latin typeface="Calibri"/>
              </a:rPr>
              <a:t>~~~~~~~~~~~~~~~~~~~~~~~~</a:t>
            </a:r>
          </a:p>
          <a:p>
            <a:pPr algn="l"/>
            <a:r>
              <a:rPr sz="1000" b="0">
                <a:solidFill>
                  <a:srgbClr val="2D3436"/>
                </a:solidFill>
                <a:latin typeface="Calibri"/>
              </a:rPr>
              <a:t>  id: UUID (PK)</a:t>
            </a:r>
          </a:p>
          <a:p>
            <a:pPr algn="l"/>
            <a:r>
              <a:rPr sz="1000" b="0">
                <a:solidFill>
                  <a:srgbClr val="2D3436"/>
                </a:solidFill>
                <a:latin typeface="Calibri"/>
              </a:rPr>
              <a:t>  name: String</a:t>
            </a:r>
          </a:p>
          <a:p>
            <a:pPr algn="l"/>
            <a:r>
              <a:rPr sz="1000" b="0">
                <a:solidFill>
                  <a:srgbClr val="2D3436"/>
                </a:solidFill>
                <a:latin typeface="Calibri"/>
              </a:rPr>
              <a:t>  email: String</a:t>
            </a:r>
          </a:p>
          <a:p>
            <a:pPr algn="l"/>
            <a:r>
              <a:rPr sz="1000" b="0">
                <a:solidFill>
                  <a:srgbClr val="2D3436"/>
                </a:solidFill>
                <a:latin typeface="Calibri"/>
              </a:rPr>
              <a:t>  role: Enum</a:t>
            </a:r>
          </a:p>
          <a:p>
            <a:pPr algn="l"/>
            <a:r>
              <a:rPr sz="1000" b="0">
                <a:solidFill>
                  <a:srgbClr val="2D3436"/>
                </a:solidFill>
                <a:latin typeface="Calibri"/>
              </a:rPr>
              <a:t>  createdAt: DateTime</a:t>
            </a:r>
          </a:p>
        </p:txBody>
      </p:sp>
      <p:sp>
        <p:nvSpPr>
          <p:cNvPr id="7" name="Rounded Rectangle 6"/>
          <p:cNvSpPr/>
          <p:nvPr/>
        </p:nvSpPr>
        <p:spPr>
          <a:xfrm>
            <a:off x="6766560" y="1188720"/>
            <a:ext cx="2468880" cy="14630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Category</a:t>
            </a:r>
          </a:p>
          <a:p>
            <a:pPr algn="l"/>
            <a:r>
              <a:rPr sz="1000" b="0">
                <a:solidFill>
                  <a:srgbClr val="2D3436"/>
                </a:solidFill>
                <a:latin typeface="Calibri"/>
              </a:rPr>
              <a:t>~~~~~~~~~~~~~~~~~~~~~~~~</a:t>
            </a:r>
          </a:p>
          <a:p>
            <a:pPr algn="l"/>
            <a:r>
              <a:rPr sz="1000" b="0">
                <a:solidFill>
                  <a:srgbClr val="2D3436"/>
                </a:solidFill>
                <a:latin typeface="Calibri"/>
              </a:rPr>
              <a:t>  id: UUID (PK)</a:t>
            </a:r>
          </a:p>
          <a:p>
            <a:pPr algn="l"/>
            <a:r>
              <a:rPr sz="1000" b="0">
                <a:solidFill>
                  <a:srgbClr val="2D3436"/>
                </a:solidFill>
                <a:latin typeface="Calibri"/>
              </a:rPr>
              <a:t>  name: String</a:t>
            </a:r>
          </a:p>
          <a:p>
            <a:pPr algn="l"/>
            <a:r>
              <a:rPr sz="1000" b="0">
                <a:solidFill>
                  <a:srgbClr val="2D3436"/>
                </a:solidFill>
                <a:latin typeface="Calibri"/>
              </a:rPr>
              <a:t>  description: Text</a:t>
            </a:r>
          </a:p>
        </p:txBody>
      </p:sp>
      <p:sp>
        <p:nvSpPr>
          <p:cNvPr id="8" name="Rounded Rectangle 7"/>
          <p:cNvSpPr/>
          <p:nvPr/>
        </p:nvSpPr>
        <p:spPr>
          <a:xfrm>
            <a:off x="3840480" y="3291840"/>
            <a:ext cx="2468880" cy="182880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Comment</a:t>
            </a:r>
          </a:p>
          <a:p>
            <a:pPr algn="l"/>
            <a:r>
              <a:rPr sz="1000" b="0">
                <a:solidFill>
                  <a:srgbClr val="2D3436"/>
                </a:solidFill>
                <a:latin typeface="Calibri"/>
              </a:rPr>
              <a:t>~~~~~~~~~~~~~~~~~~~~~~~~</a:t>
            </a:r>
          </a:p>
          <a:p>
            <a:pPr algn="l"/>
            <a:r>
              <a:rPr sz="1000" b="0">
                <a:solidFill>
                  <a:srgbClr val="2D3436"/>
                </a:solidFill>
                <a:latin typeface="Calibri"/>
              </a:rPr>
              <a:t>  id: UUID (PK)</a:t>
            </a:r>
          </a:p>
          <a:p>
            <a:pPr algn="l"/>
            <a:r>
              <a:rPr sz="1000" b="0">
                <a:solidFill>
                  <a:srgbClr val="2D3436"/>
                </a:solidFill>
                <a:latin typeface="Calibri"/>
              </a:rPr>
              <a:t>  taskId: UUID (FK)</a:t>
            </a:r>
          </a:p>
          <a:p>
            <a:pPr algn="l"/>
            <a:r>
              <a:rPr sz="1000" b="0">
                <a:solidFill>
                  <a:srgbClr val="2D3436"/>
                </a:solidFill>
                <a:latin typeface="Calibri"/>
              </a:rPr>
              <a:t>  userId: UUID (FK)</a:t>
            </a:r>
          </a:p>
          <a:p>
            <a:pPr algn="l"/>
            <a:r>
              <a:rPr sz="1000" b="0">
                <a:solidFill>
                  <a:srgbClr val="2D3436"/>
                </a:solidFill>
                <a:latin typeface="Calibri"/>
              </a:rPr>
              <a:t>  content: Text</a:t>
            </a:r>
          </a:p>
          <a:p>
            <a:pPr algn="l"/>
            <a:r>
              <a:rPr sz="1000" b="0">
                <a:solidFill>
                  <a:srgbClr val="2D3436"/>
                </a:solidFill>
                <a:latin typeface="Calibri"/>
              </a:rPr>
              <a:t>  createdAt: DateTime</a:t>
            </a:r>
          </a:p>
        </p:txBody>
      </p:sp>
      <p:cxnSp>
        <p:nvCxnSpPr>
          <p:cNvPr id="9" name="Connector 8"/>
          <p:cNvCxnSpPr/>
          <p:nvPr/>
        </p:nvCxnSpPr>
        <p:spPr>
          <a:xfrm>
            <a:off x="3291840" y="1920240"/>
            <a:ext cx="548640"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017520" y="1600200"/>
            <a:ext cx="457200" cy="274320"/>
          </a:xfrm>
          <a:prstGeom prst="rect">
            <a:avLst/>
          </a:prstGeom>
          <a:noFill/>
        </p:spPr>
        <p:txBody>
          <a:bodyPr wrap="square">
            <a:spAutoFit/>
          </a:bodyPr>
          <a:lstStyle/>
          <a:p>
            <a:pPr algn="ctr"/>
            <a:r>
              <a:rPr sz="1000" b="1">
                <a:solidFill>
                  <a:srgbClr val="4472C4"/>
                </a:solidFill>
                <a:latin typeface="Calibri"/>
              </a:rPr>
              <a:t>*</a:t>
            </a:r>
          </a:p>
        </p:txBody>
      </p:sp>
      <p:sp>
        <p:nvSpPr>
          <p:cNvPr id="11" name="TextBox 10"/>
          <p:cNvSpPr txBox="1"/>
          <p:nvPr/>
        </p:nvSpPr>
        <p:spPr>
          <a:xfrm>
            <a:off x="3794760" y="1600200"/>
            <a:ext cx="457200" cy="274320"/>
          </a:xfrm>
          <a:prstGeom prst="rect">
            <a:avLst/>
          </a:prstGeom>
          <a:noFill/>
        </p:spPr>
        <p:txBody>
          <a:bodyPr wrap="square">
            <a:spAutoFit/>
          </a:bodyPr>
          <a:lstStyle/>
          <a:p>
            <a:pPr algn="ctr"/>
            <a:r>
              <a:rPr sz="1000" b="1">
                <a:solidFill>
                  <a:srgbClr val="70AD47"/>
                </a:solidFill>
                <a:latin typeface="Calibri"/>
              </a:rPr>
              <a:t>1</a:t>
            </a:r>
          </a:p>
        </p:txBody>
      </p:sp>
      <p:cxnSp>
        <p:nvCxnSpPr>
          <p:cNvPr id="12" name="Connector 11"/>
          <p:cNvCxnSpPr/>
          <p:nvPr/>
        </p:nvCxnSpPr>
        <p:spPr>
          <a:xfrm flipV="1">
            <a:off x="3291840" y="1828800"/>
            <a:ext cx="3474720" cy="548640"/>
          </a:xfrm>
          <a:prstGeom prst="line">
            <a:avLst/>
          </a:prstGeom>
          <a:ln w="25400">
            <a:solidFill>
              <a:srgbClr val="ED7D3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26080" y="2331720"/>
            <a:ext cx="457200" cy="274320"/>
          </a:xfrm>
          <a:prstGeom prst="rect">
            <a:avLst/>
          </a:prstGeom>
          <a:noFill/>
        </p:spPr>
        <p:txBody>
          <a:bodyPr wrap="square">
            <a:spAutoFit/>
          </a:bodyPr>
          <a:lstStyle/>
          <a:p>
            <a:pPr algn="ctr"/>
            <a:r>
              <a:rPr sz="1000" b="1">
                <a:solidFill>
                  <a:srgbClr val="4472C4"/>
                </a:solidFill>
                <a:latin typeface="Calibri"/>
              </a:rPr>
              <a:t>*</a:t>
            </a:r>
          </a:p>
        </p:txBody>
      </p:sp>
      <p:sp>
        <p:nvSpPr>
          <p:cNvPr id="14" name="TextBox 13"/>
          <p:cNvSpPr txBox="1"/>
          <p:nvPr/>
        </p:nvSpPr>
        <p:spPr>
          <a:xfrm>
            <a:off x="6675120" y="1508760"/>
            <a:ext cx="457200" cy="274320"/>
          </a:xfrm>
          <a:prstGeom prst="rect">
            <a:avLst/>
          </a:prstGeom>
          <a:noFill/>
        </p:spPr>
        <p:txBody>
          <a:bodyPr wrap="square">
            <a:spAutoFit/>
          </a:bodyPr>
          <a:lstStyle/>
          <a:p>
            <a:pPr algn="ctr"/>
            <a:r>
              <a:rPr sz="1000" b="1">
                <a:solidFill>
                  <a:srgbClr val="ED7D31"/>
                </a:solidFill>
                <a:latin typeface="Calibri"/>
              </a:rPr>
              <a:t>1</a:t>
            </a:r>
          </a:p>
        </p:txBody>
      </p:sp>
      <p:cxnSp>
        <p:nvCxnSpPr>
          <p:cNvPr id="15" name="Connector 14"/>
          <p:cNvCxnSpPr/>
          <p:nvPr/>
        </p:nvCxnSpPr>
        <p:spPr>
          <a:xfrm>
            <a:off x="1920240" y="3749039"/>
            <a:ext cx="1920240" cy="182881"/>
          </a:xfrm>
          <a:prstGeom prst="line">
            <a:avLst/>
          </a:prstGeom>
          <a:ln w="25400">
            <a:solidFill>
              <a:srgbClr val="9B59B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554480" y="3520440"/>
            <a:ext cx="457200" cy="274320"/>
          </a:xfrm>
          <a:prstGeom prst="rect">
            <a:avLst/>
          </a:prstGeom>
          <a:noFill/>
        </p:spPr>
        <p:txBody>
          <a:bodyPr wrap="square">
            <a:spAutoFit/>
          </a:bodyPr>
          <a:lstStyle/>
          <a:p>
            <a:pPr algn="ctr"/>
            <a:r>
              <a:rPr sz="1000" b="1">
                <a:solidFill>
                  <a:srgbClr val="4472C4"/>
                </a:solidFill>
                <a:latin typeface="Calibri"/>
              </a:rPr>
              <a:t>1</a:t>
            </a:r>
          </a:p>
        </p:txBody>
      </p:sp>
      <p:sp>
        <p:nvSpPr>
          <p:cNvPr id="17" name="TextBox 16"/>
          <p:cNvSpPr txBox="1"/>
          <p:nvPr/>
        </p:nvSpPr>
        <p:spPr>
          <a:xfrm>
            <a:off x="3794760" y="3657600"/>
            <a:ext cx="457200" cy="274320"/>
          </a:xfrm>
          <a:prstGeom prst="rect">
            <a:avLst/>
          </a:prstGeom>
          <a:noFill/>
        </p:spPr>
        <p:txBody>
          <a:bodyPr wrap="square">
            <a:spAutoFit/>
          </a:bodyPr>
          <a:lstStyle/>
          <a:p>
            <a:pPr algn="ctr"/>
            <a:r>
              <a:rPr sz="1000" b="1">
                <a:solidFill>
                  <a:srgbClr val="9B59B6"/>
                </a:solidFill>
                <a:latin typeface="Calibri"/>
              </a:rPr>
              <a:t>*</a:t>
            </a:r>
          </a:p>
        </p:txBody>
      </p:sp>
      <p:cxnSp>
        <p:nvCxnSpPr>
          <p:cNvPr id="18" name="Connector 17"/>
          <p:cNvCxnSpPr/>
          <p:nvPr/>
        </p:nvCxnSpPr>
        <p:spPr>
          <a:xfrm flipV="1">
            <a:off x="5029200" y="2834640"/>
            <a:ext cx="0" cy="457200"/>
          </a:xfrm>
          <a:prstGeom prst="line">
            <a:avLst/>
          </a:prstGeom>
          <a:ln w="25400">
            <a:solidFill>
              <a:srgbClr val="70AD4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601200" y="1097280"/>
            <a:ext cx="2286000" cy="365760"/>
          </a:xfrm>
          <a:prstGeom prst="rect">
            <a:avLst/>
          </a:prstGeom>
          <a:noFill/>
        </p:spPr>
        <p:txBody>
          <a:bodyPr wrap="square">
            <a:spAutoFit/>
          </a:bodyPr>
          <a:lstStyle/>
          <a:p>
            <a:pPr algn="l"/>
            <a:r>
              <a:rPr sz="1500" b="1">
                <a:solidFill>
                  <a:srgbClr val="ED7D31"/>
                </a:solidFill>
                <a:latin typeface="Calibri"/>
              </a:rPr>
              <a:t>Domain Rules</a:t>
            </a:r>
          </a:p>
        </p:txBody>
      </p:sp>
      <p:sp>
        <p:nvSpPr>
          <p:cNvPr id="20" name="Rounded Rectangle 19"/>
          <p:cNvSpPr/>
          <p:nvPr/>
        </p:nvSpPr>
        <p:spPr>
          <a:xfrm>
            <a:off x="9601200" y="1600200"/>
            <a:ext cx="2286000" cy="132588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1">
                <a:solidFill>
                  <a:srgbClr val="2D3436"/>
                </a:solidFill>
                <a:latin typeface="Calibri"/>
              </a:rPr>
              <a:t>Relationships</a:t>
            </a:r>
          </a:p>
          <a:p>
            <a:pPr algn="l"/>
            <a:r>
              <a:rPr sz="900" b="0">
                <a:solidFill>
                  <a:srgbClr val="2D3436"/>
                </a:solidFill>
                <a:latin typeface="Calibri"/>
              </a:rPr>
              <a:t>Task belongs to User (assignee)</a:t>
            </a:r>
          </a:p>
          <a:p>
            <a:pPr algn="l"/>
            <a:r>
              <a:rPr sz="900" b="0">
                <a:solidFill>
                  <a:srgbClr val="2D3436"/>
                </a:solidFill>
                <a:latin typeface="Calibri"/>
              </a:rPr>
              <a:t>Task belongs to Category</a:t>
            </a:r>
          </a:p>
          <a:p>
            <a:pPr algn="l"/>
            <a:r>
              <a:rPr sz="900" b="0">
                <a:solidFill>
                  <a:srgbClr val="2D3436"/>
                </a:solidFill>
                <a:latin typeface="Calibri"/>
              </a:rPr>
              <a:t>Task has many Comments</a:t>
            </a:r>
          </a:p>
          <a:p>
            <a:pPr algn="l"/>
            <a:r>
              <a:rPr sz="900" b="0">
                <a:solidFill>
                  <a:srgbClr val="2D3436"/>
                </a:solidFill>
                <a:latin typeface="Calibri"/>
              </a:rPr>
              <a:t>Comment belongs to User</a:t>
            </a:r>
          </a:p>
        </p:txBody>
      </p:sp>
      <p:sp>
        <p:nvSpPr>
          <p:cNvPr id="21" name="Rounded Rectangle 20"/>
          <p:cNvSpPr/>
          <p:nvPr/>
        </p:nvSpPr>
        <p:spPr>
          <a:xfrm>
            <a:off x="9601200" y="3108960"/>
            <a:ext cx="2286000" cy="132588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1">
                <a:solidFill>
                  <a:srgbClr val="2D3436"/>
                </a:solidFill>
                <a:latin typeface="Calibri"/>
              </a:rPr>
              <a:t>Enumerations</a:t>
            </a:r>
          </a:p>
          <a:p>
            <a:pPr algn="l"/>
            <a:r>
              <a:rPr sz="900" b="0">
                <a:solidFill>
                  <a:srgbClr val="2D3436"/>
                </a:solidFill>
                <a:latin typeface="Calibri"/>
              </a:rPr>
              <a:t>Status: TODO, IN_PROGRESS,</a:t>
            </a:r>
          </a:p>
          <a:p>
            <a:pPr algn="l"/>
            <a:r>
              <a:rPr sz="900" b="0">
                <a:solidFill>
                  <a:srgbClr val="2D3436"/>
                </a:solidFill>
                <a:latin typeface="Calibri"/>
              </a:rPr>
              <a:t>  REVIEW, DONE</a:t>
            </a:r>
          </a:p>
          <a:p>
            <a:pPr algn="l"/>
            <a:r>
              <a:rPr sz="900" b="0">
                <a:solidFill>
                  <a:srgbClr val="2D3436"/>
                </a:solidFill>
                <a:latin typeface="Calibri"/>
              </a:rPr>
              <a:t>Priority: LOW, MEDIUM,</a:t>
            </a:r>
          </a:p>
          <a:p>
            <a:pPr algn="l"/>
            <a:r>
              <a:rPr sz="900" b="0">
                <a:solidFill>
                  <a:srgbClr val="2D3436"/>
                </a:solidFill>
                <a:latin typeface="Calibri"/>
              </a:rPr>
              <a:t>  HIGH, CRITICAL</a:t>
            </a:r>
          </a:p>
          <a:p>
            <a:pPr algn="l"/>
            <a:r>
              <a:rPr sz="900" b="0">
                <a:solidFill>
                  <a:srgbClr val="2D3436"/>
                </a:solidFill>
                <a:latin typeface="Calibri"/>
              </a:rPr>
              <a:t>Role: ADMIN, MEMBER, VIEWER</a:t>
            </a:r>
          </a:p>
        </p:txBody>
      </p:sp>
      <p:sp>
        <p:nvSpPr>
          <p:cNvPr id="22" name="Rounded Rectangle 21"/>
          <p:cNvSpPr/>
          <p:nvPr/>
        </p:nvSpPr>
        <p:spPr>
          <a:xfrm>
            <a:off x="9601200" y="4617720"/>
            <a:ext cx="2286000" cy="132588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1">
                <a:solidFill>
                  <a:srgbClr val="2D3436"/>
                </a:solidFill>
                <a:latin typeface="Calibri"/>
              </a:rPr>
              <a:t>Constraints</a:t>
            </a:r>
          </a:p>
          <a:p>
            <a:pPr algn="l"/>
            <a:r>
              <a:rPr sz="900" b="0">
                <a:solidFill>
                  <a:srgbClr val="2D3436"/>
                </a:solidFill>
                <a:latin typeface="Calibri"/>
              </a:rPr>
              <a:t>Email must be unique</a:t>
            </a:r>
          </a:p>
          <a:p>
            <a:pPr algn="l"/>
            <a:r>
              <a:rPr sz="900" b="0">
                <a:solidFill>
                  <a:srgbClr val="2D3436"/>
                </a:solidFill>
                <a:latin typeface="Calibri"/>
              </a:rPr>
              <a:t>Title is required (max 200)</a:t>
            </a:r>
          </a:p>
          <a:p>
            <a:pPr algn="l"/>
            <a:r>
              <a:rPr sz="900" b="0">
                <a:solidFill>
                  <a:srgbClr val="2D3436"/>
                </a:solidFill>
                <a:latin typeface="Calibri"/>
              </a:rPr>
              <a:t>Status transitions validated</a:t>
            </a:r>
          </a:p>
          <a:p>
            <a:pPr algn="l"/>
            <a:r>
              <a:rPr sz="900" b="0">
                <a:solidFill>
                  <a:srgbClr val="2D3436"/>
                </a:solidFill>
                <a:latin typeface="Calibri"/>
              </a:rPr>
              <a:t>FK integrity enforced</a:t>
            </a:r>
          </a:p>
        </p:txBody>
      </p:sp>
      <p:sp>
        <p:nvSpPr>
          <p:cNvPr id="23" name="Rounded Rectangle 22"/>
          <p:cNvSpPr/>
          <p:nvPr/>
        </p:nvSpPr>
        <p:spPr>
          <a:xfrm>
            <a:off x="548640" y="5486400"/>
            <a:ext cx="8686800" cy="54864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Legend:   1 = one   |   * = many   |   Lines show foreign key relationships   |   AI generates these diagrams from natural language descriptions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UML Sequence Diagram: Create Task Flow</a:t>
            </a:r>
          </a:p>
        </p:txBody>
      </p:sp>
      <p:sp>
        <p:nvSpPr>
          <p:cNvPr id="3" name="Rounded Rectangle 2"/>
          <p:cNvSpPr/>
          <p:nvPr/>
        </p:nvSpPr>
        <p:spPr>
          <a:xfrm>
            <a:off x="365760" y="6263640"/>
            <a:ext cx="4114800"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Architecture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17</a:t>
            </a:r>
          </a:p>
        </p:txBody>
      </p:sp>
      <p:sp>
        <p:nvSpPr>
          <p:cNvPr id="5" name="Rounded Rectangle 4"/>
          <p:cNvSpPr/>
          <p:nvPr/>
        </p:nvSpPr>
        <p:spPr>
          <a:xfrm>
            <a:off x="1371600" y="1051560"/>
            <a:ext cx="1645920" cy="45720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Client</a:t>
            </a:r>
          </a:p>
        </p:txBody>
      </p:sp>
      <p:sp>
        <p:nvSpPr>
          <p:cNvPr id="6" name="Rounded Rectangle 5"/>
          <p:cNvSpPr/>
          <p:nvPr/>
        </p:nvSpPr>
        <p:spPr>
          <a:xfrm>
            <a:off x="3931920" y="1051560"/>
            <a:ext cx="1645920" cy="45720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API Gateway</a:t>
            </a:r>
          </a:p>
        </p:txBody>
      </p:sp>
      <p:sp>
        <p:nvSpPr>
          <p:cNvPr id="7" name="Rounded Rectangle 6"/>
          <p:cNvSpPr/>
          <p:nvPr/>
        </p:nvSpPr>
        <p:spPr>
          <a:xfrm>
            <a:off x="6492240" y="1051560"/>
            <a:ext cx="1645920" cy="45720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Task Service</a:t>
            </a:r>
          </a:p>
        </p:txBody>
      </p:sp>
      <p:sp>
        <p:nvSpPr>
          <p:cNvPr id="8" name="Rounded Rectangle 7"/>
          <p:cNvSpPr/>
          <p:nvPr/>
        </p:nvSpPr>
        <p:spPr>
          <a:xfrm>
            <a:off x="9052560" y="1051560"/>
            <a:ext cx="1645920" cy="45720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Database</a:t>
            </a:r>
          </a:p>
        </p:txBody>
      </p:sp>
      <p:cxnSp>
        <p:nvCxnSpPr>
          <p:cNvPr id="9" name="Connector 8"/>
          <p:cNvCxnSpPr/>
          <p:nvPr/>
        </p:nvCxnSpPr>
        <p:spPr>
          <a:xfrm>
            <a:off x="2194560" y="1508760"/>
            <a:ext cx="0" cy="416052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754880" y="1508760"/>
            <a:ext cx="0" cy="4160520"/>
          </a:xfrm>
          <a:prstGeom prst="line">
            <a:avLst/>
          </a:prstGeom>
          <a:ln w="19050">
            <a:solidFill>
              <a:srgbClr val="70AD4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315200" y="1508760"/>
            <a:ext cx="0" cy="4160520"/>
          </a:xfrm>
          <a:prstGeom prst="line">
            <a:avLst/>
          </a:prstGeom>
          <a:ln w="19050">
            <a:solidFill>
              <a:srgbClr val="ED7D3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875520" y="1508760"/>
            <a:ext cx="0" cy="4160520"/>
          </a:xfrm>
          <a:prstGeom prst="line">
            <a:avLst/>
          </a:prstGeom>
          <a:ln w="19050">
            <a:solidFill>
              <a:srgbClr val="9B59B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194560" y="1828800"/>
            <a:ext cx="1737360"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286000" y="1554480"/>
            <a:ext cx="1828800" cy="274320"/>
          </a:xfrm>
          <a:prstGeom prst="rect">
            <a:avLst/>
          </a:prstGeom>
          <a:noFill/>
        </p:spPr>
        <p:txBody>
          <a:bodyPr wrap="square">
            <a:spAutoFit/>
          </a:bodyPr>
          <a:lstStyle/>
          <a:p>
            <a:pPr algn="l"/>
            <a:r>
              <a:rPr sz="900" b="1">
                <a:solidFill>
                  <a:srgbClr val="4472C4"/>
                </a:solidFill>
                <a:latin typeface="Calibri"/>
              </a:rPr>
              <a:t>1. POST /api/tasks</a:t>
            </a:r>
          </a:p>
        </p:txBody>
      </p:sp>
      <p:sp>
        <p:nvSpPr>
          <p:cNvPr id="15" name="Rounded Rectangle 14"/>
          <p:cNvSpPr/>
          <p:nvPr/>
        </p:nvSpPr>
        <p:spPr>
          <a:xfrm>
            <a:off x="4206240" y="2240280"/>
            <a:ext cx="1371600" cy="3200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validateToken()</a:t>
            </a:r>
          </a:p>
        </p:txBody>
      </p:sp>
      <p:sp>
        <p:nvSpPr>
          <p:cNvPr id="16" name="TextBox 15"/>
          <p:cNvSpPr txBox="1"/>
          <p:nvPr/>
        </p:nvSpPr>
        <p:spPr>
          <a:xfrm>
            <a:off x="3749039" y="2057400"/>
            <a:ext cx="2286000" cy="228600"/>
          </a:xfrm>
          <a:prstGeom prst="rect">
            <a:avLst/>
          </a:prstGeom>
          <a:noFill/>
        </p:spPr>
        <p:txBody>
          <a:bodyPr wrap="square">
            <a:spAutoFit/>
          </a:bodyPr>
          <a:lstStyle/>
          <a:p>
            <a:pPr algn="l"/>
            <a:r>
              <a:rPr sz="800" b="0">
                <a:solidFill>
                  <a:srgbClr val="636E72"/>
                </a:solidFill>
                <a:latin typeface="Calibri"/>
              </a:rPr>
              <a:t>2. self-call</a:t>
            </a:r>
          </a:p>
        </p:txBody>
      </p:sp>
      <p:cxnSp>
        <p:nvCxnSpPr>
          <p:cNvPr id="17" name="Connector 16"/>
          <p:cNvCxnSpPr/>
          <p:nvPr/>
        </p:nvCxnSpPr>
        <p:spPr>
          <a:xfrm>
            <a:off x="4754880" y="2926080"/>
            <a:ext cx="1737360" cy="0"/>
          </a:xfrm>
          <a:prstGeom prst="line">
            <a:avLst/>
          </a:prstGeom>
          <a:ln w="25400">
            <a:solidFill>
              <a:srgbClr val="70AD4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846320" y="2651760"/>
            <a:ext cx="1828800" cy="274320"/>
          </a:xfrm>
          <a:prstGeom prst="rect">
            <a:avLst/>
          </a:prstGeom>
          <a:noFill/>
        </p:spPr>
        <p:txBody>
          <a:bodyPr wrap="square">
            <a:spAutoFit/>
          </a:bodyPr>
          <a:lstStyle/>
          <a:p>
            <a:pPr algn="l"/>
            <a:r>
              <a:rPr sz="900" b="1">
                <a:solidFill>
                  <a:srgbClr val="70AD47"/>
                </a:solidFill>
                <a:latin typeface="Calibri"/>
              </a:rPr>
              <a:t>3. createTask(dto)</a:t>
            </a:r>
          </a:p>
        </p:txBody>
      </p:sp>
      <p:cxnSp>
        <p:nvCxnSpPr>
          <p:cNvPr id="19" name="Connector 18"/>
          <p:cNvCxnSpPr/>
          <p:nvPr/>
        </p:nvCxnSpPr>
        <p:spPr>
          <a:xfrm>
            <a:off x="7315200" y="3474720"/>
            <a:ext cx="1737360" cy="0"/>
          </a:xfrm>
          <a:prstGeom prst="line">
            <a:avLst/>
          </a:prstGeom>
          <a:ln w="25400">
            <a:solidFill>
              <a:srgbClr val="ED7D3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406640" y="3200400"/>
            <a:ext cx="1828800" cy="274320"/>
          </a:xfrm>
          <a:prstGeom prst="rect">
            <a:avLst/>
          </a:prstGeom>
          <a:noFill/>
        </p:spPr>
        <p:txBody>
          <a:bodyPr wrap="square">
            <a:spAutoFit/>
          </a:bodyPr>
          <a:lstStyle/>
          <a:p>
            <a:pPr algn="l"/>
            <a:r>
              <a:rPr sz="900" b="1">
                <a:solidFill>
                  <a:srgbClr val="ED7D31"/>
                </a:solidFill>
                <a:latin typeface="Calibri"/>
              </a:rPr>
              <a:t>4. validate &amp; INSERT</a:t>
            </a:r>
          </a:p>
        </p:txBody>
      </p:sp>
      <p:cxnSp>
        <p:nvCxnSpPr>
          <p:cNvPr id="21" name="Connector 20"/>
          <p:cNvCxnSpPr/>
          <p:nvPr/>
        </p:nvCxnSpPr>
        <p:spPr>
          <a:xfrm flipH="1">
            <a:off x="7315200" y="4023360"/>
            <a:ext cx="1737360" cy="0"/>
          </a:xfrm>
          <a:prstGeom prst="line">
            <a:avLst/>
          </a:prstGeom>
          <a:ln w="25400">
            <a:solidFill>
              <a:srgbClr val="9B59B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406640" y="3749040"/>
            <a:ext cx="1828800" cy="274320"/>
          </a:xfrm>
          <a:prstGeom prst="rect">
            <a:avLst/>
          </a:prstGeom>
          <a:noFill/>
        </p:spPr>
        <p:txBody>
          <a:bodyPr wrap="square">
            <a:spAutoFit/>
          </a:bodyPr>
          <a:lstStyle/>
          <a:p>
            <a:pPr algn="l"/>
            <a:r>
              <a:rPr sz="900" b="1">
                <a:solidFill>
                  <a:srgbClr val="9B59B6"/>
                </a:solidFill>
                <a:latin typeface="Calibri"/>
              </a:rPr>
              <a:t>5. return taskId</a:t>
            </a:r>
          </a:p>
        </p:txBody>
      </p:sp>
      <p:cxnSp>
        <p:nvCxnSpPr>
          <p:cNvPr id="23" name="Connector 22"/>
          <p:cNvCxnSpPr/>
          <p:nvPr/>
        </p:nvCxnSpPr>
        <p:spPr>
          <a:xfrm flipH="1">
            <a:off x="2194560" y="4572000"/>
            <a:ext cx="5120640" cy="0"/>
          </a:xfrm>
          <a:prstGeom prst="line">
            <a:avLst/>
          </a:prstGeom>
          <a:ln w="25400">
            <a:solidFill>
              <a:srgbClr val="ED7D31"/>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114800" y="4297680"/>
            <a:ext cx="2011680" cy="274320"/>
          </a:xfrm>
          <a:prstGeom prst="rect">
            <a:avLst/>
          </a:prstGeom>
          <a:noFill/>
        </p:spPr>
        <p:txBody>
          <a:bodyPr wrap="square">
            <a:spAutoFit/>
          </a:bodyPr>
          <a:lstStyle/>
          <a:p>
            <a:pPr algn="l"/>
            <a:r>
              <a:rPr sz="900" b="1">
                <a:solidFill>
                  <a:srgbClr val="ED7D31"/>
                </a:solidFill>
                <a:latin typeface="Calibri"/>
              </a:rPr>
              <a:t>6. 201 Created { taskId }</a:t>
            </a:r>
          </a:p>
        </p:txBody>
      </p:sp>
      <p:sp>
        <p:nvSpPr>
          <p:cNvPr id="25" name="TextBox 24"/>
          <p:cNvSpPr txBox="1"/>
          <p:nvPr/>
        </p:nvSpPr>
        <p:spPr>
          <a:xfrm>
            <a:off x="9875520" y="1051560"/>
            <a:ext cx="2103120" cy="365760"/>
          </a:xfrm>
          <a:prstGeom prst="rect">
            <a:avLst/>
          </a:prstGeom>
          <a:noFill/>
        </p:spPr>
        <p:txBody>
          <a:bodyPr wrap="square">
            <a:spAutoFit/>
          </a:bodyPr>
          <a:lstStyle/>
          <a:p>
            <a:pPr algn="l"/>
            <a:r>
              <a:rPr sz="1400" b="1">
                <a:solidFill>
                  <a:srgbClr val="ED7D31"/>
                </a:solidFill>
                <a:latin typeface="Calibri"/>
              </a:rPr>
              <a:t>Key Points</a:t>
            </a:r>
          </a:p>
        </p:txBody>
      </p:sp>
      <p:sp>
        <p:nvSpPr>
          <p:cNvPr id="26" name="Rounded Rectangle 25"/>
          <p:cNvSpPr/>
          <p:nvPr/>
        </p:nvSpPr>
        <p:spPr>
          <a:xfrm>
            <a:off x="9875520" y="1508760"/>
            <a:ext cx="2011680" cy="82296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Auth First</a:t>
            </a:r>
          </a:p>
          <a:p>
            <a:pPr algn="ctr"/>
            <a:r>
              <a:rPr sz="900" b="0">
                <a:solidFill>
                  <a:srgbClr val="2D3436"/>
                </a:solidFill>
                <a:latin typeface="Calibri"/>
              </a:rPr>
              <a:t>Token validated</a:t>
            </a:r>
          </a:p>
          <a:p>
            <a:pPr algn="ctr"/>
            <a:r>
              <a:rPr sz="900" b="0">
                <a:solidFill>
                  <a:srgbClr val="2D3436"/>
                </a:solidFill>
                <a:latin typeface="Calibri"/>
              </a:rPr>
              <a:t>before any logic</a:t>
            </a:r>
          </a:p>
        </p:txBody>
      </p:sp>
      <p:sp>
        <p:nvSpPr>
          <p:cNvPr id="27" name="Rounded Rectangle 26"/>
          <p:cNvSpPr/>
          <p:nvPr/>
        </p:nvSpPr>
        <p:spPr>
          <a:xfrm>
            <a:off x="9875520" y="2514600"/>
            <a:ext cx="2011680" cy="82296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DTO Pattern</a:t>
            </a:r>
          </a:p>
          <a:p>
            <a:pPr algn="ctr"/>
            <a:r>
              <a:rPr sz="900" b="0">
                <a:solidFill>
                  <a:srgbClr val="2D3436"/>
                </a:solidFill>
                <a:latin typeface="Calibri"/>
              </a:rPr>
              <a:t>Data Transfer Object</a:t>
            </a:r>
          </a:p>
          <a:p>
            <a:pPr algn="ctr"/>
            <a:r>
              <a:rPr sz="900" b="0">
                <a:solidFill>
                  <a:srgbClr val="2D3436"/>
                </a:solidFill>
                <a:latin typeface="Calibri"/>
              </a:rPr>
              <a:t>isolates layers</a:t>
            </a:r>
          </a:p>
        </p:txBody>
      </p:sp>
      <p:sp>
        <p:nvSpPr>
          <p:cNvPr id="28" name="Rounded Rectangle 27"/>
          <p:cNvSpPr/>
          <p:nvPr/>
        </p:nvSpPr>
        <p:spPr>
          <a:xfrm>
            <a:off x="9875520" y="3520440"/>
            <a:ext cx="2011680" cy="82296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DB Validation</a:t>
            </a:r>
          </a:p>
          <a:p>
            <a:pPr algn="ctr"/>
            <a:r>
              <a:rPr sz="900" b="0">
                <a:solidFill>
                  <a:srgbClr val="2D3436"/>
                </a:solidFill>
                <a:latin typeface="Calibri"/>
              </a:rPr>
              <a:t>Constraints checked</a:t>
            </a:r>
          </a:p>
          <a:p>
            <a:pPr algn="ctr"/>
            <a:r>
              <a:rPr sz="900" b="0">
                <a:solidFill>
                  <a:srgbClr val="2D3436"/>
                </a:solidFill>
                <a:latin typeface="Calibri"/>
              </a:rPr>
              <a:t>at persistence level</a:t>
            </a:r>
          </a:p>
        </p:txBody>
      </p:sp>
      <p:sp>
        <p:nvSpPr>
          <p:cNvPr id="29" name="Rounded Rectangle 28"/>
          <p:cNvSpPr/>
          <p:nvPr/>
        </p:nvSpPr>
        <p:spPr>
          <a:xfrm>
            <a:off x="9875520" y="4526280"/>
            <a:ext cx="2011680" cy="822960"/>
          </a:xfrm>
          <a:prstGeom prst="roundRect">
            <a:avLst/>
          </a:prstGeom>
          <a:solidFill>
            <a:srgbClr val="EFE8F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Clear Response</a:t>
            </a:r>
          </a:p>
          <a:p>
            <a:pPr algn="ctr"/>
            <a:r>
              <a:rPr sz="900" b="0">
                <a:solidFill>
                  <a:srgbClr val="2D3436"/>
                </a:solidFill>
                <a:latin typeface="Calibri"/>
              </a:rPr>
              <a:t>Status code + created</a:t>
            </a:r>
          </a:p>
          <a:p>
            <a:pPr algn="ctr"/>
            <a:r>
              <a:rPr sz="900" b="0">
                <a:solidFill>
                  <a:srgbClr val="2D3436"/>
                </a:solidFill>
                <a:latin typeface="Calibri"/>
              </a:rPr>
              <a:t>resource returned</a:t>
            </a:r>
          </a:p>
        </p:txBody>
      </p:sp>
      <p:sp>
        <p:nvSpPr>
          <p:cNvPr id="30" name="Rounded Rectangle 29"/>
          <p:cNvSpPr/>
          <p:nvPr/>
        </p:nvSpPr>
        <p:spPr>
          <a:xfrm>
            <a:off x="548640" y="5120640"/>
            <a:ext cx="8961120" cy="4572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Sequence diagrams model runtime interactions -- essential for understanding API flows before writing code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API Contract-First Design (OpenAPI)</a:t>
            </a:r>
          </a:p>
        </p:txBody>
      </p:sp>
      <p:sp>
        <p:nvSpPr>
          <p:cNvPr id="3" name="Rounded Rectangle 2"/>
          <p:cNvSpPr/>
          <p:nvPr/>
        </p:nvSpPr>
        <p:spPr>
          <a:xfrm>
            <a:off x="365760" y="6263640"/>
            <a:ext cx="4114800"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Architecture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18</a:t>
            </a:r>
          </a:p>
        </p:txBody>
      </p:sp>
      <p:sp>
        <p:nvSpPr>
          <p:cNvPr id="5" name="TextBox 4"/>
          <p:cNvSpPr txBox="1"/>
          <p:nvPr/>
        </p:nvSpPr>
        <p:spPr>
          <a:xfrm>
            <a:off x="548640" y="1097280"/>
            <a:ext cx="5029200" cy="365760"/>
          </a:xfrm>
          <a:prstGeom prst="rect">
            <a:avLst/>
          </a:prstGeom>
          <a:noFill/>
        </p:spPr>
        <p:txBody>
          <a:bodyPr wrap="square">
            <a:spAutoFit/>
          </a:bodyPr>
          <a:lstStyle/>
          <a:p>
            <a:pPr algn="l"/>
            <a:r>
              <a:rPr sz="1700" b="1">
                <a:solidFill>
                  <a:srgbClr val="ED7D31"/>
                </a:solidFill>
                <a:latin typeface="Calibri"/>
              </a:rPr>
              <a:t>Contract-First Approach</a:t>
            </a:r>
          </a:p>
        </p:txBody>
      </p:sp>
      <p:sp>
        <p:nvSpPr>
          <p:cNvPr id="6" name="TextBox 5"/>
          <p:cNvSpPr txBox="1"/>
          <p:nvPr/>
        </p:nvSpPr>
        <p:spPr>
          <a:xfrm>
            <a:off x="548640" y="1600200"/>
            <a:ext cx="5303520" cy="3200400"/>
          </a:xfrm>
          <a:prstGeom prst="rect">
            <a:avLst/>
          </a:prstGeom>
          <a:noFill/>
        </p:spPr>
        <p:txBody>
          <a:bodyPr wrap="square">
            <a:spAutoFit/>
          </a:bodyPr>
          <a:lstStyle/>
          <a:p>
            <a:pPr>
              <a:lnSpc>
                <a:spcPct val="130000"/>
              </a:lnSpc>
              <a:spcAft>
                <a:spcPts val="800"/>
              </a:spcAft>
            </a:pPr>
            <a:r>
              <a:rPr sz="1400">
                <a:solidFill>
                  <a:srgbClr val="2D3436"/>
                </a:solidFill>
                <a:latin typeface="Calibri"/>
              </a:rPr>
              <a:t>• Define endpoints, request/response bodies BEFORE coding</a:t>
            </a:r>
          </a:p>
          <a:p>
            <a:pPr>
              <a:lnSpc>
                <a:spcPct val="130000"/>
              </a:lnSpc>
              <a:spcAft>
                <a:spcPts val="800"/>
              </a:spcAft>
            </a:pPr>
            <a:r>
              <a:rPr sz="1400">
                <a:solidFill>
                  <a:srgbClr val="2D3436"/>
                </a:solidFill>
                <a:latin typeface="Calibri"/>
              </a:rPr>
              <a:t>• Use OpenAPI/Swagger as the single source of truth</a:t>
            </a:r>
          </a:p>
          <a:p>
            <a:pPr>
              <a:lnSpc>
                <a:spcPct val="130000"/>
              </a:lnSpc>
              <a:spcAft>
                <a:spcPts val="800"/>
              </a:spcAft>
            </a:pPr>
            <a:r>
              <a:rPr sz="1400">
                <a:solidFill>
                  <a:srgbClr val="2D3436"/>
                </a:solidFill>
                <a:latin typeface="Calibri"/>
              </a:rPr>
              <a:t>• Generate server stubs and client SDKs from the spec</a:t>
            </a:r>
          </a:p>
          <a:p>
            <a:pPr>
              <a:lnSpc>
                <a:spcPct val="130000"/>
              </a:lnSpc>
              <a:spcAft>
                <a:spcPts val="800"/>
              </a:spcAft>
            </a:pPr>
            <a:r>
              <a:rPr sz="1400">
                <a:solidFill>
                  <a:srgbClr val="2D3436"/>
                </a:solidFill>
                <a:latin typeface="Calibri"/>
              </a:rPr>
              <a:t>• Contract becomes the testing baseline</a:t>
            </a:r>
          </a:p>
          <a:p>
            <a:pPr>
              <a:lnSpc>
                <a:spcPct val="130000"/>
              </a:lnSpc>
              <a:spcAft>
                <a:spcPts val="800"/>
              </a:spcAft>
            </a:pPr>
            <a:r>
              <a:rPr sz="1400">
                <a:solidFill>
                  <a:srgbClr val="2D3436"/>
                </a:solidFill>
                <a:latin typeface="Calibri"/>
              </a:rPr>
              <a:t>• Benefits of API-first</a:t>
            </a:r>
          </a:p>
          <a:p>
            <a:pPr>
              <a:lnSpc>
                <a:spcPct val="130000"/>
              </a:lnSpc>
              <a:spcAft>
                <a:spcPts val="400"/>
              </a:spcAft>
            </a:pPr>
            <a:r>
              <a:rPr sz="1200">
                <a:solidFill>
                  <a:srgbClr val="636E72"/>
                </a:solidFill>
                <a:latin typeface="Calibri"/>
              </a:rPr>
              <a:t>     - Frontend and backend teams work in parallel</a:t>
            </a:r>
          </a:p>
          <a:p>
            <a:pPr>
              <a:lnSpc>
                <a:spcPct val="130000"/>
              </a:lnSpc>
              <a:spcAft>
                <a:spcPts val="400"/>
              </a:spcAft>
            </a:pPr>
            <a:r>
              <a:rPr sz="1200">
                <a:solidFill>
                  <a:srgbClr val="636E72"/>
                </a:solidFill>
                <a:latin typeface="Calibri"/>
              </a:rPr>
              <a:t>     - Auto-generate documentation and mock servers</a:t>
            </a:r>
          </a:p>
          <a:p>
            <a:pPr>
              <a:lnSpc>
                <a:spcPct val="130000"/>
              </a:lnSpc>
              <a:spcAft>
                <a:spcPts val="400"/>
              </a:spcAft>
            </a:pPr>
            <a:r>
              <a:rPr sz="1200">
                <a:solidFill>
                  <a:srgbClr val="636E72"/>
                </a:solidFill>
                <a:latin typeface="Calibri"/>
              </a:rPr>
              <a:t>     - Contract tests catch breaking changes early</a:t>
            </a:r>
          </a:p>
        </p:txBody>
      </p:sp>
      <p:sp>
        <p:nvSpPr>
          <p:cNvPr id="7" name="TextBox 6"/>
          <p:cNvSpPr txBox="1"/>
          <p:nvPr/>
        </p:nvSpPr>
        <p:spPr>
          <a:xfrm>
            <a:off x="6217920" y="1097280"/>
            <a:ext cx="5486400" cy="365760"/>
          </a:xfrm>
          <a:prstGeom prst="rect">
            <a:avLst/>
          </a:prstGeom>
          <a:noFill/>
        </p:spPr>
        <p:txBody>
          <a:bodyPr wrap="square">
            <a:spAutoFit/>
          </a:bodyPr>
          <a:lstStyle/>
          <a:p>
            <a:pPr algn="l"/>
            <a:r>
              <a:rPr sz="1400" b="1">
                <a:solidFill>
                  <a:srgbClr val="ED7D31"/>
                </a:solidFill>
                <a:latin typeface="Calibri"/>
              </a:rPr>
              <a:t>OpenAPI Snippet -- POST /api/tasks</a:t>
            </a:r>
          </a:p>
        </p:txBody>
      </p:sp>
      <p:sp>
        <p:nvSpPr>
          <p:cNvPr id="8" name="Rectangle 7"/>
          <p:cNvSpPr/>
          <p:nvPr/>
        </p:nvSpPr>
        <p:spPr>
          <a:xfrm>
            <a:off x="6217920" y="1508760"/>
            <a:ext cx="5486400" cy="36576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openapi: 3.0.3</a:t>
            </a:r>
          </a:p>
          <a:p>
            <a:pPr>
              <a:spcAft>
                <a:spcPts val="100"/>
              </a:spcAft>
            </a:pPr>
            <a:r>
              <a:rPr sz="900">
                <a:solidFill>
                  <a:srgbClr val="2D3436"/>
                </a:solidFill>
                <a:latin typeface="Consolas"/>
              </a:rPr>
              <a:t>paths:</a:t>
            </a:r>
          </a:p>
          <a:p>
            <a:pPr>
              <a:spcAft>
                <a:spcPts val="100"/>
              </a:spcAft>
            </a:pPr>
            <a:r>
              <a:rPr sz="900">
                <a:solidFill>
                  <a:srgbClr val="2D3436"/>
                </a:solidFill>
                <a:latin typeface="Consolas"/>
              </a:rPr>
              <a:t>  /api/tasks:</a:t>
            </a:r>
          </a:p>
          <a:p>
            <a:pPr>
              <a:spcAft>
                <a:spcPts val="100"/>
              </a:spcAft>
            </a:pPr>
            <a:r>
              <a:rPr sz="900">
                <a:solidFill>
                  <a:srgbClr val="2D3436"/>
                </a:solidFill>
                <a:latin typeface="Consolas"/>
              </a:rPr>
              <a:t>    post:</a:t>
            </a:r>
          </a:p>
          <a:p>
            <a:pPr>
              <a:spcAft>
                <a:spcPts val="100"/>
              </a:spcAft>
            </a:pPr>
            <a:r>
              <a:rPr sz="900">
                <a:solidFill>
                  <a:srgbClr val="2D3436"/>
                </a:solidFill>
                <a:latin typeface="Consolas"/>
              </a:rPr>
              <a:t>      summary: Create a new task</a:t>
            </a:r>
          </a:p>
          <a:p>
            <a:pPr>
              <a:spcAft>
                <a:spcPts val="100"/>
              </a:spcAft>
            </a:pPr>
            <a:r>
              <a:rPr sz="900">
                <a:solidFill>
                  <a:srgbClr val="2D3436"/>
                </a:solidFill>
                <a:latin typeface="Consolas"/>
              </a:rPr>
              <a:t>      operationId: createTask</a:t>
            </a:r>
          </a:p>
          <a:p>
            <a:pPr>
              <a:spcAft>
                <a:spcPts val="100"/>
              </a:spcAft>
            </a:pPr>
            <a:r>
              <a:rPr sz="900">
                <a:solidFill>
                  <a:srgbClr val="2D3436"/>
                </a:solidFill>
                <a:latin typeface="Consolas"/>
              </a:rPr>
              <a:t>      tags: [Tasks]</a:t>
            </a:r>
          </a:p>
          <a:p>
            <a:pPr>
              <a:spcAft>
                <a:spcPts val="100"/>
              </a:spcAft>
            </a:pPr>
            <a:r>
              <a:rPr sz="900">
                <a:solidFill>
                  <a:srgbClr val="2D3436"/>
                </a:solidFill>
                <a:latin typeface="Consolas"/>
              </a:rPr>
              <a:t>      requestBody:</a:t>
            </a:r>
          </a:p>
          <a:p>
            <a:pPr>
              <a:spcAft>
                <a:spcPts val="100"/>
              </a:spcAft>
            </a:pPr>
            <a:r>
              <a:rPr sz="900">
                <a:solidFill>
                  <a:srgbClr val="2D3436"/>
                </a:solidFill>
                <a:latin typeface="Consolas"/>
              </a:rPr>
              <a:t>        required: true</a:t>
            </a:r>
          </a:p>
          <a:p>
            <a:pPr>
              <a:spcAft>
                <a:spcPts val="100"/>
              </a:spcAft>
            </a:pPr>
            <a:r>
              <a:rPr sz="900">
                <a:solidFill>
                  <a:srgbClr val="2D3436"/>
                </a:solidFill>
                <a:latin typeface="Consolas"/>
              </a:rPr>
              <a:t>        content:</a:t>
            </a:r>
          </a:p>
          <a:p>
            <a:pPr>
              <a:spcAft>
                <a:spcPts val="100"/>
              </a:spcAft>
            </a:pPr>
            <a:r>
              <a:rPr sz="900">
                <a:solidFill>
                  <a:srgbClr val="2D3436"/>
                </a:solidFill>
                <a:latin typeface="Consolas"/>
              </a:rPr>
              <a:t>          application/json:</a:t>
            </a:r>
          </a:p>
          <a:p>
            <a:pPr>
              <a:spcAft>
                <a:spcPts val="100"/>
              </a:spcAft>
            </a:pPr>
            <a:r>
              <a:rPr sz="900">
                <a:solidFill>
                  <a:srgbClr val="2D3436"/>
                </a:solidFill>
                <a:latin typeface="Consolas"/>
              </a:rPr>
              <a:t>            schema:</a:t>
            </a:r>
          </a:p>
          <a:p>
            <a:pPr>
              <a:spcAft>
                <a:spcPts val="100"/>
              </a:spcAft>
            </a:pPr>
            <a:r>
              <a:rPr sz="900">
                <a:solidFill>
                  <a:srgbClr val="2D3436"/>
                </a:solidFill>
                <a:latin typeface="Consolas"/>
              </a:rPr>
              <a:t>              $ref: '#/components/schemas/CreateTaskDTO'</a:t>
            </a:r>
          </a:p>
          <a:p>
            <a:pPr>
              <a:spcAft>
                <a:spcPts val="100"/>
              </a:spcAft>
            </a:pPr>
            <a:r>
              <a:rPr sz="900">
                <a:solidFill>
                  <a:srgbClr val="2D3436"/>
                </a:solidFill>
                <a:latin typeface="Consolas"/>
              </a:rPr>
              <a:t>      responses:</a:t>
            </a:r>
          </a:p>
          <a:p>
            <a:pPr>
              <a:spcAft>
                <a:spcPts val="100"/>
              </a:spcAft>
            </a:pPr>
            <a:r>
              <a:rPr sz="900">
                <a:solidFill>
                  <a:srgbClr val="2D3436"/>
                </a:solidFill>
                <a:latin typeface="Consolas"/>
              </a:rPr>
              <a:t>        '201':</a:t>
            </a:r>
          </a:p>
          <a:p>
            <a:pPr>
              <a:spcAft>
                <a:spcPts val="100"/>
              </a:spcAft>
            </a:pPr>
            <a:r>
              <a:rPr sz="900">
                <a:solidFill>
                  <a:srgbClr val="2D3436"/>
                </a:solidFill>
                <a:latin typeface="Consolas"/>
              </a:rPr>
              <a:t>          description: Task created</a:t>
            </a:r>
          </a:p>
          <a:p>
            <a:pPr>
              <a:spcAft>
                <a:spcPts val="100"/>
              </a:spcAft>
            </a:pPr>
            <a:r>
              <a:rPr sz="900">
                <a:solidFill>
                  <a:srgbClr val="2D3436"/>
                </a:solidFill>
                <a:latin typeface="Consolas"/>
              </a:rPr>
              <a:t>          content:</a:t>
            </a:r>
          </a:p>
          <a:p>
            <a:pPr>
              <a:spcAft>
                <a:spcPts val="100"/>
              </a:spcAft>
            </a:pPr>
            <a:r>
              <a:rPr sz="900">
                <a:solidFill>
                  <a:srgbClr val="2D3436"/>
                </a:solidFill>
                <a:latin typeface="Consolas"/>
              </a:rPr>
              <a:t>            application/json:</a:t>
            </a:r>
          </a:p>
          <a:p>
            <a:pPr>
              <a:spcAft>
                <a:spcPts val="100"/>
              </a:spcAft>
            </a:pPr>
            <a:r>
              <a:rPr sz="900">
                <a:solidFill>
                  <a:srgbClr val="2D3436"/>
                </a:solidFill>
                <a:latin typeface="Consolas"/>
              </a:rPr>
              <a:t>              schema:</a:t>
            </a:r>
          </a:p>
          <a:p>
            <a:pPr>
              <a:spcAft>
                <a:spcPts val="100"/>
              </a:spcAft>
            </a:pPr>
            <a:r>
              <a:rPr sz="900">
                <a:solidFill>
                  <a:srgbClr val="2D3436"/>
                </a:solidFill>
                <a:latin typeface="Consolas"/>
              </a:rPr>
              <a:t>                $ref: '#/components/schemas/Task'</a:t>
            </a:r>
          </a:p>
          <a:p>
            <a:pPr>
              <a:spcAft>
                <a:spcPts val="100"/>
              </a:spcAft>
            </a:pPr>
            <a:r>
              <a:rPr sz="900">
                <a:solidFill>
                  <a:srgbClr val="2D3436"/>
                </a:solidFill>
                <a:latin typeface="Consolas"/>
              </a:rPr>
              <a:t>        '400':</a:t>
            </a:r>
          </a:p>
          <a:p>
            <a:pPr>
              <a:spcAft>
                <a:spcPts val="100"/>
              </a:spcAft>
            </a:pPr>
            <a:r>
              <a:rPr sz="900">
                <a:solidFill>
                  <a:srgbClr val="2D3436"/>
                </a:solidFill>
                <a:latin typeface="Consolas"/>
              </a:rPr>
              <a:t>          description: Validation error</a:t>
            </a:r>
          </a:p>
          <a:p>
            <a:pPr>
              <a:spcAft>
                <a:spcPts val="100"/>
              </a:spcAft>
            </a:pPr>
            <a:r>
              <a:rPr sz="900">
                <a:solidFill>
                  <a:srgbClr val="2D3436"/>
                </a:solidFill>
                <a:latin typeface="Consolas"/>
              </a:rPr>
              <a:t>        '401':</a:t>
            </a:r>
          </a:p>
          <a:p>
            <a:pPr>
              <a:spcAft>
                <a:spcPts val="100"/>
              </a:spcAft>
            </a:pPr>
            <a:r>
              <a:rPr sz="900">
                <a:solidFill>
                  <a:srgbClr val="2D3436"/>
                </a:solidFill>
                <a:latin typeface="Consolas"/>
              </a:rPr>
              <a:t>          description: Unauthorized</a:t>
            </a:r>
          </a:p>
        </p:txBody>
      </p:sp>
      <p:sp>
        <p:nvSpPr>
          <p:cNvPr id="9" name="Rounded Rectangle 8"/>
          <p:cNvSpPr/>
          <p:nvPr/>
        </p:nvSpPr>
        <p:spPr>
          <a:xfrm>
            <a:off x="548640" y="5349240"/>
            <a:ext cx="196596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Write</a:t>
            </a:r>
          </a:p>
          <a:p>
            <a:pPr algn="ctr"/>
            <a:r>
              <a:rPr sz="1100" b="0">
                <a:solidFill>
                  <a:srgbClr val="FFFFFF"/>
                </a:solidFill>
                <a:latin typeface="Calibri"/>
              </a:rPr>
              <a:t>OpenAPI Spec</a:t>
            </a:r>
          </a:p>
        </p:txBody>
      </p:sp>
      <p:sp>
        <p:nvSpPr>
          <p:cNvPr id="10" name="Right Arrow 9"/>
          <p:cNvSpPr/>
          <p:nvPr/>
        </p:nvSpPr>
        <p:spPr>
          <a:xfrm>
            <a:off x="2532888" y="5504688"/>
            <a:ext cx="3200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80360" y="5349240"/>
            <a:ext cx="196596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Review &amp;</a:t>
            </a:r>
          </a:p>
          <a:p>
            <a:pPr algn="ctr"/>
            <a:r>
              <a:rPr sz="1100" b="0">
                <a:solidFill>
                  <a:srgbClr val="FFFFFF"/>
                </a:solidFill>
                <a:latin typeface="Calibri"/>
              </a:rPr>
              <a:t>Validate</a:t>
            </a:r>
          </a:p>
        </p:txBody>
      </p:sp>
      <p:sp>
        <p:nvSpPr>
          <p:cNvPr id="12" name="Right Arrow 11"/>
          <p:cNvSpPr/>
          <p:nvPr/>
        </p:nvSpPr>
        <p:spPr>
          <a:xfrm>
            <a:off x="4864608" y="5504688"/>
            <a:ext cx="3200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12079" y="5349240"/>
            <a:ext cx="196596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Generate</a:t>
            </a:r>
          </a:p>
          <a:p>
            <a:pPr algn="ctr"/>
            <a:r>
              <a:rPr sz="1100" b="0">
                <a:solidFill>
                  <a:srgbClr val="FFFFFF"/>
                </a:solidFill>
                <a:latin typeface="Calibri"/>
              </a:rPr>
              <a:t>Stubs</a:t>
            </a:r>
          </a:p>
        </p:txBody>
      </p:sp>
      <p:sp>
        <p:nvSpPr>
          <p:cNvPr id="14" name="Right Arrow 13"/>
          <p:cNvSpPr/>
          <p:nvPr/>
        </p:nvSpPr>
        <p:spPr>
          <a:xfrm>
            <a:off x="7196327" y="5504688"/>
            <a:ext cx="3200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543800" y="5349240"/>
            <a:ext cx="196596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Implement</a:t>
            </a:r>
          </a:p>
          <a:p>
            <a:pPr algn="ctr"/>
            <a:r>
              <a:rPr sz="1100" b="0">
                <a:solidFill>
                  <a:srgbClr val="FFFFFF"/>
                </a:solidFill>
                <a:latin typeface="Calibri"/>
              </a:rPr>
              <a:t>Logic</a:t>
            </a:r>
          </a:p>
        </p:txBody>
      </p:sp>
      <p:sp>
        <p:nvSpPr>
          <p:cNvPr id="16" name="Right Arrow 15"/>
          <p:cNvSpPr/>
          <p:nvPr/>
        </p:nvSpPr>
        <p:spPr>
          <a:xfrm>
            <a:off x="9528048" y="5504688"/>
            <a:ext cx="3200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875519" y="5349240"/>
            <a:ext cx="1965960" cy="64008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Contract</a:t>
            </a:r>
          </a:p>
          <a:p>
            <a:pPr algn="ctr"/>
            <a:r>
              <a:rPr sz="1100" b="0">
                <a:solidFill>
                  <a:srgbClr val="FFFFFF"/>
                </a:solidFill>
                <a:latin typeface="Calibri"/>
              </a:rPr>
              <a:t>Tests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Data Model Design Considerations</a:t>
            </a:r>
          </a:p>
        </p:txBody>
      </p:sp>
      <p:sp>
        <p:nvSpPr>
          <p:cNvPr id="3" name="Rounded Rectangle 2"/>
          <p:cNvSpPr/>
          <p:nvPr/>
        </p:nvSpPr>
        <p:spPr>
          <a:xfrm>
            <a:off x="365760" y="6263640"/>
            <a:ext cx="4114800"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Architecture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19</a:t>
            </a:r>
          </a:p>
        </p:txBody>
      </p:sp>
      <p:sp>
        <p:nvSpPr>
          <p:cNvPr id="5" name="Rounded Rectangle 4"/>
          <p:cNvSpPr/>
          <p:nvPr/>
        </p:nvSpPr>
        <p:spPr>
          <a:xfrm>
            <a:off x="457200" y="1097280"/>
            <a:ext cx="3200400" cy="25603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1">
                <a:solidFill>
                  <a:srgbClr val="2D3436"/>
                </a:solidFill>
                <a:latin typeface="Calibri"/>
              </a:rPr>
              <a:t>tasks</a:t>
            </a:r>
          </a:p>
          <a:p>
            <a:pPr algn="l"/>
            <a:r>
              <a:rPr sz="900" b="0">
                <a:solidFill>
                  <a:srgbClr val="2D3436"/>
                </a:solidFill>
                <a:latin typeface="Calibri"/>
              </a:rPr>
              <a:t>------------------------------</a:t>
            </a:r>
          </a:p>
          <a:p>
            <a:pPr algn="l"/>
            <a:r>
              <a:rPr sz="900" b="0">
                <a:solidFill>
                  <a:srgbClr val="2D3436"/>
                </a:solidFill>
                <a:latin typeface="Calibri"/>
              </a:rPr>
              <a:t>  id          UUID PK</a:t>
            </a:r>
          </a:p>
          <a:p>
            <a:pPr algn="l"/>
            <a:r>
              <a:rPr sz="900" b="0">
                <a:solidFill>
                  <a:srgbClr val="2D3436"/>
                </a:solidFill>
                <a:latin typeface="Calibri"/>
              </a:rPr>
              <a:t>  title       VARCHAR(200) NOT NULL</a:t>
            </a:r>
          </a:p>
          <a:p>
            <a:pPr algn="l"/>
            <a:r>
              <a:rPr sz="900" b="0">
                <a:solidFill>
                  <a:srgbClr val="2D3436"/>
                </a:solidFill>
                <a:latin typeface="Calibri"/>
              </a:rPr>
              <a:t>  description TEXT</a:t>
            </a:r>
          </a:p>
          <a:p>
            <a:pPr algn="l"/>
            <a:r>
              <a:rPr sz="900" b="0">
                <a:solidFill>
                  <a:srgbClr val="2D3436"/>
                </a:solidFill>
                <a:latin typeface="Calibri"/>
              </a:rPr>
              <a:t>  status      ENUM NOT NULL</a:t>
            </a:r>
          </a:p>
          <a:p>
            <a:pPr algn="l"/>
            <a:r>
              <a:rPr sz="900" b="0">
                <a:solidFill>
                  <a:srgbClr val="2D3436"/>
                </a:solidFill>
                <a:latin typeface="Calibri"/>
              </a:rPr>
              <a:t>  priority    ENUM NOT NULL</a:t>
            </a:r>
          </a:p>
          <a:p>
            <a:pPr algn="l"/>
            <a:r>
              <a:rPr sz="900" b="0">
                <a:solidFill>
                  <a:srgbClr val="2D3436"/>
                </a:solidFill>
                <a:latin typeface="Calibri"/>
              </a:rPr>
              <a:t>  assignee_id UUID FK -&gt; users</a:t>
            </a:r>
          </a:p>
          <a:p>
            <a:pPr algn="l"/>
            <a:r>
              <a:rPr sz="900" b="0">
                <a:solidFill>
                  <a:srgbClr val="2D3436"/>
                </a:solidFill>
                <a:latin typeface="Calibri"/>
              </a:rPr>
              <a:t>  category_id UUID FK -&gt; categories</a:t>
            </a:r>
          </a:p>
          <a:p>
            <a:pPr algn="l"/>
            <a:r>
              <a:rPr sz="900" b="0">
                <a:solidFill>
                  <a:srgbClr val="2D3436"/>
                </a:solidFill>
                <a:latin typeface="Calibri"/>
              </a:rPr>
              <a:t>  created_at  TIMESTAMP</a:t>
            </a:r>
          </a:p>
          <a:p>
            <a:pPr algn="l"/>
            <a:r>
              <a:rPr sz="900" b="0">
                <a:solidFill>
                  <a:srgbClr val="2D3436"/>
                </a:solidFill>
                <a:latin typeface="Calibri"/>
              </a:rPr>
              <a:t>  updated_at  TIMESTAMP</a:t>
            </a:r>
          </a:p>
        </p:txBody>
      </p:sp>
      <p:sp>
        <p:nvSpPr>
          <p:cNvPr id="6" name="Rounded Rectangle 5"/>
          <p:cNvSpPr/>
          <p:nvPr/>
        </p:nvSpPr>
        <p:spPr>
          <a:xfrm>
            <a:off x="3931920" y="1097280"/>
            <a:ext cx="2743200" cy="173736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1">
                <a:solidFill>
                  <a:srgbClr val="2D3436"/>
                </a:solidFill>
                <a:latin typeface="Calibri"/>
              </a:rPr>
              <a:t>users</a:t>
            </a:r>
          </a:p>
          <a:p>
            <a:pPr algn="l"/>
            <a:r>
              <a:rPr sz="900" b="0">
                <a:solidFill>
                  <a:srgbClr val="2D3436"/>
                </a:solidFill>
                <a:latin typeface="Calibri"/>
              </a:rPr>
              <a:t>------------------------------</a:t>
            </a:r>
          </a:p>
          <a:p>
            <a:pPr algn="l"/>
            <a:r>
              <a:rPr sz="900" b="0">
                <a:solidFill>
                  <a:srgbClr val="2D3436"/>
                </a:solidFill>
                <a:latin typeface="Calibri"/>
              </a:rPr>
              <a:t>  id         UUID PK</a:t>
            </a:r>
          </a:p>
          <a:p>
            <a:pPr algn="l"/>
            <a:r>
              <a:rPr sz="900" b="0">
                <a:solidFill>
                  <a:srgbClr val="2D3436"/>
                </a:solidFill>
                <a:latin typeface="Calibri"/>
              </a:rPr>
              <a:t>  name       VARCHAR(100)</a:t>
            </a:r>
          </a:p>
          <a:p>
            <a:pPr algn="l"/>
            <a:r>
              <a:rPr sz="900" b="0">
                <a:solidFill>
                  <a:srgbClr val="2D3436"/>
                </a:solidFill>
                <a:latin typeface="Calibri"/>
              </a:rPr>
              <a:t>  email      VARCHAR(255) UNIQUE</a:t>
            </a:r>
          </a:p>
          <a:p>
            <a:pPr algn="l"/>
            <a:r>
              <a:rPr sz="900" b="0">
                <a:solidFill>
                  <a:srgbClr val="2D3436"/>
                </a:solidFill>
                <a:latin typeface="Calibri"/>
              </a:rPr>
              <a:t>  role       ENUM NOT NULL</a:t>
            </a:r>
          </a:p>
          <a:p>
            <a:pPr algn="l"/>
            <a:r>
              <a:rPr sz="900" b="0">
                <a:solidFill>
                  <a:srgbClr val="2D3436"/>
                </a:solidFill>
                <a:latin typeface="Calibri"/>
              </a:rPr>
              <a:t>  created_at TIMESTAMP</a:t>
            </a:r>
          </a:p>
        </p:txBody>
      </p:sp>
      <p:sp>
        <p:nvSpPr>
          <p:cNvPr id="7" name="Rounded Rectangle 6"/>
          <p:cNvSpPr/>
          <p:nvPr/>
        </p:nvSpPr>
        <p:spPr>
          <a:xfrm>
            <a:off x="6949440" y="1097280"/>
            <a:ext cx="2560320" cy="137160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1">
                <a:solidFill>
                  <a:srgbClr val="2D3436"/>
                </a:solidFill>
                <a:latin typeface="Calibri"/>
              </a:rPr>
              <a:t>categories</a:t>
            </a:r>
          </a:p>
          <a:p>
            <a:pPr algn="l"/>
            <a:r>
              <a:rPr sz="900" b="0">
                <a:solidFill>
                  <a:srgbClr val="2D3436"/>
                </a:solidFill>
                <a:latin typeface="Calibri"/>
              </a:rPr>
              <a:t>------------------------------</a:t>
            </a:r>
          </a:p>
          <a:p>
            <a:pPr algn="l"/>
            <a:r>
              <a:rPr sz="900" b="0">
                <a:solidFill>
                  <a:srgbClr val="2D3436"/>
                </a:solidFill>
                <a:latin typeface="Calibri"/>
              </a:rPr>
              <a:t>  id          UUID PK</a:t>
            </a:r>
          </a:p>
          <a:p>
            <a:pPr algn="l"/>
            <a:r>
              <a:rPr sz="900" b="0">
                <a:solidFill>
                  <a:srgbClr val="2D3436"/>
                </a:solidFill>
                <a:latin typeface="Calibri"/>
              </a:rPr>
              <a:t>  name        VARCHAR(100)</a:t>
            </a:r>
          </a:p>
          <a:p>
            <a:pPr algn="l"/>
            <a:r>
              <a:rPr sz="900" b="0">
                <a:solidFill>
                  <a:srgbClr val="2D3436"/>
                </a:solidFill>
                <a:latin typeface="Calibri"/>
              </a:rPr>
              <a:t>  description TEXT</a:t>
            </a:r>
          </a:p>
        </p:txBody>
      </p:sp>
      <p:sp>
        <p:nvSpPr>
          <p:cNvPr id="8" name="Rounded Rectangle 7"/>
          <p:cNvSpPr/>
          <p:nvPr/>
        </p:nvSpPr>
        <p:spPr>
          <a:xfrm>
            <a:off x="3931920" y="3108960"/>
            <a:ext cx="2743200" cy="173736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1">
                <a:solidFill>
                  <a:srgbClr val="2D3436"/>
                </a:solidFill>
                <a:latin typeface="Calibri"/>
              </a:rPr>
              <a:t>comments</a:t>
            </a:r>
          </a:p>
          <a:p>
            <a:pPr algn="l"/>
            <a:r>
              <a:rPr sz="900" b="0">
                <a:solidFill>
                  <a:srgbClr val="2D3436"/>
                </a:solidFill>
                <a:latin typeface="Calibri"/>
              </a:rPr>
              <a:t>------------------------------</a:t>
            </a:r>
          </a:p>
          <a:p>
            <a:pPr algn="l"/>
            <a:r>
              <a:rPr sz="900" b="0">
                <a:solidFill>
                  <a:srgbClr val="2D3436"/>
                </a:solidFill>
                <a:latin typeface="Calibri"/>
              </a:rPr>
              <a:t>  id         UUID PK</a:t>
            </a:r>
          </a:p>
          <a:p>
            <a:pPr algn="l"/>
            <a:r>
              <a:rPr sz="900" b="0">
                <a:solidFill>
                  <a:srgbClr val="2D3436"/>
                </a:solidFill>
                <a:latin typeface="Calibri"/>
              </a:rPr>
              <a:t>  task_id    UUID FK -&gt; tasks</a:t>
            </a:r>
          </a:p>
          <a:p>
            <a:pPr algn="l"/>
            <a:r>
              <a:rPr sz="900" b="0">
                <a:solidFill>
                  <a:srgbClr val="2D3436"/>
                </a:solidFill>
                <a:latin typeface="Calibri"/>
              </a:rPr>
              <a:t>  user_id    UUID FK -&gt; users</a:t>
            </a:r>
          </a:p>
          <a:p>
            <a:pPr algn="l"/>
            <a:r>
              <a:rPr sz="900" b="0">
                <a:solidFill>
                  <a:srgbClr val="2D3436"/>
                </a:solidFill>
                <a:latin typeface="Calibri"/>
              </a:rPr>
              <a:t>  content    TEXT NOT NULL</a:t>
            </a:r>
          </a:p>
          <a:p>
            <a:pPr algn="l"/>
            <a:r>
              <a:rPr sz="900" b="0">
                <a:solidFill>
                  <a:srgbClr val="2D3436"/>
                </a:solidFill>
                <a:latin typeface="Calibri"/>
              </a:rPr>
              <a:t>  created_at TIMESTAMP</a:t>
            </a:r>
          </a:p>
        </p:txBody>
      </p:sp>
      <p:cxnSp>
        <p:nvCxnSpPr>
          <p:cNvPr id="9" name="Connector 8"/>
          <p:cNvCxnSpPr/>
          <p:nvPr/>
        </p:nvCxnSpPr>
        <p:spPr>
          <a:xfrm flipV="1">
            <a:off x="3657600" y="2011680"/>
            <a:ext cx="274320" cy="54864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3657600" y="1737360"/>
            <a:ext cx="3291840" cy="1005840"/>
          </a:xfrm>
          <a:prstGeom prst="line">
            <a:avLst/>
          </a:prstGeom>
          <a:ln w="19050">
            <a:solidFill>
              <a:srgbClr val="ED7D3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286000" y="3657600"/>
            <a:ext cx="1645920" cy="0"/>
          </a:xfrm>
          <a:prstGeom prst="line">
            <a:avLst/>
          </a:prstGeom>
          <a:ln w="19050">
            <a:solidFill>
              <a:srgbClr val="9B59B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5303520" y="2834640"/>
            <a:ext cx="0" cy="274320"/>
          </a:xfrm>
          <a:prstGeom prst="line">
            <a:avLst/>
          </a:prstGeom>
          <a:ln w="19050">
            <a:solidFill>
              <a:srgbClr val="70AD4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875520" y="1097280"/>
            <a:ext cx="2103120" cy="365760"/>
          </a:xfrm>
          <a:prstGeom prst="rect">
            <a:avLst/>
          </a:prstGeom>
          <a:noFill/>
        </p:spPr>
        <p:txBody>
          <a:bodyPr wrap="square">
            <a:spAutoFit/>
          </a:bodyPr>
          <a:lstStyle/>
          <a:p>
            <a:pPr algn="l"/>
            <a:r>
              <a:rPr sz="1400" b="1">
                <a:solidFill>
                  <a:srgbClr val="ED7D31"/>
                </a:solidFill>
                <a:latin typeface="Calibri"/>
              </a:rPr>
              <a:t>Design Principles</a:t>
            </a:r>
          </a:p>
        </p:txBody>
      </p:sp>
      <p:sp>
        <p:nvSpPr>
          <p:cNvPr id="14" name="Rounded Rectangle 13"/>
          <p:cNvSpPr/>
          <p:nvPr/>
        </p:nvSpPr>
        <p:spPr>
          <a:xfrm>
            <a:off x="9875520" y="1554480"/>
            <a:ext cx="2011680" cy="73152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Normalization</a:t>
            </a:r>
          </a:p>
          <a:p>
            <a:pPr algn="ctr"/>
            <a:r>
              <a:rPr sz="900" b="0">
                <a:solidFill>
                  <a:srgbClr val="2D3436"/>
                </a:solidFill>
                <a:latin typeface="Calibri"/>
              </a:rPr>
              <a:t>3NF to reduce redundancy</a:t>
            </a:r>
          </a:p>
          <a:p>
            <a:pPr algn="ctr"/>
            <a:r>
              <a:rPr sz="900" b="0">
                <a:solidFill>
                  <a:srgbClr val="2D3436"/>
                </a:solidFill>
                <a:latin typeface="Calibri"/>
              </a:rPr>
              <a:t>Each fact stored once</a:t>
            </a:r>
          </a:p>
        </p:txBody>
      </p:sp>
      <p:sp>
        <p:nvSpPr>
          <p:cNvPr id="15" name="Rounded Rectangle 14"/>
          <p:cNvSpPr/>
          <p:nvPr/>
        </p:nvSpPr>
        <p:spPr>
          <a:xfrm>
            <a:off x="9875520" y="2423160"/>
            <a:ext cx="2011680" cy="73152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Constraints</a:t>
            </a:r>
          </a:p>
          <a:p>
            <a:pPr algn="ctr"/>
            <a:r>
              <a:rPr sz="900" b="0">
                <a:solidFill>
                  <a:srgbClr val="2D3436"/>
                </a:solidFill>
                <a:latin typeface="Calibri"/>
              </a:rPr>
              <a:t>NOT NULL, UNIQUE, FK</a:t>
            </a:r>
          </a:p>
          <a:p>
            <a:pPr algn="ctr"/>
            <a:r>
              <a:rPr sz="900" b="0">
                <a:solidFill>
                  <a:srgbClr val="2D3436"/>
                </a:solidFill>
                <a:latin typeface="Calibri"/>
              </a:rPr>
              <a:t>for data integrity</a:t>
            </a:r>
          </a:p>
        </p:txBody>
      </p:sp>
      <p:sp>
        <p:nvSpPr>
          <p:cNvPr id="16" name="Rounded Rectangle 15"/>
          <p:cNvSpPr/>
          <p:nvPr/>
        </p:nvSpPr>
        <p:spPr>
          <a:xfrm>
            <a:off x="9875520" y="3291839"/>
            <a:ext cx="2011680" cy="73152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Indexing</a:t>
            </a:r>
          </a:p>
          <a:p>
            <a:pPr algn="ctr"/>
            <a:r>
              <a:rPr sz="900" b="0">
                <a:solidFill>
                  <a:srgbClr val="2D3436"/>
                </a:solidFill>
                <a:latin typeface="Calibri"/>
              </a:rPr>
              <a:t>Index FKs and common</a:t>
            </a:r>
          </a:p>
          <a:p>
            <a:pPr algn="ctr"/>
            <a:r>
              <a:rPr sz="900" b="0">
                <a:solidFill>
                  <a:srgbClr val="2D3436"/>
                </a:solidFill>
                <a:latin typeface="Calibri"/>
              </a:rPr>
              <a:t>query columns (status)</a:t>
            </a:r>
          </a:p>
        </p:txBody>
      </p:sp>
      <p:sp>
        <p:nvSpPr>
          <p:cNvPr id="17" name="Rounded Rectangle 16"/>
          <p:cNvSpPr/>
          <p:nvPr/>
        </p:nvSpPr>
        <p:spPr>
          <a:xfrm>
            <a:off x="9875520" y="4160520"/>
            <a:ext cx="2011680" cy="731520"/>
          </a:xfrm>
          <a:prstGeom prst="roundRect">
            <a:avLst/>
          </a:prstGeom>
          <a:solidFill>
            <a:srgbClr val="EFE8F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Audit Fields</a:t>
            </a:r>
          </a:p>
          <a:p>
            <a:pPr algn="ctr"/>
            <a:r>
              <a:rPr sz="900" b="0">
                <a:solidFill>
                  <a:srgbClr val="2D3436"/>
                </a:solidFill>
                <a:latin typeface="Calibri"/>
              </a:rPr>
              <a:t>created_at, updated_at</a:t>
            </a:r>
          </a:p>
          <a:p>
            <a:pPr algn="ctr"/>
            <a:r>
              <a:rPr sz="900" b="0">
                <a:solidFill>
                  <a:srgbClr val="2D3436"/>
                </a:solidFill>
                <a:latin typeface="Calibri"/>
              </a:rPr>
              <a:t>on every table</a:t>
            </a:r>
          </a:p>
        </p:txBody>
      </p:sp>
      <p:sp>
        <p:nvSpPr>
          <p:cNvPr id="18" name="Rounded Rectangle 17"/>
          <p:cNvSpPr/>
          <p:nvPr/>
        </p:nvSpPr>
        <p:spPr>
          <a:xfrm>
            <a:off x="9875520" y="5029200"/>
            <a:ext cx="2011680" cy="73152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Soft Deletes</a:t>
            </a:r>
          </a:p>
          <a:p>
            <a:pPr algn="ctr"/>
            <a:r>
              <a:rPr sz="900" b="0">
                <a:solidFill>
                  <a:srgbClr val="2D3436"/>
                </a:solidFill>
                <a:latin typeface="Calibri"/>
              </a:rPr>
              <a:t>deleted_at column instead</a:t>
            </a:r>
          </a:p>
          <a:p>
            <a:pPr algn="ctr"/>
            <a:r>
              <a:rPr sz="900" b="0">
                <a:solidFill>
                  <a:srgbClr val="2D3436"/>
                </a:solidFill>
                <a:latin typeface="Calibri"/>
              </a:rPr>
              <a:t>of permanent removal</a:t>
            </a:r>
          </a:p>
        </p:txBody>
      </p:sp>
      <p:sp>
        <p:nvSpPr>
          <p:cNvPr id="19" name="Rounded Rectangle 18"/>
          <p:cNvSpPr/>
          <p:nvPr/>
        </p:nvSpPr>
        <p:spPr>
          <a:xfrm>
            <a:off x="457200" y="5212080"/>
            <a:ext cx="9144000" cy="82296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Key Data Modeling Practices</a:t>
            </a:r>
          </a:p>
          <a:p>
            <a:pPr algn="ctr"/>
            <a:r>
              <a:rPr sz="1100" b="0">
                <a:solidFill>
                  <a:srgbClr val="2D3436"/>
                </a:solidFill>
                <a:latin typeface="Calibri"/>
              </a:rPr>
              <a:t>Normalize to 3NF  |  Enforce constraints at DB level  |  Index FK columns  |  Add audit timestamps  |  Use migrations for schema changes  |  AI generates DDL from ER diagrams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AI Code Generation Workflow</a:t>
            </a:r>
          </a:p>
        </p:txBody>
      </p:sp>
      <p:sp>
        <p:nvSpPr>
          <p:cNvPr id="3" name="Rounded Rectangle 2"/>
          <p:cNvSpPr/>
          <p:nvPr/>
        </p:nvSpPr>
        <p:spPr>
          <a:xfrm>
            <a:off x="365760" y="6263640"/>
            <a:ext cx="4114800" cy="347472"/>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Implementation</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20</a:t>
            </a:r>
          </a:p>
        </p:txBody>
      </p:sp>
      <p:sp>
        <p:nvSpPr>
          <p:cNvPr id="5" name="Rounded Rectangle 4"/>
          <p:cNvSpPr/>
          <p:nvPr/>
        </p:nvSpPr>
        <p:spPr>
          <a:xfrm>
            <a:off x="457200" y="1143000"/>
            <a:ext cx="1691640" cy="77724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Approved</a:t>
            </a:r>
          </a:p>
          <a:p>
            <a:pPr algn="ctr"/>
            <a:r>
              <a:rPr sz="1200" b="0">
                <a:solidFill>
                  <a:srgbClr val="FFFFFF"/>
                </a:solidFill>
                <a:latin typeface="Calibri"/>
              </a:rPr>
              <a:t>Spec</a:t>
            </a:r>
          </a:p>
        </p:txBody>
      </p:sp>
      <p:sp>
        <p:nvSpPr>
          <p:cNvPr id="6" name="Right Arrow 5"/>
          <p:cNvSpPr/>
          <p:nvPr/>
        </p:nvSpPr>
        <p:spPr>
          <a:xfrm>
            <a:off x="2167128" y="1371600"/>
            <a:ext cx="2286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423160" y="1143000"/>
            <a:ext cx="1691640" cy="77724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Prompt</a:t>
            </a:r>
          </a:p>
          <a:p>
            <a:pPr algn="ctr"/>
            <a:r>
              <a:rPr sz="1200" b="0">
                <a:solidFill>
                  <a:srgbClr val="FFFFFF"/>
                </a:solidFill>
                <a:latin typeface="Calibri"/>
              </a:rPr>
              <a:t>Construction</a:t>
            </a:r>
          </a:p>
        </p:txBody>
      </p:sp>
      <p:sp>
        <p:nvSpPr>
          <p:cNvPr id="8" name="Right Arrow 7"/>
          <p:cNvSpPr/>
          <p:nvPr/>
        </p:nvSpPr>
        <p:spPr>
          <a:xfrm>
            <a:off x="4133087" y="1371600"/>
            <a:ext cx="2286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143000"/>
            <a:ext cx="1691640" cy="7772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AI</a:t>
            </a:r>
          </a:p>
          <a:p>
            <a:pPr algn="ctr"/>
            <a:r>
              <a:rPr sz="1200" b="0">
                <a:solidFill>
                  <a:srgbClr val="FFFFFF"/>
                </a:solidFill>
                <a:latin typeface="Calibri"/>
              </a:rPr>
              <a:t>Generation</a:t>
            </a:r>
          </a:p>
        </p:txBody>
      </p:sp>
      <p:sp>
        <p:nvSpPr>
          <p:cNvPr id="10" name="Right Arrow 9"/>
          <p:cNvSpPr/>
          <p:nvPr/>
        </p:nvSpPr>
        <p:spPr>
          <a:xfrm>
            <a:off x="6099048" y="1371600"/>
            <a:ext cx="2286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55079" y="1143000"/>
            <a:ext cx="1691640" cy="77724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Human</a:t>
            </a:r>
          </a:p>
          <a:p>
            <a:pPr algn="ctr"/>
            <a:r>
              <a:rPr sz="1200" b="0">
                <a:solidFill>
                  <a:srgbClr val="FFFFFF"/>
                </a:solidFill>
                <a:latin typeface="Calibri"/>
              </a:rPr>
              <a:t>Review</a:t>
            </a:r>
          </a:p>
        </p:txBody>
      </p:sp>
      <p:sp>
        <p:nvSpPr>
          <p:cNvPr id="12" name="Right Arrow 11"/>
          <p:cNvSpPr/>
          <p:nvPr/>
        </p:nvSpPr>
        <p:spPr>
          <a:xfrm>
            <a:off x="8065008" y="1371600"/>
            <a:ext cx="2286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321040" y="1143000"/>
            <a:ext cx="1691640" cy="77724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Refactor</a:t>
            </a:r>
          </a:p>
          <a:p>
            <a:pPr algn="ctr"/>
            <a:r>
              <a:rPr sz="1200" b="0">
                <a:solidFill>
                  <a:srgbClr val="FFFFFF"/>
                </a:solidFill>
                <a:latin typeface="Calibri"/>
              </a:rPr>
              <a:t>&amp; Improve</a:t>
            </a:r>
          </a:p>
        </p:txBody>
      </p:sp>
      <p:sp>
        <p:nvSpPr>
          <p:cNvPr id="14" name="Right Arrow 13"/>
          <p:cNvSpPr/>
          <p:nvPr/>
        </p:nvSpPr>
        <p:spPr>
          <a:xfrm>
            <a:off x="10030967" y="1371600"/>
            <a:ext cx="2286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87000" y="1143000"/>
            <a:ext cx="1691640" cy="77724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Commit</a:t>
            </a:r>
          </a:p>
          <a:p>
            <a:pPr algn="ctr"/>
            <a:r>
              <a:rPr sz="1200" b="0">
                <a:solidFill>
                  <a:srgbClr val="FFFFFF"/>
                </a:solidFill>
                <a:latin typeface="Calibri"/>
              </a:rPr>
              <a:t>&amp; Push</a:t>
            </a:r>
          </a:p>
        </p:txBody>
      </p:sp>
      <p:sp>
        <p:nvSpPr>
          <p:cNvPr id="16" name="TextBox 15"/>
          <p:cNvSpPr txBox="1"/>
          <p:nvPr/>
        </p:nvSpPr>
        <p:spPr>
          <a:xfrm>
            <a:off x="548640" y="2286000"/>
            <a:ext cx="5943600" cy="365760"/>
          </a:xfrm>
          <a:prstGeom prst="rect">
            <a:avLst/>
          </a:prstGeom>
          <a:noFill/>
        </p:spPr>
        <p:txBody>
          <a:bodyPr wrap="square">
            <a:spAutoFit/>
          </a:bodyPr>
          <a:lstStyle/>
          <a:p>
            <a:pPr algn="l"/>
            <a:r>
              <a:rPr sz="1600" b="1">
                <a:solidFill>
                  <a:srgbClr val="9B59B6"/>
                </a:solidFill>
                <a:latin typeface="Calibri"/>
              </a:rPr>
              <a:t>Best Practices for AI Code Generation</a:t>
            </a:r>
          </a:p>
        </p:txBody>
      </p:sp>
      <p:sp>
        <p:nvSpPr>
          <p:cNvPr id="17" name="TextBox 16"/>
          <p:cNvSpPr txBox="1"/>
          <p:nvPr/>
        </p:nvSpPr>
        <p:spPr>
          <a:xfrm>
            <a:off x="548640" y="2743200"/>
            <a:ext cx="5760720" cy="3200400"/>
          </a:xfrm>
          <a:prstGeom prst="rect">
            <a:avLst/>
          </a:prstGeom>
          <a:noFill/>
        </p:spPr>
        <p:txBody>
          <a:bodyPr wrap="square">
            <a:spAutoFit/>
          </a:bodyPr>
          <a:lstStyle/>
          <a:p>
            <a:pPr>
              <a:lnSpc>
                <a:spcPct val="130000"/>
              </a:lnSpc>
              <a:spcAft>
                <a:spcPts val="800"/>
              </a:spcAft>
            </a:pPr>
            <a:r>
              <a:rPr sz="1400">
                <a:solidFill>
                  <a:srgbClr val="2D3436"/>
                </a:solidFill>
                <a:latin typeface="Calibri"/>
              </a:rPr>
              <a:t>• Generate ONE component/layer at a time</a:t>
            </a:r>
          </a:p>
          <a:p>
            <a:pPr>
              <a:lnSpc>
                <a:spcPct val="130000"/>
              </a:lnSpc>
              <a:spcAft>
                <a:spcPts val="800"/>
              </a:spcAft>
            </a:pPr>
            <a:r>
              <a:rPr sz="1400">
                <a:solidFill>
                  <a:srgbClr val="2D3436"/>
                </a:solidFill>
                <a:latin typeface="Calibri"/>
              </a:rPr>
              <a:t>• Review before asking AI for the next layer</a:t>
            </a:r>
          </a:p>
          <a:p>
            <a:pPr>
              <a:lnSpc>
                <a:spcPct val="130000"/>
              </a:lnSpc>
              <a:spcAft>
                <a:spcPts val="800"/>
              </a:spcAft>
            </a:pPr>
            <a:r>
              <a:rPr sz="1400">
                <a:solidFill>
                  <a:srgbClr val="2D3436"/>
                </a:solidFill>
                <a:latin typeface="Calibri"/>
              </a:rPr>
              <a:t>• Keep prompts tied to specs and file names</a:t>
            </a:r>
          </a:p>
          <a:p>
            <a:pPr>
              <a:lnSpc>
                <a:spcPct val="130000"/>
              </a:lnSpc>
              <a:spcAft>
                <a:spcPts val="800"/>
              </a:spcAft>
            </a:pPr>
            <a:r>
              <a:rPr sz="1400">
                <a:solidFill>
                  <a:srgbClr val="2D3436"/>
                </a:solidFill>
                <a:latin typeface="Calibri"/>
              </a:rPr>
              <a:t>• Commit working increments frequently</a:t>
            </a:r>
          </a:p>
          <a:p>
            <a:pPr>
              <a:lnSpc>
                <a:spcPct val="130000"/>
              </a:lnSpc>
              <a:spcAft>
                <a:spcPts val="800"/>
              </a:spcAft>
            </a:pPr>
            <a:r>
              <a:rPr sz="1400">
                <a:solidFill>
                  <a:srgbClr val="2D3436"/>
                </a:solidFill>
                <a:latin typeface="Calibri"/>
              </a:rPr>
              <a:t>• Never skip human review -- even for simple code</a:t>
            </a:r>
          </a:p>
          <a:p>
            <a:pPr>
              <a:lnSpc>
                <a:spcPct val="130000"/>
              </a:lnSpc>
              <a:spcAft>
                <a:spcPts val="800"/>
              </a:spcAft>
            </a:pPr>
            <a:r>
              <a:rPr sz="1400">
                <a:solidFill>
                  <a:srgbClr val="2D3436"/>
                </a:solidFill>
                <a:latin typeface="Calibri"/>
              </a:rPr>
              <a:t>• Include test expectations in generation prompts</a:t>
            </a:r>
          </a:p>
          <a:p>
            <a:pPr>
              <a:lnSpc>
                <a:spcPct val="130000"/>
              </a:lnSpc>
              <a:spcAft>
                <a:spcPts val="800"/>
              </a:spcAft>
            </a:pPr>
            <a:r>
              <a:rPr sz="1400">
                <a:solidFill>
                  <a:srgbClr val="2D3436"/>
                </a:solidFill>
                <a:latin typeface="Calibri"/>
              </a:rPr>
              <a:t>• Ask AI to explain its implementation choices</a:t>
            </a:r>
          </a:p>
        </p:txBody>
      </p:sp>
      <p:sp>
        <p:nvSpPr>
          <p:cNvPr id="18" name="TextBox 17"/>
          <p:cNvSpPr txBox="1"/>
          <p:nvPr/>
        </p:nvSpPr>
        <p:spPr>
          <a:xfrm>
            <a:off x="6858000" y="2286000"/>
            <a:ext cx="5029200" cy="365760"/>
          </a:xfrm>
          <a:prstGeom prst="rect">
            <a:avLst/>
          </a:prstGeom>
          <a:noFill/>
        </p:spPr>
        <p:txBody>
          <a:bodyPr wrap="square">
            <a:spAutoFit/>
          </a:bodyPr>
          <a:lstStyle/>
          <a:p>
            <a:pPr algn="l"/>
            <a:r>
              <a:rPr sz="1600" b="1">
                <a:solidFill>
                  <a:srgbClr val="9B59B6"/>
                </a:solidFill>
                <a:latin typeface="Calibri"/>
              </a:rPr>
              <a:t>Sample Generation Prompt</a:t>
            </a:r>
          </a:p>
        </p:txBody>
      </p:sp>
      <p:sp>
        <p:nvSpPr>
          <p:cNvPr id="19" name="Rectangle 18"/>
          <p:cNvSpPr/>
          <p:nvPr/>
        </p:nvSpPr>
        <p:spPr>
          <a:xfrm>
            <a:off x="6858000" y="2743200"/>
            <a:ext cx="5029200" cy="292608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1000">
                <a:solidFill>
                  <a:srgbClr val="2D3436"/>
                </a:solidFill>
                <a:latin typeface="Consolas"/>
              </a:rPr>
              <a:t>Context: Task Management API</a:t>
            </a:r>
          </a:p>
          <a:p>
            <a:pPr>
              <a:spcAft>
                <a:spcPts val="100"/>
              </a:spcAft>
            </a:pPr>
            <a:r>
              <a:rPr sz="1000">
                <a:solidFill>
                  <a:srgbClr val="2D3436"/>
                </a:solidFill>
                <a:latin typeface="Consolas"/>
              </a:rPr>
              <a:t>Spec file: task-service.spec.yaml</a:t>
            </a:r>
          </a:p>
          <a:p>
            <a:pPr>
              <a:spcAft>
                <a:spcPts val="100"/>
              </a:spcAft>
            </a:pPr>
            <a:r>
              <a:rPr sz="1000">
                <a:solidFill>
                  <a:srgbClr val="2D3436"/>
                </a:solidFill>
                <a:latin typeface="Consolas"/>
              </a:rPr>
              <a:t>Layer: Service layer</a:t>
            </a:r>
          </a:p>
          <a:p>
            <a:pPr>
              <a:spcAft>
                <a:spcPts val="100"/>
              </a:spcAft>
            </a:pPr>
            <a:r>
              <a:rPr sz="1000">
                <a:solidFill>
                  <a:srgbClr val="2D3436"/>
                </a:solidFill>
                <a:latin typeface="Consolas"/>
              </a:rPr>
              <a:t>Component: TaskService</a:t>
            </a:r>
          </a:p>
          <a:p>
            <a:pPr>
              <a:spcAft>
                <a:spcPts val="100"/>
              </a:spcAft>
            </a:pPr>
            <a:r>
              <a:rPr sz="1000">
                <a:solidFill>
                  <a:srgbClr val="2D3436"/>
                </a:solidFill>
                <a:latin typeface="Consolas"/>
              </a:rPr>
              <a:t>---</a:t>
            </a:r>
          </a:p>
          <a:p>
            <a:pPr>
              <a:spcAft>
                <a:spcPts val="100"/>
              </a:spcAft>
            </a:pPr>
            <a:r>
              <a:rPr sz="1000">
                <a:solidFill>
                  <a:srgbClr val="2D3436"/>
                </a:solidFill>
                <a:latin typeface="Consolas"/>
              </a:rPr>
              <a:t>Generate the TaskService class that:</a:t>
            </a:r>
          </a:p>
          <a:p>
            <a:pPr>
              <a:spcAft>
                <a:spcPts val="100"/>
              </a:spcAft>
            </a:pPr>
            <a:r>
              <a:rPr sz="1000">
                <a:solidFill>
                  <a:srgbClr val="2D3436"/>
                </a:solidFill>
                <a:latin typeface="Consolas"/>
              </a:rPr>
              <a:t>1. Implements createTask(dto)</a:t>
            </a:r>
          </a:p>
          <a:p>
            <a:pPr>
              <a:spcAft>
                <a:spcPts val="100"/>
              </a:spcAft>
            </a:pPr>
            <a:r>
              <a:rPr sz="1000">
                <a:solidFill>
                  <a:srgbClr val="2D3436"/>
                </a:solidFill>
                <a:latin typeface="Consolas"/>
              </a:rPr>
              <a:t>2. Validates title is non-empty</a:t>
            </a:r>
          </a:p>
          <a:p>
            <a:pPr>
              <a:spcAft>
                <a:spcPts val="100"/>
              </a:spcAft>
            </a:pPr>
            <a:r>
              <a:rPr sz="1000">
                <a:solidFill>
                  <a:srgbClr val="2D3436"/>
                </a:solidFill>
                <a:latin typeface="Consolas"/>
              </a:rPr>
              <a:t>3. Sets status to TODO by default</a:t>
            </a:r>
          </a:p>
          <a:p>
            <a:pPr>
              <a:spcAft>
                <a:spcPts val="100"/>
              </a:spcAft>
            </a:pPr>
            <a:r>
              <a:rPr sz="1000">
                <a:solidFill>
                  <a:srgbClr val="2D3436"/>
                </a:solidFill>
                <a:latin typeface="Consolas"/>
              </a:rPr>
              <a:t>4. Saves via TaskRepository</a:t>
            </a:r>
          </a:p>
          <a:p>
            <a:pPr>
              <a:spcAft>
                <a:spcPts val="100"/>
              </a:spcAft>
            </a:pPr>
            <a:r>
              <a:rPr sz="1000">
                <a:solidFill>
                  <a:srgbClr val="2D3436"/>
                </a:solidFill>
                <a:latin typeface="Consolas"/>
              </a:rPr>
              <a:t>5. Returns the created task</a:t>
            </a:r>
          </a:p>
          <a:p>
            <a:pPr>
              <a:spcAft>
                <a:spcPts val="100"/>
              </a:spcAft>
            </a:pPr>
            <a:r>
              <a:rPr sz="1000">
                <a:solidFill>
                  <a:srgbClr val="2D3436"/>
                </a:solidFill>
                <a:latin typeface="Consolas"/>
              </a:rPr>
              <a:t>---</a:t>
            </a:r>
          </a:p>
          <a:p>
            <a:pPr>
              <a:spcAft>
                <a:spcPts val="100"/>
              </a:spcAft>
            </a:pPr>
            <a:r>
              <a:rPr sz="1000">
                <a:solidFill>
                  <a:srgbClr val="2D3436"/>
                </a:solidFill>
                <a:latin typeface="Consolas"/>
              </a:rPr>
              <a:t>Tech stack: Java + Spring Boot 3</a:t>
            </a:r>
          </a:p>
          <a:p>
            <a:pPr>
              <a:spcAft>
                <a:spcPts val="100"/>
              </a:spcAft>
            </a:pPr>
            <a:r>
              <a:rPr sz="1000">
                <a:solidFill>
                  <a:srgbClr val="2D3436"/>
                </a:solidFill>
                <a:latin typeface="Consolas"/>
              </a:rPr>
              <a:t>Follow project conventions in:</a:t>
            </a:r>
          </a:p>
          <a:p>
            <a:pPr>
              <a:spcAft>
                <a:spcPts val="100"/>
              </a:spcAft>
            </a:pPr>
            <a:r>
              <a:rPr sz="1000">
                <a:solidFill>
                  <a:srgbClr val="2D3436"/>
                </a:solidFill>
                <a:latin typeface="Consolas"/>
              </a:rPr>
              <a:t>  src/services/UserService.java</a:t>
            </a:r>
          </a:p>
        </p:txBody>
      </p:sp>
      <p:sp>
        <p:nvSpPr>
          <p:cNvPr id="20" name="Rounded Rectangle 19"/>
          <p:cNvSpPr/>
          <p:nvPr/>
        </p:nvSpPr>
        <p:spPr>
          <a:xfrm>
            <a:off x="548640" y="5669280"/>
            <a:ext cx="11155680" cy="45720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Anti-Pattern:  'Build me the entire app'  -&gt;  Always decompose into small, reviewable units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Code Review in AI-Native Development</a:t>
            </a:r>
          </a:p>
        </p:txBody>
      </p:sp>
      <p:sp>
        <p:nvSpPr>
          <p:cNvPr id="3" name="Rounded Rectangle 2"/>
          <p:cNvSpPr/>
          <p:nvPr/>
        </p:nvSpPr>
        <p:spPr>
          <a:xfrm>
            <a:off x="365760" y="6263640"/>
            <a:ext cx="4114800" cy="347472"/>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Implementation</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21</a:t>
            </a:r>
          </a:p>
        </p:txBody>
      </p:sp>
      <p:sp>
        <p:nvSpPr>
          <p:cNvPr id="5" name="TextBox 4"/>
          <p:cNvSpPr txBox="1"/>
          <p:nvPr/>
        </p:nvSpPr>
        <p:spPr>
          <a:xfrm>
            <a:off x="457200" y="1097280"/>
            <a:ext cx="5486400" cy="365760"/>
          </a:xfrm>
          <a:prstGeom prst="rect">
            <a:avLst/>
          </a:prstGeom>
          <a:noFill/>
        </p:spPr>
        <p:txBody>
          <a:bodyPr wrap="square">
            <a:spAutoFit/>
          </a:bodyPr>
          <a:lstStyle/>
          <a:p>
            <a:pPr algn="l"/>
            <a:r>
              <a:rPr sz="1700" b="1">
                <a:solidFill>
                  <a:srgbClr val="9B59B6"/>
                </a:solidFill>
                <a:latin typeface="Calibri"/>
              </a:rPr>
              <a:t>What to Review (Checklist)</a:t>
            </a:r>
          </a:p>
        </p:txBody>
      </p:sp>
      <p:sp>
        <p:nvSpPr>
          <p:cNvPr id="6" name="Rounded Rectangle 5"/>
          <p:cNvSpPr/>
          <p:nvPr/>
        </p:nvSpPr>
        <p:spPr>
          <a:xfrm>
            <a:off x="457200" y="1600200"/>
            <a:ext cx="5486400" cy="566928"/>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Spec Compliance:  Does it match the specification exactly?</a:t>
            </a:r>
          </a:p>
        </p:txBody>
      </p:sp>
      <p:sp>
        <p:nvSpPr>
          <p:cNvPr id="7" name="Rounded Rectangle 6"/>
          <p:cNvSpPr/>
          <p:nvPr/>
        </p:nvSpPr>
        <p:spPr>
          <a:xfrm>
            <a:off x="457200" y="2313432"/>
            <a:ext cx="5486400" cy="566928"/>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Business Rules:  Are business rules correctly implemented?</a:t>
            </a:r>
          </a:p>
        </p:txBody>
      </p:sp>
      <p:sp>
        <p:nvSpPr>
          <p:cNvPr id="8" name="Rounded Rectangle 7"/>
          <p:cNvSpPr/>
          <p:nvPr/>
        </p:nvSpPr>
        <p:spPr>
          <a:xfrm>
            <a:off x="457200" y="3026664"/>
            <a:ext cx="5486400" cy="566928"/>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Error Handling:  Is error handling appropriate and complete?</a:t>
            </a:r>
          </a:p>
        </p:txBody>
      </p:sp>
      <p:sp>
        <p:nvSpPr>
          <p:cNvPr id="9" name="Rounded Rectangle 8"/>
          <p:cNvSpPr/>
          <p:nvPr/>
        </p:nvSpPr>
        <p:spPr>
          <a:xfrm>
            <a:off x="457200" y="3739896"/>
            <a:ext cx="5486400" cy="566928"/>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Naming &amp; Style:  Are naming conventions and style guide followed?</a:t>
            </a:r>
          </a:p>
        </p:txBody>
      </p:sp>
      <p:sp>
        <p:nvSpPr>
          <p:cNvPr id="10" name="Rounded Rectangle 9"/>
          <p:cNvSpPr/>
          <p:nvPr/>
        </p:nvSpPr>
        <p:spPr>
          <a:xfrm>
            <a:off x="457200" y="4453128"/>
            <a:ext cx="5486400" cy="566928"/>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Security:  Auth, input validation, data exposure checked?</a:t>
            </a:r>
          </a:p>
        </p:txBody>
      </p:sp>
      <p:sp>
        <p:nvSpPr>
          <p:cNvPr id="11" name="Rounded Rectangle 10"/>
          <p:cNvSpPr/>
          <p:nvPr/>
        </p:nvSpPr>
        <p:spPr>
          <a:xfrm>
            <a:off x="457200" y="5166360"/>
            <a:ext cx="5486400" cy="566928"/>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Test Coverage:  Are generated tests meaningful, not trivial?</a:t>
            </a:r>
          </a:p>
        </p:txBody>
      </p:sp>
      <p:sp>
        <p:nvSpPr>
          <p:cNvPr id="12" name="TextBox 11"/>
          <p:cNvSpPr txBox="1"/>
          <p:nvPr/>
        </p:nvSpPr>
        <p:spPr>
          <a:xfrm>
            <a:off x="6400800" y="1097280"/>
            <a:ext cx="5486400" cy="365760"/>
          </a:xfrm>
          <a:prstGeom prst="rect">
            <a:avLst/>
          </a:prstGeom>
          <a:noFill/>
        </p:spPr>
        <p:txBody>
          <a:bodyPr wrap="square">
            <a:spAutoFit/>
          </a:bodyPr>
          <a:lstStyle/>
          <a:p>
            <a:pPr algn="l"/>
            <a:r>
              <a:rPr sz="1700" b="1">
                <a:solidFill>
                  <a:srgbClr val="9B59B6"/>
                </a:solidFill>
                <a:latin typeface="Calibri"/>
              </a:rPr>
              <a:t>Review Workflow</a:t>
            </a:r>
          </a:p>
        </p:txBody>
      </p:sp>
      <p:sp>
        <p:nvSpPr>
          <p:cNvPr id="13" name="Rounded Rectangle 12"/>
          <p:cNvSpPr/>
          <p:nvPr/>
        </p:nvSpPr>
        <p:spPr>
          <a:xfrm>
            <a:off x="6675120" y="1600200"/>
            <a:ext cx="4572000" cy="64008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AI Generates Code</a:t>
            </a:r>
          </a:p>
        </p:txBody>
      </p:sp>
      <p:sp>
        <p:nvSpPr>
          <p:cNvPr id="14" name="Down Arrow 13"/>
          <p:cNvSpPr/>
          <p:nvPr/>
        </p:nvSpPr>
        <p:spPr>
          <a:xfrm>
            <a:off x="8823960" y="2258568"/>
            <a:ext cx="228600" cy="182880"/>
          </a:xfrm>
          <a:prstGeom prst="down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75120" y="2468880"/>
            <a:ext cx="4572000" cy="6400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Static Analysis</a:t>
            </a:r>
          </a:p>
          <a:p>
            <a:pPr algn="ctr"/>
            <a:r>
              <a:rPr sz="1200" b="0">
                <a:solidFill>
                  <a:srgbClr val="2D3436"/>
                </a:solidFill>
                <a:latin typeface="Calibri"/>
              </a:rPr>
              <a:t>(lint, type-check)</a:t>
            </a:r>
          </a:p>
        </p:txBody>
      </p:sp>
      <p:sp>
        <p:nvSpPr>
          <p:cNvPr id="16" name="Down Arrow 15"/>
          <p:cNvSpPr/>
          <p:nvPr/>
        </p:nvSpPr>
        <p:spPr>
          <a:xfrm>
            <a:off x="8823960" y="3127248"/>
            <a:ext cx="228600" cy="182880"/>
          </a:xfrm>
          <a:prstGeom prst="downArrow">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75120" y="3337560"/>
            <a:ext cx="4572000" cy="64008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AI-Assisted Review</a:t>
            </a:r>
          </a:p>
          <a:p>
            <a:pPr algn="ctr"/>
            <a:r>
              <a:rPr sz="1200" b="0">
                <a:solidFill>
                  <a:srgbClr val="2D3436"/>
                </a:solidFill>
                <a:latin typeface="Calibri"/>
              </a:rPr>
              <a:t>(detect patterns &amp; smells)</a:t>
            </a:r>
          </a:p>
        </p:txBody>
      </p:sp>
      <p:sp>
        <p:nvSpPr>
          <p:cNvPr id="18" name="Down Arrow 17"/>
          <p:cNvSpPr/>
          <p:nvPr/>
        </p:nvSpPr>
        <p:spPr>
          <a:xfrm>
            <a:off x="8823960" y="3995928"/>
            <a:ext cx="228600" cy="182880"/>
          </a:xfrm>
          <a:prstGeom prst="downArrow">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675120" y="4206240"/>
            <a:ext cx="4572000" cy="64008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Human Review</a:t>
            </a:r>
          </a:p>
          <a:p>
            <a:pPr algn="ctr"/>
            <a:r>
              <a:rPr sz="1200" b="0">
                <a:solidFill>
                  <a:srgbClr val="2D3436"/>
                </a:solidFill>
                <a:latin typeface="Calibri"/>
              </a:rPr>
              <a:t>(intent, logic, security)</a:t>
            </a:r>
          </a:p>
        </p:txBody>
      </p:sp>
      <p:sp>
        <p:nvSpPr>
          <p:cNvPr id="20" name="Down Arrow 19"/>
          <p:cNvSpPr/>
          <p:nvPr/>
        </p:nvSpPr>
        <p:spPr>
          <a:xfrm>
            <a:off x="8823960" y="4864607"/>
            <a:ext cx="228600" cy="182880"/>
          </a:xfrm>
          <a:prstGeom prst="downArrow">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675120" y="5074920"/>
            <a:ext cx="4572000" cy="64008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Approve / Reject</a:t>
            </a:r>
          </a:p>
        </p:txBody>
      </p:sp>
      <p:sp>
        <p:nvSpPr>
          <p:cNvPr id="22" name="Rounded Rectangle 21"/>
          <p:cNvSpPr/>
          <p:nvPr/>
        </p:nvSpPr>
        <p:spPr>
          <a:xfrm>
            <a:off x="457200" y="5669280"/>
            <a:ext cx="11430000" cy="4572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AI-Native Code Review Principle:  Review INTENT (spec) first, then CODE -- if the spec is wrong, the code will be wrong regardless of quality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Refactoring AI-Generated Code</a:t>
            </a:r>
          </a:p>
        </p:txBody>
      </p:sp>
      <p:sp>
        <p:nvSpPr>
          <p:cNvPr id="3" name="Rounded Rectangle 2"/>
          <p:cNvSpPr/>
          <p:nvPr/>
        </p:nvSpPr>
        <p:spPr>
          <a:xfrm>
            <a:off x="365760" y="6263640"/>
            <a:ext cx="4114800" cy="347472"/>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Implementation</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22</a:t>
            </a:r>
          </a:p>
        </p:txBody>
      </p:sp>
      <p:sp>
        <p:nvSpPr>
          <p:cNvPr id="5" name="TextBox 4"/>
          <p:cNvSpPr txBox="1"/>
          <p:nvPr/>
        </p:nvSpPr>
        <p:spPr>
          <a:xfrm>
            <a:off x="457200" y="1097280"/>
            <a:ext cx="5303520" cy="365760"/>
          </a:xfrm>
          <a:prstGeom prst="rect">
            <a:avLst/>
          </a:prstGeom>
          <a:noFill/>
        </p:spPr>
        <p:txBody>
          <a:bodyPr wrap="square">
            <a:spAutoFit/>
          </a:bodyPr>
          <a:lstStyle/>
          <a:p>
            <a:pPr algn="l"/>
            <a:r>
              <a:rPr sz="1600" b="1">
                <a:solidFill>
                  <a:srgbClr val="9B59B6"/>
                </a:solidFill>
                <a:latin typeface="Calibri"/>
              </a:rPr>
              <a:t>Common Issues in AI-Generated Code</a:t>
            </a:r>
          </a:p>
        </p:txBody>
      </p:sp>
      <p:sp>
        <p:nvSpPr>
          <p:cNvPr id="6" name="Rounded Rectangle 5"/>
          <p:cNvSpPr/>
          <p:nvPr/>
        </p:nvSpPr>
        <p:spPr>
          <a:xfrm>
            <a:off x="457200" y="1600200"/>
            <a:ext cx="5303520" cy="621792"/>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Duplication:  Repeated logic from separate prompts</a:t>
            </a:r>
          </a:p>
        </p:txBody>
      </p:sp>
      <p:sp>
        <p:nvSpPr>
          <p:cNvPr id="7" name="Rounded Rectangle 6"/>
          <p:cNvSpPr/>
          <p:nvPr/>
        </p:nvSpPr>
        <p:spPr>
          <a:xfrm>
            <a:off x="457200" y="2377440"/>
            <a:ext cx="5303520" cy="621792"/>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Unclear Naming:  Generic names: data, result, handler</a:t>
            </a:r>
          </a:p>
        </p:txBody>
      </p:sp>
      <p:sp>
        <p:nvSpPr>
          <p:cNvPr id="8" name="Rounded Rectangle 7"/>
          <p:cNvSpPr/>
          <p:nvPr/>
        </p:nvSpPr>
        <p:spPr>
          <a:xfrm>
            <a:off x="457200" y="3154680"/>
            <a:ext cx="5303520" cy="621792"/>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Missing Error Boundaries:  No try-catch, no validation</a:t>
            </a:r>
          </a:p>
        </p:txBody>
      </p:sp>
      <p:sp>
        <p:nvSpPr>
          <p:cNvPr id="9" name="Rounded Rectangle 8"/>
          <p:cNvSpPr/>
          <p:nvPr/>
        </p:nvSpPr>
        <p:spPr>
          <a:xfrm>
            <a:off x="457200" y="3931920"/>
            <a:ext cx="5303520" cy="621792"/>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Over-Engineering:  Complex patterns where simple suffices</a:t>
            </a:r>
          </a:p>
        </p:txBody>
      </p:sp>
      <p:sp>
        <p:nvSpPr>
          <p:cNvPr id="10" name="Rounded Rectangle 9"/>
          <p:cNvSpPr/>
          <p:nvPr/>
        </p:nvSpPr>
        <p:spPr>
          <a:xfrm>
            <a:off x="457200" y="4709160"/>
            <a:ext cx="5303520" cy="621792"/>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Hardcoded Values:  URLs, ports, keys embedded in code</a:t>
            </a:r>
          </a:p>
        </p:txBody>
      </p:sp>
      <p:sp>
        <p:nvSpPr>
          <p:cNvPr id="11" name="Right Arrow 10"/>
          <p:cNvSpPr/>
          <p:nvPr/>
        </p:nvSpPr>
        <p:spPr>
          <a:xfrm>
            <a:off x="5852160" y="3200400"/>
            <a:ext cx="457200" cy="274320"/>
          </a:xfrm>
          <a:prstGeom prst="rightArrow">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097280"/>
            <a:ext cx="5303520" cy="365760"/>
          </a:xfrm>
          <a:prstGeom prst="rect">
            <a:avLst/>
          </a:prstGeom>
          <a:noFill/>
        </p:spPr>
        <p:txBody>
          <a:bodyPr wrap="square">
            <a:spAutoFit/>
          </a:bodyPr>
          <a:lstStyle/>
          <a:p>
            <a:pPr algn="l"/>
            <a:r>
              <a:rPr sz="1600" b="1">
                <a:solidFill>
                  <a:srgbClr val="9B59B6"/>
                </a:solidFill>
                <a:latin typeface="Calibri"/>
              </a:rPr>
              <a:t>Refactoring Strategies</a:t>
            </a:r>
          </a:p>
        </p:txBody>
      </p:sp>
      <p:sp>
        <p:nvSpPr>
          <p:cNvPr id="13" name="Rounded Rectangle 12"/>
          <p:cNvSpPr/>
          <p:nvPr/>
        </p:nvSpPr>
        <p:spPr>
          <a:xfrm>
            <a:off x="6583680" y="1600200"/>
            <a:ext cx="5303520" cy="621792"/>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Extract Services:  Move business rules into dedicated service classes</a:t>
            </a:r>
          </a:p>
        </p:txBody>
      </p:sp>
      <p:sp>
        <p:nvSpPr>
          <p:cNvPr id="14" name="Rounded Rectangle 13"/>
          <p:cNvSpPr/>
          <p:nvPr/>
        </p:nvSpPr>
        <p:spPr>
          <a:xfrm>
            <a:off x="6583680" y="2377440"/>
            <a:ext cx="5303520" cy="621792"/>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Apply Conventions:  Rename to match project style guide consistently</a:t>
            </a:r>
          </a:p>
        </p:txBody>
      </p:sp>
      <p:sp>
        <p:nvSpPr>
          <p:cNvPr id="15" name="Rounded Rectangle 14"/>
          <p:cNvSpPr/>
          <p:nvPr/>
        </p:nvSpPr>
        <p:spPr>
          <a:xfrm>
            <a:off x="6583680" y="3154680"/>
            <a:ext cx="5303520" cy="621792"/>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Add Error Handling:  Wrap in try-catch, validate inputs, return proper codes</a:t>
            </a:r>
          </a:p>
        </p:txBody>
      </p:sp>
      <p:sp>
        <p:nvSpPr>
          <p:cNvPr id="16" name="Rounded Rectangle 15"/>
          <p:cNvSpPr/>
          <p:nvPr/>
        </p:nvSpPr>
        <p:spPr>
          <a:xfrm>
            <a:off x="6583680" y="3931920"/>
            <a:ext cx="5303520" cy="621792"/>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Simplify Patterns:  Replace complex abstractions with straightforward code</a:t>
            </a:r>
          </a:p>
        </p:txBody>
      </p:sp>
      <p:sp>
        <p:nvSpPr>
          <p:cNvPr id="17" name="Rounded Rectangle 16"/>
          <p:cNvSpPr/>
          <p:nvPr/>
        </p:nvSpPr>
        <p:spPr>
          <a:xfrm>
            <a:off x="6583680" y="4709160"/>
            <a:ext cx="5303520" cy="621792"/>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Use Configuration:  Move environment-specific values to .env / config files</a:t>
            </a:r>
          </a:p>
        </p:txBody>
      </p:sp>
      <p:sp>
        <p:nvSpPr>
          <p:cNvPr id="18" name="TextBox 17"/>
          <p:cNvSpPr txBox="1"/>
          <p:nvPr/>
        </p:nvSpPr>
        <p:spPr>
          <a:xfrm>
            <a:off x="457200" y="5349240"/>
            <a:ext cx="5486400" cy="274320"/>
          </a:xfrm>
          <a:prstGeom prst="rect">
            <a:avLst/>
          </a:prstGeom>
          <a:noFill/>
        </p:spPr>
        <p:txBody>
          <a:bodyPr wrap="square">
            <a:spAutoFit/>
          </a:bodyPr>
          <a:lstStyle/>
          <a:p>
            <a:pPr algn="l"/>
            <a:r>
              <a:rPr sz="1200" b="1">
                <a:solidFill>
                  <a:srgbClr val="ED7D31"/>
                </a:solidFill>
                <a:latin typeface="Calibri"/>
              </a:rPr>
              <a:t>Before (AI-generated)</a:t>
            </a:r>
          </a:p>
        </p:txBody>
      </p:sp>
      <p:sp>
        <p:nvSpPr>
          <p:cNvPr id="19" name="Rectangle 18"/>
          <p:cNvSpPr/>
          <p:nvPr/>
        </p:nvSpPr>
        <p:spPr>
          <a:xfrm>
            <a:off x="457200" y="5577840"/>
            <a:ext cx="5486400" cy="59436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800">
                <a:solidFill>
                  <a:srgbClr val="2D3436"/>
                </a:solidFill>
                <a:latin typeface="Consolas"/>
              </a:rPr>
              <a:t>// Hardcoded, no validation, generic names</a:t>
            </a:r>
          </a:p>
          <a:p>
            <a:pPr>
              <a:spcAft>
                <a:spcPts val="100"/>
              </a:spcAft>
            </a:pPr>
            <a:r>
              <a:rPr sz="800">
                <a:solidFill>
                  <a:srgbClr val="2D3436"/>
                </a:solidFill>
                <a:latin typeface="Consolas"/>
              </a:rPr>
              <a:t>app.post('/api/tasks', (req, res) =&gt; {</a:t>
            </a:r>
          </a:p>
          <a:p>
            <a:pPr>
              <a:spcAft>
                <a:spcPts val="100"/>
              </a:spcAft>
            </a:pPr>
            <a:r>
              <a:rPr sz="800">
                <a:solidFill>
                  <a:srgbClr val="2D3436"/>
                </a:solidFill>
                <a:latin typeface="Consolas"/>
              </a:rPr>
              <a:t>  const data = req.body;</a:t>
            </a:r>
          </a:p>
          <a:p>
            <a:pPr>
              <a:spcAft>
                <a:spcPts val="100"/>
              </a:spcAft>
            </a:pPr>
            <a:r>
              <a:rPr sz="800">
                <a:solidFill>
                  <a:srgbClr val="2D3436"/>
                </a:solidFill>
                <a:latin typeface="Consolas"/>
              </a:rPr>
              <a:t>  db.query('INSERT INTO tasks...', data)</a:t>
            </a:r>
          </a:p>
          <a:p>
            <a:pPr>
              <a:spcAft>
                <a:spcPts val="100"/>
              </a:spcAft>
            </a:pPr>
            <a:r>
              <a:rPr sz="800">
                <a:solidFill>
                  <a:srgbClr val="2D3436"/>
                </a:solidFill>
                <a:latin typeface="Consolas"/>
              </a:rPr>
              <a:t>    .then(r =&gt; res.json(r));</a:t>
            </a:r>
          </a:p>
          <a:p>
            <a:pPr>
              <a:spcAft>
                <a:spcPts val="100"/>
              </a:spcAft>
            </a:pPr>
            <a:r>
              <a:rPr sz="800">
                <a:solidFill>
                  <a:srgbClr val="2D3436"/>
                </a:solidFill>
                <a:latin typeface="Consolas"/>
              </a:rPr>
              <a:t>});</a:t>
            </a:r>
          </a:p>
        </p:txBody>
      </p:sp>
      <p:sp>
        <p:nvSpPr>
          <p:cNvPr id="20" name="TextBox 19"/>
          <p:cNvSpPr txBox="1"/>
          <p:nvPr/>
        </p:nvSpPr>
        <p:spPr>
          <a:xfrm>
            <a:off x="6583680" y="5349240"/>
            <a:ext cx="5303520" cy="274320"/>
          </a:xfrm>
          <a:prstGeom prst="rect">
            <a:avLst/>
          </a:prstGeom>
          <a:noFill/>
        </p:spPr>
        <p:txBody>
          <a:bodyPr wrap="square">
            <a:spAutoFit/>
          </a:bodyPr>
          <a:lstStyle/>
          <a:p>
            <a:pPr algn="l"/>
            <a:r>
              <a:rPr sz="1200" b="1">
                <a:solidFill>
                  <a:srgbClr val="70AD47"/>
                </a:solidFill>
                <a:latin typeface="Calibri"/>
              </a:rPr>
              <a:t>After (Refactored)</a:t>
            </a:r>
          </a:p>
        </p:txBody>
      </p:sp>
      <p:sp>
        <p:nvSpPr>
          <p:cNvPr id="21" name="Rectangle 20"/>
          <p:cNvSpPr/>
          <p:nvPr/>
        </p:nvSpPr>
        <p:spPr>
          <a:xfrm>
            <a:off x="6583680" y="5577840"/>
            <a:ext cx="5303520" cy="59436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800">
                <a:solidFill>
                  <a:srgbClr val="2D3436"/>
                </a:solidFill>
                <a:latin typeface="Consolas"/>
              </a:rPr>
              <a:t>// Validated, typed, error-handled, configured</a:t>
            </a:r>
          </a:p>
          <a:p>
            <a:pPr>
              <a:spcAft>
                <a:spcPts val="100"/>
              </a:spcAft>
            </a:pPr>
            <a:r>
              <a:rPr sz="800">
                <a:solidFill>
                  <a:srgbClr val="2D3436"/>
                </a:solidFill>
                <a:latin typeface="Consolas"/>
              </a:rPr>
              <a:t>router.post('/api/tasks',</a:t>
            </a:r>
          </a:p>
          <a:p>
            <a:pPr>
              <a:spcAft>
                <a:spcPts val="100"/>
              </a:spcAft>
            </a:pPr>
            <a:r>
              <a:rPr sz="800">
                <a:solidFill>
                  <a:srgbClr val="2D3436"/>
                </a:solidFill>
                <a:latin typeface="Consolas"/>
              </a:rPr>
              <a:t>  auth, validate(CreateTaskDTO),</a:t>
            </a:r>
          </a:p>
          <a:p>
            <a:pPr>
              <a:spcAft>
                <a:spcPts val="100"/>
              </a:spcAft>
            </a:pPr>
            <a:r>
              <a:rPr sz="800">
                <a:solidFill>
                  <a:srgbClr val="2D3436"/>
                </a:solidFill>
                <a:latin typeface="Consolas"/>
              </a:rPr>
              <a:t>  taskController.create  // -&gt; service -&gt; repo</a:t>
            </a:r>
          </a:p>
          <a:p>
            <a:pPr>
              <a:spcAft>
                <a:spcPts val="100"/>
              </a:spcAft>
            </a:pPr>
            <a:r>
              <a:rPr sz="800">
                <a:solidFill>
                  <a:srgbClr val="2D3436"/>
                </a:solidFill>
                <a:latin typeface="Consolas"/>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Testing Strategy in AI-Native Development</a:t>
            </a:r>
          </a:p>
        </p:txBody>
      </p:sp>
      <p:sp>
        <p:nvSpPr>
          <p:cNvPr id="3" name="Rounded Rectangle 2"/>
          <p:cNvSpPr/>
          <p:nvPr/>
        </p:nvSpPr>
        <p:spPr>
          <a:xfrm>
            <a:off x="365760" y="6263640"/>
            <a:ext cx="4114800"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Quality</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23</a:t>
            </a:r>
          </a:p>
        </p:txBody>
      </p:sp>
      <p:sp>
        <p:nvSpPr>
          <p:cNvPr id="5" name="TextBox 4"/>
          <p:cNvSpPr txBox="1"/>
          <p:nvPr/>
        </p:nvSpPr>
        <p:spPr>
          <a:xfrm>
            <a:off x="548640" y="1097280"/>
            <a:ext cx="5029200" cy="365760"/>
          </a:xfrm>
          <a:prstGeom prst="rect">
            <a:avLst/>
          </a:prstGeom>
          <a:noFill/>
        </p:spPr>
        <p:txBody>
          <a:bodyPr wrap="square">
            <a:spAutoFit/>
          </a:bodyPr>
          <a:lstStyle/>
          <a:p>
            <a:pPr algn="l"/>
            <a:r>
              <a:rPr sz="1800" b="1">
                <a:solidFill>
                  <a:srgbClr val="70AD47"/>
                </a:solidFill>
                <a:latin typeface="Calibri"/>
              </a:rPr>
              <a:t>Testing Pyramid</a:t>
            </a:r>
          </a:p>
        </p:txBody>
      </p:sp>
      <p:sp>
        <p:nvSpPr>
          <p:cNvPr id="6" name="Rounded Rectangle 5"/>
          <p:cNvSpPr/>
          <p:nvPr/>
        </p:nvSpPr>
        <p:spPr>
          <a:xfrm>
            <a:off x="2194560" y="1645920"/>
            <a:ext cx="2011680" cy="64008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E2E Tests</a:t>
            </a:r>
          </a:p>
          <a:p>
            <a:pPr algn="ctr"/>
            <a:r>
              <a:rPr sz="1100" b="0">
                <a:solidFill>
                  <a:srgbClr val="2D3436"/>
                </a:solidFill>
                <a:latin typeface="Calibri"/>
              </a:rPr>
              <a:t>(few, high-value)</a:t>
            </a:r>
          </a:p>
        </p:txBody>
      </p:sp>
      <p:sp>
        <p:nvSpPr>
          <p:cNvPr id="7" name="Rounded Rectangle 6"/>
          <p:cNvSpPr/>
          <p:nvPr/>
        </p:nvSpPr>
        <p:spPr>
          <a:xfrm>
            <a:off x="1463040" y="2423160"/>
            <a:ext cx="3474720" cy="64008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Integration Tests</a:t>
            </a:r>
          </a:p>
          <a:p>
            <a:pPr algn="ctr"/>
            <a:r>
              <a:rPr sz="1100" b="0">
                <a:solidFill>
                  <a:srgbClr val="2D3436"/>
                </a:solidFill>
                <a:latin typeface="Calibri"/>
              </a:rPr>
              <a:t>(API, DB behavior)</a:t>
            </a:r>
          </a:p>
        </p:txBody>
      </p:sp>
      <p:sp>
        <p:nvSpPr>
          <p:cNvPr id="8" name="Rounded Rectangle 7"/>
          <p:cNvSpPr/>
          <p:nvPr/>
        </p:nvSpPr>
        <p:spPr>
          <a:xfrm>
            <a:off x="731520" y="3200400"/>
            <a:ext cx="4937760" cy="6400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Unit Tests</a:t>
            </a:r>
          </a:p>
          <a:p>
            <a:pPr algn="ctr"/>
            <a:r>
              <a:rPr sz="1100" b="0">
                <a:solidFill>
                  <a:srgbClr val="2D3436"/>
                </a:solidFill>
                <a:latin typeface="Calibri"/>
              </a:rPr>
              <a:t>(business rules, fast)</a:t>
            </a:r>
          </a:p>
        </p:txBody>
      </p:sp>
      <p:sp>
        <p:nvSpPr>
          <p:cNvPr id="9" name="TextBox 8"/>
          <p:cNvSpPr txBox="1"/>
          <p:nvPr/>
        </p:nvSpPr>
        <p:spPr>
          <a:xfrm>
            <a:off x="914400" y="4023360"/>
            <a:ext cx="4572000" cy="320040"/>
          </a:xfrm>
          <a:prstGeom prst="rect">
            <a:avLst/>
          </a:prstGeom>
          <a:noFill/>
        </p:spPr>
        <p:txBody>
          <a:bodyPr wrap="square">
            <a:spAutoFit/>
          </a:bodyPr>
          <a:lstStyle/>
          <a:p>
            <a:pPr algn="ctr"/>
            <a:r>
              <a:rPr sz="1200" b="0">
                <a:solidFill>
                  <a:srgbClr val="636E72"/>
                </a:solidFill>
                <a:latin typeface="Calibri"/>
              </a:rPr>
              <a:t>Fewer tests              More tests</a:t>
            </a:r>
          </a:p>
        </p:txBody>
      </p:sp>
      <p:sp>
        <p:nvSpPr>
          <p:cNvPr id="10" name="TextBox 9"/>
          <p:cNvSpPr txBox="1"/>
          <p:nvPr/>
        </p:nvSpPr>
        <p:spPr>
          <a:xfrm>
            <a:off x="6400800" y="1097280"/>
            <a:ext cx="5303520" cy="365760"/>
          </a:xfrm>
          <a:prstGeom prst="rect">
            <a:avLst/>
          </a:prstGeom>
          <a:noFill/>
        </p:spPr>
        <p:txBody>
          <a:bodyPr wrap="square">
            <a:spAutoFit/>
          </a:bodyPr>
          <a:lstStyle/>
          <a:p>
            <a:pPr algn="l"/>
            <a:r>
              <a:rPr sz="1800" b="1">
                <a:solidFill>
                  <a:srgbClr val="70AD47"/>
                </a:solidFill>
                <a:latin typeface="Calibri"/>
              </a:rPr>
              <a:t>Key Principles</a:t>
            </a:r>
          </a:p>
        </p:txBody>
      </p:sp>
      <p:sp>
        <p:nvSpPr>
          <p:cNvPr id="11" name="TextBox 10"/>
          <p:cNvSpPr txBox="1"/>
          <p:nvPr/>
        </p:nvSpPr>
        <p:spPr>
          <a:xfrm>
            <a:off x="6400800" y="1600200"/>
            <a:ext cx="5303520" cy="4114800"/>
          </a:xfrm>
          <a:prstGeom prst="rect">
            <a:avLst/>
          </a:prstGeom>
          <a:noFill/>
        </p:spPr>
        <p:txBody>
          <a:bodyPr wrap="square">
            <a:spAutoFit/>
          </a:bodyPr>
          <a:lstStyle/>
          <a:p>
            <a:pPr>
              <a:lnSpc>
                <a:spcPct val="130000"/>
              </a:lnSpc>
              <a:spcAft>
                <a:spcPts val="800"/>
              </a:spcAft>
            </a:pPr>
            <a:r>
              <a:rPr sz="1400">
                <a:solidFill>
                  <a:srgbClr val="2D3436"/>
                </a:solidFill>
                <a:latin typeface="Calibri"/>
              </a:rPr>
              <a:t>• Tests define whether generated code is acceptable</a:t>
            </a:r>
          </a:p>
          <a:p>
            <a:pPr>
              <a:lnSpc>
                <a:spcPct val="130000"/>
              </a:lnSpc>
              <a:spcAft>
                <a:spcPts val="800"/>
              </a:spcAft>
            </a:pPr>
            <a:r>
              <a:rPr sz="1400">
                <a:solidFill>
                  <a:srgbClr val="2D3436"/>
                </a:solidFill>
                <a:latin typeface="Calibri"/>
              </a:rPr>
              <a:t>• Generate tests FROM acceptance criteria</a:t>
            </a:r>
          </a:p>
          <a:p>
            <a:pPr>
              <a:lnSpc>
                <a:spcPct val="130000"/>
              </a:lnSpc>
              <a:spcAft>
                <a:spcPts val="800"/>
              </a:spcAft>
            </a:pPr>
            <a:r>
              <a:rPr sz="1400">
                <a:solidFill>
                  <a:srgbClr val="2D3436"/>
                </a:solidFill>
                <a:latin typeface="Calibri"/>
              </a:rPr>
              <a:t>• Unit tests cover business rules</a:t>
            </a:r>
          </a:p>
          <a:p>
            <a:pPr>
              <a:lnSpc>
                <a:spcPct val="130000"/>
              </a:lnSpc>
              <a:spcAft>
                <a:spcPts val="800"/>
              </a:spcAft>
            </a:pPr>
            <a:r>
              <a:rPr sz="1400">
                <a:solidFill>
                  <a:srgbClr val="2D3436"/>
                </a:solidFill>
                <a:latin typeface="Calibri"/>
              </a:rPr>
              <a:t>• Integration tests cover API &amp; database behavior</a:t>
            </a:r>
          </a:p>
          <a:p>
            <a:pPr>
              <a:lnSpc>
                <a:spcPct val="130000"/>
              </a:lnSpc>
              <a:spcAft>
                <a:spcPts val="800"/>
              </a:spcAft>
            </a:pPr>
            <a:r>
              <a:rPr sz="1400">
                <a:solidFill>
                  <a:srgbClr val="2D3436"/>
                </a:solidFill>
                <a:latin typeface="Calibri"/>
              </a:rPr>
              <a:t>• E2E tests cover critical user journeys</a:t>
            </a:r>
          </a:p>
          <a:p>
            <a:pPr>
              <a:lnSpc>
                <a:spcPct val="130000"/>
              </a:lnSpc>
              <a:spcAft>
                <a:spcPts val="800"/>
              </a:spcAft>
            </a:pPr>
            <a:r>
              <a:rPr sz="1400">
                <a:solidFill>
                  <a:srgbClr val="2D3436"/>
                </a:solidFill>
                <a:latin typeface="Calibri"/>
              </a:rPr>
              <a:t>• Tests are the specification's enforcement mechanism</a:t>
            </a:r>
          </a:p>
        </p:txBody>
      </p:sp>
      <p:sp>
        <p:nvSpPr>
          <p:cNvPr id="12" name="Rounded Rectangle 11"/>
          <p:cNvSpPr/>
          <p:nvPr/>
        </p:nvSpPr>
        <p:spPr>
          <a:xfrm>
            <a:off x="914400" y="4846320"/>
            <a:ext cx="10332720" cy="50292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In AI-Native Development: Tests are written BEFORE code generation -- they define 'done'</a:t>
            </a:r>
          </a:p>
        </p:txBody>
      </p:sp>
      <p:sp>
        <p:nvSpPr>
          <p:cNvPr id="13" name="Rounded Rectangle 12"/>
          <p:cNvSpPr/>
          <p:nvPr/>
        </p:nvSpPr>
        <p:spPr>
          <a:xfrm>
            <a:off x="1097280" y="5532120"/>
            <a:ext cx="2011680" cy="54864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Acceptance</a:t>
            </a:r>
          </a:p>
          <a:p>
            <a:pPr algn="ctr"/>
            <a:r>
              <a:rPr sz="1000" b="0">
                <a:solidFill>
                  <a:srgbClr val="FFFFFF"/>
                </a:solidFill>
                <a:latin typeface="Calibri"/>
              </a:rPr>
              <a:t>Criteria</a:t>
            </a:r>
          </a:p>
        </p:txBody>
      </p:sp>
      <p:sp>
        <p:nvSpPr>
          <p:cNvPr id="14" name="Right Arrow 13"/>
          <p:cNvSpPr/>
          <p:nvPr/>
        </p:nvSpPr>
        <p:spPr>
          <a:xfrm>
            <a:off x="3127248" y="5650992"/>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57600" y="5532120"/>
            <a:ext cx="2011680" cy="54864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Test</a:t>
            </a:r>
          </a:p>
          <a:p>
            <a:pPr algn="ctr"/>
            <a:r>
              <a:rPr sz="1000" b="0">
                <a:solidFill>
                  <a:srgbClr val="FFFFFF"/>
                </a:solidFill>
                <a:latin typeface="Calibri"/>
              </a:rPr>
              <a:t>Generation</a:t>
            </a:r>
          </a:p>
        </p:txBody>
      </p:sp>
      <p:sp>
        <p:nvSpPr>
          <p:cNvPr id="16" name="Right Arrow 15"/>
          <p:cNvSpPr/>
          <p:nvPr/>
        </p:nvSpPr>
        <p:spPr>
          <a:xfrm>
            <a:off x="5687568" y="5650992"/>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5532120"/>
            <a:ext cx="2011680" cy="54864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Code</a:t>
            </a:r>
          </a:p>
          <a:p>
            <a:pPr algn="ctr"/>
            <a:r>
              <a:rPr sz="1000" b="0">
                <a:solidFill>
                  <a:srgbClr val="FFFFFF"/>
                </a:solidFill>
                <a:latin typeface="Calibri"/>
              </a:rPr>
              <a:t>Generation</a:t>
            </a:r>
          </a:p>
        </p:txBody>
      </p:sp>
      <p:sp>
        <p:nvSpPr>
          <p:cNvPr id="18" name="Right Arrow 17"/>
          <p:cNvSpPr/>
          <p:nvPr/>
        </p:nvSpPr>
        <p:spPr>
          <a:xfrm>
            <a:off x="8247888" y="5650992"/>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778239" y="5532120"/>
            <a:ext cx="2011680" cy="5486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Validation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AI-Assisted Test Generation</a:t>
            </a:r>
          </a:p>
        </p:txBody>
      </p:sp>
      <p:sp>
        <p:nvSpPr>
          <p:cNvPr id="3" name="Rounded Rectangle 2"/>
          <p:cNvSpPr/>
          <p:nvPr/>
        </p:nvSpPr>
        <p:spPr>
          <a:xfrm>
            <a:off x="365760" y="6263640"/>
            <a:ext cx="4114800"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Quality</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24</a:t>
            </a:r>
          </a:p>
        </p:txBody>
      </p:sp>
      <p:sp>
        <p:nvSpPr>
          <p:cNvPr id="5" name="Rounded Rectangle 4"/>
          <p:cNvSpPr/>
          <p:nvPr/>
        </p:nvSpPr>
        <p:spPr>
          <a:xfrm>
            <a:off x="365760" y="1097280"/>
            <a:ext cx="182880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Acceptance</a:t>
            </a:r>
          </a:p>
          <a:p>
            <a:pPr algn="ctr"/>
            <a:r>
              <a:rPr sz="1100" b="0">
                <a:solidFill>
                  <a:srgbClr val="FFFFFF"/>
                </a:solidFill>
                <a:latin typeface="Calibri"/>
              </a:rPr>
              <a:t>Criteria</a:t>
            </a:r>
          </a:p>
        </p:txBody>
      </p:sp>
      <p:sp>
        <p:nvSpPr>
          <p:cNvPr id="6" name="Right Arrow 5"/>
          <p:cNvSpPr/>
          <p:nvPr/>
        </p:nvSpPr>
        <p:spPr>
          <a:xfrm>
            <a:off x="2212848" y="1261872"/>
            <a:ext cx="36576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51760" y="1097280"/>
            <a:ext cx="182880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AI</a:t>
            </a:r>
          </a:p>
          <a:p>
            <a:pPr algn="ctr"/>
            <a:r>
              <a:rPr sz="1100" b="0">
                <a:solidFill>
                  <a:srgbClr val="FFFFFF"/>
                </a:solidFill>
                <a:latin typeface="Calibri"/>
              </a:rPr>
              <a:t>Prompt</a:t>
            </a:r>
          </a:p>
        </p:txBody>
      </p:sp>
      <p:sp>
        <p:nvSpPr>
          <p:cNvPr id="8" name="Right Arrow 7"/>
          <p:cNvSpPr/>
          <p:nvPr/>
        </p:nvSpPr>
        <p:spPr>
          <a:xfrm>
            <a:off x="4498848" y="1261872"/>
            <a:ext cx="36576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937760" y="1097280"/>
            <a:ext cx="182880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Generated</a:t>
            </a:r>
          </a:p>
          <a:p>
            <a:pPr algn="ctr"/>
            <a:r>
              <a:rPr sz="1100" b="0">
                <a:solidFill>
                  <a:srgbClr val="FFFFFF"/>
                </a:solidFill>
                <a:latin typeface="Calibri"/>
              </a:rPr>
              <a:t>Test Cases</a:t>
            </a:r>
          </a:p>
        </p:txBody>
      </p:sp>
      <p:sp>
        <p:nvSpPr>
          <p:cNvPr id="10" name="Right Arrow 9"/>
          <p:cNvSpPr/>
          <p:nvPr/>
        </p:nvSpPr>
        <p:spPr>
          <a:xfrm>
            <a:off x="6784848" y="1261872"/>
            <a:ext cx="36576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23760" y="1097280"/>
            <a:ext cx="182880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Human</a:t>
            </a:r>
          </a:p>
          <a:p>
            <a:pPr algn="ctr"/>
            <a:r>
              <a:rPr sz="1100" b="0">
                <a:solidFill>
                  <a:srgbClr val="FFFFFF"/>
                </a:solidFill>
                <a:latin typeface="Calibri"/>
              </a:rPr>
              <a:t>Review</a:t>
            </a:r>
          </a:p>
        </p:txBody>
      </p:sp>
      <p:sp>
        <p:nvSpPr>
          <p:cNvPr id="12" name="Right Arrow 11"/>
          <p:cNvSpPr/>
          <p:nvPr/>
        </p:nvSpPr>
        <p:spPr>
          <a:xfrm>
            <a:off x="9070848" y="1261872"/>
            <a:ext cx="36576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509760" y="1097280"/>
            <a:ext cx="1828800" cy="64008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Test</a:t>
            </a:r>
          </a:p>
          <a:p>
            <a:pPr algn="ctr"/>
            <a:r>
              <a:rPr sz="1100" b="0">
                <a:solidFill>
                  <a:srgbClr val="FFFFFF"/>
                </a:solidFill>
                <a:latin typeface="Calibri"/>
              </a:rPr>
              <a:t>Suite</a:t>
            </a:r>
          </a:p>
        </p:txBody>
      </p:sp>
      <p:sp>
        <p:nvSpPr>
          <p:cNvPr id="14" name="TextBox 13"/>
          <p:cNvSpPr txBox="1"/>
          <p:nvPr/>
        </p:nvSpPr>
        <p:spPr>
          <a:xfrm>
            <a:off x="548640" y="1920240"/>
            <a:ext cx="7315200" cy="320040"/>
          </a:xfrm>
          <a:prstGeom prst="rect">
            <a:avLst/>
          </a:prstGeom>
          <a:noFill/>
        </p:spPr>
        <p:txBody>
          <a:bodyPr wrap="square">
            <a:spAutoFit/>
          </a:bodyPr>
          <a:lstStyle/>
          <a:p>
            <a:pPr algn="l"/>
            <a:r>
              <a:rPr sz="1400" b="1">
                <a:solidFill>
                  <a:srgbClr val="4472C4"/>
                </a:solidFill>
                <a:latin typeface="Calibri"/>
              </a:rPr>
              <a:t>Example: Generated JUnit Tests for Task Management API</a:t>
            </a:r>
          </a:p>
        </p:txBody>
      </p:sp>
      <p:sp>
        <p:nvSpPr>
          <p:cNvPr id="15" name="Rectangle 14"/>
          <p:cNvSpPr/>
          <p:nvPr/>
        </p:nvSpPr>
        <p:spPr>
          <a:xfrm>
            <a:off x="548640" y="2286000"/>
            <a:ext cx="6858000" cy="329184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1100">
                <a:solidFill>
                  <a:srgbClr val="2D3436"/>
                </a:solidFill>
                <a:latin typeface="Consolas"/>
              </a:rPr>
              <a:t>@Test</a:t>
            </a:r>
          </a:p>
          <a:p>
            <a:pPr>
              <a:spcAft>
                <a:spcPts val="100"/>
              </a:spcAft>
            </a:pPr>
            <a:r>
              <a:rPr sz="1100">
                <a:solidFill>
                  <a:srgbClr val="2D3436"/>
                </a:solidFill>
                <a:latin typeface="Consolas"/>
              </a:rPr>
              <a:t>void shouldCreateTaskSuccessfully() {</a:t>
            </a:r>
          </a:p>
          <a:p>
            <a:pPr>
              <a:spcAft>
                <a:spcPts val="100"/>
              </a:spcAft>
            </a:pPr>
            <a:r>
              <a:rPr sz="1100">
                <a:solidFill>
                  <a:srgbClr val="2D3436"/>
                </a:solidFill>
                <a:latin typeface="Consolas"/>
              </a:rPr>
              <a:t>    TaskRequest req = new TaskRequest(</a:t>
            </a:r>
          </a:p>
          <a:p>
            <a:pPr>
              <a:spcAft>
                <a:spcPts val="100"/>
              </a:spcAft>
            </a:pPr>
            <a:r>
              <a:rPr sz="1100">
                <a:solidFill>
                  <a:srgbClr val="2D3436"/>
                </a:solidFill>
                <a:latin typeface="Consolas"/>
              </a:rPr>
              <a:t>        "Fix login bug", "HIGH", "user-1");</a:t>
            </a:r>
          </a:p>
          <a:p>
            <a:pPr>
              <a:spcAft>
                <a:spcPts val="100"/>
              </a:spcAft>
            </a:pPr>
            <a:r>
              <a:rPr sz="1100">
                <a:solidFill>
                  <a:srgbClr val="2D3436"/>
                </a:solidFill>
                <a:latin typeface="Consolas"/>
              </a:rPr>
              <a:t>    TaskResponse res = taskService.create(req);</a:t>
            </a:r>
          </a:p>
          <a:p>
            <a:pPr>
              <a:spcAft>
                <a:spcPts val="100"/>
              </a:spcAft>
            </a:pPr>
            <a:r>
              <a:rPr sz="1100">
                <a:solidFill>
                  <a:srgbClr val="2D3436"/>
                </a:solidFill>
                <a:latin typeface="Consolas"/>
              </a:rPr>
              <a:t>    assertNotNull(res.getId());</a:t>
            </a:r>
          </a:p>
          <a:p>
            <a:pPr>
              <a:spcAft>
                <a:spcPts val="100"/>
              </a:spcAft>
            </a:pPr>
            <a:r>
              <a:rPr sz="1100">
                <a:solidFill>
                  <a:srgbClr val="2D3436"/>
                </a:solidFill>
                <a:latin typeface="Consolas"/>
              </a:rPr>
              <a:t>    assertEquals("OPEN", res.getStatus());</a:t>
            </a:r>
          </a:p>
          <a:p>
            <a:pPr>
              <a:spcAft>
                <a:spcPts val="100"/>
              </a:spcAft>
            </a:pPr>
            <a:r>
              <a:rPr sz="1100">
                <a:solidFill>
                  <a:srgbClr val="2D3436"/>
                </a:solidFill>
                <a:latin typeface="Consolas"/>
              </a:rPr>
              <a:t>}</a:t>
            </a:r>
          </a:p>
          <a:p>
            <a:pPr>
              <a:spcAft>
                <a:spcPts val="100"/>
              </a:spcAft>
            </a:pPr>
            <a:r>
              <a:rPr sz="1100">
                <a:solidFill>
                  <a:srgbClr val="2D3436"/>
                </a:solidFill>
                <a:latin typeface="Consolas"/>
              </a:rPr>
              <a:t/>
            </a:r>
          </a:p>
          <a:p>
            <a:pPr>
              <a:spcAft>
                <a:spcPts val="100"/>
              </a:spcAft>
            </a:pPr>
            <a:r>
              <a:rPr sz="1100">
                <a:solidFill>
                  <a:srgbClr val="2D3436"/>
                </a:solidFill>
                <a:latin typeface="Consolas"/>
              </a:rPr>
              <a:t>@Test</a:t>
            </a:r>
          </a:p>
          <a:p>
            <a:pPr>
              <a:spcAft>
                <a:spcPts val="100"/>
              </a:spcAft>
            </a:pPr>
            <a:r>
              <a:rPr sz="1100">
                <a:solidFill>
                  <a:srgbClr val="2D3436"/>
                </a:solidFill>
                <a:latin typeface="Consolas"/>
              </a:rPr>
              <a:t>void shouldRejectDuplicateTask() {</a:t>
            </a:r>
          </a:p>
          <a:p>
            <a:pPr>
              <a:spcAft>
                <a:spcPts val="100"/>
              </a:spcAft>
            </a:pPr>
            <a:r>
              <a:rPr sz="1100">
                <a:solidFill>
                  <a:srgbClr val="2D3436"/>
                </a:solidFill>
                <a:latin typeface="Consolas"/>
              </a:rPr>
              <a:t>    // Given existing task with same title</a:t>
            </a:r>
          </a:p>
          <a:p>
            <a:pPr>
              <a:spcAft>
                <a:spcPts val="100"/>
              </a:spcAft>
            </a:pPr>
            <a:r>
              <a:rPr sz="1100">
                <a:solidFill>
                  <a:srgbClr val="2D3436"/>
                </a:solidFill>
                <a:latin typeface="Consolas"/>
              </a:rPr>
              <a:t>    assertThrows(DuplicateTaskException.class,</a:t>
            </a:r>
          </a:p>
          <a:p>
            <a:pPr>
              <a:spcAft>
                <a:spcPts val="100"/>
              </a:spcAft>
            </a:pPr>
            <a:r>
              <a:rPr sz="1100">
                <a:solidFill>
                  <a:srgbClr val="2D3436"/>
                </a:solidFill>
                <a:latin typeface="Consolas"/>
              </a:rPr>
              <a:t>        () -&gt; taskService.create(duplicateReq));</a:t>
            </a:r>
          </a:p>
          <a:p>
            <a:pPr>
              <a:spcAft>
                <a:spcPts val="100"/>
              </a:spcAft>
            </a:pPr>
            <a:r>
              <a:rPr sz="1100">
                <a:solidFill>
                  <a:srgbClr val="2D3436"/>
                </a:solidFill>
                <a:latin typeface="Consolas"/>
              </a:rPr>
              <a:t>}</a:t>
            </a:r>
          </a:p>
        </p:txBody>
      </p:sp>
      <p:sp>
        <p:nvSpPr>
          <p:cNvPr id="16" name="TextBox 15"/>
          <p:cNvSpPr txBox="1"/>
          <p:nvPr/>
        </p:nvSpPr>
        <p:spPr>
          <a:xfrm>
            <a:off x="7772400" y="1920240"/>
            <a:ext cx="4114800" cy="320040"/>
          </a:xfrm>
          <a:prstGeom prst="rect">
            <a:avLst/>
          </a:prstGeom>
          <a:noFill/>
        </p:spPr>
        <p:txBody>
          <a:bodyPr wrap="square">
            <a:spAutoFit/>
          </a:bodyPr>
          <a:lstStyle/>
          <a:p>
            <a:pPr algn="l"/>
            <a:r>
              <a:rPr sz="1400" b="1">
                <a:solidFill>
                  <a:srgbClr val="70AD47"/>
                </a:solidFill>
                <a:latin typeface="Calibri"/>
              </a:rPr>
              <a:t>Test Generation Best Practices</a:t>
            </a:r>
          </a:p>
        </p:txBody>
      </p:sp>
      <p:sp>
        <p:nvSpPr>
          <p:cNvPr id="17" name="Rounded Rectangle 16"/>
          <p:cNvSpPr/>
          <p:nvPr/>
        </p:nvSpPr>
        <p:spPr>
          <a:xfrm>
            <a:off x="7772400" y="2331720"/>
            <a:ext cx="3931920" cy="105156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Prompt Strategy</a:t>
            </a:r>
          </a:p>
          <a:p>
            <a:pPr algn="ctr"/>
            <a:r>
              <a:rPr sz="1100" b="0">
                <a:solidFill>
                  <a:srgbClr val="2D3436"/>
                </a:solidFill>
                <a:latin typeface="Calibri"/>
              </a:rPr>
              <a:t>Include acceptance criteria,</a:t>
            </a:r>
          </a:p>
          <a:p>
            <a:pPr algn="ctr"/>
            <a:r>
              <a:rPr sz="1100" b="0">
                <a:solidFill>
                  <a:srgbClr val="2D3436"/>
                </a:solidFill>
                <a:latin typeface="Calibri"/>
              </a:rPr>
              <a:t>edge cases, and expected</a:t>
            </a:r>
          </a:p>
          <a:p>
            <a:pPr algn="ctr"/>
            <a:r>
              <a:rPr sz="1100" b="0">
                <a:solidFill>
                  <a:srgbClr val="2D3436"/>
                </a:solidFill>
                <a:latin typeface="Calibri"/>
              </a:rPr>
              <a:t>behaviors in the prompt</a:t>
            </a:r>
          </a:p>
        </p:txBody>
      </p:sp>
      <p:sp>
        <p:nvSpPr>
          <p:cNvPr id="18" name="Rounded Rectangle 17"/>
          <p:cNvSpPr/>
          <p:nvPr/>
        </p:nvSpPr>
        <p:spPr>
          <a:xfrm>
            <a:off x="7772400" y="3566160"/>
            <a:ext cx="3931920" cy="105156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Review Checklist</a:t>
            </a:r>
          </a:p>
          <a:p>
            <a:pPr algn="ctr"/>
            <a:r>
              <a:rPr sz="1100" b="0">
                <a:solidFill>
                  <a:srgbClr val="2D3436"/>
                </a:solidFill>
                <a:latin typeface="Calibri"/>
              </a:rPr>
              <a:t>Verify assertions match spec,</a:t>
            </a:r>
          </a:p>
          <a:p>
            <a:pPr algn="ctr"/>
            <a:r>
              <a:rPr sz="1100" b="0">
                <a:solidFill>
                  <a:srgbClr val="2D3436"/>
                </a:solidFill>
                <a:latin typeface="Calibri"/>
              </a:rPr>
              <a:t>check boundary conditions,</a:t>
            </a:r>
          </a:p>
          <a:p>
            <a:pPr algn="ctr"/>
            <a:r>
              <a:rPr sz="1100" b="0">
                <a:solidFill>
                  <a:srgbClr val="2D3436"/>
                </a:solidFill>
                <a:latin typeface="Calibri"/>
              </a:rPr>
              <a:t>ensure negative tests exist</a:t>
            </a:r>
          </a:p>
        </p:txBody>
      </p:sp>
      <p:sp>
        <p:nvSpPr>
          <p:cNvPr id="19" name="Rounded Rectangle 18"/>
          <p:cNvSpPr/>
          <p:nvPr/>
        </p:nvSpPr>
        <p:spPr>
          <a:xfrm>
            <a:off x="7772400" y="4800600"/>
            <a:ext cx="3931920" cy="105156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Coverage Targets</a:t>
            </a:r>
          </a:p>
          <a:p>
            <a:pPr algn="ctr"/>
            <a:r>
              <a:rPr sz="1100" b="0">
                <a:solidFill>
                  <a:srgbClr val="2D3436"/>
                </a:solidFill>
                <a:latin typeface="Calibri"/>
              </a:rPr>
              <a:t>Line coverage &gt; 80%</a:t>
            </a:r>
          </a:p>
          <a:p>
            <a:pPr algn="ctr"/>
            <a:r>
              <a:rPr sz="1100" b="0">
                <a:solidFill>
                  <a:srgbClr val="2D3436"/>
                </a:solidFill>
                <a:latin typeface="Calibri"/>
              </a:rPr>
              <a:t>Branch coverage &gt; 70%</a:t>
            </a:r>
          </a:p>
          <a:p>
            <a:pPr algn="ctr"/>
            <a:r>
              <a:rPr sz="1100" b="0">
                <a:solidFill>
                  <a:srgbClr val="2D3436"/>
                </a:solidFill>
                <a:latin typeface="Calibri"/>
              </a:rPr>
              <a:t>Mutation score &gt; 60%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Validation Matrix &amp; Quality Gates</a:t>
            </a:r>
          </a:p>
        </p:txBody>
      </p:sp>
      <p:sp>
        <p:nvSpPr>
          <p:cNvPr id="3" name="Rounded Rectangle 2"/>
          <p:cNvSpPr/>
          <p:nvPr/>
        </p:nvSpPr>
        <p:spPr>
          <a:xfrm>
            <a:off x="365760" y="6263640"/>
            <a:ext cx="4114800"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Quality</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25</a:t>
            </a:r>
          </a:p>
        </p:txBody>
      </p:sp>
      <p:graphicFrame>
        <p:nvGraphicFramePr>
          <p:cNvPr id="5" name="Table 4"/>
          <p:cNvGraphicFramePr>
            <a:graphicFrameLocks noGrp="1"/>
          </p:cNvGraphicFramePr>
          <p:nvPr/>
        </p:nvGraphicFramePr>
        <p:xfrm>
          <a:off x="457200" y="1097280"/>
          <a:ext cx="11247120" cy="3200400"/>
        </p:xfrm>
        <a:graphic>
          <a:graphicData uri="http://schemas.openxmlformats.org/drawingml/2006/table">
            <a:tbl>
              <a:tblPr firstRow="1" bandRow="1">
                <a:tableStyleId>{5C22544A-7EE6-4342-B048-85BDC9FD1C3A}</a:tableStyleId>
              </a:tblPr>
              <a:tblGrid>
                <a:gridCol w="2811780"/>
                <a:gridCol w="2811780"/>
                <a:gridCol w="2811780"/>
                <a:gridCol w="2811780"/>
              </a:tblGrid>
              <a:tr h="533400">
                <a:tc>
                  <a:txBody>
                    <a:bodyPr/>
                    <a:lstStyle/>
                    <a:p>
                      <a:r>
                        <a:rPr sz="1200" b="1">
                          <a:solidFill>
                            <a:srgbClr val="FFFFFF"/>
                          </a:solidFill>
                          <a:latin typeface="Calibri"/>
                        </a:rPr>
                        <a:t>Validation Type</a:t>
                      </a:r>
                    </a:p>
                  </a:txBody>
                  <a:tcPr>
                    <a:solidFill>
                      <a:srgbClr val="2F75B5"/>
                    </a:solidFill>
                  </a:tcPr>
                </a:tc>
                <a:tc>
                  <a:txBody>
                    <a:bodyPr/>
                    <a:lstStyle/>
                    <a:p>
                      <a:r>
                        <a:rPr sz="1200" b="1">
                          <a:solidFill>
                            <a:srgbClr val="FFFFFF"/>
                          </a:solidFill>
                          <a:latin typeface="Calibri"/>
                        </a:rPr>
                        <a:t>What it Checks</a:t>
                      </a:r>
                    </a:p>
                  </a:txBody>
                  <a:tcPr>
                    <a:solidFill>
                      <a:srgbClr val="2F75B5"/>
                    </a:solidFill>
                  </a:tcPr>
                </a:tc>
                <a:tc>
                  <a:txBody>
                    <a:bodyPr/>
                    <a:lstStyle/>
                    <a:p>
                      <a:r>
                        <a:rPr sz="1200" b="1">
                          <a:solidFill>
                            <a:srgbClr val="FFFFFF"/>
                          </a:solidFill>
                          <a:latin typeface="Calibri"/>
                        </a:rPr>
                        <a:t>Tools / Method</a:t>
                      </a:r>
                    </a:p>
                  </a:txBody>
                  <a:tcPr>
                    <a:solidFill>
                      <a:srgbClr val="2F75B5"/>
                    </a:solidFill>
                  </a:tcPr>
                </a:tc>
                <a:tc>
                  <a:txBody>
                    <a:bodyPr/>
                    <a:lstStyle/>
                    <a:p>
                      <a:r>
                        <a:rPr sz="1200" b="1">
                          <a:solidFill>
                            <a:srgbClr val="FFFFFF"/>
                          </a:solidFill>
                          <a:latin typeface="Calibri"/>
                        </a:rPr>
                        <a:t>When Applied</a:t>
                      </a:r>
                    </a:p>
                  </a:txBody>
                  <a:tcPr>
                    <a:solidFill>
                      <a:srgbClr val="2F75B5"/>
                    </a:solidFill>
                  </a:tcPr>
                </a:tc>
              </a:tr>
              <a:tr h="533400">
                <a:tc>
                  <a:txBody>
                    <a:bodyPr/>
                    <a:lstStyle/>
                    <a:p>
                      <a:r>
                        <a:rPr sz="1200">
                          <a:solidFill>
                            <a:srgbClr val="2D3436"/>
                          </a:solidFill>
                          <a:latin typeface="Calibri"/>
                        </a:rPr>
                        <a:t>Requirements Validation</a:t>
                      </a:r>
                    </a:p>
                  </a:txBody>
                  <a:tcPr>
                    <a:solidFill>
                      <a:srgbClr val="DDEBF7"/>
                    </a:solidFill>
                  </a:tcPr>
                </a:tc>
                <a:tc>
                  <a:txBody>
                    <a:bodyPr/>
                    <a:lstStyle/>
                    <a:p>
                      <a:r>
                        <a:rPr sz="1200">
                          <a:solidFill>
                            <a:srgbClr val="2D3436"/>
                          </a:solidFill>
                          <a:latin typeface="Calibri"/>
                        </a:rPr>
                        <a:t>Correct features built</a:t>
                      </a:r>
                    </a:p>
                  </a:txBody>
                  <a:tcPr>
                    <a:solidFill>
                      <a:srgbClr val="DDEBF7"/>
                    </a:solidFill>
                  </a:tcPr>
                </a:tc>
                <a:tc>
                  <a:txBody>
                    <a:bodyPr/>
                    <a:lstStyle/>
                    <a:p>
                      <a:r>
                        <a:rPr sz="1200">
                          <a:solidFill>
                            <a:srgbClr val="2D3436"/>
                          </a:solidFill>
                          <a:latin typeface="Calibri"/>
                        </a:rPr>
                        <a:t>Spec review, AI analysis</a:t>
                      </a:r>
                    </a:p>
                  </a:txBody>
                  <a:tcPr>
                    <a:solidFill>
                      <a:srgbClr val="DDEBF7"/>
                    </a:solidFill>
                  </a:tcPr>
                </a:tc>
                <a:tc>
                  <a:txBody>
                    <a:bodyPr/>
                    <a:lstStyle/>
                    <a:p>
                      <a:r>
                        <a:rPr sz="1200">
                          <a:solidFill>
                            <a:srgbClr val="2D3436"/>
                          </a:solidFill>
                          <a:latin typeface="Calibri"/>
                        </a:rPr>
                        <a:t>Before coding</a:t>
                      </a:r>
                    </a:p>
                  </a:txBody>
                  <a:tcPr>
                    <a:solidFill>
                      <a:srgbClr val="DDEBF7"/>
                    </a:solidFill>
                  </a:tcPr>
                </a:tc>
              </a:tr>
              <a:tr h="533400">
                <a:tc>
                  <a:txBody>
                    <a:bodyPr/>
                    <a:lstStyle/>
                    <a:p>
                      <a:r>
                        <a:rPr sz="1200">
                          <a:solidFill>
                            <a:srgbClr val="2D3436"/>
                          </a:solidFill>
                          <a:latin typeface="Calibri"/>
                        </a:rPr>
                        <a:t>Functional Validation</a:t>
                      </a:r>
                    </a:p>
                  </a:txBody>
                  <a:tcPr>
                    <a:solidFill>
                      <a:srgbClr val="E2EFDA"/>
                    </a:solidFill>
                  </a:tcPr>
                </a:tc>
                <a:tc>
                  <a:txBody>
                    <a:bodyPr/>
                    <a:lstStyle/>
                    <a:p>
                      <a:r>
                        <a:rPr sz="1200">
                          <a:solidFill>
                            <a:srgbClr val="2D3436"/>
                          </a:solidFill>
                          <a:latin typeface="Calibri"/>
                        </a:rPr>
                        <a:t>Features work correctly</a:t>
                      </a:r>
                    </a:p>
                  </a:txBody>
                  <a:tcPr>
                    <a:solidFill>
                      <a:srgbClr val="E2EFDA"/>
                    </a:solidFill>
                  </a:tcPr>
                </a:tc>
                <a:tc>
                  <a:txBody>
                    <a:bodyPr/>
                    <a:lstStyle/>
                    <a:p>
                      <a:r>
                        <a:rPr sz="1200">
                          <a:solidFill>
                            <a:srgbClr val="2D3436"/>
                          </a:solidFill>
                          <a:latin typeface="Calibri"/>
                        </a:rPr>
                        <a:t>Unit + integration tests</a:t>
                      </a:r>
                    </a:p>
                  </a:txBody>
                  <a:tcPr>
                    <a:solidFill>
                      <a:srgbClr val="E2EFDA"/>
                    </a:solidFill>
                  </a:tcPr>
                </a:tc>
                <a:tc>
                  <a:txBody>
                    <a:bodyPr/>
                    <a:lstStyle/>
                    <a:p>
                      <a:r>
                        <a:rPr sz="1200">
                          <a:solidFill>
                            <a:srgbClr val="2D3436"/>
                          </a:solidFill>
                          <a:latin typeface="Calibri"/>
                        </a:rPr>
                        <a:t>Every commit</a:t>
                      </a:r>
                    </a:p>
                  </a:txBody>
                  <a:tcPr>
                    <a:solidFill>
                      <a:srgbClr val="E2EFDA"/>
                    </a:solidFill>
                  </a:tcPr>
                </a:tc>
              </a:tr>
              <a:tr h="533400">
                <a:tc>
                  <a:txBody>
                    <a:bodyPr/>
                    <a:lstStyle/>
                    <a:p>
                      <a:r>
                        <a:rPr sz="1200">
                          <a:solidFill>
                            <a:srgbClr val="2D3436"/>
                          </a:solidFill>
                          <a:latin typeface="Calibri"/>
                        </a:rPr>
                        <a:t>Security Validation</a:t>
                      </a:r>
                    </a:p>
                  </a:txBody>
                  <a:tcPr>
                    <a:solidFill>
                      <a:srgbClr val="FCE4D6"/>
                    </a:solidFill>
                  </a:tcPr>
                </a:tc>
                <a:tc>
                  <a:txBody>
                    <a:bodyPr/>
                    <a:lstStyle/>
                    <a:p>
                      <a:r>
                        <a:rPr sz="1200">
                          <a:solidFill>
                            <a:srgbClr val="2D3436"/>
                          </a:solidFill>
                          <a:latin typeface="Calibri"/>
                        </a:rPr>
                        <a:t>Access control, vulns</a:t>
                      </a:r>
                    </a:p>
                  </a:txBody>
                  <a:tcPr>
                    <a:solidFill>
                      <a:srgbClr val="FCE4D6"/>
                    </a:solidFill>
                  </a:tcPr>
                </a:tc>
                <a:tc>
                  <a:txBody>
                    <a:bodyPr/>
                    <a:lstStyle/>
                    <a:p>
                      <a:r>
                        <a:rPr sz="1200">
                          <a:solidFill>
                            <a:srgbClr val="2D3436"/>
                          </a:solidFill>
                          <a:latin typeface="Calibri"/>
                        </a:rPr>
                        <a:t>SAST + DAST scans</a:t>
                      </a:r>
                    </a:p>
                  </a:txBody>
                  <a:tcPr>
                    <a:solidFill>
                      <a:srgbClr val="FCE4D6"/>
                    </a:solidFill>
                  </a:tcPr>
                </a:tc>
                <a:tc>
                  <a:txBody>
                    <a:bodyPr/>
                    <a:lstStyle/>
                    <a:p>
                      <a:r>
                        <a:rPr sz="1200">
                          <a:solidFill>
                            <a:srgbClr val="2D3436"/>
                          </a:solidFill>
                          <a:latin typeface="Calibri"/>
                        </a:rPr>
                        <a:t>Every commit</a:t>
                      </a:r>
                    </a:p>
                  </a:txBody>
                  <a:tcPr>
                    <a:solidFill>
                      <a:srgbClr val="FCE4D6"/>
                    </a:solidFill>
                  </a:tcPr>
                </a:tc>
              </a:tr>
              <a:tr h="533400">
                <a:tc>
                  <a:txBody>
                    <a:bodyPr/>
                    <a:lstStyle/>
                    <a:p>
                      <a:r>
                        <a:rPr sz="1200">
                          <a:solidFill>
                            <a:srgbClr val="2D3436"/>
                          </a:solidFill>
                          <a:latin typeface="Calibri"/>
                        </a:rPr>
                        <a:t>Performance Validation</a:t>
                      </a:r>
                    </a:p>
                  </a:txBody>
                  <a:tcPr>
                    <a:solidFill>
                      <a:srgbClr val="EFE8F9"/>
                    </a:solidFill>
                  </a:tcPr>
                </a:tc>
                <a:tc>
                  <a:txBody>
                    <a:bodyPr/>
                    <a:lstStyle/>
                    <a:p>
                      <a:r>
                        <a:rPr sz="1200">
                          <a:solidFill>
                            <a:srgbClr val="2D3436"/>
                          </a:solidFill>
                          <a:latin typeface="Calibri"/>
                        </a:rPr>
                        <a:t>Response times, throughput</a:t>
                      </a:r>
                    </a:p>
                  </a:txBody>
                  <a:tcPr>
                    <a:solidFill>
                      <a:srgbClr val="EFE8F9"/>
                    </a:solidFill>
                  </a:tcPr>
                </a:tc>
                <a:tc>
                  <a:txBody>
                    <a:bodyPr/>
                    <a:lstStyle/>
                    <a:p>
                      <a:r>
                        <a:rPr sz="1200">
                          <a:solidFill>
                            <a:srgbClr val="2D3436"/>
                          </a:solidFill>
                          <a:latin typeface="Calibri"/>
                        </a:rPr>
                        <a:t>Load tests (k6, JMeter)</a:t>
                      </a:r>
                    </a:p>
                  </a:txBody>
                  <a:tcPr>
                    <a:solidFill>
                      <a:srgbClr val="EFE8F9"/>
                    </a:solidFill>
                  </a:tcPr>
                </a:tc>
                <a:tc>
                  <a:txBody>
                    <a:bodyPr/>
                    <a:lstStyle/>
                    <a:p>
                      <a:r>
                        <a:rPr sz="1200">
                          <a:solidFill>
                            <a:srgbClr val="2D3436"/>
                          </a:solidFill>
                          <a:latin typeface="Calibri"/>
                        </a:rPr>
                        <a:t>Before release</a:t>
                      </a:r>
                    </a:p>
                  </a:txBody>
                  <a:tcPr>
                    <a:solidFill>
                      <a:srgbClr val="EFE8F9"/>
                    </a:solidFill>
                  </a:tcPr>
                </a:tc>
              </a:tr>
              <a:tr h="533400">
                <a:tc>
                  <a:txBody>
                    <a:bodyPr/>
                    <a:lstStyle/>
                    <a:p>
                      <a:r>
                        <a:rPr sz="1200">
                          <a:solidFill>
                            <a:srgbClr val="2D3436"/>
                          </a:solidFill>
                          <a:latin typeface="Calibri"/>
                        </a:rPr>
                        <a:t>Operational Validation</a:t>
                      </a:r>
                    </a:p>
                  </a:txBody>
                  <a:tcPr>
                    <a:solidFill>
                      <a:srgbClr val="E0F7FA"/>
                    </a:solidFill>
                  </a:tcPr>
                </a:tc>
                <a:tc>
                  <a:txBody>
                    <a:bodyPr/>
                    <a:lstStyle/>
                    <a:p>
                      <a:r>
                        <a:rPr sz="1200">
                          <a:solidFill>
                            <a:srgbClr val="2D3436"/>
                          </a:solidFill>
                          <a:latin typeface="Calibri"/>
                        </a:rPr>
                        <a:t>Deploys correctly</a:t>
                      </a:r>
                    </a:p>
                  </a:txBody>
                  <a:tcPr>
                    <a:solidFill>
                      <a:srgbClr val="E0F7FA"/>
                    </a:solidFill>
                  </a:tcPr>
                </a:tc>
                <a:tc>
                  <a:txBody>
                    <a:bodyPr/>
                    <a:lstStyle/>
                    <a:p>
                      <a:r>
                        <a:rPr sz="1200">
                          <a:solidFill>
                            <a:srgbClr val="2D3436"/>
                          </a:solidFill>
                          <a:latin typeface="Calibri"/>
                        </a:rPr>
                        <a:t>Smoke tests, health checks</a:t>
                      </a:r>
                    </a:p>
                  </a:txBody>
                  <a:tcPr>
                    <a:solidFill>
                      <a:srgbClr val="E0F7FA"/>
                    </a:solidFill>
                  </a:tcPr>
                </a:tc>
                <a:tc>
                  <a:txBody>
                    <a:bodyPr/>
                    <a:lstStyle/>
                    <a:p>
                      <a:r>
                        <a:rPr sz="1200">
                          <a:solidFill>
                            <a:srgbClr val="2D3436"/>
                          </a:solidFill>
                          <a:latin typeface="Calibri"/>
                        </a:rPr>
                        <a:t>After deployment</a:t>
                      </a:r>
                    </a:p>
                  </a:txBody>
                  <a:tcPr>
                    <a:solidFill>
                      <a:srgbClr val="E0F7FA"/>
                    </a:solidFill>
                  </a:tcPr>
                </a:tc>
              </a:tr>
            </a:tbl>
          </a:graphicData>
        </a:graphic>
      </p:graphicFrame>
      <p:sp>
        <p:nvSpPr>
          <p:cNvPr id="6" name="TextBox 5"/>
          <p:cNvSpPr txBox="1"/>
          <p:nvPr/>
        </p:nvSpPr>
        <p:spPr>
          <a:xfrm>
            <a:off x="548640" y="4572000"/>
            <a:ext cx="10972800" cy="320040"/>
          </a:xfrm>
          <a:prstGeom prst="rect">
            <a:avLst/>
          </a:prstGeom>
          <a:noFill/>
        </p:spPr>
        <p:txBody>
          <a:bodyPr wrap="square">
            <a:spAutoFit/>
          </a:bodyPr>
          <a:lstStyle/>
          <a:p>
            <a:pPr algn="l"/>
            <a:r>
              <a:rPr sz="1600" b="1">
                <a:solidFill>
                  <a:srgbClr val="70AD47"/>
                </a:solidFill>
                <a:latin typeface="Calibri"/>
              </a:rPr>
              <a:t>Quality Gate Thresholds</a:t>
            </a:r>
          </a:p>
        </p:txBody>
      </p:sp>
      <p:sp>
        <p:nvSpPr>
          <p:cNvPr id="7" name="Rounded Rectangle 6"/>
          <p:cNvSpPr/>
          <p:nvPr/>
        </p:nvSpPr>
        <p:spPr>
          <a:xfrm>
            <a:off x="548640" y="4983480"/>
            <a:ext cx="1920240" cy="7315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Code Coverage</a:t>
            </a:r>
          </a:p>
          <a:p>
            <a:pPr algn="ctr"/>
            <a:r>
              <a:rPr sz="1200" b="0">
                <a:solidFill>
                  <a:srgbClr val="2D3436"/>
                </a:solidFill>
                <a:latin typeface="Calibri"/>
              </a:rPr>
              <a:t>&gt; 80%</a:t>
            </a:r>
          </a:p>
        </p:txBody>
      </p:sp>
      <p:sp>
        <p:nvSpPr>
          <p:cNvPr id="8" name="Rounded Rectangle 7"/>
          <p:cNvSpPr/>
          <p:nvPr/>
        </p:nvSpPr>
        <p:spPr>
          <a:xfrm>
            <a:off x="2834640" y="4983480"/>
            <a:ext cx="1920240" cy="73152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Critical Vulns</a:t>
            </a:r>
          </a:p>
          <a:p>
            <a:pPr algn="ctr"/>
            <a:r>
              <a:rPr sz="1200" b="0">
                <a:solidFill>
                  <a:srgbClr val="2D3436"/>
                </a:solidFill>
                <a:latin typeface="Calibri"/>
              </a:rPr>
              <a:t>= 0</a:t>
            </a:r>
          </a:p>
        </p:txBody>
      </p:sp>
      <p:sp>
        <p:nvSpPr>
          <p:cNvPr id="9" name="Rounded Rectangle 8"/>
          <p:cNvSpPr/>
          <p:nvPr/>
        </p:nvSpPr>
        <p:spPr>
          <a:xfrm>
            <a:off x="5120640" y="4983480"/>
            <a:ext cx="1920240" cy="7315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P95 Response</a:t>
            </a:r>
          </a:p>
          <a:p>
            <a:pPr algn="ctr"/>
            <a:r>
              <a:rPr sz="1200" b="0">
                <a:solidFill>
                  <a:srgbClr val="2D3436"/>
                </a:solidFill>
                <a:latin typeface="Calibri"/>
              </a:rPr>
              <a:t>&lt; 200ms</a:t>
            </a:r>
          </a:p>
        </p:txBody>
      </p:sp>
      <p:sp>
        <p:nvSpPr>
          <p:cNvPr id="10" name="Rounded Rectangle 9"/>
          <p:cNvSpPr/>
          <p:nvPr/>
        </p:nvSpPr>
        <p:spPr>
          <a:xfrm>
            <a:off x="7406640" y="4983480"/>
            <a:ext cx="1920240" cy="73152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Mutation Score</a:t>
            </a:r>
          </a:p>
          <a:p>
            <a:pPr algn="ctr"/>
            <a:r>
              <a:rPr sz="1200" b="0">
                <a:solidFill>
                  <a:srgbClr val="2D3436"/>
                </a:solidFill>
                <a:latin typeface="Calibri"/>
              </a:rPr>
              <a:t>&gt; 60%</a:t>
            </a:r>
          </a:p>
        </p:txBody>
      </p:sp>
      <p:sp>
        <p:nvSpPr>
          <p:cNvPr id="11" name="Rounded Rectangle 10"/>
          <p:cNvSpPr/>
          <p:nvPr/>
        </p:nvSpPr>
        <p:spPr>
          <a:xfrm>
            <a:off x="9692640" y="4983480"/>
            <a:ext cx="1920240" cy="73152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Lint / Style</a:t>
            </a:r>
          </a:p>
          <a:p>
            <a:pPr algn="ctr"/>
            <a:r>
              <a:rPr sz="1200" b="0">
                <a:solidFill>
                  <a:srgbClr val="2D3436"/>
                </a:solidFill>
                <a:latin typeface="Calibri"/>
              </a:rPr>
              <a:t>0 Warnings</a:t>
            </a:r>
          </a:p>
        </p:txBody>
      </p:sp>
      <p:sp>
        <p:nvSpPr>
          <p:cNvPr id="12" name="Rounded Rectangle 11"/>
          <p:cNvSpPr/>
          <p:nvPr/>
        </p:nvSpPr>
        <p:spPr>
          <a:xfrm>
            <a:off x="1828800" y="5806440"/>
            <a:ext cx="8503920" cy="36576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All gates must PASS before code is merged or deployed -- no exceptions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Security in AI-Generated Software</a:t>
            </a:r>
          </a:p>
        </p:txBody>
      </p:sp>
      <p:sp>
        <p:nvSpPr>
          <p:cNvPr id="3" name="Rounded Rectangle 2"/>
          <p:cNvSpPr/>
          <p:nvPr/>
        </p:nvSpPr>
        <p:spPr>
          <a:xfrm>
            <a:off x="365760" y="6263640"/>
            <a:ext cx="4114800" cy="34747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Security</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26</a:t>
            </a:r>
          </a:p>
        </p:txBody>
      </p:sp>
      <p:sp>
        <p:nvSpPr>
          <p:cNvPr id="5" name="TextBox 4"/>
          <p:cNvSpPr txBox="1"/>
          <p:nvPr/>
        </p:nvSpPr>
        <p:spPr>
          <a:xfrm>
            <a:off x="548640" y="1097280"/>
            <a:ext cx="5303520" cy="365760"/>
          </a:xfrm>
          <a:prstGeom prst="rect">
            <a:avLst/>
          </a:prstGeom>
          <a:noFill/>
        </p:spPr>
        <p:txBody>
          <a:bodyPr wrap="square">
            <a:spAutoFit/>
          </a:bodyPr>
          <a:lstStyle/>
          <a:p>
            <a:pPr algn="l"/>
            <a:r>
              <a:rPr sz="1800" b="1">
                <a:solidFill>
                  <a:srgbClr val="C0392B"/>
                </a:solidFill>
                <a:latin typeface="Calibri"/>
              </a:rPr>
              <a:t>Unique Risks</a:t>
            </a:r>
          </a:p>
        </p:txBody>
      </p:sp>
      <p:sp>
        <p:nvSpPr>
          <p:cNvPr id="6" name="TextBox 5"/>
          <p:cNvSpPr txBox="1"/>
          <p:nvPr/>
        </p:nvSpPr>
        <p:spPr>
          <a:xfrm>
            <a:off x="548640" y="1600200"/>
            <a:ext cx="5303520" cy="3474720"/>
          </a:xfrm>
          <a:prstGeom prst="rect">
            <a:avLst/>
          </a:prstGeom>
          <a:noFill/>
        </p:spPr>
        <p:txBody>
          <a:bodyPr wrap="square">
            <a:spAutoFit/>
          </a:bodyPr>
          <a:lstStyle/>
          <a:p>
            <a:pPr>
              <a:lnSpc>
                <a:spcPct val="130000"/>
              </a:lnSpc>
              <a:spcAft>
                <a:spcPts val="800"/>
              </a:spcAft>
            </a:pPr>
            <a:r>
              <a:rPr sz="1400">
                <a:solidFill>
                  <a:srgbClr val="2D3436"/>
                </a:solidFill>
                <a:latin typeface="Calibri"/>
              </a:rPr>
              <a:t>• AI may generate insecure defaults (open CORS, weak auth)</a:t>
            </a:r>
          </a:p>
          <a:p>
            <a:pPr>
              <a:lnSpc>
                <a:spcPct val="130000"/>
              </a:lnSpc>
              <a:spcAft>
                <a:spcPts val="800"/>
              </a:spcAft>
            </a:pPr>
            <a:r>
              <a:rPr sz="1400">
                <a:solidFill>
                  <a:srgbClr val="2D3436"/>
                </a:solidFill>
                <a:latin typeface="Calibri"/>
              </a:rPr>
              <a:t>• Hallucinated dependencies that don't exist or are malicious</a:t>
            </a:r>
          </a:p>
          <a:p>
            <a:pPr>
              <a:lnSpc>
                <a:spcPct val="130000"/>
              </a:lnSpc>
              <a:spcAft>
                <a:spcPts val="800"/>
              </a:spcAft>
            </a:pPr>
            <a:r>
              <a:rPr sz="1400">
                <a:solidFill>
                  <a:srgbClr val="2D3436"/>
                </a:solidFill>
                <a:latin typeface="Calibri"/>
              </a:rPr>
              <a:t>• Secrets may leak into prompts or generated code</a:t>
            </a:r>
          </a:p>
          <a:p>
            <a:pPr>
              <a:lnSpc>
                <a:spcPct val="130000"/>
              </a:lnSpc>
              <a:spcAft>
                <a:spcPts val="800"/>
              </a:spcAft>
            </a:pPr>
            <a:r>
              <a:rPr sz="1400">
                <a:solidFill>
                  <a:srgbClr val="2D3436"/>
                </a:solidFill>
                <a:latin typeface="Calibri"/>
              </a:rPr>
              <a:t>• Over-permissive authorization patterns</a:t>
            </a:r>
          </a:p>
          <a:p>
            <a:pPr>
              <a:lnSpc>
                <a:spcPct val="130000"/>
              </a:lnSpc>
              <a:spcAft>
                <a:spcPts val="800"/>
              </a:spcAft>
            </a:pPr>
            <a:r>
              <a:rPr sz="1400">
                <a:solidFill>
                  <a:srgbClr val="2D3436"/>
                </a:solidFill>
                <a:latin typeface="Calibri"/>
              </a:rPr>
              <a:t>• Missing input validation on user-facing endpoints</a:t>
            </a:r>
          </a:p>
          <a:p>
            <a:pPr>
              <a:lnSpc>
                <a:spcPct val="130000"/>
              </a:lnSpc>
              <a:spcAft>
                <a:spcPts val="800"/>
              </a:spcAft>
            </a:pPr>
            <a:r>
              <a:rPr sz="1400">
                <a:solidFill>
                  <a:srgbClr val="2D3436"/>
                </a:solidFill>
                <a:latin typeface="Calibri"/>
              </a:rPr>
              <a:t>• Outdated security patterns from training data</a:t>
            </a:r>
          </a:p>
        </p:txBody>
      </p:sp>
      <p:sp>
        <p:nvSpPr>
          <p:cNvPr id="7" name="Rounded Rectangle 6"/>
          <p:cNvSpPr/>
          <p:nvPr/>
        </p:nvSpPr>
        <p:spPr>
          <a:xfrm>
            <a:off x="5029200" y="1691640"/>
            <a:ext cx="777240" cy="36576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ED7D31"/>
                </a:solidFill>
                <a:latin typeface="Calibri"/>
              </a:rPr>
              <a:t>HIGH</a:t>
            </a:r>
          </a:p>
        </p:txBody>
      </p:sp>
      <p:sp>
        <p:nvSpPr>
          <p:cNvPr id="8" name="Rounded Rectangle 7"/>
          <p:cNvSpPr/>
          <p:nvPr/>
        </p:nvSpPr>
        <p:spPr>
          <a:xfrm>
            <a:off x="5029200" y="2258568"/>
            <a:ext cx="777240" cy="36576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ED7D31"/>
                </a:solidFill>
                <a:latin typeface="Calibri"/>
              </a:rPr>
              <a:t>HIGH</a:t>
            </a:r>
          </a:p>
        </p:txBody>
      </p:sp>
      <p:sp>
        <p:nvSpPr>
          <p:cNvPr id="9" name="Rounded Rectangle 8"/>
          <p:cNvSpPr/>
          <p:nvPr/>
        </p:nvSpPr>
        <p:spPr>
          <a:xfrm>
            <a:off x="5029200" y="2825496"/>
            <a:ext cx="777240" cy="365760"/>
          </a:xfrm>
          <a:prstGeom prst="roundRect">
            <a:avLst/>
          </a:prstGeom>
          <a:solidFill>
            <a:srgbClr val="FCE4D6"/>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C0392B"/>
                </a:solidFill>
                <a:latin typeface="Calibri"/>
              </a:rPr>
              <a:t>CRITICAL</a:t>
            </a:r>
          </a:p>
        </p:txBody>
      </p:sp>
      <p:sp>
        <p:nvSpPr>
          <p:cNvPr id="10" name="Rounded Rectangle 9"/>
          <p:cNvSpPr/>
          <p:nvPr/>
        </p:nvSpPr>
        <p:spPr>
          <a:xfrm>
            <a:off x="5029200" y="3392424"/>
            <a:ext cx="777240" cy="36576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ED7D31"/>
                </a:solidFill>
                <a:latin typeface="Calibri"/>
              </a:rPr>
              <a:t>MEDIUM</a:t>
            </a:r>
          </a:p>
        </p:txBody>
      </p:sp>
      <p:sp>
        <p:nvSpPr>
          <p:cNvPr id="11" name="Rounded Rectangle 10"/>
          <p:cNvSpPr/>
          <p:nvPr/>
        </p:nvSpPr>
        <p:spPr>
          <a:xfrm>
            <a:off x="5029200" y="3959352"/>
            <a:ext cx="777240" cy="36576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ED7D31"/>
                </a:solidFill>
                <a:latin typeface="Calibri"/>
              </a:rPr>
              <a:t>HIGH</a:t>
            </a:r>
          </a:p>
        </p:txBody>
      </p:sp>
      <p:sp>
        <p:nvSpPr>
          <p:cNvPr id="12" name="Rounded Rectangle 11"/>
          <p:cNvSpPr/>
          <p:nvPr/>
        </p:nvSpPr>
        <p:spPr>
          <a:xfrm>
            <a:off x="5029200" y="4526280"/>
            <a:ext cx="777240" cy="36576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ED7D31"/>
                </a:solidFill>
                <a:latin typeface="Calibri"/>
              </a:rPr>
              <a:t>MEDIUM</a:t>
            </a:r>
          </a:p>
        </p:txBody>
      </p:sp>
      <p:sp>
        <p:nvSpPr>
          <p:cNvPr id="13" name="TextBox 12"/>
          <p:cNvSpPr txBox="1"/>
          <p:nvPr/>
        </p:nvSpPr>
        <p:spPr>
          <a:xfrm>
            <a:off x="6400800" y="1097280"/>
            <a:ext cx="5303520" cy="365760"/>
          </a:xfrm>
          <a:prstGeom prst="rect">
            <a:avLst/>
          </a:prstGeom>
          <a:noFill/>
        </p:spPr>
        <p:txBody>
          <a:bodyPr wrap="square">
            <a:spAutoFit/>
          </a:bodyPr>
          <a:lstStyle/>
          <a:p>
            <a:pPr algn="l"/>
            <a:r>
              <a:rPr sz="1800" b="1">
                <a:solidFill>
                  <a:srgbClr val="70AD47"/>
                </a:solidFill>
                <a:latin typeface="Calibri"/>
              </a:rPr>
              <a:t>Mitigation Strategies</a:t>
            </a:r>
          </a:p>
        </p:txBody>
      </p:sp>
      <p:sp>
        <p:nvSpPr>
          <p:cNvPr id="14" name="TextBox 13"/>
          <p:cNvSpPr txBox="1"/>
          <p:nvPr/>
        </p:nvSpPr>
        <p:spPr>
          <a:xfrm>
            <a:off x="6400800" y="1600200"/>
            <a:ext cx="5303520" cy="3474720"/>
          </a:xfrm>
          <a:prstGeom prst="rect">
            <a:avLst/>
          </a:prstGeom>
          <a:noFill/>
        </p:spPr>
        <p:txBody>
          <a:bodyPr wrap="square">
            <a:spAutoFit/>
          </a:bodyPr>
          <a:lstStyle/>
          <a:p>
            <a:pPr>
              <a:lnSpc>
                <a:spcPct val="130000"/>
              </a:lnSpc>
              <a:spcAft>
                <a:spcPts val="800"/>
              </a:spcAft>
            </a:pPr>
            <a:r>
              <a:rPr sz="1400">
                <a:solidFill>
                  <a:srgbClr val="2D3436"/>
                </a:solidFill>
                <a:latin typeface="Calibri"/>
              </a:rPr>
              <a:t>• Always review auth/authz code manually</a:t>
            </a:r>
          </a:p>
          <a:p>
            <a:pPr>
              <a:lnSpc>
                <a:spcPct val="130000"/>
              </a:lnSpc>
              <a:spcAft>
                <a:spcPts val="800"/>
              </a:spcAft>
            </a:pPr>
            <a:r>
              <a:rPr sz="1400">
                <a:solidFill>
                  <a:srgbClr val="2D3436"/>
                </a:solidFill>
                <a:latin typeface="Calibri"/>
              </a:rPr>
              <a:t>• Scan dependencies automatically (Snyk, Dependabot)</a:t>
            </a:r>
          </a:p>
          <a:p>
            <a:pPr>
              <a:lnSpc>
                <a:spcPct val="130000"/>
              </a:lnSpc>
              <a:spcAft>
                <a:spcPts val="800"/>
              </a:spcAft>
            </a:pPr>
            <a:r>
              <a:rPr sz="1400">
                <a:solidFill>
                  <a:srgbClr val="2D3436"/>
                </a:solidFill>
                <a:latin typeface="Calibri"/>
              </a:rPr>
              <a:t>• Use secret managers, never hardcode credentials</a:t>
            </a:r>
          </a:p>
          <a:p>
            <a:pPr>
              <a:lnSpc>
                <a:spcPct val="130000"/>
              </a:lnSpc>
              <a:spcAft>
                <a:spcPts val="800"/>
              </a:spcAft>
            </a:pPr>
            <a:r>
              <a:rPr sz="1400">
                <a:solidFill>
                  <a:srgbClr val="2D3436"/>
                </a:solidFill>
                <a:latin typeface="Calibri"/>
              </a:rPr>
              <a:t>• Apply OWASP Top 10 checklist to generated code</a:t>
            </a:r>
          </a:p>
          <a:p>
            <a:pPr>
              <a:lnSpc>
                <a:spcPct val="130000"/>
              </a:lnSpc>
              <a:spcAft>
                <a:spcPts val="800"/>
              </a:spcAft>
            </a:pPr>
            <a:r>
              <a:rPr sz="1400">
                <a:solidFill>
                  <a:srgbClr val="2D3436"/>
                </a:solidFill>
                <a:latin typeface="Calibri"/>
              </a:rPr>
              <a:t>• Include security tests in CI pipeline</a:t>
            </a:r>
          </a:p>
          <a:p>
            <a:pPr>
              <a:lnSpc>
                <a:spcPct val="130000"/>
              </a:lnSpc>
              <a:spcAft>
                <a:spcPts val="800"/>
              </a:spcAft>
            </a:pPr>
            <a:r>
              <a:rPr sz="1400">
                <a:solidFill>
                  <a:srgbClr val="2D3436"/>
                </a:solidFill>
                <a:latin typeface="Calibri"/>
              </a:rPr>
              <a:t>• Conduct regular security-focused code reviews</a:t>
            </a:r>
          </a:p>
        </p:txBody>
      </p:sp>
      <p:sp>
        <p:nvSpPr>
          <p:cNvPr id="15" name="Rounded Rectangle 14"/>
          <p:cNvSpPr/>
          <p:nvPr/>
        </p:nvSpPr>
        <p:spPr>
          <a:xfrm>
            <a:off x="914400" y="5120640"/>
            <a:ext cx="10332720" cy="502920"/>
          </a:xfrm>
          <a:prstGeom prst="roundRect">
            <a:avLst/>
          </a:prstGeom>
          <a:solidFill>
            <a:srgbClr val="FCE4D6"/>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Security Mindset:  Trust but verify -- AI-generated code requires MORE security scrutiny, not less</a:t>
            </a:r>
          </a:p>
        </p:txBody>
      </p:sp>
      <p:sp>
        <p:nvSpPr>
          <p:cNvPr id="16" name="Rounded Rectangle 15"/>
          <p:cNvSpPr/>
          <p:nvPr/>
        </p:nvSpPr>
        <p:spPr>
          <a:xfrm>
            <a:off x="731520" y="5669280"/>
            <a:ext cx="1828800" cy="50292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Generate</a:t>
            </a:r>
          </a:p>
          <a:p>
            <a:pPr algn="ctr"/>
            <a:r>
              <a:rPr sz="1000" b="0">
                <a:solidFill>
                  <a:srgbClr val="FFFFFF"/>
                </a:solidFill>
                <a:latin typeface="Calibri"/>
              </a:rPr>
              <a:t>Code</a:t>
            </a:r>
          </a:p>
        </p:txBody>
      </p:sp>
      <p:sp>
        <p:nvSpPr>
          <p:cNvPr id="17" name="Right Arrow 16"/>
          <p:cNvSpPr/>
          <p:nvPr/>
        </p:nvSpPr>
        <p:spPr>
          <a:xfrm>
            <a:off x="2578608" y="5779008"/>
            <a:ext cx="36576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17520" y="5669280"/>
            <a:ext cx="1828800" cy="50292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SAST</a:t>
            </a:r>
          </a:p>
          <a:p>
            <a:pPr algn="ctr"/>
            <a:r>
              <a:rPr sz="1000" b="0">
                <a:solidFill>
                  <a:srgbClr val="FFFFFF"/>
                </a:solidFill>
                <a:latin typeface="Calibri"/>
              </a:rPr>
              <a:t>Scan</a:t>
            </a:r>
          </a:p>
        </p:txBody>
      </p:sp>
      <p:sp>
        <p:nvSpPr>
          <p:cNvPr id="19" name="Right Arrow 18"/>
          <p:cNvSpPr/>
          <p:nvPr/>
        </p:nvSpPr>
        <p:spPr>
          <a:xfrm>
            <a:off x="4864608" y="5779008"/>
            <a:ext cx="36576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303520" y="5669280"/>
            <a:ext cx="1828800" cy="5029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Dependency</a:t>
            </a:r>
          </a:p>
          <a:p>
            <a:pPr algn="ctr"/>
            <a:r>
              <a:rPr sz="1000" b="0">
                <a:solidFill>
                  <a:srgbClr val="FFFFFF"/>
                </a:solidFill>
                <a:latin typeface="Calibri"/>
              </a:rPr>
              <a:t>Audit</a:t>
            </a:r>
          </a:p>
        </p:txBody>
      </p:sp>
      <p:sp>
        <p:nvSpPr>
          <p:cNvPr id="21" name="Right Arrow 20"/>
          <p:cNvSpPr/>
          <p:nvPr/>
        </p:nvSpPr>
        <p:spPr>
          <a:xfrm>
            <a:off x="7150608" y="5779008"/>
            <a:ext cx="36576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89520" y="5669280"/>
            <a:ext cx="1828800" cy="50292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Manual</a:t>
            </a:r>
          </a:p>
          <a:p>
            <a:pPr algn="ctr"/>
            <a:r>
              <a:rPr sz="1000" b="0">
                <a:solidFill>
                  <a:srgbClr val="FFFFFF"/>
                </a:solidFill>
                <a:latin typeface="Calibri"/>
              </a:rPr>
              <a:t>Review</a:t>
            </a:r>
          </a:p>
        </p:txBody>
      </p:sp>
      <p:sp>
        <p:nvSpPr>
          <p:cNvPr id="23" name="Right Arrow 22"/>
          <p:cNvSpPr/>
          <p:nvPr/>
        </p:nvSpPr>
        <p:spPr>
          <a:xfrm>
            <a:off x="9436608" y="5779008"/>
            <a:ext cx="36576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75520" y="5669280"/>
            <a:ext cx="1828800" cy="50292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Secure</a:t>
            </a:r>
          </a:p>
          <a:p>
            <a:pPr algn="ctr"/>
            <a:r>
              <a:rPr sz="1000" b="0">
                <a:solidFill>
                  <a:srgbClr val="FFFFFF"/>
                </a:solidFill>
                <a:latin typeface="Calibri"/>
              </a:rPr>
              <a:t>Code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OWASP-Oriented Security Review</a:t>
            </a:r>
          </a:p>
        </p:txBody>
      </p:sp>
      <p:sp>
        <p:nvSpPr>
          <p:cNvPr id="3" name="Rounded Rectangle 2"/>
          <p:cNvSpPr/>
          <p:nvPr/>
        </p:nvSpPr>
        <p:spPr>
          <a:xfrm>
            <a:off x="365760" y="6263640"/>
            <a:ext cx="4114800" cy="34747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Security</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27</a:t>
            </a:r>
          </a:p>
        </p:txBody>
      </p:sp>
      <p:sp>
        <p:nvSpPr>
          <p:cNvPr id="5" name="TextBox 4"/>
          <p:cNvSpPr txBox="1"/>
          <p:nvPr/>
        </p:nvSpPr>
        <p:spPr>
          <a:xfrm>
            <a:off x="548640" y="1051560"/>
            <a:ext cx="10972800" cy="320040"/>
          </a:xfrm>
          <a:prstGeom prst="rect">
            <a:avLst/>
          </a:prstGeom>
          <a:noFill/>
        </p:spPr>
        <p:txBody>
          <a:bodyPr wrap="square">
            <a:spAutoFit/>
          </a:bodyPr>
          <a:lstStyle/>
          <a:p>
            <a:pPr algn="l"/>
            <a:r>
              <a:rPr sz="1600" b="1">
                <a:solidFill>
                  <a:srgbClr val="C0392B"/>
                </a:solidFill>
                <a:latin typeface="Calibri"/>
              </a:rPr>
              <a:t>Top OWASP Categories Relevant to AI-Generated Code</a:t>
            </a:r>
          </a:p>
        </p:txBody>
      </p:sp>
      <p:sp>
        <p:nvSpPr>
          <p:cNvPr id="6" name="Rounded Rectangle 5"/>
          <p:cNvSpPr/>
          <p:nvPr/>
        </p:nvSpPr>
        <p:spPr>
          <a:xfrm>
            <a:off x="457200" y="1463040"/>
            <a:ext cx="2011680" cy="68580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A01: Broken</a:t>
            </a:r>
          </a:p>
          <a:p>
            <a:pPr algn="ctr"/>
            <a:r>
              <a:rPr sz="1000" b="0">
                <a:solidFill>
                  <a:srgbClr val="FFFFFF"/>
                </a:solidFill>
                <a:latin typeface="Calibri"/>
              </a:rPr>
              <a:t>Access Control</a:t>
            </a:r>
          </a:p>
        </p:txBody>
      </p:sp>
      <p:sp>
        <p:nvSpPr>
          <p:cNvPr id="7" name="Rounded Rectangle 6"/>
          <p:cNvSpPr/>
          <p:nvPr/>
        </p:nvSpPr>
        <p:spPr>
          <a:xfrm>
            <a:off x="457200" y="2194560"/>
            <a:ext cx="2011680" cy="109728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0">
                <a:solidFill>
                  <a:srgbClr val="2D3436"/>
                </a:solidFill>
                <a:latin typeface="Calibri"/>
              </a:rPr>
              <a:t>Check: ownership validation,</a:t>
            </a:r>
          </a:p>
          <a:p>
            <a:pPr algn="l"/>
            <a:r>
              <a:rPr sz="900" b="0">
                <a:solidFill>
                  <a:srgbClr val="2D3436"/>
                </a:solidFill>
                <a:latin typeface="Calibri"/>
              </a:rPr>
              <a:t>role-based access, resource</a:t>
            </a:r>
          </a:p>
          <a:p>
            <a:pPr algn="l"/>
            <a:r>
              <a:rPr sz="900" b="0">
                <a:solidFill>
                  <a:srgbClr val="2D3436"/>
                </a:solidFill>
                <a:latin typeface="Calibri"/>
              </a:rPr>
              <a:t>isolation between users</a:t>
            </a:r>
          </a:p>
        </p:txBody>
      </p:sp>
      <p:sp>
        <p:nvSpPr>
          <p:cNvPr id="8" name="Rounded Rectangle 7"/>
          <p:cNvSpPr/>
          <p:nvPr/>
        </p:nvSpPr>
        <p:spPr>
          <a:xfrm>
            <a:off x="2743200" y="1463040"/>
            <a:ext cx="2011680" cy="68580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A03: Injection</a:t>
            </a:r>
          </a:p>
        </p:txBody>
      </p:sp>
      <p:sp>
        <p:nvSpPr>
          <p:cNvPr id="9" name="Rounded Rectangle 8"/>
          <p:cNvSpPr/>
          <p:nvPr/>
        </p:nvSpPr>
        <p:spPr>
          <a:xfrm>
            <a:off x="2743200" y="2194560"/>
            <a:ext cx="2011680" cy="109728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0">
                <a:solidFill>
                  <a:srgbClr val="2D3436"/>
                </a:solidFill>
                <a:latin typeface="Calibri"/>
              </a:rPr>
              <a:t>Check: parameterized queries,</a:t>
            </a:r>
          </a:p>
          <a:p>
            <a:pPr algn="l"/>
            <a:r>
              <a:rPr sz="900" b="0">
                <a:solidFill>
                  <a:srgbClr val="2D3436"/>
                </a:solidFill>
                <a:latin typeface="Calibri"/>
              </a:rPr>
              <a:t>input sanitization, ORM usage</a:t>
            </a:r>
          </a:p>
          <a:p>
            <a:pPr algn="l"/>
            <a:r>
              <a:rPr sz="900" b="0">
                <a:solidFill>
                  <a:srgbClr val="2D3436"/>
                </a:solidFill>
                <a:latin typeface="Calibri"/>
              </a:rPr>
              <a:t>vs raw SQL</a:t>
            </a:r>
          </a:p>
        </p:txBody>
      </p:sp>
      <p:sp>
        <p:nvSpPr>
          <p:cNvPr id="10" name="Rounded Rectangle 9"/>
          <p:cNvSpPr/>
          <p:nvPr/>
        </p:nvSpPr>
        <p:spPr>
          <a:xfrm>
            <a:off x="5029200" y="1463040"/>
            <a:ext cx="2011680" cy="68580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A05: Security</a:t>
            </a:r>
          </a:p>
          <a:p>
            <a:pPr algn="ctr"/>
            <a:r>
              <a:rPr sz="1000" b="0">
                <a:solidFill>
                  <a:srgbClr val="FFFFFF"/>
                </a:solidFill>
                <a:latin typeface="Calibri"/>
              </a:rPr>
              <a:t>Misconfiguration</a:t>
            </a:r>
          </a:p>
        </p:txBody>
      </p:sp>
      <p:sp>
        <p:nvSpPr>
          <p:cNvPr id="11" name="Rounded Rectangle 10"/>
          <p:cNvSpPr/>
          <p:nvPr/>
        </p:nvSpPr>
        <p:spPr>
          <a:xfrm>
            <a:off x="5029200" y="2194560"/>
            <a:ext cx="2011680" cy="109728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0">
                <a:solidFill>
                  <a:srgbClr val="2D3436"/>
                </a:solidFill>
                <a:latin typeface="Calibri"/>
              </a:rPr>
              <a:t>Check: CORS settings, debug</a:t>
            </a:r>
          </a:p>
          <a:p>
            <a:pPr algn="l"/>
            <a:r>
              <a:rPr sz="900" b="0">
                <a:solidFill>
                  <a:srgbClr val="2D3436"/>
                </a:solidFill>
                <a:latin typeface="Calibri"/>
              </a:rPr>
              <a:t>mode off, default credentials</a:t>
            </a:r>
          </a:p>
          <a:p>
            <a:pPr algn="l"/>
            <a:r>
              <a:rPr sz="900" b="0">
                <a:solidFill>
                  <a:srgbClr val="2D3436"/>
                </a:solidFill>
                <a:latin typeface="Calibri"/>
              </a:rPr>
              <a:t>removed</a:t>
            </a:r>
          </a:p>
        </p:txBody>
      </p:sp>
      <p:sp>
        <p:nvSpPr>
          <p:cNvPr id="12" name="Rounded Rectangle 11"/>
          <p:cNvSpPr/>
          <p:nvPr/>
        </p:nvSpPr>
        <p:spPr>
          <a:xfrm>
            <a:off x="7315200" y="1463040"/>
            <a:ext cx="2011680" cy="68580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A06: Vulnerable</a:t>
            </a:r>
          </a:p>
          <a:p>
            <a:pPr algn="ctr"/>
            <a:r>
              <a:rPr sz="1000" b="0">
                <a:solidFill>
                  <a:srgbClr val="FFFFFF"/>
                </a:solidFill>
                <a:latin typeface="Calibri"/>
              </a:rPr>
              <a:t>Dependencies</a:t>
            </a:r>
          </a:p>
        </p:txBody>
      </p:sp>
      <p:sp>
        <p:nvSpPr>
          <p:cNvPr id="13" name="Rounded Rectangle 12"/>
          <p:cNvSpPr/>
          <p:nvPr/>
        </p:nvSpPr>
        <p:spPr>
          <a:xfrm>
            <a:off x="7315200" y="2194560"/>
            <a:ext cx="2011680" cy="109728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0">
                <a:solidFill>
                  <a:srgbClr val="2D3436"/>
                </a:solidFill>
                <a:latin typeface="Calibri"/>
              </a:rPr>
              <a:t>Check: dependency audit,</a:t>
            </a:r>
          </a:p>
          <a:p>
            <a:pPr algn="l"/>
            <a:r>
              <a:rPr sz="900" b="0">
                <a:solidFill>
                  <a:srgbClr val="2D3436"/>
                </a:solidFill>
                <a:latin typeface="Calibri"/>
              </a:rPr>
              <a:t>no hallucinated packages,</a:t>
            </a:r>
          </a:p>
          <a:p>
            <a:pPr algn="l"/>
            <a:r>
              <a:rPr sz="900" b="0">
                <a:solidFill>
                  <a:srgbClr val="2D3436"/>
                </a:solidFill>
                <a:latin typeface="Calibri"/>
              </a:rPr>
              <a:t>version pinning</a:t>
            </a:r>
          </a:p>
        </p:txBody>
      </p:sp>
      <p:sp>
        <p:nvSpPr>
          <p:cNvPr id="14" name="Rounded Rectangle 13"/>
          <p:cNvSpPr/>
          <p:nvPr/>
        </p:nvSpPr>
        <p:spPr>
          <a:xfrm>
            <a:off x="9601200" y="1463040"/>
            <a:ext cx="2011680" cy="68580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A02: Cryptographic</a:t>
            </a:r>
          </a:p>
          <a:p>
            <a:pPr algn="ctr"/>
            <a:r>
              <a:rPr sz="1000" b="0">
                <a:solidFill>
                  <a:srgbClr val="FFFFFF"/>
                </a:solidFill>
                <a:latin typeface="Calibri"/>
              </a:rPr>
              <a:t>Failures</a:t>
            </a:r>
          </a:p>
        </p:txBody>
      </p:sp>
      <p:sp>
        <p:nvSpPr>
          <p:cNvPr id="15" name="Rounded Rectangle 14"/>
          <p:cNvSpPr/>
          <p:nvPr/>
        </p:nvSpPr>
        <p:spPr>
          <a:xfrm>
            <a:off x="9601200" y="2194560"/>
            <a:ext cx="2011680" cy="109728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900" b="0">
                <a:solidFill>
                  <a:srgbClr val="2D3436"/>
                </a:solidFill>
                <a:latin typeface="Calibri"/>
              </a:rPr>
              <a:t>Check: proper hashing</a:t>
            </a:r>
          </a:p>
          <a:p>
            <a:pPr algn="l"/>
            <a:r>
              <a:rPr sz="900" b="0">
                <a:solidFill>
                  <a:srgbClr val="2D3436"/>
                </a:solidFill>
                <a:latin typeface="Calibri"/>
              </a:rPr>
              <a:t>(bcrypt), TLS enforced,</a:t>
            </a:r>
          </a:p>
          <a:p>
            <a:pPr algn="l"/>
            <a:r>
              <a:rPr sz="900" b="0">
                <a:solidFill>
                  <a:srgbClr val="2D3436"/>
                </a:solidFill>
                <a:latin typeface="Calibri"/>
              </a:rPr>
              <a:t>no sensitive data in logs</a:t>
            </a:r>
          </a:p>
        </p:txBody>
      </p:sp>
      <p:sp>
        <p:nvSpPr>
          <p:cNvPr id="16" name="TextBox 15"/>
          <p:cNvSpPr txBox="1"/>
          <p:nvPr/>
        </p:nvSpPr>
        <p:spPr>
          <a:xfrm>
            <a:off x="548640" y="3566160"/>
            <a:ext cx="10972800" cy="320040"/>
          </a:xfrm>
          <a:prstGeom prst="rect">
            <a:avLst/>
          </a:prstGeom>
          <a:noFill/>
        </p:spPr>
        <p:txBody>
          <a:bodyPr wrap="square">
            <a:spAutoFit/>
          </a:bodyPr>
          <a:lstStyle/>
          <a:p>
            <a:pPr algn="l"/>
            <a:r>
              <a:rPr sz="1600" b="1">
                <a:solidFill>
                  <a:srgbClr val="4472C4"/>
                </a:solidFill>
                <a:latin typeface="Calibri"/>
              </a:rPr>
              <a:t>Threat Modeling Mini-Framework</a:t>
            </a:r>
          </a:p>
        </p:txBody>
      </p:sp>
      <p:sp>
        <p:nvSpPr>
          <p:cNvPr id="17" name="Rounded Rectangle 16"/>
          <p:cNvSpPr/>
          <p:nvPr/>
        </p:nvSpPr>
        <p:spPr>
          <a:xfrm>
            <a:off x="914400" y="4023360"/>
            <a:ext cx="2286000" cy="128016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Asset</a:t>
            </a:r>
          </a:p>
          <a:p>
            <a:pPr algn="ctr"/>
            <a:r>
              <a:rPr sz="1100" b="0">
                <a:solidFill>
                  <a:srgbClr val="2D3436"/>
                </a:solidFill>
                <a:latin typeface="Calibri"/>
              </a:rPr>
              <a:t>What are we</a:t>
            </a:r>
          </a:p>
          <a:p>
            <a:pPr algn="ctr"/>
            <a:r>
              <a:rPr sz="1100" b="0">
                <a:solidFill>
                  <a:srgbClr val="2D3436"/>
                </a:solidFill>
                <a:latin typeface="Calibri"/>
              </a:rPr>
              <a:t>protecting?</a:t>
            </a:r>
          </a:p>
          <a:p>
            <a:pPr algn="ctr"/>
            <a:r>
              <a:rPr sz="1100" b="0">
                <a:solidFill>
                  <a:srgbClr val="2D3436"/>
                </a:solidFill>
                <a:latin typeface="Calibri"/>
              </a:rPr>
              <a:t>(user data, API keys)</a:t>
            </a:r>
          </a:p>
        </p:txBody>
      </p:sp>
      <p:sp>
        <p:nvSpPr>
          <p:cNvPr id="18" name="Right Arrow 17"/>
          <p:cNvSpPr/>
          <p:nvPr/>
        </p:nvSpPr>
        <p:spPr>
          <a:xfrm>
            <a:off x="3218688" y="4526280"/>
            <a:ext cx="36576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657600" y="4023360"/>
            <a:ext cx="2286000" cy="128016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Threat</a:t>
            </a:r>
          </a:p>
          <a:p>
            <a:pPr algn="ctr"/>
            <a:r>
              <a:rPr sz="1100" b="0">
                <a:solidFill>
                  <a:srgbClr val="2D3436"/>
                </a:solidFill>
                <a:latin typeface="Calibri"/>
              </a:rPr>
              <a:t>What could go</a:t>
            </a:r>
          </a:p>
          <a:p>
            <a:pPr algn="ctr"/>
            <a:r>
              <a:rPr sz="1100" b="0">
                <a:solidFill>
                  <a:srgbClr val="2D3436"/>
                </a:solidFill>
                <a:latin typeface="Calibri"/>
              </a:rPr>
              <a:t>wrong?</a:t>
            </a:r>
          </a:p>
          <a:p>
            <a:pPr algn="ctr"/>
            <a:r>
              <a:rPr sz="1100" b="0">
                <a:solidFill>
                  <a:srgbClr val="2D3436"/>
                </a:solidFill>
                <a:latin typeface="Calibri"/>
              </a:rPr>
              <a:t>(unauthorized access)</a:t>
            </a:r>
          </a:p>
        </p:txBody>
      </p:sp>
      <p:sp>
        <p:nvSpPr>
          <p:cNvPr id="20" name="Right Arrow 19"/>
          <p:cNvSpPr/>
          <p:nvPr/>
        </p:nvSpPr>
        <p:spPr>
          <a:xfrm>
            <a:off x="5961888" y="4526280"/>
            <a:ext cx="36576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0" y="4023360"/>
            <a:ext cx="2286000" cy="128016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Control</a:t>
            </a:r>
          </a:p>
          <a:p>
            <a:pPr algn="ctr"/>
            <a:r>
              <a:rPr sz="1100" b="0">
                <a:solidFill>
                  <a:srgbClr val="2D3436"/>
                </a:solidFill>
                <a:latin typeface="Calibri"/>
              </a:rPr>
              <a:t>How do we</a:t>
            </a:r>
          </a:p>
          <a:p>
            <a:pPr algn="ctr"/>
            <a:r>
              <a:rPr sz="1100" b="0">
                <a:solidFill>
                  <a:srgbClr val="2D3436"/>
                </a:solidFill>
                <a:latin typeface="Calibri"/>
              </a:rPr>
              <a:t>prevent it?</a:t>
            </a:r>
          </a:p>
          <a:p>
            <a:pPr algn="ctr"/>
            <a:r>
              <a:rPr sz="1100" b="0">
                <a:solidFill>
                  <a:srgbClr val="2D3436"/>
                </a:solidFill>
                <a:latin typeface="Calibri"/>
              </a:rPr>
              <a:t>(auth, encryption)</a:t>
            </a:r>
          </a:p>
        </p:txBody>
      </p:sp>
      <p:sp>
        <p:nvSpPr>
          <p:cNvPr id="22" name="Right Arrow 21"/>
          <p:cNvSpPr/>
          <p:nvPr/>
        </p:nvSpPr>
        <p:spPr>
          <a:xfrm>
            <a:off x="8705088" y="4526280"/>
            <a:ext cx="36576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44000" y="4023360"/>
            <a:ext cx="2286000" cy="128016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Evidence</a:t>
            </a:r>
          </a:p>
          <a:p>
            <a:pPr algn="ctr"/>
            <a:r>
              <a:rPr sz="1100" b="0">
                <a:solidFill>
                  <a:srgbClr val="2D3436"/>
                </a:solidFill>
                <a:latin typeface="Calibri"/>
              </a:rPr>
              <a:t>How do we</a:t>
            </a:r>
          </a:p>
          <a:p>
            <a:pPr algn="ctr"/>
            <a:r>
              <a:rPr sz="1100" b="0">
                <a:solidFill>
                  <a:srgbClr val="2D3436"/>
                </a:solidFill>
                <a:latin typeface="Calibri"/>
              </a:rPr>
              <a:t>verify?</a:t>
            </a:r>
          </a:p>
          <a:p>
            <a:pPr algn="ctr"/>
            <a:r>
              <a:rPr sz="1100" b="0">
                <a:solidFill>
                  <a:srgbClr val="2D3436"/>
                </a:solidFill>
                <a:latin typeface="Calibri"/>
              </a:rPr>
              <a:t>(tests, scans, audits)</a:t>
            </a:r>
          </a:p>
        </p:txBody>
      </p:sp>
      <p:sp>
        <p:nvSpPr>
          <p:cNvPr id="24" name="Rounded Rectangle 23"/>
          <p:cNvSpPr/>
          <p:nvPr/>
        </p:nvSpPr>
        <p:spPr>
          <a:xfrm>
            <a:off x="1371600" y="5577840"/>
            <a:ext cx="9418320" cy="4572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Apply this framework to EVERY AI-generated endpoint: identify assets, model threats, implement controls, verify with tests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Secure Coding Practices &amp; DevSecOps</a:t>
            </a:r>
          </a:p>
        </p:txBody>
      </p:sp>
      <p:sp>
        <p:nvSpPr>
          <p:cNvPr id="3" name="Rounded Rectangle 2"/>
          <p:cNvSpPr/>
          <p:nvPr/>
        </p:nvSpPr>
        <p:spPr>
          <a:xfrm>
            <a:off x="365760" y="6263640"/>
            <a:ext cx="4114800" cy="34747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Security</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28</a:t>
            </a:r>
          </a:p>
        </p:txBody>
      </p:sp>
      <p:sp>
        <p:nvSpPr>
          <p:cNvPr id="5" name="TextBox 4"/>
          <p:cNvSpPr txBox="1"/>
          <p:nvPr/>
        </p:nvSpPr>
        <p:spPr>
          <a:xfrm>
            <a:off x="548640" y="1051560"/>
            <a:ext cx="6400800" cy="320040"/>
          </a:xfrm>
          <a:prstGeom prst="rect">
            <a:avLst/>
          </a:prstGeom>
          <a:noFill/>
        </p:spPr>
        <p:txBody>
          <a:bodyPr wrap="square">
            <a:spAutoFit/>
          </a:bodyPr>
          <a:lstStyle/>
          <a:p>
            <a:pPr algn="l"/>
            <a:r>
              <a:rPr sz="1400" b="1">
                <a:solidFill>
                  <a:srgbClr val="4472C4"/>
                </a:solidFill>
                <a:latin typeface="Calibri"/>
              </a:rPr>
              <a:t>Secure Endpoint Pattern (Spring Boot)</a:t>
            </a:r>
          </a:p>
        </p:txBody>
      </p:sp>
      <p:sp>
        <p:nvSpPr>
          <p:cNvPr id="6" name="Rectangle 5"/>
          <p:cNvSpPr/>
          <p:nvPr/>
        </p:nvSpPr>
        <p:spPr>
          <a:xfrm>
            <a:off x="548640" y="1417320"/>
            <a:ext cx="6400800" cy="22860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1100">
                <a:solidFill>
                  <a:srgbClr val="2D3436"/>
                </a:solidFill>
                <a:latin typeface="Consolas"/>
              </a:rPr>
              <a:t>@PreAuthorize("hasRole('USER')")</a:t>
            </a:r>
          </a:p>
          <a:p>
            <a:pPr>
              <a:spcAft>
                <a:spcPts val="100"/>
              </a:spcAft>
            </a:pPr>
            <a:r>
              <a:rPr sz="1100">
                <a:solidFill>
                  <a:srgbClr val="2D3436"/>
                </a:solidFill>
                <a:latin typeface="Consolas"/>
              </a:rPr>
              <a:t>@PostMapping("/api/tasks")</a:t>
            </a:r>
          </a:p>
          <a:p>
            <a:pPr>
              <a:spcAft>
                <a:spcPts val="100"/>
              </a:spcAft>
            </a:pPr>
            <a:r>
              <a:rPr sz="1100">
                <a:solidFill>
                  <a:srgbClr val="2D3436"/>
                </a:solidFill>
                <a:latin typeface="Consolas"/>
              </a:rPr>
              <a:t>public ResponseEntity&lt;TaskResponse&gt; create(</a:t>
            </a:r>
          </a:p>
          <a:p>
            <a:pPr>
              <a:spcAft>
                <a:spcPts val="100"/>
              </a:spcAft>
            </a:pPr>
            <a:r>
              <a:rPr sz="1100">
                <a:solidFill>
                  <a:srgbClr val="2D3436"/>
                </a:solidFill>
                <a:latin typeface="Consolas"/>
              </a:rPr>
              <a:t>    @Valid @RequestBody TaskRequest req,</a:t>
            </a:r>
          </a:p>
          <a:p>
            <a:pPr>
              <a:spcAft>
                <a:spcPts val="100"/>
              </a:spcAft>
            </a:pPr>
            <a:r>
              <a:rPr sz="1100">
                <a:solidFill>
                  <a:srgbClr val="2D3436"/>
                </a:solidFill>
                <a:latin typeface="Consolas"/>
              </a:rPr>
              <a:t>    @AuthenticationPrincipal UserDetails user) {</a:t>
            </a:r>
          </a:p>
          <a:p>
            <a:pPr>
              <a:spcAft>
                <a:spcPts val="100"/>
              </a:spcAft>
            </a:pPr>
            <a:r>
              <a:rPr sz="1100">
                <a:solidFill>
                  <a:srgbClr val="2D3436"/>
                </a:solidFill>
                <a:latin typeface="Consolas"/>
              </a:rPr>
              <a:t>    // Service validates ownership</a:t>
            </a:r>
          </a:p>
          <a:p>
            <a:pPr>
              <a:spcAft>
                <a:spcPts val="100"/>
              </a:spcAft>
            </a:pPr>
            <a:r>
              <a:rPr sz="1100">
                <a:solidFill>
                  <a:srgbClr val="2D3436"/>
                </a:solidFill>
                <a:latin typeface="Consolas"/>
              </a:rPr>
              <a:t>    return ResponseEntity.status(201)</a:t>
            </a:r>
          </a:p>
          <a:p>
            <a:pPr>
              <a:spcAft>
                <a:spcPts val="100"/>
              </a:spcAft>
            </a:pPr>
            <a:r>
              <a:rPr sz="1100">
                <a:solidFill>
                  <a:srgbClr val="2D3436"/>
                </a:solidFill>
                <a:latin typeface="Consolas"/>
              </a:rPr>
              <a:t>        .body(taskService.create(req, user.getId()));</a:t>
            </a:r>
          </a:p>
          <a:p>
            <a:pPr>
              <a:spcAft>
                <a:spcPts val="100"/>
              </a:spcAft>
            </a:pPr>
            <a:r>
              <a:rPr sz="1100">
                <a:solidFill>
                  <a:srgbClr val="2D3436"/>
                </a:solidFill>
                <a:latin typeface="Consolas"/>
              </a:rPr>
              <a:t>}</a:t>
            </a:r>
          </a:p>
        </p:txBody>
      </p:sp>
      <p:sp>
        <p:nvSpPr>
          <p:cNvPr id="7" name="Rounded Rectangle 6"/>
          <p:cNvSpPr/>
          <p:nvPr/>
        </p:nvSpPr>
        <p:spPr>
          <a:xfrm>
            <a:off x="7315200" y="1417320"/>
            <a:ext cx="2011680" cy="5029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@PreAuthorize</a:t>
            </a:r>
          </a:p>
          <a:p>
            <a:pPr algn="ctr"/>
            <a:r>
              <a:rPr sz="900" b="0">
                <a:solidFill>
                  <a:srgbClr val="2D3436"/>
                </a:solidFill>
                <a:latin typeface="Calibri"/>
              </a:rPr>
              <a:t>Method-level</a:t>
            </a:r>
          </a:p>
          <a:p>
            <a:pPr algn="ctr"/>
            <a:r>
              <a:rPr sz="900" b="0">
                <a:solidFill>
                  <a:srgbClr val="2D3436"/>
                </a:solidFill>
                <a:latin typeface="Calibri"/>
              </a:rPr>
              <a:t>authorization</a:t>
            </a:r>
          </a:p>
        </p:txBody>
      </p:sp>
      <p:sp>
        <p:nvSpPr>
          <p:cNvPr id="8" name="Rounded Rectangle 7"/>
          <p:cNvSpPr/>
          <p:nvPr/>
        </p:nvSpPr>
        <p:spPr>
          <a:xfrm>
            <a:off x="7315200" y="2057400"/>
            <a:ext cx="2011680" cy="50292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@Valid</a:t>
            </a:r>
          </a:p>
          <a:p>
            <a:pPr algn="ctr"/>
            <a:r>
              <a:rPr sz="900" b="0">
                <a:solidFill>
                  <a:srgbClr val="2D3436"/>
                </a:solidFill>
                <a:latin typeface="Calibri"/>
              </a:rPr>
              <a:t>Input</a:t>
            </a:r>
          </a:p>
          <a:p>
            <a:pPr algn="ctr"/>
            <a:r>
              <a:rPr sz="900" b="0">
                <a:solidFill>
                  <a:srgbClr val="2D3436"/>
                </a:solidFill>
                <a:latin typeface="Calibri"/>
              </a:rPr>
              <a:t>validation</a:t>
            </a:r>
          </a:p>
        </p:txBody>
      </p:sp>
      <p:sp>
        <p:nvSpPr>
          <p:cNvPr id="9" name="Rounded Rectangle 8"/>
          <p:cNvSpPr/>
          <p:nvPr/>
        </p:nvSpPr>
        <p:spPr>
          <a:xfrm>
            <a:off x="7315200" y="2697480"/>
            <a:ext cx="2011680" cy="5029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@AuthPrincipal</a:t>
            </a:r>
          </a:p>
          <a:p>
            <a:pPr algn="ctr"/>
            <a:r>
              <a:rPr sz="900" b="0">
                <a:solidFill>
                  <a:srgbClr val="2D3436"/>
                </a:solidFill>
                <a:latin typeface="Calibri"/>
              </a:rPr>
              <a:t>User context</a:t>
            </a:r>
          </a:p>
          <a:p>
            <a:pPr algn="ctr"/>
            <a:r>
              <a:rPr sz="900" b="0">
                <a:solidFill>
                  <a:srgbClr val="2D3436"/>
                </a:solidFill>
                <a:latin typeface="Calibri"/>
              </a:rPr>
              <a:t>injection</a:t>
            </a:r>
          </a:p>
        </p:txBody>
      </p:sp>
      <p:sp>
        <p:nvSpPr>
          <p:cNvPr id="10" name="Rounded Rectangle 9"/>
          <p:cNvSpPr/>
          <p:nvPr/>
        </p:nvSpPr>
        <p:spPr>
          <a:xfrm>
            <a:off x="7315200" y="3337559"/>
            <a:ext cx="2011680" cy="50292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user.getId()</a:t>
            </a:r>
          </a:p>
          <a:p>
            <a:pPr algn="ctr"/>
            <a:r>
              <a:rPr sz="900" b="0">
                <a:solidFill>
                  <a:srgbClr val="2D3436"/>
                </a:solidFill>
                <a:latin typeface="Calibri"/>
              </a:rPr>
              <a:t>Ownership</a:t>
            </a:r>
          </a:p>
          <a:p>
            <a:pPr algn="ctr"/>
            <a:r>
              <a:rPr sz="900" b="0">
                <a:solidFill>
                  <a:srgbClr val="2D3436"/>
                </a:solidFill>
                <a:latin typeface="Calibri"/>
              </a:rPr>
              <a:t>enforcement</a:t>
            </a:r>
          </a:p>
        </p:txBody>
      </p:sp>
      <p:sp>
        <p:nvSpPr>
          <p:cNvPr id="11" name="TextBox 10"/>
          <p:cNvSpPr txBox="1"/>
          <p:nvPr/>
        </p:nvSpPr>
        <p:spPr>
          <a:xfrm>
            <a:off x="548640" y="3931920"/>
            <a:ext cx="10972800" cy="320040"/>
          </a:xfrm>
          <a:prstGeom prst="rect">
            <a:avLst/>
          </a:prstGeom>
          <a:noFill/>
        </p:spPr>
        <p:txBody>
          <a:bodyPr wrap="square">
            <a:spAutoFit/>
          </a:bodyPr>
          <a:lstStyle/>
          <a:p>
            <a:pPr algn="l"/>
            <a:r>
              <a:rPr sz="1600" b="1">
                <a:solidFill>
                  <a:srgbClr val="C0392B"/>
                </a:solidFill>
                <a:latin typeface="Calibri"/>
              </a:rPr>
              <a:t>Key Secure Coding Practices</a:t>
            </a:r>
          </a:p>
        </p:txBody>
      </p:sp>
      <p:sp>
        <p:nvSpPr>
          <p:cNvPr id="12" name="Rounded Rectangle 11"/>
          <p:cNvSpPr/>
          <p:nvPr/>
        </p:nvSpPr>
        <p:spPr>
          <a:xfrm>
            <a:off x="457200" y="4343400"/>
            <a:ext cx="2011680" cy="10058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Method-Level Auth</a:t>
            </a:r>
          </a:p>
          <a:p>
            <a:pPr algn="ctr"/>
            <a:r>
              <a:rPr sz="1000" b="0">
                <a:solidFill>
                  <a:srgbClr val="2D3436"/>
                </a:solidFill>
                <a:latin typeface="Calibri"/>
              </a:rPr>
              <a:t>Use @PreAuthorize or</a:t>
            </a:r>
          </a:p>
          <a:p>
            <a:pPr algn="ctr"/>
            <a:r>
              <a:rPr sz="1000" b="0">
                <a:solidFill>
                  <a:srgbClr val="2D3436"/>
                </a:solidFill>
                <a:latin typeface="Calibri"/>
              </a:rPr>
              <a:t>equivalent on every endpoint</a:t>
            </a:r>
          </a:p>
        </p:txBody>
      </p:sp>
      <p:sp>
        <p:nvSpPr>
          <p:cNvPr id="13" name="Rounded Rectangle 12"/>
          <p:cNvSpPr/>
          <p:nvPr/>
        </p:nvSpPr>
        <p:spPr>
          <a:xfrm>
            <a:off x="2743200" y="4343400"/>
            <a:ext cx="2011680" cy="10058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Input Validation</a:t>
            </a:r>
          </a:p>
          <a:p>
            <a:pPr algn="ctr"/>
            <a:r>
              <a:rPr sz="1000" b="0">
                <a:solidFill>
                  <a:srgbClr val="2D3436"/>
                </a:solidFill>
                <a:latin typeface="Calibri"/>
              </a:rPr>
              <a:t>Always use @Valid, define</a:t>
            </a:r>
          </a:p>
          <a:p>
            <a:pPr algn="ctr"/>
            <a:r>
              <a:rPr sz="1000" b="0">
                <a:solidFill>
                  <a:srgbClr val="2D3436"/>
                </a:solidFill>
                <a:latin typeface="Calibri"/>
              </a:rPr>
              <a:t>constraints on DTOs</a:t>
            </a:r>
          </a:p>
        </p:txBody>
      </p:sp>
      <p:sp>
        <p:nvSpPr>
          <p:cNvPr id="14" name="Rounded Rectangle 13"/>
          <p:cNvSpPr/>
          <p:nvPr/>
        </p:nvSpPr>
        <p:spPr>
          <a:xfrm>
            <a:off x="5029200" y="4343400"/>
            <a:ext cx="2011680" cy="100584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Audit Logging</a:t>
            </a:r>
          </a:p>
          <a:p>
            <a:pPr algn="ctr"/>
            <a:r>
              <a:rPr sz="1000" b="0">
                <a:solidFill>
                  <a:srgbClr val="2D3436"/>
                </a:solidFill>
                <a:latin typeface="Calibri"/>
              </a:rPr>
              <a:t>Log security events: login,</a:t>
            </a:r>
          </a:p>
          <a:p>
            <a:pPr algn="ctr"/>
            <a:r>
              <a:rPr sz="1000" b="0">
                <a:solidFill>
                  <a:srgbClr val="2D3436"/>
                </a:solidFill>
                <a:latin typeface="Calibri"/>
              </a:rPr>
              <a:t>access denied, data changes</a:t>
            </a:r>
          </a:p>
        </p:txBody>
      </p:sp>
      <p:sp>
        <p:nvSpPr>
          <p:cNvPr id="15" name="Rounded Rectangle 14"/>
          <p:cNvSpPr/>
          <p:nvPr/>
        </p:nvSpPr>
        <p:spPr>
          <a:xfrm>
            <a:off x="7315200" y="4343400"/>
            <a:ext cx="2011680" cy="100584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Secret Management</a:t>
            </a:r>
          </a:p>
          <a:p>
            <a:pPr algn="ctr"/>
            <a:r>
              <a:rPr sz="1000" b="0">
                <a:solidFill>
                  <a:srgbClr val="2D3436"/>
                </a:solidFill>
                <a:latin typeface="Calibri"/>
              </a:rPr>
              <a:t>Use Vault or env vars,</a:t>
            </a:r>
          </a:p>
          <a:p>
            <a:pPr algn="ctr"/>
            <a:r>
              <a:rPr sz="1000" b="0">
                <a:solidFill>
                  <a:srgbClr val="2D3436"/>
                </a:solidFill>
                <a:latin typeface="Calibri"/>
              </a:rPr>
              <a:t>never hardcode secrets</a:t>
            </a:r>
          </a:p>
        </p:txBody>
      </p:sp>
      <p:sp>
        <p:nvSpPr>
          <p:cNvPr id="16" name="Rounded Rectangle 15"/>
          <p:cNvSpPr/>
          <p:nvPr/>
        </p:nvSpPr>
        <p:spPr>
          <a:xfrm>
            <a:off x="9601200" y="4343400"/>
            <a:ext cx="2011680" cy="100584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Dependency Audit</a:t>
            </a:r>
          </a:p>
          <a:p>
            <a:pPr algn="ctr"/>
            <a:r>
              <a:rPr sz="1000" b="0">
                <a:solidFill>
                  <a:srgbClr val="2D3436"/>
                </a:solidFill>
                <a:latin typeface="Calibri"/>
              </a:rPr>
              <a:t>Scan on every build,</a:t>
            </a:r>
          </a:p>
          <a:p>
            <a:pPr algn="ctr"/>
            <a:r>
              <a:rPr sz="1000" b="0">
                <a:solidFill>
                  <a:srgbClr val="2D3436"/>
                </a:solidFill>
                <a:latin typeface="Calibri"/>
              </a:rPr>
              <a:t>block on critical CVEs</a:t>
            </a:r>
          </a:p>
        </p:txBody>
      </p:sp>
      <p:sp>
        <p:nvSpPr>
          <p:cNvPr id="17" name="Rounded Rectangle 16"/>
          <p:cNvSpPr/>
          <p:nvPr/>
        </p:nvSpPr>
        <p:spPr>
          <a:xfrm>
            <a:off x="1371600" y="5577840"/>
            <a:ext cx="9418320" cy="50292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DevSecOps: Security is not a phase -- it is embedded in every stage of the pipeline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CI/CD Pipeline Architecture</a:t>
            </a:r>
          </a:p>
        </p:txBody>
      </p:sp>
      <p:sp>
        <p:nvSpPr>
          <p:cNvPr id="3" name="Rounded Rectangle 2"/>
          <p:cNvSpPr/>
          <p:nvPr/>
        </p:nvSpPr>
        <p:spPr>
          <a:xfrm>
            <a:off x="365760" y="6263640"/>
            <a:ext cx="4114800"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DevOps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29</a:t>
            </a:r>
          </a:p>
        </p:txBody>
      </p:sp>
      <p:sp>
        <p:nvSpPr>
          <p:cNvPr id="5" name="Rounded Rectangle 4"/>
          <p:cNvSpPr/>
          <p:nvPr/>
        </p:nvSpPr>
        <p:spPr>
          <a:xfrm>
            <a:off x="457200" y="1188720"/>
            <a:ext cx="155448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Commit</a:t>
            </a:r>
          </a:p>
        </p:txBody>
      </p:sp>
      <p:sp>
        <p:nvSpPr>
          <p:cNvPr id="6" name="Right Arrow 5"/>
          <p:cNvSpPr/>
          <p:nvPr/>
        </p:nvSpPr>
        <p:spPr>
          <a:xfrm>
            <a:off x="2029967" y="1353312"/>
            <a:ext cx="2743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377440" y="1188720"/>
            <a:ext cx="155448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Build</a:t>
            </a:r>
          </a:p>
        </p:txBody>
      </p:sp>
      <p:sp>
        <p:nvSpPr>
          <p:cNvPr id="8" name="Right Arrow 7"/>
          <p:cNvSpPr/>
          <p:nvPr/>
        </p:nvSpPr>
        <p:spPr>
          <a:xfrm>
            <a:off x="3950208" y="1353312"/>
            <a:ext cx="2743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97680" y="1188720"/>
            <a:ext cx="155448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Unit</a:t>
            </a:r>
          </a:p>
          <a:p>
            <a:pPr algn="ctr"/>
            <a:r>
              <a:rPr sz="1000" b="0">
                <a:solidFill>
                  <a:srgbClr val="FFFFFF"/>
                </a:solidFill>
                <a:latin typeface="Calibri"/>
              </a:rPr>
              <a:t>Tests</a:t>
            </a:r>
          </a:p>
        </p:txBody>
      </p:sp>
      <p:sp>
        <p:nvSpPr>
          <p:cNvPr id="10" name="Right Arrow 9"/>
          <p:cNvSpPr/>
          <p:nvPr/>
        </p:nvSpPr>
        <p:spPr>
          <a:xfrm>
            <a:off x="5870448" y="1353312"/>
            <a:ext cx="2743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188720"/>
            <a:ext cx="155448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SAST</a:t>
            </a:r>
          </a:p>
          <a:p>
            <a:pPr algn="ctr"/>
            <a:r>
              <a:rPr sz="1000" b="0">
                <a:solidFill>
                  <a:srgbClr val="FFFFFF"/>
                </a:solidFill>
                <a:latin typeface="Calibri"/>
              </a:rPr>
              <a:t>Scan</a:t>
            </a:r>
          </a:p>
        </p:txBody>
      </p:sp>
      <p:sp>
        <p:nvSpPr>
          <p:cNvPr id="12" name="Right Arrow 11"/>
          <p:cNvSpPr/>
          <p:nvPr/>
        </p:nvSpPr>
        <p:spPr>
          <a:xfrm>
            <a:off x="7790688" y="1353312"/>
            <a:ext cx="2743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1188720"/>
            <a:ext cx="155448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Integration</a:t>
            </a:r>
          </a:p>
          <a:p>
            <a:pPr algn="ctr"/>
            <a:r>
              <a:rPr sz="1000" b="0">
                <a:solidFill>
                  <a:srgbClr val="FFFFFF"/>
                </a:solidFill>
                <a:latin typeface="Calibri"/>
              </a:rPr>
              <a:t>Tests</a:t>
            </a:r>
          </a:p>
        </p:txBody>
      </p:sp>
      <p:sp>
        <p:nvSpPr>
          <p:cNvPr id="14" name="Right Arrow 13"/>
          <p:cNvSpPr/>
          <p:nvPr/>
        </p:nvSpPr>
        <p:spPr>
          <a:xfrm>
            <a:off x="9710928" y="1353312"/>
            <a:ext cx="2743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058400" y="1188720"/>
            <a:ext cx="155448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Docker</a:t>
            </a:r>
          </a:p>
          <a:p>
            <a:pPr algn="ctr"/>
            <a:r>
              <a:rPr sz="1000" b="0">
                <a:solidFill>
                  <a:srgbClr val="FFFFFF"/>
                </a:solidFill>
                <a:latin typeface="Calibri"/>
              </a:rPr>
              <a:t>Build</a:t>
            </a:r>
          </a:p>
        </p:txBody>
      </p:sp>
      <p:sp>
        <p:nvSpPr>
          <p:cNvPr id="16" name="Down Arrow 15"/>
          <p:cNvSpPr/>
          <p:nvPr/>
        </p:nvSpPr>
        <p:spPr>
          <a:xfrm>
            <a:off x="11109960" y="1874519"/>
            <a:ext cx="274320" cy="320040"/>
          </a:xfrm>
          <a:prstGeom prst="down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 y="2377440"/>
            <a:ext cx="173736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Security</a:t>
            </a:r>
          </a:p>
          <a:p>
            <a:pPr algn="ctr"/>
            <a:r>
              <a:rPr sz="1000" b="0">
                <a:solidFill>
                  <a:srgbClr val="FFFFFF"/>
                </a:solidFill>
                <a:latin typeface="Calibri"/>
              </a:rPr>
              <a:t>Scan</a:t>
            </a:r>
          </a:p>
        </p:txBody>
      </p:sp>
      <p:sp>
        <p:nvSpPr>
          <p:cNvPr id="18" name="Right Arrow 17"/>
          <p:cNvSpPr/>
          <p:nvPr/>
        </p:nvSpPr>
        <p:spPr>
          <a:xfrm>
            <a:off x="2212848" y="2542032"/>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743200" y="2377440"/>
            <a:ext cx="173736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Deploy</a:t>
            </a:r>
          </a:p>
          <a:p>
            <a:pPr algn="ctr"/>
            <a:r>
              <a:rPr sz="1000" b="0">
                <a:solidFill>
                  <a:srgbClr val="FFFFFF"/>
                </a:solidFill>
                <a:latin typeface="Calibri"/>
              </a:rPr>
              <a:t>Staging</a:t>
            </a:r>
          </a:p>
        </p:txBody>
      </p:sp>
      <p:sp>
        <p:nvSpPr>
          <p:cNvPr id="20" name="Right Arrow 19"/>
          <p:cNvSpPr/>
          <p:nvPr/>
        </p:nvSpPr>
        <p:spPr>
          <a:xfrm>
            <a:off x="4498848" y="2542032"/>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29200" y="2377440"/>
            <a:ext cx="173736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Smoke</a:t>
            </a:r>
          </a:p>
          <a:p>
            <a:pPr algn="ctr"/>
            <a:r>
              <a:rPr sz="1000" b="0">
                <a:solidFill>
                  <a:srgbClr val="FFFFFF"/>
                </a:solidFill>
                <a:latin typeface="Calibri"/>
              </a:rPr>
              <a:t>Tests</a:t>
            </a:r>
          </a:p>
        </p:txBody>
      </p:sp>
      <p:sp>
        <p:nvSpPr>
          <p:cNvPr id="22" name="Right Arrow 21"/>
          <p:cNvSpPr/>
          <p:nvPr/>
        </p:nvSpPr>
        <p:spPr>
          <a:xfrm>
            <a:off x="6784848" y="2542032"/>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15200" y="2377440"/>
            <a:ext cx="173736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Approval</a:t>
            </a:r>
          </a:p>
          <a:p>
            <a:pPr algn="ctr"/>
            <a:r>
              <a:rPr sz="1000" b="0">
                <a:solidFill>
                  <a:srgbClr val="FFFFFF"/>
                </a:solidFill>
                <a:latin typeface="Calibri"/>
              </a:rPr>
              <a:t>Gate</a:t>
            </a:r>
          </a:p>
        </p:txBody>
      </p:sp>
      <p:sp>
        <p:nvSpPr>
          <p:cNvPr id="24" name="Right Arrow 23"/>
          <p:cNvSpPr/>
          <p:nvPr/>
        </p:nvSpPr>
        <p:spPr>
          <a:xfrm>
            <a:off x="9070848" y="2542032"/>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01200" y="2377440"/>
            <a:ext cx="173736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Deploy</a:t>
            </a:r>
          </a:p>
          <a:p>
            <a:pPr algn="ctr"/>
            <a:r>
              <a:rPr sz="1000" b="0">
                <a:solidFill>
                  <a:srgbClr val="FFFFFF"/>
                </a:solidFill>
                <a:latin typeface="Calibri"/>
              </a:rPr>
              <a:t>Prod</a:t>
            </a:r>
          </a:p>
        </p:txBody>
      </p:sp>
      <p:sp>
        <p:nvSpPr>
          <p:cNvPr id="26" name="TextBox 25"/>
          <p:cNvSpPr txBox="1"/>
          <p:nvPr/>
        </p:nvSpPr>
        <p:spPr>
          <a:xfrm>
            <a:off x="548640" y="3291840"/>
            <a:ext cx="10972800" cy="320040"/>
          </a:xfrm>
          <a:prstGeom prst="rect">
            <a:avLst/>
          </a:prstGeom>
          <a:noFill/>
        </p:spPr>
        <p:txBody>
          <a:bodyPr wrap="square">
            <a:spAutoFit/>
          </a:bodyPr>
          <a:lstStyle/>
          <a:p>
            <a:pPr algn="l"/>
            <a:r>
              <a:rPr sz="1400" b="1">
                <a:solidFill>
                  <a:srgbClr val="4472C4"/>
                </a:solidFill>
                <a:latin typeface="Calibri"/>
              </a:rPr>
              <a:t>Stage Categories</a:t>
            </a:r>
          </a:p>
        </p:txBody>
      </p:sp>
      <p:sp>
        <p:nvSpPr>
          <p:cNvPr id="27" name="Rounded Rectangle 26"/>
          <p:cNvSpPr/>
          <p:nvPr/>
        </p:nvSpPr>
        <p:spPr>
          <a:xfrm>
            <a:off x="548640" y="3657600"/>
            <a:ext cx="1645920" cy="36576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Build</a:t>
            </a:r>
          </a:p>
        </p:txBody>
      </p:sp>
      <p:sp>
        <p:nvSpPr>
          <p:cNvPr id="28" name="Rounded Rectangle 27"/>
          <p:cNvSpPr/>
          <p:nvPr/>
        </p:nvSpPr>
        <p:spPr>
          <a:xfrm>
            <a:off x="2560320" y="3657600"/>
            <a:ext cx="1645920" cy="36576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Test</a:t>
            </a:r>
          </a:p>
        </p:txBody>
      </p:sp>
      <p:sp>
        <p:nvSpPr>
          <p:cNvPr id="29" name="Rounded Rectangle 28"/>
          <p:cNvSpPr/>
          <p:nvPr/>
        </p:nvSpPr>
        <p:spPr>
          <a:xfrm>
            <a:off x="4572000" y="3657600"/>
            <a:ext cx="1645920" cy="36576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Security</a:t>
            </a:r>
          </a:p>
        </p:txBody>
      </p:sp>
      <p:sp>
        <p:nvSpPr>
          <p:cNvPr id="30" name="Rounded Rectangle 29"/>
          <p:cNvSpPr/>
          <p:nvPr/>
        </p:nvSpPr>
        <p:spPr>
          <a:xfrm>
            <a:off x="6583680" y="3657600"/>
            <a:ext cx="1645920" cy="36576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Deploy</a:t>
            </a:r>
          </a:p>
        </p:txBody>
      </p:sp>
      <p:sp>
        <p:nvSpPr>
          <p:cNvPr id="31" name="TextBox 30"/>
          <p:cNvSpPr txBox="1"/>
          <p:nvPr/>
        </p:nvSpPr>
        <p:spPr>
          <a:xfrm>
            <a:off x="548640" y="4251960"/>
            <a:ext cx="5486400" cy="320040"/>
          </a:xfrm>
          <a:prstGeom prst="rect">
            <a:avLst/>
          </a:prstGeom>
          <a:noFill/>
        </p:spPr>
        <p:txBody>
          <a:bodyPr wrap="square">
            <a:spAutoFit/>
          </a:bodyPr>
          <a:lstStyle/>
          <a:p>
            <a:pPr algn="l"/>
            <a:r>
              <a:rPr sz="1400" b="1">
                <a:solidFill>
                  <a:srgbClr val="70AD47"/>
                </a:solidFill>
                <a:latin typeface="Calibri"/>
              </a:rPr>
              <a:t>Quality Gates (enforced automatically)</a:t>
            </a:r>
          </a:p>
        </p:txBody>
      </p:sp>
      <p:sp>
        <p:nvSpPr>
          <p:cNvPr id="32" name="TextBox 31"/>
          <p:cNvSpPr txBox="1"/>
          <p:nvPr/>
        </p:nvSpPr>
        <p:spPr>
          <a:xfrm>
            <a:off x="548640" y="4572000"/>
            <a:ext cx="5486400" cy="1371600"/>
          </a:xfrm>
          <a:prstGeom prst="rect">
            <a:avLst/>
          </a:prstGeom>
          <a:noFill/>
        </p:spPr>
        <p:txBody>
          <a:bodyPr wrap="square">
            <a:spAutoFit/>
          </a:bodyPr>
          <a:lstStyle/>
          <a:p>
            <a:pPr>
              <a:lnSpc>
                <a:spcPct val="130000"/>
              </a:lnSpc>
              <a:spcAft>
                <a:spcPts val="800"/>
              </a:spcAft>
            </a:pPr>
            <a:r>
              <a:rPr sz="1200">
                <a:solidFill>
                  <a:srgbClr val="2D3436"/>
                </a:solidFill>
                <a:latin typeface="Calibri"/>
              </a:rPr>
              <a:t>• All unit &amp; integration tests pass</a:t>
            </a:r>
          </a:p>
          <a:p>
            <a:pPr>
              <a:lnSpc>
                <a:spcPct val="130000"/>
              </a:lnSpc>
              <a:spcAft>
                <a:spcPts val="800"/>
              </a:spcAft>
            </a:pPr>
            <a:r>
              <a:rPr sz="1200">
                <a:solidFill>
                  <a:srgbClr val="2D3436"/>
                </a:solidFill>
                <a:latin typeface="Calibri"/>
              </a:rPr>
              <a:t>• Code coverage &gt;= 80%</a:t>
            </a:r>
          </a:p>
          <a:p>
            <a:pPr>
              <a:lnSpc>
                <a:spcPct val="130000"/>
              </a:lnSpc>
              <a:spcAft>
                <a:spcPts val="800"/>
              </a:spcAft>
            </a:pPr>
            <a:r>
              <a:rPr sz="1200">
                <a:solidFill>
                  <a:srgbClr val="2D3436"/>
                </a:solidFill>
                <a:latin typeface="Calibri"/>
              </a:rPr>
              <a:t>• Zero critical security vulnerabilities</a:t>
            </a:r>
          </a:p>
          <a:p>
            <a:pPr>
              <a:lnSpc>
                <a:spcPct val="130000"/>
              </a:lnSpc>
              <a:spcAft>
                <a:spcPts val="800"/>
              </a:spcAft>
            </a:pPr>
            <a:r>
              <a:rPr sz="1200">
                <a:solidFill>
                  <a:srgbClr val="2D3436"/>
                </a:solidFill>
                <a:latin typeface="Calibri"/>
              </a:rPr>
              <a:t>• Docker image scanned and signed</a:t>
            </a:r>
          </a:p>
          <a:p>
            <a:pPr>
              <a:lnSpc>
                <a:spcPct val="130000"/>
              </a:lnSpc>
              <a:spcAft>
                <a:spcPts val="800"/>
              </a:spcAft>
            </a:pPr>
            <a:r>
              <a:rPr sz="1200">
                <a:solidFill>
                  <a:srgbClr val="2D3436"/>
                </a:solidFill>
                <a:latin typeface="Calibri"/>
              </a:rPr>
              <a:t>• Staging smoke tests pass</a:t>
            </a:r>
          </a:p>
        </p:txBody>
      </p:sp>
      <p:sp>
        <p:nvSpPr>
          <p:cNvPr id="33" name="TextBox 32"/>
          <p:cNvSpPr txBox="1"/>
          <p:nvPr/>
        </p:nvSpPr>
        <p:spPr>
          <a:xfrm>
            <a:off x="6583680" y="4251960"/>
            <a:ext cx="5029200" cy="320040"/>
          </a:xfrm>
          <a:prstGeom prst="rect">
            <a:avLst/>
          </a:prstGeom>
          <a:noFill/>
        </p:spPr>
        <p:txBody>
          <a:bodyPr wrap="square">
            <a:spAutoFit/>
          </a:bodyPr>
          <a:lstStyle/>
          <a:p>
            <a:pPr algn="l"/>
            <a:r>
              <a:rPr sz="1400" b="1">
                <a:solidFill>
                  <a:srgbClr val="9B59B6"/>
                </a:solidFill>
                <a:latin typeface="Calibri"/>
              </a:rPr>
              <a:t>Release Strategy</a:t>
            </a:r>
          </a:p>
        </p:txBody>
      </p:sp>
      <p:sp>
        <p:nvSpPr>
          <p:cNvPr id="34" name="TextBox 33"/>
          <p:cNvSpPr txBox="1"/>
          <p:nvPr/>
        </p:nvSpPr>
        <p:spPr>
          <a:xfrm>
            <a:off x="6583680" y="4572000"/>
            <a:ext cx="5029200" cy="1371600"/>
          </a:xfrm>
          <a:prstGeom prst="rect">
            <a:avLst/>
          </a:prstGeom>
          <a:noFill/>
        </p:spPr>
        <p:txBody>
          <a:bodyPr wrap="square">
            <a:spAutoFit/>
          </a:bodyPr>
          <a:lstStyle/>
          <a:p>
            <a:pPr>
              <a:lnSpc>
                <a:spcPct val="130000"/>
              </a:lnSpc>
              <a:spcAft>
                <a:spcPts val="800"/>
              </a:spcAft>
            </a:pPr>
            <a:r>
              <a:rPr sz="1200">
                <a:solidFill>
                  <a:srgbClr val="2D3436"/>
                </a:solidFill>
                <a:latin typeface="Calibri"/>
              </a:rPr>
              <a:t>• Feature branches -&gt; PR -&gt; main (trunk-based)</a:t>
            </a:r>
          </a:p>
          <a:p>
            <a:pPr>
              <a:lnSpc>
                <a:spcPct val="130000"/>
              </a:lnSpc>
              <a:spcAft>
                <a:spcPts val="800"/>
              </a:spcAft>
            </a:pPr>
            <a:r>
              <a:rPr sz="1200">
                <a:solidFill>
                  <a:srgbClr val="2D3436"/>
                </a:solidFill>
                <a:latin typeface="Calibri"/>
              </a:rPr>
              <a:t>• Automated deployment to staging on merge</a:t>
            </a:r>
          </a:p>
          <a:p>
            <a:pPr>
              <a:lnSpc>
                <a:spcPct val="130000"/>
              </a:lnSpc>
              <a:spcAft>
                <a:spcPts val="800"/>
              </a:spcAft>
            </a:pPr>
            <a:r>
              <a:rPr sz="1200">
                <a:solidFill>
                  <a:srgbClr val="2D3436"/>
                </a:solidFill>
                <a:latin typeface="Calibri"/>
              </a:rPr>
              <a:t>• Manual approval gate for production</a:t>
            </a:r>
          </a:p>
          <a:p>
            <a:pPr>
              <a:lnSpc>
                <a:spcPct val="130000"/>
              </a:lnSpc>
              <a:spcAft>
                <a:spcPts val="800"/>
              </a:spcAft>
            </a:pPr>
            <a:r>
              <a:rPr sz="1200">
                <a:solidFill>
                  <a:srgbClr val="2D3436"/>
                </a:solidFill>
                <a:latin typeface="Calibri"/>
              </a:rPr>
              <a:t>• Blue-green or canary deployment</a:t>
            </a:r>
          </a:p>
          <a:p>
            <a:pPr>
              <a:lnSpc>
                <a:spcPct val="130000"/>
              </a:lnSpc>
              <a:spcAft>
                <a:spcPts val="800"/>
              </a:spcAft>
            </a:pPr>
            <a:r>
              <a:rPr sz="1200">
                <a:solidFill>
                  <a:srgbClr val="2D3436"/>
                </a:solidFill>
                <a:latin typeface="Calibri"/>
              </a:rPr>
              <a:t>• Automatic rollback on health check failure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CI/CD Implementation: GitHub Actions</a:t>
            </a:r>
          </a:p>
        </p:txBody>
      </p:sp>
      <p:sp>
        <p:nvSpPr>
          <p:cNvPr id="3" name="Rounded Rectangle 2"/>
          <p:cNvSpPr/>
          <p:nvPr/>
        </p:nvSpPr>
        <p:spPr>
          <a:xfrm>
            <a:off x="365760" y="6263640"/>
            <a:ext cx="4114800"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DevOps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30</a:t>
            </a:r>
          </a:p>
        </p:txBody>
      </p:sp>
      <p:sp>
        <p:nvSpPr>
          <p:cNvPr id="5" name="Rectangle 4"/>
          <p:cNvSpPr/>
          <p:nvPr/>
        </p:nvSpPr>
        <p:spPr>
          <a:xfrm>
            <a:off x="548640" y="1097280"/>
            <a:ext cx="6858000" cy="45720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1100">
                <a:solidFill>
                  <a:srgbClr val="2D3436"/>
                </a:solidFill>
                <a:latin typeface="Consolas"/>
              </a:rPr>
              <a:t>name: ai-native-ci</a:t>
            </a:r>
          </a:p>
          <a:p>
            <a:pPr>
              <a:spcAft>
                <a:spcPts val="100"/>
              </a:spcAft>
            </a:pPr>
            <a:r>
              <a:rPr sz="1100">
                <a:solidFill>
                  <a:srgbClr val="2D3436"/>
                </a:solidFill>
                <a:latin typeface="Consolas"/>
              </a:rPr>
              <a:t>on: [push, pull_request]</a:t>
            </a:r>
          </a:p>
          <a:p>
            <a:pPr>
              <a:spcAft>
                <a:spcPts val="100"/>
              </a:spcAft>
            </a:pPr>
            <a:r>
              <a:rPr sz="1100">
                <a:solidFill>
                  <a:srgbClr val="2D3436"/>
                </a:solidFill>
                <a:latin typeface="Consolas"/>
              </a:rPr>
              <a:t>jobs:</a:t>
            </a:r>
          </a:p>
          <a:p>
            <a:pPr>
              <a:spcAft>
                <a:spcPts val="100"/>
              </a:spcAft>
            </a:pPr>
            <a:r>
              <a:rPr sz="1100">
                <a:solidFill>
                  <a:srgbClr val="2D3436"/>
                </a:solidFill>
                <a:latin typeface="Consolas"/>
              </a:rPr>
              <a:t>  build-test-scan:</a:t>
            </a:r>
          </a:p>
          <a:p>
            <a:pPr>
              <a:spcAft>
                <a:spcPts val="100"/>
              </a:spcAft>
            </a:pPr>
            <a:r>
              <a:rPr sz="1100">
                <a:solidFill>
                  <a:srgbClr val="2D3436"/>
                </a:solidFill>
                <a:latin typeface="Consolas"/>
              </a:rPr>
              <a:t>    runs-on: ubuntu-latest</a:t>
            </a:r>
          </a:p>
          <a:p>
            <a:pPr>
              <a:spcAft>
                <a:spcPts val="100"/>
              </a:spcAft>
            </a:pPr>
            <a:r>
              <a:rPr sz="1100">
                <a:solidFill>
                  <a:srgbClr val="2D3436"/>
                </a:solidFill>
                <a:latin typeface="Consolas"/>
              </a:rPr>
              <a:t>    steps:</a:t>
            </a:r>
          </a:p>
          <a:p>
            <a:pPr>
              <a:spcAft>
                <a:spcPts val="100"/>
              </a:spcAft>
            </a:pPr>
            <a:r>
              <a:rPr sz="1100">
                <a:solidFill>
                  <a:srgbClr val="2D3436"/>
                </a:solidFill>
                <a:latin typeface="Consolas"/>
              </a:rPr>
              <a:t>      - uses: actions/checkout@v4</a:t>
            </a:r>
          </a:p>
          <a:p>
            <a:pPr>
              <a:spcAft>
                <a:spcPts val="100"/>
              </a:spcAft>
            </a:pPr>
            <a:r>
              <a:rPr sz="1100">
                <a:solidFill>
                  <a:srgbClr val="2D3436"/>
                </a:solidFill>
                <a:latin typeface="Consolas"/>
              </a:rPr>
              <a:t>      - uses: actions/setup-java@v4</a:t>
            </a:r>
          </a:p>
          <a:p>
            <a:pPr>
              <a:spcAft>
                <a:spcPts val="100"/>
              </a:spcAft>
            </a:pPr>
            <a:r>
              <a:rPr sz="1100">
                <a:solidFill>
                  <a:srgbClr val="2D3436"/>
                </a:solidFill>
                <a:latin typeface="Consolas"/>
              </a:rPr>
              <a:t>        with: { java-version: '21' }</a:t>
            </a:r>
          </a:p>
          <a:p>
            <a:pPr>
              <a:spcAft>
                <a:spcPts val="100"/>
              </a:spcAft>
            </a:pPr>
            <a:r>
              <a:rPr sz="1100">
                <a:solidFill>
                  <a:srgbClr val="2D3436"/>
                </a:solidFill>
                <a:latin typeface="Consolas"/>
              </a:rPr>
              <a:t>      - run: ./mvnw verify</a:t>
            </a:r>
          </a:p>
          <a:p>
            <a:pPr>
              <a:spcAft>
                <a:spcPts val="100"/>
              </a:spcAft>
            </a:pPr>
            <a:r>
              <a:rPr sz="1100">
                <a:solidFill>
                  <a:srgbClr val="2D3436"/>
                </a:solidFill>
                <a:latin typeface="Consolas"/>
              </a:rPr>
              <a:t>      - run: ./mvnw sonar:sonar</a:t>
            </a:r>
          </a:p>
          <a:p>
            <a:pPr>
              <a:spcAft>
                <a:spcPts val="100"/>
              </a:spcAft>
            </a:pPr>
            <a:r>
              <a:rPr sz="1100">
                <a:solidFill>
                  <a:srgbClr val="2D3436"/>
                </a:solidFill>
                <a:latin typeface="Consolas"/>
              </a:rPr>
              <a:t>      - uses: snyk/actions/maven@master</a:t>
            </a:r>
          </a:p>
          <a:p>
            <a:pPr>
              <a:spcAft>
                <a:spcPts val="100"/>
              </a:spcAft>
            </a:pPr>
            <a:r>
              <a:rPr sz="1100">
                <a:solidFill>
                  <a:srgbClr val="2D3436"/>
                </a:solidFill>
                <a:latin typeface="Consolas"/>
              </a:rPr>
              <a:t>      - uses: docker/build-push-action@v5</a:t>
            </a:r>
          </a:p>
          <a:p>
            <a:pPr>
              <a:spcAft>
                <a:spcPts val="100"/>
              </a:spcAft>
            </a:pPr>
            <a:r>
              <a:rPr sz="1100">
                <a:solidFill>
                  <a:srgbClr val="2D3436"/>
                </a:solidFill>
                <a:latin typeface="Consolas"/>
              </a:rPr>
              <a:t>        with:</a:t>
            </a:r>
          </a:p>
          <a:p>
            <a:pPr>
              <a:spcAft>
                <a:spcPts val="100"/>
              </a:spcAft>
            </a:pPr>
            <a:r>
              <a:rPr sz="1100">
                <a:solidFill>
                  <a:srgbClr val="2D3436"/>
                </a:solidFill>
                <a:latin typeface="Consolas"/>
              </a:rPr>
              <a:t>          push: true</a:t>
            </a:r>
          </a:p>
          <a:p>
            <a:pPr>
              <a:spcAft>
                <a:spcPts val="100"/>
              </a:spcAft>
            </a:pPr>
            <a:r>
              <a:rPr sz="1100">
                <a:solidFill>
                  <a:srgbClr val="2D3436"/>
                </a:solidFill>
                <a:latin typeface="Consolas"/>
              </a:rPr>
              <a:t>          tags: app:${{ github.sha }}</a:t>
            </a:r>
          </a:p>
          <a:p>
            <a:pPr>
              <a:spcAft>
                <a:spcPts val="100"/>
              </a:spcAft>
            </a:pPr>
            <a:r>
              <a:rPr sz="1100">
                <a:solidFill>
                  <a:srgbClr val="2D3436"/>
                </a:solidFill>
                <a:latin typeface="Consolas"/>
              </a:rPr>
              <a:t>  deploy-staging:</a:t>
            </a:r>
          </a:p>
          <a:p>
            <a:pPr>
              <a:spcAft>
                <a:spcPts val="100"/>
              </a:spcAft>
            </a:pPr>
            <a:r>
              <a:rPr sz="1100">
                <a:solidFill>
                  <a:srgbClr val="2D3436"/>
                </a:solidFill>
                <a:latin typeface="Consolas"/>
              </a:rPr>
              <a:t>    needs: build-test-scan</a:t>
            </a:r>
          </a:p>
          <a:p>
            <a:pPr>
              <a:spcAft>
                <a:spcPts val="100"/>
              </a:spcAft>
            </a:pPr>
            <a:r>
              <a:rPr sz="1100">
                <a:solidFill>
                  <a:srgbClr val="2D3436"/>
                </a:solidFill>
                <a:latin typeface="Consolas"/>
              </a:rPr>
              <a:t>    runs-on: ubuntu-latest</a:t>
            </a:r>
          </a:p>
          <a:p>
            <a:pPr>
              <a:spcAft>
                <a:spcPts val="100"/>
              </a:spcAft>
            </a:pPr>
            <a:r>
              <a:rPr sz="1100">
                <a:solidFill>
                  <a:srgbClr val="2D3436"/>
                </a:solidFill>
                <a:latin typeface="Consolas"/>
              </a:rPr>
              <a:t>    steps:</a:t>
            </a:r>
          </a:p>
          <a:p>
            <a:pPr>
              <a:spcAft>
                <a:spcPts val="100"/>
              </a:spcAft>
            </a:pPr>
            <a:r>
              <a:rPr sz="1100">
                <a:solidFill>
                  <a:srgbClr val="2D3436"/>
                </a:solidFill>
                <a:latin typeface="Consolas"/>
              </a:rPr>
              <a:t>      - run: kubectl apply -f k8s/</a:t>
            </a:r>
          </a:p>
          <a:p>
            <a:pPr>
              <a:spcAft>
                <a:spcPts val="100"/>
              </a:spcAft>
            </a:pPr>
            <a:r>
              <a:rPr sz="1100">
                <a:solidFill>
                  <a:srgbClr val="2D3436"/>
                </a:solidFill>
                <a:latin typeface="Consolas"/>
              </a:rPr>
              <a:t>      - run: ./scripts/smoke-test.sh</a:t>
            </a:r>
          </a:p>
        </p:txBody>
      </p:sp>
      <p:sp>
        <p:nvSpPr>
          <p:cNvPr id="6" name="TextBox 5"/>
          <p:cNvSpPr txBox="1"/>
          <p:nvPr/>
        </p:nvSpPr>
        <p:spPr>
          <a:xfrm>
            <a:off x="7772400" y="1097280"/>
            <a:ext cx="4114800" cy="320040"/>
          </a:xfrm>
          <a:prstGeom prst="rect">
            <a:avLst/>
          </a:prstGeom>
          <a:noFill/>
        </p:spPr>
        <p:txBody>
          <a:bodyPr wrap="square">
            <a:spAutoFit/>
          </a:bodyPr>
          <a:lstStyle/>
          <a:p>
            <a:pPr algn="l"/>
            <a:r>
              <a:rPr sz="1600" b="1">
                <a:solidFill>
                  <a:srgbClr val="ED7D31"/>
                </a:solidFill>
                <a:latin typeface="Calibri"/>
              </a:rPr>
              <a:t>Pipeline Breakdown</a:t>
            </a:r>
          </a:p>
        </p:txBody>
      </p:sp>
      <p:sp>
        <p:nvSpPr>
          <p:cNvPr id="7" name="Rounded Rectangle 6"/>
          <p:cNvSpPr/>
          <p:nvPr/>
        </p:nvSpPr>
        <p:spPr>
          <a:xfrm>
            <a:off x="7772400" y="1508760"/>
            <a:ext cx="3931920" cy="64008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Trigger: Runs on every push and</a:t>
            </a:r>
          </a:p>
          <a:p>
            <a:pPr algn="l"/>
            <a:r>
              <a:rPr sz="1000" b="0">
                <a:solidFill>
                  <a:srgbClr val="2D3436"/>
                </a:solidFill>
                <a:latin typeface="Calibri"/>
              </a:rPr>
              <a:t>pull request to any branch</a:t>
            </a:r>
          </a:p>
        </p:txBody>
      </p:sp>
      <p:sp>
        <p:nvSpPr>
          <p:cNvPr id="8" name="Rounded Rectangle 7"/>
          <p:cNvSpPr/>
          <p:nvPr/>
        </p:nvSpPr>
        <p:spPr>
          <a:xfrm>
            <a:off x="7772400" y="2258568"/>
            <a:ext cx="3931920" cy="6400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Build &amp; Test: ./mvnw verify compiles,</a:t>
            </a:r>
          </a:p>
          <a:p>
            <a:pPr algn="l"/>
            <a:r>
              <a:rPr sz="1000" b="0">
                <a:solidFill>
                  <a:srgbClr val="2D3436"/>
                </a:solidFill>
                <a:latin typeface="Calibri"/>
              </a:rPr>
              <a:t>runs unit + integration tests</a:t>
            </a:r>
          </a:p>
        </p:txBody>
      </p:sp>
      <p:sp>
        <p:nvSpPr>
          <p:cNvPr id="9" name="Rounded Rectangle 8"/>
          <p:cNvSpPr/>
          <p:nvPr/>
        </p:nvSpPr>
        <p:spPr>
          <a:xfrm>
            <a:off x="7772400" y="3008376"/>
            <a:ext cx="3931920" cy="64008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Code Quality: SonarQube scans for bugs,</a:t>
            </a:r>
          </a:p>
          <a:p>
            <a:pPr algn="l"/>
            <a:r>
              <a:rPr sz="1000" b="0">
                <a:solidFill>
                  <a:srgbClr val="2D3436"/>
                </a:solidFill>
                <a:latin typeface="Calibri"/>
              </a:rPr>
              <a:t>code smells, vulnerabilities</a:t>
            </a:r>
          </a:p>
        </p:txBody>
      </p:sp>
      <p:sp>
        <p:nvSpPr>
          <p:cNvPr id="10" name="Rounded Rectangle 9"/>
          <p:cNvSpPr/>
          <p:nvPr/>
        </p:nvSpPr>
        <p:spPr>
          <a:xfrm>
            <a:off x="7772400" y="3758183"/>
            <a:ext cx="3931920" cy="64008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Dependency Scan: Snyk checks all Maven</a:t>
            </a:r>
          </a:p>
          <a:p>
            <a:pPr algn="l"/>
            <a:r>
              <a:rPr sz="1000" b="0">
                <a:solidFill>
                  <a:srgbClr val="2D3436"/>
                </a:solidFill>
                <a:latin typeface="Calibri"/>
              </a:rPr>
              <a:t>dependencies for CVEs</a:t>
            </a:r>
          </a:p>
        </p:txBody>
      </p:sp>
      <p:sp>
        <p:nvSpPr>
          <p:cNvPr id="11" name="Rounded Rectangle 10"/>
          <p:cNvSpPr/>
          <p:nvPr/>
        </p:nvSpPr>
        <p:spPr>
          <a:xfrm>
            <a:off x="7772400" y="4507992"/>
            <a:ext cx="3931920" cy="64008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Docker Build: Builds and pushes image</a:t>
            </a:r>
          </a:p>
          <a:p>
            <a:pPr algn="l"/>
            <a:r>
              <a:rPr sz="1000" b="0">
                <a:solidFill>
                  <a:srgbClr val="2D3436"/>
                </a:solidFill>
                <a:latin typeface="Calibri"/>
              </a:rPr>
              <a:t>tagged with commit SHA</a:t>
            </a:r>
          </a:p>
        </p:txBody>
      </p:sp>
      <p:sp>
        <p:nvSpPr>
          <p:cNvPr id="12" name="Rounded Rectangle 11"/>
          <p:cNvSpPr/>
          <p:nvPr/>
        </p:nvSpPr>
        <p:spPr>
          <a:xfrm>
            <a:off x="7772400" y="5257800"/>
            <a:ext cx="3931920" cy="64008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Deploy Staging: Applies K8s manifests and</a:t>
            </a:r>
          </a:p>
          <a:p>
            <a:pPr algn="l"/>
            <a:r>
              <a:rPr sz="1000" b="0">
                <a:solidFill>
                  <a:srgbClr val="2D3436"/>
                </a:solidFill>
                <a:latin typeface="Calibri"/>
              </a:rPr>
              <a:t>runs smoke test scripts</a:t>
            </a:r>
          </a:p>
        </p:txBody>
      </p:sp>
      <p:sp>
        <p:nvSpPr>
          <p:cNvPr id="13" name="Rounded Rectangle 12"/>
          <p:cNvSpPr/>
          <p:nvPr/>
        </p:nvSpPr>
        <p:spPr>
          <a:xfrm>
            <a:off x="914400" y="5806440"/>
            <a:ext cx="10332720" cy="36576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Tip: AI can generate the entire pipeline YAML from your specification and architecture decisions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Containerization &amp; Deployment</a:t>
            </a:r>
          </a:p>
        </p:txBody>
      </p:sp>
      <p:sp>
        <p:nvSpPr>
          <p:cNvPr id="3" name="Rounded Rectangle 2"/>
          <p:cNvSpPr/>
          <p:nvPr/>
        </p:nvSpPr>
        <p:spPr>
          <a:xfrm>
            <a:off x="365760" y="6263640"/>
            <a:ext cx="4114800"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DevOps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31</a:t>
            </a:r>
          </a:p>
        </p:txBody>
      </p:sp>
      <p:sp>
        <p:nvSpPr>
          <p:cNvPr id="5" name="TextBox 4"/>
          <p:cNvSpPr txBox="1"/>
          <p:nvPr/>
        </p:nvSpPr>
        <p:spPr>
          <a:xfrm>
            <a:off x="548640" y="1051560"/>
            <a:ext cx="5029200" cy="320040"/>
          </a:xfrm>
          <a:prstGeom prst="rect">
            <a:avLst/>
          </a:prstGeom>
          <a:noFill/>
        </p:spPr>
        <p:txBody>
          <a:bodyPr wrap="square">
            <a:spAutoFit/>
          </a:bodyPr>
          <a:lstStyle/>
          <a:p>
            <a:pPr algn="l"/>
            <a:r>
              <a:rPr sz="1400" b="1">
                <a:solidFill>
                  <a:srgbClr val="4472C4"/>
                </a:solidFill>
                <a:latin typeface="Calibri"/>
              </a:rPr>
              <a:t>Dockerfile (Production-Ready)</a:t>
            </a:r>
          </a:p>
        </p:txBody>
      </p:sp>
      <p:sp>
        <p:nvSpPr>
          <p:cNvPr id="6" name="Rectangle 5"/>
          <p:cNvSpPr/>
          <p:nvPr/>
        </p:nvSpPr>
        <p:spPr>
          <a:xfrm>
            <a:off x="548640" y="1417320"/>
            <a:ext cx="5029200" cy="18288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1100">
                <a:solidFill>
                  <a:srgbClr val="2D3436"/>
                </a:solidFill>
                <a:latin typeface="Consolas"/>
              </a:rPr>
              <a:t>FROM eclipse-temurin:21-jre-alpine</a:t>
            </a:r>
          </a:p>
          <a:p>
            <a:pPr>
              <a:spcAft>
                <a:spcPts val="100"/>
              </a:spcAft>
            </a:pPr>
            <a:r>
              <a:rPr sz="1100">
                <a:solidFill>
                  <a:srgbClr val="2D3436"/>
                </a:solidFill>
                <a:latin typeface="Consolas"/>
              </a:rPr>
              <a:t>WORKDIR /app</a:t>
            </a:r>
          </a:p>
          <a:p>
            <a:pPr>
              <a:spcAft>
                <a:spcPts val="100"/>
              </a:spcAft>
            </a:pPr>
            <a:r>
              <a:rPr sz="1100">
                <a:solidFill>
                  <a:srgbClr val="2D3436"/>
                </a:solidFill>
                <a:latin typeface="Consolas"/>
              </a:rPr>
              <a:t>COPY target/task-api.jar app.jar</a:t>
            </a:r>
          </a:p>
          <a:p>
            <a:pPr>
              <a:spcAft>
                <a:spcPts val="100"/>
              </a:spcAft>
            </a:pPr>
            <a:r>
              <a:rPr sz="1100">
                <a:solidFill>
                  <a:srgbClr val="2D3436"/>
                </a:solidFill>
                <a:latin typeface="Consolas"/>
              </a:rPr>
              <a:t>EXPOSE 8080</a:t>
            </a:r>
          </a:p>
          <a:p>
            <a:pPr>
              <a:spcAft>
                <a:spcPts val="100"/>
              </a:spcAft>
            </a:pPr>
            <a:r>
              <a:rPr sz="1100">
                <a:solidFill>
                  <a:srgbClr val="2D3436"/>
                </a:solidFill>
                <a:latin typeface="Consolas"/>
              </a:rPr>
              <a:t>USER 1001</a:t>
            </a:r>
          </a:p>
          <a:p>
            <a:pPr>
              <a:spcAft>
                <a:spcPts val="100"/>
              </a:spcAft>
            </a:pPr>
            <a:r>
              <a:rPr sz="1100">
                <a:solidFill>
                  <a:srgbClr val="2D3436"/>
                </a:solidFill>
                <a:latin typeface="Consolas"/>
              </a:rPr>
              <a:t>ENTRYPOINT ["java", "-jar", "app.jar"]</a:t>
            </a:r>
          </a:p>
        </p:txBody>
      </p:sp>
      <p:sp>
        <p:nvSpPr>
          <p:cNvPr id="7" name="Rounded Rectangle 6"/>
          <p:cNvSpPr/>
          <p:nvPr/>
        </p:nvSpPr>
        <p:spPr>
          <a:xfrm>
            <a:off x="548640" y="3383280"/>
            <a:ext cx="1554480" cy="68580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Alpine base</a:t>
            </a:r>
          </a:p>
          <a:p>
            <a:pPr algn="ctr"/>
            <a:r>
              <a:rPr sz="900" b="0">
                <a:solidFill>
                  <a:srgbClr val="2D3436"/>
                </a:solidFill>
                <a:latin typeface="Calibri"/>
              </a:rPr>
              <a:t>Minimal image (~80MB vs ~400MB)</a:t>
            </a:r>
          </a:p>
        </p:txBody>
      </p:sp>
      <p:sp>
        <p:nvSpPr>
          <p:cNvPr id="8" name="Rounded Rectangle 7"/>
          <p:cNvSpPr/>
          <p:nvPr/>
        </p:nvSpPr>
        <p:spPr>
          <a:xfrm>
            <a:off x="2240280" y="3383280"/>
            <a:ext cx="1554480" cy="68580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Non-root user</a:t>
            </a:r>
          </a:p>
          <a:p>
            <a:pPr algn="ctr"/>
            <a:r>
              <a:rPr sz="900" b="0">
                <a:solidFill>
                  <a:srgbClr val="2D3436"/>
                </a:solidFill>
                <a:latin typeface="Calibri"/>
              </a:rPr>
              <a:t>Security: runs as UID 1001</a:t>
            </a:r>
          </a:p>
        </p:txBody>
      </p:sp>
      <p:sp>
        <p:nvSpPr>
          <p:cNvPr id="9" name="Rounded Rectangle 8"/>
          <p:cNvSpPr/>
          <p:nvPr/>
        </p:nvSpPr>
        <p:spPr>
          <a:xfrm>
            <a:off x="3931920" y="3383280"/>
            <a:ext cx="1554480" cy="68580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Single JAR</a:t>
            </a:r>
          </a:p>
          <a:p>
            <a:pPr algn="ctr"/>
            <a:r>
              <a:rPr sz="900" b="0">
                <a:solidFill>
                  <a:srgbClr val="2D3436"/>
                </a:solidFill>
                <a:latin typeface="Calibri"/>
              </a:rPr>
              <a:t>Fat JAR includes all dependencies</a:t>
            </a:r>
          </a:p>
        </p:txBody>
      </p:sp>
      <p:sp>
        <p:nvSpPr>
          <p:cNvPr id="10" name="TextBox 9"/>
          <p:cNvSpPr txBox="1"/>
          <p:nvPr/>
        </p:nvSpPr>
        <p:spPr>
          <a:xfrm>
            <a:off x="6217920" y="1051560"/>
            <a:ext cx="5486400" cy="320040"/>
          </a:xfrm>
          <a:prstGeom prst="rect">
            <a:avLst/>
          </a:prstGeom>
          <a:noFill/>
        </p:spPr>
        <p:txBody>
          <a:bodyPr wrap="square">
            <a:spAutoFit/>
          </a:bodyPr>
          <a:lstStyle/>
          <a:p>
            <a:pPr algn="l"/>
            <a:r>
              <a:rPr sz="1400" b="1">
                <a:solidFill>
                  <a:srgbClr val="9B59B6"/>
                </a:solidFill>
                <a:latin typeface="Calibri"/>
              </a:rPr>
              <a:t>Deployment Architecture</a:t>
            </a:r>
          </a:p>
        </p:txBody>
      </p:sp>
      <p:sp>
        <p:nvSpPr>
          <p:cNvPr id="11" name="Rounded Rectangle 10"/>
          <p:cNvSpPr/>
          <p:nvPr/>
        </p:nvSpPr>
        <p:spPr>
          <a:xfrm>
            <a:off x="6217920" y="1463040"/>
            <a:ext cx="118872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Docker</a:t>
            </a:r>
          </a:p>
          <a:p>
            <a:pPr algn="ctr"/>
            <a:r>
              <a:rPr sz="1000" b="0">
                <a:solidFill>
                  <a:srgbClr val="FFFFFF"/>
                </a:solidFill>
                <a:latin typeface="Calibri"/>
              </a:rPr>
              <a:t>Image</a:t>
            </a:r>
          </a:p>
        </p:txBody>
      </p:sp>
      <p:sp>
        <p:nvSpPr>
          <p:cNvPr id="12" name="Right Arrow 11"/>
          <p:cNvSpPr/>
          <p:nvPr/>
        </p:nvSpPr>
        <p:spPr>
          <a:xfrm>
            <a:off x="7424927" y="1627632"/>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680960" y="1463040"/>
            <a:ext cx="118872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Container</a:t>
            </a:r>
          </a:p>
          <a:p>
            <a:pPr algn="ctr"/>
            <a:r>
              <a:rPr sz="1000" b="0">
                <a:solidFill>
                  <a:srgbClr val="FFFFFF"/>
                </a:solidFill>
                <a:latin typeface="Calibri"/>
              </a:rPr>
              <a:t>Registry</a:t>
            </a:r>
          </a:p>
        </p:txBody>
      </p:sp>
      <p:sp>
        <p:nvSpPr>
          <p:cNvPr id="14" name="Right Arrow 13"/>
          <p:cNvSpPr/>
          <p:nvPr/>
        </p:nvSpPr>
        <p:spPr>
          <a:xfrm>
            <a:off x="8887968" y="1627632"/>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0" y="1463040"/>
            <a:ext cx="118872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Kubernetes</a:t>
            </a:r>
          </a:p>
          <a:p>
            <a:pPr algn="ctr"/>
            <a:r>
              <a:rPr sz="1000" b="0">
                <a:solidFill>
                  <a:srgbClr val="FFFFFF"/>
                </a:solidFill>
                <a:latin typeface="Calibri"/>
              </a:rPr>
              <a:t>Cluster</a:t>
            </a:r>
          </a:p>
        </p:txBody>
      </p:sp>
      <p:sp>
        <p:nvSpPr>
          <p:cNvPr id="16" name="Right Arrow 15"/>
          <p:cNvSpPr/>
          <p:nvPr/>
        </p:nvSpPr>
        <p:spPr>
          <a:xfrm>
            <a:off x="10351008" y="1627632"/>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607040" y="1463040"/>
            <a:ext cx="118872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Pod</a:t>
            </a:r>
          </a:p>
        </p:txBody>
      </p:sp>
      <p:sp>
        <p:nvSpPr>
          <p:cNvPr id="18" name="Rounded Rectangle 17"/>
          <p:cNvSpPr/>
          <p:nvPr/>
        </p:nvSpPr>
        <p:spPr>
          <a:xfrm>
            <a:off x="6217920" y="2331720"/>
            <a:ext cx="1188720" cy="86868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ConfigMap</a:t>
            </a:r>
          </a:p>
          <a:p>
            <a:pPr algn="ctr"/>
            <a:r>
              <a:rPr sz="900" b="0">
                <a:solidFill>
                  <a:srgbClr val="2D3436"/>
                </a:solidFill>
                <a:latin typeface="Calibri"/>
              </a:rPr>
              <a:t>App config,</a:t>
            </a:r>
          </a:p>
          <a:p>
            <a:pPr algn="ctr"/>
            <a:r>
              <a:rPr sz="900" b="0">
                <a:solidFill>
                  <a:srgbClr val="2D3436"/>
                </a:solidFill>
                <a:latin typeface="Calibri"/>
              </a:rPr>
              <a:t>environment vars</a:t>
            </a:r>
          </a:p>
        </p:txBody>
      </p:sp>
      <p:sp>
        <p:nvSpPr>
          <p:cNvPr id="19" name="Rounded Rectangle 18"/>
          <p:cNvSpPr/>
          <p:nvPr/>
        </p:nvSpPr>
        <p:spPr>
          <a:xfrm>
            <a:off x="7680960" y="2331720"/>
            <a:ext cx="1188720" cy="86868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Secret</a:t>
            </a:r>
          </a:p>
          <a:p>
            <a:pPr algn="ctr"/>
            <a:r>
              <a:rPr sz="900" b="0">
                <a:solidFill>
                  <a:srgbClr val="2D3436"/>
                </a:solidFill>
                <a:latin typeface="Calibri"/>
              </a:rPr>
              <a:t>DB passwords,</a:t>
            </a:r>
          </a:p>
          <a:p>
            <a:pPr algn="ctr"/>
            <a:r>
              <a:rPr sz="900" b="0">
                <a:solidFill>
                  <a:srgbClr val="2D3436"/>
                </a:solidFill>
                <a:latin typeface="Calibri"/>
              </a:rPr>
              <a:t>API keys</a:t>
            </a:r>
          </a:p>
        </p:txBody>
      </p:sp>
      <p:sp>
        <p:nvSpPr>
          <p:cNvPr id="20" name="Rounded Rectangle 19"/>
          <p:cNvSpPr/>
          <p:nvPr/>
        </p:nvSpPr>
        <p:spPr>
          <a:xfrm>
            <a:off x="9144000" y="2331720"/>
            <a:ext cx="1188720" cy="8686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Service</a:t>
            </a:r>
          </a:p>
          <a:p>
            <a:pPr algn="ctr"/>
            <a:r>
              <a:rPr sz="900" b="0">
                <a:solidFill>
                  <a:srgbClr val="2D3436"/>
                </a:solidFill>
                <a:latin typeface="Calibri"/>
              </a:rPr>
              <a:t>Internal load</a:t>
            </a:r>
          </a:p>
          <a:p>
            <a:pPr algn="ctr"/>
            <a:r>
              <a:rPr sz="900" b="0">
                <a:solidFill>
                  <a:srgbClr val="2D3436"/>
                </a:solidFill>
                <a:latin typeface="Calibri"/>
              </a:rPr>
              <a:t>balancing</a:t>
            </a:r>
          </a:p>
        </p:txBody>
      </p:sp>
      <p:sp>
        <p:nvSpPr>
          <p:cNvPr id="21" name="Rounded Rectangle 20"/>
          <p:cNvSpPr/>
          <p:nvPr/>
        </p:nvSpPr>
        <p:spPr>
          <a:xfrm>
            <a:off x="10607040" y="2331720"/>
            <a:ext cx="1188720" cy="86868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Ingress</a:t>
            </a:r>
          </a:p>
          <a:p>
            <a:pPr algn="ctr"/>
            <a:r>
              <a:rPr sz="900" b="0">
                <a:solidFill>
                  <a:srgbClr val="2D3436"/>
                </a:solidFill>
                <a:latin typeface="Calibri"/>
              </a:rPr>
              <a:t>External traffic</a:t>
            </a:r>
          </a:p>
          <a:p>
            <a:pPr algn="ctr"/>
            <a:r>
              <a:rPr sz="900" b="0">
                <a:solidFill>
                  <a:srgbClr val="2D3436"/>
                </a:solidFill>
                <a:latin typeface="Calibri"/>
              </a:rPr>
              <a:t>routing + TLS</a:t>
            </a:r>
          </a:p>
        </p:txBody>
      </p:sp>
      <p:sp>
        <p:nvSpPr>
          <p:cNvPr id="22" name="TextBox 21"/>
          <p:cNvSpPr txBox="1"/>
          <p:nvPr/>
        </p:nvSpPr>
        <p:spPr>
          <a:xfrm>
            <a:off x="548640" y="4297680"/>
            <a:ext cx="10972800" cy="320040"/>
          </a:xfrm>
          <a:prstGeom prst="rect">
            <a:avLst/>
          </a:prstGeom>
          <a:noFill/>
        </p:spPr>
        <p:txBody>
          <a:bodyPr wrap="square">
            <a:spAutoFit/>
          </a:bodyPr>
          <a:lstStyle/>
          <a:p>
            <a:pPr algn="l"/>
            <a:r>
              <a:rPr sz="1600" b="1">
                <a:solidFill>
                  <a:srgbClr val="ED7D31"/>
                </a:solidFill>
                <a:latin typeface="Calibri"/>
              </a:rPr>
              <a:t>Deployment Strategies</a:t>
            </a:r>
          </a:p>
        </p:txBody>
      </p:sp>
      <p:sp>
        <p:nvSpPr>
          <p:cNvPr id="23" name="Rounded Rectangle 22"/>
          <p:cNvSpPr/>
          <p:nvPr/>
        </p:nvSpPr>
        <p:spPr>
          <a:xfrm>
            <a:off x="457200" y="4663440"/>
            <a:ext cx="2560320" cy="109728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Rolling Update</a:t>
            </a:r>
          </a:p>
          <a:p>
            <a:pPr algn="l"/>
            <a:r>
              <a:rPr sz="1000" b="0">
                <a:solidFill>
                  <a:srgbClr val="2D3436"/>
                </a:solidFill>
                <a:latin typeface="Calibri"/>
              </a:rPr>
              <a:t>Replace pods gradually</a:t>
            </a:r>
          </a:p>
          <a:p>
            <a:pPr algn="l"/>
            <a:r>
              <a:rPr sz="1000" b="0">
                <a:solidFill>
                  <a:srgbClr val="2D3436"/>
                </a:solidFill>
                <a:latin typeface="Calibri"/>
              </a:rPr>
              <a:t>Zero-downtime deployment</a:t>
            </a:r>
          </a:p>
          <a:p>
            <a:pPr algn="l"/>
            <a:r>
              <a:rPr sz="1000" b="0">
                <a:solidFill>
                  <a:srgbClr val="2D3436"/>
                </a:solidFill>
                <a:latin typeface="Calibri"/>
              </a:rPr>
              <a:t>Automatic rollback on failure</a:t>
            </a:r>
          </a:p>
        </p:txBody>
      </p:sp>
      <p:sp>
        <p:nvSpPr>
          <p:cNvPr id="24" name="Rounded Rectangle 23"/>
          <p:cNvSpPr/>
          <p:nvPr/>
        </p:nvSpPr>
        <p:spPr>
          <a:xfrm>
            <a:off x="3337560" y="4663440"/>
            <a:ext cx="2560320" cy="10972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Blue-Green</a:t>
            </a:r>
          </a:p>
          <a:p>
            <a:pPr algn="l"/>
            <a:r>
              <a:rPr sz="1000" b="0">
                <a:solidFill>
                  <a:srgbClr val="2D3436"/>
                </a:solidFill>
                <a:latin typeface="Calibri"/>
              </a:rPr>
              <a:t>Two identical environments</a:t>
            </a:r>
          </a:p>
          <a:p>
            <a:pPr algn="l"/>
            <a:r>
              <a:rPr sz="1000" b="0">
                <a:solidFill>
                  <a:srgbClr val="2D3436"/>
                </a:solidFill>
                <a:latin typeface="Calibri"/>
              </a:rPr>
              <a:t>Switch traffic instantly</a:t>
            </a:r>
          </a:p>
          <a:p>
            <a:pPr algn="l"/>
            <a:r>
              <a:rPr sz="1000" b="0">
                <a:solidFill>
                  <a:srgbClr val="2D3436"/>
                </a:solidFill>
                <a:latin typeface="Calibri"/>
              </a:rPr>
              <a:t>Easy rollback to old version</a:t>
            </a:r>
          </a:p>
        </p:txBody>
      </p:sp>
      <p:sp>
        <p:nvSpPr>
          <p:cNvPr id="25" name="Rounded Rectangle 24"/>
          <p:cNvSpPr/>
          <p:nvPr/>
        </p:nvSpPr>
        <p:spPr>
          <a:xfrm>
            <a:off x="6217920" y="4663440"/>
            <a:ext cx="2560320" cy="109728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Canary</a:t>
            </a:r>
          </a:p>
          <a:p>
            <a:pPr algn="l"/>
            <a:r>
              <a:rPr sz="1000" b="0">
                <a:solidFill>
                  <a:srgbClr val="2D3436"/>
                </a:solidFill>
                <a:latin typeface="Calibri"/>
              </a:rPr>
              <a:t>Route small % to new version</a:t>
            </a:r>
          </a:p>
          <a:p>
            <a:pPr algn="l"/>
            <a:r>
              <a:rPr sz="1000" b="0">
                <a:solidFill>
                  <a:srgbClr val="2D3436"/>
                </a:solidFill>
                <a:latin typeface="Calibri"/>
              </a:rPr>
              <a:t>Monitor error rates</a:t>
            </a:r>
          </a:p>
          <a:p>
            <a:pPr algn="l"/>
            <a:r>
              <a:rPr sz="1000" b="0">
                <a:solidFill>
                  <a:srgbClr val="2D3436"/>
                </a:solidFill>
                <a:latin typeface="Calibri"/>
              </a:rPr>
              <a:t>Gradual traffic increase</a:t>
            </a:r>
          </a:p>
        </p:txBody>
      </p:sp>
      <p:sp>
        <p:nvSpPr>
          <p:cNvPr id="26" name="Rounded Rectangle 25"/>
          <p:cNvSpPr/>
          <p:nvPr/>
        </p:nvSpPr>
        <p:spPr>
          <a:xfrm>
            <a:off x="9098280" y="4663440"/>
            <a:ext cx="2560320" cy="109728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Feature Flags</a:t>
            </a:r>
          </a:p>
          <a:p>
            <a:pPr algn="l"/>
            <a:r>
              <a:rPr sz="1000" b="0">
                <a:solidFill>
                  <a:srgbClr val="2D3436"/>
                </a:solidFill>
                <a:latin typeface="Calibri"/>
              </a:rPr>
              <a:t>Deploy code, toggle features</a:t>
            </a:r>
          </a:p>
          <a:p>
            <a:pPr algn="l"/>
            <a:r>
              <a:rPr sz="1000" b="0">
                <a:solidFill>
                  <a:srgbClr val="2D3436"/>
                </a:solidFill>
                <a:latin typeface="Calibri"/>
              </a:rPr>
              <a:t>Test in production safely</a:t>
            </a:r>
          </a:p>
          <a:p>
            <a:pPr algn="l"/>
            <a:r>
              <a:rPr sz="1000" b="0">
                <a:solidFill>
                  <a:srgbClr val="2D3436"/>
                </a:solidFill>
                <a:latin typeface="Calibri"/>
              </a:rPr>
              <a:t>Gradual feature rollout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Performance &amp; Scale Testing</a:t>
            </a:r>
          </a:p>
        </p:txBody>
      </p:sp>
      <p:sp>
        <p:nvSpPr>
          <p:cNvPr id="3" name="Rounded Rectangle 2"/>
          <p:cNvSpPr/>
          <p:nvPr/>
        </p:nvSpPr>
        <p:spPr>
          <a:xfrm>
            <a:off x="365760" y="6263640"/>
            <a:ext cx="4114800" cy="347472"/>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Performance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32</a:t>
            </a:r>
          </a:p>
        </p:txBody>
      </p:sp>
      <p:sp>
        <p:nvSpPr>
          <p:cNvPr id="5" name="TextBox 4"/>
          <p:cNvSpPr txBox="1"/>
          <p:nvPr/>
        </p:nvSpPr>
        <p:spPr>
          <a:xfrm>
            <a:off x="548640" y="1051560"/>
            <a:ext cx="5303520" cy="365760"/>
          </a:xfrm>
          <a:prstGeom prst="rect">
            <a:avLst/>
          </a:prstGeom>
          <a:noFill/>
        </p:spPr>
        <p:txBody>
          <a:bodyPr wrap="square">
            <a:spAutoFit/>
          </a:bodyPr>
          <a:lstStyle/>
          <a:p>
            <a:pPr algn="l"/>
            <a:r>
              <a:rPr sz="1500" b="1">
                <a:solidFill>
                  <a:srgbClr val="008B8B"/>
                </a:solidFill>
                <a:latin typeface="Calibri"/>
              </a:rPr>
              <a:t>Performance Risks in AI-Generated Code</a:t>
            </a:r>
          </a:p>
        </p:txBody>
      </p:sp>
      <p:sp>
        <p:nvSpPr>
          <p:cNvPr id="6" name="TextBox 5"/>
          <p:cNvSpPr txBox="1"/>
          <p:nvPr/>
        </p:nvSpPr>
        <p:spPr>
          <a:xfrm>
            <a:off x="548640" y="1463040"/>
            <a:ext cx="5303520" cy="2743200"/>
          </a:xfrm>
          <a:prstGeom prst="rect">
            <a:avLst/>
          </a:prstGeom>
          <a:noFill/>
        </p:spPr>
        <p:txBody>
          <a:bodyPr wrap="square">
            <a:spAutoFit/>
          </a:bodyPr>
          <a:lstStyle/>
          <a:p>
            <a:pPr>
              <a:lnSpc>
                <a:spcPct val="130000"/>
              </a:lnSpc>
              <a:spcAft>
                <a:spcPts val="800"/>
              </a:spcAft>
            </a:pPr>
            <a:r>
              <a:rPr sz="1200">
                <a:solidFill>
                  <a:srgbClr val="2D3436"/>
                </a:solidFill>
                <a:latin typeface="Calibri"/>
              </a:rPr>
              <a:t>• N+1 Query Patterns</a:t>
            </a:r>
          </a:p>
          <a:p>
            <a:pPr>
              <a:lnSpc>
                <a:spcPct val="130000"/>
              </a:lnSpc>
              <a:spcAft>
                <a:spcPts val="400"/>
              </a:spcAft>
            </a:pPr>
            <a:r>
              <a:rPr sz="1000">
                <a:solidFill>
                  <a:srgbClr val="636E72"/>
                </a:solidFill>
                <a:latin typeface="Calibri"/>
              </a:rPr>
              <a:t>     - AI generates loops with individual DB queries</a:t>
            </a:r>
          </a:p>
          <a:p>
            <a:pPr>
              <a:lnSpc>
                <a:spcPct val="130000"/>
              </a:lnSpc>
              <a:spcAft>
                <a:spcPts val="800"/>
              </a:spcAft>
            </a:pPr>
            <a:r>
              <a:rPr sz="1200">
                <a:solidFill>
                  <a:srgbClr val="2D3436"/>
                </a:solidFill>
                <a:latin typeface="Calibri"/>
              </a:rPr>
              <a:t>• Missing Database Indexes</a:t>
            </a:r>
          </a:p>
          <a:p>
            <a:pPr>
              <a:lnSpc>
                <a:spcPct val="130000"/>
              </a:lnSpc>
              <a:spcAft>
                <a:spcPts val="400"/>
              </a:spcAft>
            </a:pPr>
            <a:r>
              <a:rPr sz="1000">
                <a:solidFill>
                  <a:srgbClr val="636E72"/>
                </a:solidFill>
                <a:latin typeface="Calibri"/>
              </a:rPr>
              <a:t>     - No indexes on frequently queried columns</a:t>
            </a:r>
          </a:p>
          <a:p>
            <a:pPr>
              <a:lnSpc>
                <a:spcPct val="130000"/>
              </a:lnSpc>
              <a:spcAft>
                <a:spcPts val="800"/>
              </a:spcAft>
            </a:pPr>
            <a:r>
              <a:rPr sz="1200">
                <a:solidFill>
                  <a:srgbClr val="2D3436"/>
                </a:solidFill>
                <a:latin typeface="Calibri"/>
              </a:rPr>
              <a:t>• Inefficient Serialization</a:t>
            </a:r>
          </a:p>
          <a:p>
            <a:pPr>
              <a:lnSpc>
                <a:spcPct val="130000"/>
              </a:lnSpc>
              <a:spcAft>
                <a:spcPts val="400"/>
              </a:spcAft>
            </a:pPr>
            <a:r>
              <a:rPr sz="1000">
                <a:solidFill>
                  <a:srgbClr val="636E72"/>
                </a:solidFill>
                <a:latin typeface="Calibri"/>
              </a:rPr>
              <a:t>     - Deep object graphs without DTOs</a:t>
            </a:r>
          </a:p>
          <a:p>
            <a:pPr>
              <a:lnSpc>
                <a:spcPct val="130000"/>
              </a:lnSpc>
              <a:spcAft>
                <a:spcPts val="800"/>
              </a:spcAft>
            </a:pPr>
            <a:r>
              <a:rPr sz="1200">
                <a:solidFill>
                  <a:srgbClr val="2D3436"/>
                </a:solidFill>
                <a:latin typeface="Calibri"/>
              </a:rPr>
              <a:t>• Over-Fetching Data</a:t>
            </a:r>
          </a:p>
          <a:p>
            <a:pPr>
              <a:lnSpc>
                <a:spcPct val="130000"/>
              </a:lnSpc>
              <a:spcAft>
                <a:spcPts val="400"/>
              </a:spcAft>
            </a:pPr>
            <a:r>
              <a:rPr sz="1000">
                <a:solidFill>
                  <a:srgbClr val="636E72"/>
                </a:solidFill>
                <a:latin typeface="Calibri"/>
              </a:rPr>
              <a:t>     - SELECT * instead of specific columns</a:t>
            </a:r>
          </a:p>
          <a:p>
            <a:pPr>
              <a:lnSpc>
                <a:spcPct val="130000"/>
              </a:lnSpc>
              <a:spcAft>
                <a:spcPts val="800"/>
              </a:spcAft>
            </a:pPr>
            <a:r>
              <a:rPr sz="1200">
                <a:solidFill>
                  <a:srgbClr val="2D3436"/>
                </a:solidFill>
                <a:latin typeface="Calibri"/>
              </a:rPr>
              <a:t>• No Caching Strategy</a:t>
            </a:r>
          </a:p>
          <a:p>
            <a:pPr>
              <a:lnSpc>
                <a:spcPct val="130000"/>
              </a:lnSpc>
              <a:spcAft>
                <a:spcPts val="400"/>
              </a:spcAft>
            </a:pPr>
            <a:r>
              <a:rPr sz="1000">
                <a:solidFill>
                  <a:srgbClr val="636E72"/>
                </a:solidFill>
                <a:latin typeface="Calibri"/>
              </a:rPr>
              <a:t>     - Every request hits the database directly</a:t>
            </a:r>
          </a:p>
        </p:txBody>
      </p:sp>
      <p:sp>
        <p:nvSpPr>
          <p:cNvPr id="7" name="TextBox 6"/>
          <p:cNvSpPr txBox="1"/>
          <p:nvPr/>
        </p:nvSpPr>
        <p:spPr>
          <a:xfrm>
            <a:off x="6400800" y="1051560"/>
            <a:ext cx="5303520" cy="365760"/>
          </a:xfrm>
          <a:prstGeom prst="rect">
            <a:avLst/>
          </a:prstGeom>
          <a:noFill/>
        </p:spPr>
        <p:txBody>
          <a:bodyPr wrap="square">
            <a:spAutoFit/>
          </a:bodyPr>
          <a:lstStyle/>
          <a:p>
            <a:pPr algn="l"/>
            <a:r>
              <a:rPr sz="1500" b="1">
                <a:solidFill>
                  <a:srgbClr val="70AD47"/>
                </a:solidFill>
                <a:latin typeface="Calibri"/>
              </a:rPr>
              <a:t>Performance Testing Approach</a:t>
            </a:r>
          </a:p>
        </p:txBody>
      </p:sp>
      <p:sp>
        <p:nvSpPr>
          <p:cNvPr id="8" name="TextBox 7"/>
          <p:cNvSpPr txBox="1"/>
          <p:nvPr/>
        </p:nvSpPr>
        <p:spPr>
          <a:xfrm>
            <a:off x="6400800" y="1463040"/>
            <a:ext cx="5303520" cy="1645920"/>
          </a:xfrm>
          <a:prstGeom prst="rect">
            <a:avLst/>
          </a:prstGeom>
          <a:noFill/>
        </p:spPr>
        <p:txBody>
          <a:bodyPr wrap="square">
            <a:spAutoFit/>
          </a:bodyPr>
          <a:lstStyle/>
          <a:p>
            <a:pPr>
              <a:lnSpc>
                <a:spcPct val="130000"/>
              </a:lnSpc>
              <a:spcAft>
                <a:spcPts val="800"/>
              </a:spcAft>
            </a:pPr>
            <a:r>
              <a:rPr sz="1300">
                <a:solidFill>
                  <a:srgbClr val="2D3436"/>
                </a:solidFill>
                <a:latin typeface="Calibri"/>
              </a:rPr>
              <a:t>• Define measurable targets (P95 &lt; 200ms, 100 concurrent users)</a:t>
            </a:r>
          </a:p>
          <a:p>
            <a:pPr>
              <a:lnSpc>
                <a:spcPct val="130000"/>
              </a:lnSpc>
              <a:spcAft>
                <a:spcPts val="800"/>
              </a:spcAft>
            </a:pPr>
            <a:r>
              <a:rPr sz="1300">
                <a:solidFill>
                  <a:srgbClr val="2D3436"/>
                </a:solidFill>
                <a:latin typeface="Calibri"/>
              </a:rPr>
              <a:t>• Use k6 or JMeter for load testing</a:t>
            </a:r>
          </a:p>
          <a:p>
            <a:pPr>
              <a:lnSpc>
                <a:spcPct val="130000"/>
              </a:lnSpc>
              <a:spcAft>
                <a:spcPts val="800"/>
              </a:spcAft>
            </a:pPr>
            <a:r>
              <a:rPr sz="1300">
                <a:solidFill>
                  <a:srgbClr val="2D3436"/>
                </a:solidFill>
                <a:latin typeface="Calibri"/>
              </a:rPr>
              <a:t>• Monitor with OpenTelemetry / Prometheus</a:t>
            </a:r>
          </a:p>
          <a:p>
            <a:pPr>
              <a:lnSpc>
                <a:spcPct val="130000"/>
              </a:lnSpc>
              <a:spcAft>
                <a:spcPts val="800"/>
              </a:spcAft>
            </a:pPr>
            <a:r>
              <a:rPr sz="1300">
                <a:solidFill>
                  <a:srgbClr val="2D3436"/>
                </a:solidFill>
                <a:latin typeface="Calibri"/>
              </a:rPr>
              <a:t>• Profile and optimize bottlenecks iteratively</a:t>
            </a:r>
          </a:p>
        </p:txBody>
      </p:sp>
      <p:sp>
        <p:nvSpPr>
          <p:cNvPr id="9" name="Rounded Rectangle 8"/>
          <p:cNvSpPr/>
          <p:nvPr/>
        </p:nvSpPr>
        <p:spPr>
          <a:xfrm>
            <a:off x="6400800" y="3200400"/>
            <a:ext cx="1188720" cy="68580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P95 Latency</a:t>
            </a:r>
          </a:p>
          <a:p>
            <a:pPr algn="ctr"/>
            <a:r>
              <a:rPr sz="1000" b="0">
                <a:solidFill>
                  <a:srgbClr val="2D3436"/>
                </a:solidFill>
                <a:latin typeface="Calibri"/>
              </a:rPr>
              <a:t>&lt; 200ms</a:t>
            </a:r>
          </a:p>
        </p:txBody>
      </p:sp>
      <p:sp>
        <p:nvSpPr>
          <p:cNvPr id="10" name="Rounded Rectangle 9"/>
          <p:cNvSpPr/>
          <p:nvPr/>
        </p:nvSpPr>
        <p:spPr>
          <a:xfrm>
            <a:off x="7772400" y="3200400"/>
            <a:ext cx="1188720" cy="68580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Throughput</a:t>
            </a:r>
          </a:p>
          <a:p>
            <a:pPr algn="ctr"/>
            <a:r>
              <a:rPr sz="1000" b="0">
                <a:solidFill>
                  <a:srgbClr val="2D3436"/>
                </a:solidFill>
                <a:latin typeface="Calibri"/>
              </a:rPr>
              <a:t>&gt; 500 req/s</a:t>
            </a:r>
          </a:p>
        </p:txBody>
      </p:sp>
      <p:sp>
        <p:nvSpPr>
          <p:cNvPr id="11" name="Rounded Rectangle 10"/>
          <p:cNvSpPr/>
          <p:nvPr/>
        </p:nvSpPr>
        <p:spPr>
          <a:xfrm>
            <a:off x="9144000" y="3200400"/>
            <a:ext cx="1188720" cy="68580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Concurrent</a:t>
            </a:r>
          </a:p>
          <a:p>
            <a:pPr algn="ctr"/>
            <a:r>
              <a:rPr sz="1000" b="0">
                <a:solidFill>
                  <a:srgbClr val="2D3436"/>
                </a:solidFill>
                <a:latin typeface="Calibri"/>
              </a:rPr>
              <a:t>100 users</a:t>
            </a:r>
          </a:p>
        </p:txBody>
      </p:sp>
      <p:sp>
        <p:nvSpPr>
          <p:cNvPr id="12" name="Rounded Rectangle 11"/>
          <p:cNvSpPr/>
          <p:nvPr/>
        </p:nvSpPr>
        <p:spPr>
          <a:xfrm>
            <a:off x="10515600" y="3200400"/>
            <a:ext cx="1188720" cy="68580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Error Rate</a:t>
            </a:r>
          </a:p>
          <a:p>
            <a:pPr algn="ctr"/>
            <a:r>
              <a:rPr sz="1000" b="0">
                <a:solidFill>
                  <a:srgbClr val="2D3436"/>
                </a:solidFill>
                <a:latin typeface="Calibri"/>
              </a:rPr>
              <a:t>&lt; 0.1%</a:t>
            </a:r>
          </a:p>
        </p:txBody>
      </p:sp>
      <p:sp>
        <p:nvSpPr>
          <p:cNvPr id="13" name="TextBox 12"/>
          <p:cNvSpPr txBox="1"/>
          <p:nvPr/>
        </p:nvSpPr>
        <p:spPr>
          <a:xfrm>
            <a:off x="548640" y="4160520"/>
            <a:ext cx="10972800" cy="320040"/>
          </a:xfrm>
          <a:prstGeom prst="rect">
            <a:avLst/>
          </a:prstGeom>
          <a:noFill/>
        </p:spPr>
        <p:txBody>
          <a:bodyPr wrap="square">
            <a:spAutoFit/>
          </a:bodyPr>
          <a:lstStyle/>
          <a:p>
            <a:pPr algn="l"/>
            <a:r>
              <a:rPr sz="1400" b="1">
                <a:solidFill>
                  <a:srgbClr val="008B8B"/>
                </a:solidFill>
                <a:latin typeface="Calibri"/>
              </a:rPr>
              <a:t>Load Test Example (k6)</a:t>
            </a:r>
          </a:p>
        </p:txBody>
      </p:sp>
      <p:sp>
        <p:nvSpPr>
          <p:cNvPr id="14" name="Rectangle 13"/>
          <p:cNvSpPr/>
          <p:nvPr/>
        </p:nvSpPr>
        <p:spPr>
          <a:xfrm>
            <a:off x="548640" y="4526280"/>
            <a:ext cx="6400800" cy="18288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1100">
                <a:solidFill>
                  <a:srgbClr val="2D3436"/>
                </a:solidFill>
                <a:latin typeface="Consolas"/>
              </a:rPr>
              <a:t>import http from 'k6/http';</a:t>
            </a:r>
          </a:p>
          <a:p>
            <a:pPr>
              <a:spcAft>
                <a:spcPts val="100"/>
              </a:spcAft>
            </a:pPr>
            <a:r>
              <a:rPr sz="1100">
                <a:solidFill>
                  <a:srgbClr val="2D3436"/>
                </a:solidFill>
                <a:latin typeface="Consolas"/>
              </a:rPr>
              <a:t>export default function() {</a:t>
            </a:r>
          </a:p>
          <a:p>
            <a:pPr>
              <a:spcAft>
                <a:spcPts val="100"/>
              </a:spcAft>
            </a:pPr>
            <a:r>
              <a:rPr sz="1100">
                <a:solidFill>
                  <a:srgbClr val="2D3436"/>
                </a:solidFill>
                <a:latin typeface="Consolas"/>
              </a:rPr>
              <a:t>  http.post('http://localhost:8080/api/tasks',</a:t>
            </a:r>
          </a:p>
          <a:p>
            <a:pPr>
              <a:spcAft>
                <a:spcPts val="100"/>
              </a:spcAft>
            </a:pPr>
            <a:r>
              <a:rPr sz="1100">
                <a:solidFill>
                  <a:srgbClr val="2D3436"/>
                </a:solidFill>
                <a:latin typeface="Consolas"/>
              </a:rPr>
              <a:t>    JSON.stringify({title:'Test',priority:'HIGH'}),</a:t>
            </a:r>
          </a:p>
          <a:p>
            <a:pPr>
              <a:spcAft>
                <a:spcPts val="100"/>
              </a:spcAft>
            </a:pPr>
            <a:r>
              <a:rPr sz="1100">
                <a:solidFill>
                  <a:srgbClr val="2D3436"/>
                </a:solidFill>
                <a:latin typeface="Consolas"/>
              </a:rPr>
              <a:t>    {headers:{'Content-Type':'application/json'}});</a:t>
            </a:r>
          </a:p>
          <a:p>
            <a:pPr>
              <a:spcAft>
                <a:spcPts val="100"/>
              </a:spcAft>
            </a:pPr>
            <a:r>
              <a:rPr sz="1100">
                <a:solidFill>
                  <a:srgbClr val="2D3436"/>
                </a:solidFill>
                <a:latin typeface="Consolas"/>
              </a:rPr>
              <a:t>}</a:t>
            </a:r>
          </a:p>
          <a:p>
            <a:pPr>
              <a:spcAft>
                <a:spcPts val="100"/>
              </a:spcAft>
            </a:pPr>
            <a:r>
              <a:rPr sz="1100">
                <a:solidFill>
                  <a:srgbClr val="2D3436"/>
                </a:solidFill>
                <a:latin typeface="Consolas"/>
              </a:rPr>
              <a:t>export const options = { vus: 50, duration: '30s' };</a:t>
            </a:r>
          </a:p>
        </p:txBody>
      </p:sp>
      <p:sp>
        <p:nvSpPr>
          <p:cNvPr id="15" name="TextBox 14"/>
          <p:cNvSpPr txBox="1"/>
          <p:nvPr/>
        </p:nvSpPr>
        <p:spPr>
          <a:xfrm>
            <a:off x="7315200" y="4160520"/>
            <a:ext cx="4389120" cy="320040"/>
          </a:xfrm>
          <a:prstGeom prst="rect">
            <a:avLst/>
          </a:prstGeom>
          <a:noFill/>
        </p:spPr>
        <p:txBody>
          <a:bodyPr wrap="square">
            <a:spAutoFit/>
          </a:bodyPr>
          <a:lstStyle/>
          <a:p>
            <a:pPr algn="l"/>
            <a:r>
              <a:rPr sz="1400" b="1">
                <a:solidFill>
                  <a:srgbClr val="ED7D31"/>
                </a:solidFill>
                <a:latin typeface="Calibri"/>
              </a:rPr>
              <a:t>Monitoring Stack</a:t>
            </a:r>
          </a:p>
        </p:txBody>
      </p:sp>
      <p:sp>
        <p:nvSpPr>
          <p:cNvPr id="16" name="Rounded Rectangle 15"/>
          <p:cNvSpPr/>
          <p:nvPr/>
        </p:nvSpPr>
        <p:spPr>
          <a:xfrm>
            <a:off x="7315200" y="4526280"/>
            <a:ext cx="4389120" cy="54864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OpenTelemetry: Distributed tracing &amp;</a:t>
            </a:r>
          </a:p>
          <a:p>
            <a:pPr algn="l"/>
            <a:r>
              <a:rPr sz="1000" b="0">
                <a:solidFill>
                  <a:srgbClr val="2D3436"/>
                </a:solidFill>
                <a:latin typeface="Calibri"/>
              </a:rPr>
              <a:t>metrics collection</a:t>
            </a:r>
          </a:p>
        </p:txBody>
      </p:sp>
      <p:sp>
        <p:nvSpPr>
          <p:cNvPr id="17" name="Rounded Rectangle 16"/>
          <p:cNvSpPr/>
          <p:nvPr/>
        </p:nvSpPr>
        <p:spPr>
          <a:xfrm>
            <a:off x="7315200" y="5166360"/>
            <a:ext cx="4389120" cy="5486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Prometheus: Time-series metrics</a:t>
            </a:r>
          </a:p>
          <a:p>
            <a:pPr algn="l"/>
            <a:r>
              <a:rPr sz="1000" b="0">
                <a:solidFill>
                  <a:srgbClr val="2D3436"/>
                </a:solidFill>
                <a:latin typeface="Calibri"/>
              </a:rPr>
              <a:t>storage &amp; alerting</a:t>
            </a:r>
          </a:p>
        </p:txBody>
      </p:sp>
      <p:sp>
        <p:nvSpPr>
          <p:cNvPr id="18" name="Rounded Rectangle 17"/>
          <p:cNvSpPr/>
          <p:nvPr/>
        </p:nvSpPr>
        <p:spPr>
          <a:xfrm>
            <a:off x="7315200" y="5806440"/>
            <a:ext cx="4389120" cy="5486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Grafana: Dashboards for</a:t>
            </a:r>
          </a:p>
          <a:p>
            <a:pPr algn="l"/>
            <a:r>
              <a:rPr sz="1000" b="0">
                <a:solidFill>
                  <a:srgbClr val="2D3436"/>
                </a:solidFill>
                <a:latin typeface="Calibri"/>
              </a:rPr>
              <a:t>real-time visibility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Multi-Agent AI Development: Architecture</a:t>
            </a:r>
          </a:p>
        </p:txBody>
      </p:sp>
      <p:sp>
        <p:nvSpPr>
          <p:cNvPr id="3" name="Rounded Rectangle 2"/>
          <p:cNvSpPr/>
          <p:nvPr/>
        </p:nvSpPr>
        <p:spPr>
          <a:xfrm>
            <a:off x="365760" y="6263640"/>
            <a:ext cx="4114800" cy="347472"/>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Multi-Agent</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33</a:t>
            </a:r>
          </a:p>
        </p:txBody>
      </p:sp>
      <p:sp>
        <p:nvSpPr>
          <p:cNvPr id="5" name="Rounded Rectangle 4"/>
          <p:cNvSpPr/>
          <p:nvPr/>
        </p:nvSpPr>
        <p:spPr>
          <a:xfrm>
            <a:off x="3200400" y="2788920"/>
            <a:ext cx="1828800" cy="822960"/>
          </a:xfrm>
          <a:prstGeom prst="round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Orchestrator</a:t>
            </a:r>
          </a:p>
          <a:p>
            <a:pPr algn="ctr"/>
            <a:r>
              <a:rPr sz="1200" b="0">
                <a:solidFill>
                  <a:srgbClr val="FFFFFF"/>
                </a:solidFill>
                <a:latin typeface="Calibri"/>
              </a:rPr>
              <a:t>(Planner + Memory)</a:t>
            </a:r>
          </a:p>
        </p:txBody>
      </p:sp>
      <p:sp>
        <p:nvSpPr>
          <p:cNvPr id="6" name="Rounded Rectangle 5"/>
          <p:cNvSpPr/>
          <p:nvPr/>
        </p:nvSpPr>
        <p:spPr>
          <a:xfrm>
            <a:off x="685800" y="1463040"/>
            <a:ext cx="1371600" cy="68580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Requirements</a:t>
            </a:r>
          </a:p>
          <a:p>
            <a:pPr algn="ctr"/>
            <a:r>
              <a:rPr sz="1000" b="0">
                <a:solidFill>
                  <a:srgbClr val="2D3436"/>
                </a:solidFill>
                <a:latin typeface="Calibri"/>
              </a:rPr>
              <a:t>Agent</a:t>
            </a:r>
          </a:p>
        </p:txBody>
      </p:sp>
      <p:cxnSp>
        <p:nvCxnSpPr>
          <p:cNvPr id="7" name="Connector 6"/>
          <p:cNvCxnSpPr/>
          <p:nvPr/>
        </p:nvCxnSpPr>
        <p:spPr>
          <a:xfrm>
            <a:off x="1371600" y="1805940"/>
            <a:ext cx="2743200" cy="139446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29000" y="1188720"/>
            <a:ext cx="1371600" cy="68580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Architect</a:t>
            </a:r>
          </a:p>
          <a:p>
            <a:pPr algn="ctr"/>
            <a:r>
              <a:rPr sz="1000" b="0">
                <a:solidFill>
                  <a:srgbClr val="2D3436"/>
                </a:solidFill>
                <a:latin typeface="Calibri"/>
              </a:rPr>
              <a:t>Agent</a:t>
            </a:r>
          </a:p>
        </p:txBody>
      </p:sp>
      <p:cxnSp>
        <p:nvCxnSpPr>
          <p:cNvPr id="9" name="Connector 8"/>
          <p:cNvCxnSpPr/>
          <p:nvPr/>
        </p:nvCxnSpPr>
        <p:spPr>
          <a:xfrm>
            <a:off x="4114800" y="1531620"/>
            <a:ext cx="0" cy="166878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989320" y="1463040"/>
            <a:ext cx="1371600" cy="68580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Coding</a:t>
            </a:r>
          </a:p>
          <a:p>
            <a:pPr algn="ctr"/>
            <a:r>
              <a:rPr sz="1000" b="0">
                <a:solidFill>
                  <a:srgbClr val="2D3436"/>
                </a:solidFill>
                <a:latin typeface="Calibri"/>
              </a:rPr>
              <a:t>Agent</a:t>
            </a:r>
          </a:p>
        </p:txBody>
      </p:sp>
      <p:cxnSp>
        <p:nvCxnSpPr>
          <p:cNvPr id="11" name="Connector 10"/>
          <p:cNvCxnSpPr/>
          <p:nvPr/>
        </p:nvCxnSpPr>
        <p:spPr>
          <a:xfrm flipH="1">
            <a:off x="4114800" y="1805940"/>
            <a:ext cx="2560320" cy="139446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989320" y="4389120"/>
            <a:ext cx="1371600" cy="685800"/>
          </a:xfrm>
          <a:prstGeom prst="round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Testing</a:t>
            </a:r>
          </a:p>
          <a:p>
            <a:pPr algn="ctr"/>
            <a:r>
              <a:rPr sz="1000" b="0">
                <a:solidFill>
                  <a:srgbClr val="2D3436"/>
                </a:solidFill>
                <a:latin typeface="Calibri"/>
              </a:rPr>
              <a:t>Agent</a:t>
            </a:r>
          </a:p>
        </p:txBody>
      </p:sp>
      <p:cxnSp>
        <p:nvCxnSpPr>
          <p:cNvPr id="13" name="Connector 12"/>
          <p:cNvCxnSpPr/>
          <p:nvPr/>
        </p:nvCxnSpPr>
        <p:spPr>
          <a:xfrm flipH="1" flipV="1">
            <a:off x="4114800" y="3200400"/>
            <a:ext cx="2560320" cy="153162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29000" y="4846320"/>
            <a:ext cx="1371600" cy="685800"/>
          </a:xfrm>
          <a:prstGeom prst="roundRect">
            <a:avLst/>
          </a:prstGeom>
          <a:solidFill>
            <a:srgbClr val="EFE8F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Security</a:t>
            </a:r>
          </a:p>
          <a:p>
            <a:pPr algn="ctr"/>
            <a:r>
              <a:rPr sz="1000" b="0">
                <a:solidFill>
                  <a:srgbClr val="2D3436"/>
                </a:solidFill>
                <a:latin typeface="Calibri"/>
              </a:rPr>
              <a:t>Agent</a:t>
            </a:r>
          </a:p>
        </p:txBody>
      </p:sp>
      <p:cxnSp>
        <p:nvCxnSpPr>
          <p:cNvPr id="15" name="Connector 14"/>
          <p:cNvCxnSpPr/>
          <p:nvPr/>
        </p:nvCxnSpPr>
        <p:spPr>
          <a:xfrm flipV="1">
            <a:off x="4114800" y="3200400"/>
            <a:ext cx="0" cy="198882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 y="4389120"/>
            <a:ext cx="1371600" cy="6858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DevOps</a:t>
            </a:r>
          </a:p>
          <a:p>
            <a:pPr algn="ctr"/>
            <a:r>
              <a:rPr sz="1000" b="0">
                <a:solidFill>
                  <a:srgbClr val="2D3436"/>
                </a:solidFill>
                <a:latin typeface="Calibri"/>
              </a:rPr>
              <a:t>Agent</a:t>
            </a:r>
          </a:p>
        </p:txBody>
      </p:sp>
      <p:cxnSp>
        <p:nvCxnSpPr>
          <p:cNvPr id="17" name="Connector 16"/>
          <p:cNvCxnSpPr/>
          <p:nvPr/>
        </p:nvCxnSpPr>
        <p:spPr>
          <a:xfrm flipV="1">
            <a:off x="1371600" y="3200400"/>
            <a:ext cx="2743200" cy="153162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046720" y="1188720"/>
            <a:ext cx="3840480" cy="365760"/>
          </a:xfrm>
          <a:prstGeom prst="rect">
            <a:avLst/>
          </a:prstGeom>
          <a:noFill/>
        </p:spPr>
        <p:txBody>
          <a:bodyPr wrap="square">
            <a:spAutoFit/>
          </a:bodyPr>
          <a:lstStyle/>
          <a:p>
            <a:pPr algn="l"/>
            <a:r>
              <a:rPr sz="1600" b="1">
                <a:solidFill>
                  <a:srgbClr val="9B59B6"/>
                </a:solidFill>
                <a:latin typeface="Calibri"/>
              </a:rPr>
              <a:t>Why Multi-Agent?</a:t>
            </a:r>
          </a:p>
        </p:txBody>
      </p:sp>
      <p:sp>
        <p:nvSpPr>
          <p:cNvPr id="19" name="TextBox 18"/>
          <p:cNvSpPr txBox="1"/>
          <p:nvPr/>
        </p:nvSpPr>
        <p:spPr>
          <a:xfrm>
            <a:off x="8046720" y="1645920"/>
            <a:ext cx="3840480" cy="4114800"/>
          </a:xfrm>
          <a:prstGeom prst="rect">
            <a:avLst/>
          </a:prstGeom>
          <a:noFill/>
        </p:spPr>
        <p:txBody>
          <a:bodyPr wrap="square">
            <a:spAutoFit/>
          </a:bodyPr>
          <a:lstStyle/>
          <a:p>
            <a:pPr>
              <a:lnSpc>
                <a:spcPct val="130000"/>
              </a:lnSpc>
              <a:spcAft>
                <a:spcPts val="800"/>
              </a:spcAft>
            </a:pPr>
            <a:r>
              <a:rPr sz="1300">
                <a:solidFill>
                  <a:srgbClr val="2D3436"/>
                </a:solidFill>
                <a:latin typeface="Calibri"/>
              </a:rPr>
              <a:t>• Specialized agents excel at focused tasks</a:t>
            </a:r>
          </a:p>
          <a:p>
            <a:pPr>
              <a:lnSpc>
                <a:spcPct val="130000"/>
              </a:lnSpc>
              <a:spcAft>
                <a:spcPts val="800"/>
              </a:spcAft>
            </a:pPr>
            <a:r>
              <a:rPr sz="1300">
                <a:solidFill>
                  <a:srgbClr val="2D3436"/>
                </a:solidFill>
                <a:latin typeface="Calibri"/>
              </a:rPr>
              <a:t>• Orchestrator coordinates workflow &amp; resolves conflicts</a:t>
            </a:r>
          </a:p>
          <a:p>
            <a:pPr>
              <a:lnSpc>
                <a:spcPct val="130000"/>
              </a:lnSpc>
              <a:spcAft>
                <a:spcPts val="800"/>
              </a:spcAft>
            </a:pPr>
            <a:r>
              <a:rPr sz="1300">
                <a:solidFill>
                  <a:srgbClr val="2D3436"/>
                </a:solidFill>
                <a:latin typeface="Calibri"/>
              </a:rPr>
              <a:t>• Shared memory enables context across agents</a:t>
            </a:r>
          </a:p>
          <a:p>
            <a:pPr>
              <a:lnSpc>
                <a:spcPct val="130000"/>
              </a:lnSpc>
              <a:spcAft>
                <a:spcPts val="800"/>
              </a:spcAft>
            </a:pPr>
            <a:r>
              <a:rPr sz="1300">
                <a:solidFill>
                  <a:srgbClr val="2D3436"/>
                </a:solidFill>
                <a:latin typeface="Calibri"/>
              </a:rPr>
              <a:t>• Parallel execution accelerates the SDLC</a:t>
            </a:r>
          </a:p>
          <a:p>
            <a:pPr>
              <a:lnSpc>
                <a:spcPct val="130000"/>
              </a:lnSpc>
              <a:spcAft>
                <a:spcPts val="800"/>
              </a:spcAft>
            </a:pPr>
            <a:r>
              <a:rPr sz="1300">
                <a:solidFill>
                  <a:srgbClr val="2D3436"/>
                </a:solidFill>
                <a:latin typeface="Calibri"/>
              </a:rPr>
              <a:t>• Human checkpoints at critical decision points</a:t>
            </a:r>
          </a:p>
          <a:p>
            <a:pPr>
              <a:lnSpc>
                <a:spcPct val="130000"/>
              </a:lnSpc>
              <a:spcAft>
                <a:spcPts val="800"/>
              </a:spcAft>
            </a:pPr>
            <a:r>
              <a:rPr sz="1300">
                <a:solidFill>
                  <a:srgbClr val="2D3436"/>
                </a:solidFill>
                <a:latin typeface="Calibri"/>
              </a:rPr>
              <a:t>• Each agent has its own tools &amp; permissions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Agent Roles &amp; Orchestration Workflow</a:t>
            </a:r>
          </a:p>
        </p:txBody>
      </p:sp>
      <p:sp>
        <p:nvSpPr>
          <p:cNvPr id="3" name="Rounded Rectangle 2"/>
          <p:cNvSpPr/>
          <p:nvPr/>
        </p:nvSpPr>
        <p:spPr>
          <a:xfrm>
            <a:off x="365760" y="6263640"/>
            <a:ext cx="4114800" cy="347472"/>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Multi-Agent</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34</a:t>
            </a:r>
          </a:p>
        </p:txBody>
      </p:sp>
      <p:sp>
        <p:nvSpPr>
          <p:cNvPr id="5" name="Rounded Rectangle 4"/>
          <p:cNvSpPr/>
          <p:nvPr/>
        </p:nvSpPr>
        <p:spPr>
          <a:xfrm>
            <a:off x="320040" y="1143000"/>
            <a:ext cx="123444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User</a:t>
            </a:r>
          </a:p>
          <a:p>
            <a:pPr algn="ctr"/>
            <a:r>
              <a:rPr sz="900" b="0">
                <a:solidFill>
                  <a:srgbClr val="FFFFFF"/>
                </a:solidFill>
                <a:latin typeface="Calibri"/>
              </a:rPr>
              <a:t>Request</a:t>
            </a:r>
          </a:p>
        </p:txBody>
      </p:sp>
      <p:sp>
        <p:nvSpPr>
          <p:cNvPr id="6" name="Right Arrow 5"/>
          <p:cNvSpPr/>
          <p:nvPr/>
        </p:nvSpPr>
        <p:spPr>
          <a:xfrm>
            <a:off x="1572768"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55648" y="1143000"/>
            <a:ext cx="123444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Requirements</a:t>
            </a:r>
          </a:p>
          <a:p>
            <a:pPr algn="ctr"/>
            <a:r>
              <a:rPr sz="900" b="0">
                <a:solidFill>
                  <a:srgbClr val="FFFFFF"/>
                </a:solidFill>
                <a:latin typeface="Calibri"/>
              </a:rPr>
              <a:t>Agent</a:t>
            </a:r>
          </a:p>
        </p:txBody>
      </p:sp>
      <p:sp>
        <p:nvSpPr>
          <p:cNvPr id="8" name="Right Arrow 7"/>
          <p:cNvSpPr/>
          <p:nvPr/>
        </p:nvSpPr>
        <p:spPr>
          <a:xfrm>
            <a:off x="3008376"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191256" y="1143000"/>
            <a:ext cx="123444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Architect</a:t>
            </a:r>
          </a:p>
          <a:p>
            <a:pPr algn="ctr"/>
            <a:r>
              <a:rPr sz="900" b="0">
                <a:solidFill>
                  <a:srgbClr val="FFFFFF"/>
                </a:solidFill>
                <a:latin typeface="Calibri"/>
              </a:rPr>
              <a:t>Agent</a:t>
            </a:r>
          </a:p>
        </p:txBody>
      </p:sp>
      <p:sp>
        <p:nvSpPr>
          <p:cNvPr id="10" name="Right Arrow 9"/>
          <p:cNvSpPr/>
          <p:nvPr/>
        </p:nvSpPr>
        <p:spPr>
          <a:xfrm>
            <a:off x="4443984"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26864" y="1143000"/>
            <a:ext cx="123444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Coding</a:t>
            </a:r>
          </a:p>
          <a:p>
            <a:pPr algn="ctr"/>
            <a:r>
              <a:rPr sz="900" b="0">
                <a:solidFill>
                  <a:srgbClr val="FFFFFF"/>
                </a:solidFill>
                <a:latin typeface="Calibri"/>
              </a:rPr>
              <a:t>Agent</a:t>
            </a:r>
          </a:p>
        </p:txBody>
      </p:sp>
      <p:sp>
        <p:nvSpPr>
          <p:cNvPr id="12" name="Right Arrow 11"/>
          <p:cNvSpPr/>
          <p:nvPr/>
        </p:nvSpPr>
        <p:spPr>
          <a:xfrm>
            <a:off x="5879592"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062472" y="1143000"/>
            <a:ext cx="123444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Testing</a:t>
            </a:r>
          </a:p>
          <a:p>
            <a:pPr algn="ctr"/>
            <a:r>
              <a:rPr sz="900" b="0">
                <a:solidFill>
                  <a:srgbClr val="FFFFFF"/>
                </a:solidFill>
                <a:latin typeface="Calibri"/>
              </a:rPr>
              <a:t>Agent</a:t>
            </a:r>
          </a:p>
        </p:txBody>
      </p:sp>
      <p:sp>
        <p:nvSpPr>
          <p:cNvPr id="14" name="Right Arrow 13"/>
          <p:cNvSpPr/>
          <p:nvPr/>
        </p:nvSpPr>
        <p:spPr>
          <a:xfrm>
            <a:off x="7315200"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98080" y="1143000"/>
            <a:ext cx="1234440" cy="64008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Security</a:t>
            </a:r>
          </a:p>
          <a:p>
            <a:pPr algn="ctr"/>
            <a:r>
              <a:rPr sz="900" b="0">
                <a:solidFill>
                  <a:srgbClr val="FFFFFF"/>
                </a:solidFill>
                <a:latin typeface="Calibri"/>
              </a:rPr>
              <a:t>Agent</a:t>
            </a:r>
          </a:p>
        </p:txBody>
      </p:sp>
      <p:sp>
        <p:nvSpPr>
          <p:cNvPr id="16" name="Right Arrow 15"/>
          <p:cNvSpPr/>
          <p:nvPr/>
        </p:nvSpPr>
        <p:spPr>
          <a:xfrm>
            <a:off x="8750808"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33688" y="1143000"/>
            <a:ext cx="123444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DevOps</a:t>
            </a:r>
          </a:p>
          <a:p>
            <a:pPr algn="ctr"/>
            <a:r>
              <a:rPr sz="900" b="0">
                <a:solidFill>
                  <a:srgbClr val="FFFFFF"/>
                </a:solidFill>
                <a:latin typeface="Calibri"/>
              </a:rPr>
              <a:t>Agent</a:t>
            </a:r>
          </a:p>
        </p:txBody>
      </p:sp>
      <p:sp>
        <p:nvSpPr>
          <p:cNvPr id="18" name="Right Arrow 17"/>
          <p:cNvSpPr/>
          <p:nvPr/>
        </p:nvSpPr>
        <p:spPr>
          <a:xfrm>
            <a:off x="10186416"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369296" y="1143000"/>
            <a:ext cx="123444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Deployed</a:t>
            </a:r>
          </a:p>
          <a:p>
            <a:pPr algn="ctr"/>
            <a:r>
              <a:rPr sz="900" b="0">
                <a:solidFill>
                  <a:srgbClr val="FFFFFF"/>
                </a:solidFill>
                <a:latin typeface="Calibri"/>
              </a:rPr>
              <a:t>System</a:t>
            </a:r>
          </a:p>
        </p:txBody>
      </p:sp>
      <p:graphicFrame>
        <p:nvGraphicFramePr>
          <p:cNvPr id="20" name="Table 19"/>
          <p:cNvGraphicFramePr>
            <a:graphicFrameLocks noGrp="1"/>
          </p:cNvGraphicFramePr>
          <p:nvPr/>
        </p:nvGraphicFramePr>
        <p:xfrm>
          <a:off x="365760" y="2103120"/>
          <a:ext cx="11430000" cy="3840480"/>
        </p:xfrm>
        <a:graphic>
          <a:graphicData uri="http://schemas.openxmlformats.org/drawingml/2006/table">
            <a:tbl>
              <a:tblPr firstRow="1" bandRow="1">
                <a:tableStyleId>{5C22544A-7EE6-4342-B048-85BDC9FD1C3A}</a:tableStyleId>
              </a:tblPr>
              <a:tblGrid>
                <a:gridCol w="3810000"/>
                <a:gridCol w="3810000"/>
                <a:gridCol w="3810000"/>
              </a:tblGrid>
              <a:tr h="548640">
                <a:tc>
                  <a:txBody>
                    <a:bodyPr/>
                    <a:lstStyle/>
                    <a:p>
                      <a:r>
                        <a:rPr sz="1200" b="1">
                          <a:solidFill>
                            <a:srgbClr val="FFFFFF"/>
                          </a:solidFill>
                          <a:latin typeface="Calibri"/>
                        </a:rPr>
                        <a:t>Agent</a:t>
                      </a:r>
                    </a:p>
                  </a:txBody>
                  <a:tcPr>
                    <a:solidFill>
                      <a:srgbClr val="2F75B5"/>
                    </a:solidFill>
                  </a:tcPr>
                </a:tc>
                <a:tc>
                  <a:txBody>
                    <a:bodyPr/>
                    <a:lstStyle/>
                    <a:p>
                      <a:r>
                        <a:rPr sz="1200" b="1">
                          <a:solidFill>
                            <a:srgbClr val="FFFFFF"/>
                          </a:solidFill>
                          <a:latin typeface="Calibri"/>
                        </a:rPr>
                        <a:t>Responsibility</a:t>
                      </a:r>
                    </a:p>
                  </a:txBody>
                  <a:tcPr>
                    <a:solidFill>
                      <a:srgbClr val="2F75B5"/>
                    </a:solidFill>
                  </a:tcPr>
                </a:tc>
                <a:tc>
                  <a:txBody>
                    <a:bodyPr/>
                    <a:lstStyle/>
                    <a:p>
                      <a:r>
                        <a:rPr sz="1200" b="1">
                          <a:solidFill>
                            <a:srgbClr val="FFFFFF"/>
                          </a:solidFill>
                          <a:latin typeface="Calibri"/>
                        </a:rPr>
                        <a:t>Output Artifacts</a:t>
                      </a:r>
                    </a:p>
                  </a:txBody>
                  <a:tcPr>
                    <a:solidFill>
                      <a:srgbClr val="2F75B5"/>
                    </a:solidFill>
                  </a:tcPr>
                </a:tc>
              </a:tr>
              <a:tr h="548640">
                <a:tc>
                  <a:txBody>
                    <a:bodyPr/>
                    <a:lstStyle/>
                    <a:p>
                      <a:r>
                        <a:rPr sz="1200">
                          <a:solidFill>
                            <a:srgbClr val="2D3436"/>
                          </a:solidFill>
                          <a:latin typeface="Calibri"/>
                        </a:rPr>
                        <a:t>Requirements Agent</a:t>
                      </a:r>
                    </a:p>
                  </a:txBody>
                  <a:tcPr>
                    <a:solidFill>
                      <a:srgbClr val="DDEBF7"/>
                    </a:solidFill>
                  </a:tcPr>
                </a:tc>
                <a:tc>
                  <a:txBody>
                    <a:bodyPr/>
                    <a:lstStyle/>
                    <a:p>
                      <a:r>
                        <a:rPr sz="1200">
                          <a:solidFill>
                            <a:srgbClr val="2D3436"/>
                          </a:solidFill>
                          <a:latin typeface="Calibri"/>
                        </a:rPr>
                        <a:t>Clarifies scope, acceptance criteria</a:t>
                      </a:r>
                    </a:p>
                  </a:txBody>
                  <a:tcPr>
                    <a:solidFill>
                      <a:srgbClr val="DDEBF7"/>
                    </a:solidFill>
                  </a:tcPr>
                </a:tc>
                <a:tc>
                  <a:txBody>
                    <a:bodyPr/>
                    <a:lstStyle/>
                    <a:p>
                      <a:r>
                        <a:rPr sz="1200">
                          <a:solidFill>
                            <a:srgbClr val="2D3436"/>
                          </a:solidFill>
                          <a:latin typeface="Calibri"/>
                        </a:rPr>
                        <a:t>Requirement doc, acceptance tests</a:t>
                      </a:r>
                    </a:p>
                  </a:txBody>
                  <a:tcPr>
                    <a:solidFill>
                      <a:srgbClr val="DDEBF7"/>
                    </a:solidFill>
                  </a:tcPr>
                </a:tc>
              </a:tr>
              <a:tr h="548640">
                <a:tc>
                  <a:txBody>
                    <a:bodyPr/>
                    <a:lstStyle/>
                    <a:p>
                      <a:r>
                        <a:rPr sz="1200">
                          <a:solidFill>
                            <a:srgbClr val="2D3436"/>
                          </a:solidFill>
                          <a:latin typeface="Calibri"/>
                        </a:rPr>
                        <a:t>Architect Agent</a:t>
                      </a:r>
                    </a:p>
                  </a:txBody>
                  <a:tcPr>
                    <a:solidFill>
                      <a:srgbClr val="E2EFDA"/>
                    </a:solidFill>
                  </a:tcPr>
                </a:tc>
                <a:tc>
                  <a:txBody>
                    <a:bodyPr/>
                    <a:lstStyle/>
                    <a:p>
                      <a:r>
                        <a:rPr sz="1200">
                          <a:solidFill>
                            <a:srgbClr val="2D3436"/>
                          </a:solidFill>
                          <a:latin typeface="Calibri"/>
                        </a:rPr>
                        <a:t>Proposes design, evaluates trade-offs</a:t>
                      </a:r>
                    </a:p>
                  </a:txBody>
                  <a:tcPr>
                    <a:solidFill>
                      <a:srgbClr val="E2EFDA"/>
                    </a:solidFill>
                  </a:tcPr>
                </a:tc>
                <a:tc>
                  <a:txBody>
                    <a:bodyPr/>
                    <a:lstStyle/>
                    <a:p>
                      <a:r>
                        <a:rPr sz="1200">
                          <a:solidFill>
                            <a:srgbClr val="2D3436"/>
                          </a:solidFill>
                          <a:latin typeface="Calibri"/>
                        </a:rPr>
                        <a:t>Architecture diagrams, ADRs</a:t>
                      </a:r>
                    </a:p>
                  </a:txBody>
                  <a:tcPr>
                    <a:solidFill>
                      <a:srgbClr val="E2EFDA"/>
                    </a:solidFill>
                  </a:tcPr>
                </a:tc>
              </a:tr>
              <a:tr h="548640">
                <a:tc>
                  <a:txBody>
                    <a:bodyPr/>
                    <a:lstStyle/>
                    <a:p>
                      <a:r>
                        <a:rPr sz="1200">
                          <a:solidFill>
                            <a:srgbClr val="2D3436"/>
                          </a:solidFill>
                          <a:latin typeface="Calibri"/>
                        </a:rPr>
                        <a:t>Coding Agent</a:t>
                      </a:r>
                    </a:p>
                  </a:txBody>
                  <a:tcPr>
                    <a:solidFill>
                      <a:srgbClr val="FCE4D6"/>
                    </a:solidFill>
                  </a:tcPr>
                </a:tc>
                <a:tc>
                  <a:txBody>
                    <a:bodyPr/>
                    <a:lstStyle/>
                    <a:p>
                      <a:r>
                        <a:rPr sz="1200">
                          <a:solidFill>
                            <a:srgbClr val="2D3436"/>
                          </a:solidFill>
                          <a:latin typeface="Calibri"/>
                        </a:rPr>
                        <a:t>Implements features from specs</a:t>
                      </a:r>
                    </a:p>
                  </a:txBody>
                  <a:tcPr>
                    <a:solidFill>
                      <a:srgbClr val="FCE4D6"/>
                    </a:solidFill>
                  </a:tcPr>
                </a:tc>
                <a:tc>
                  <a:txBody>
                    <a:bodyPr/>
                    <a:lstStyle/>
                    <a:p>
                      <a:r>
                        <a:rPr sz="1200">
                          <a:solidFill>
                            <a:srgbClr val="2D3436"/>
                          </a:solidFill>
                          <a:latin typeface="Calibri"/>
                        </a:rPr>
                        <a:t>Source code, unit tests</a:t>
                      </a:r>
                    </a:p>
                  </a:txBody>
                  <a:tcPr>
                    <a:solidFill>
                      <a:srgbClr val="FCE4D6"/>
                    </a:solidFill>
                  </a:tcPr>
                </a:tc>
              </a:tr>
              <a:tr h="548640">
                <a:tc>
                  <a:txBody>
                    <a:bodyPr/>
                    <a:lstStyle/>
                    <a:p>
                      <a:r>
                        <a:rPr sz="1200">
                          <a:solidFill>
                            <a:srgbClr val="2D3436"/>
                          </a:solidFill>
                          <a:latin typeface="Calibri"/>
                        </a:rPr>
                        <a:t>Testing Agent</a:t>
                      </a:r>
                    </a:p>
                  </a:txBody>
                  <a:tcPr>
                    <a:solidFill>
                      <a:srgbClr val="FFF2CC"/>
                    </a:solidFill>
                  </a:tcPr>
                </a:tc>
                <a:tc>
                  <a:txBody>
                    <a:bodyPr/>
                    <a:lstStyle/>
                    <a:p>
                      <a:r>
                        <a:rPr sz="1200">
                          <a:solidFill>
                            <a:srgbClr val="2D3436"/>
                          </a:solidFill>
                          <a:latin typeface="Calibri"/>
                        </a:rPr>
                        <a:t>Validates correctness &amp; coverage</a:t>
                      </a:r>
                    </a:p>
                  </a:txBody>
                  <a:tcPr>
                    <a:solidFill>
                      <a:srgbClr val="FFF2CC"/>
                    </a:solidFill>
                  </a:tcPr>
                </a:tc>
                <a:tc>
                  <a:txBody>
                    <a:bodyPr/>
                    <a:lstStyle/>
                    <a:p>
                      <a:r>
                        <a:rPr sz="1200">
                          <a:solidFill>
                            <a:srgbClr val="2D3436"/>
                          </a:solidFill>
                          <a:latin typeface="Calibri"/>
                        </a:rPr>
                        <a:t>Test results, coverage report</a:t>
                      </a:r>
                    </a:p>
                  </a:txBody>
                  <a:tcPr>
                    <a:solidFill>
                      <a:srgbClr val="FFF2CC"/>
                    </a:solidFill>
                  </a:tcPr>
                </a:tc>
              </a:tr>
              <a:tr h="548640">
                <a:tc>
                  <a:txBody>
                    <a:bodyPr/>
                    <a:lstStyle/>
                    <a:p>
                      <a:r>
                        <a:rPr sz="1200">
                          <a:solidFill>
                            <a:srgbClr val="2D3436"/>
                          </a:solidFill>
                          <a:latin typeface="Calibri"/>
                        </a:rPr>
                        <a:t>Security Agent</a:t>
                      </a:r>
                    </a:p>
                  </a:txBody>
                  <a:tcPr>
                    <a:solidFill>
                      <a:srgbClr val="EFE8F9"/>
                    </a:solidFill>
                  </a:tcPr>
                </a:tc>
                <a:tc>
                  <a:txBody>
                    <a:bodyPr/>
                    <a:lstStyle/>
                    <a:p>
                      <a:r>
                        <a:rPr sz="1200">
                          <a:solidFill>
                            <a:srgbClr val="2D3436"/>
                          </a:solidFill>
                          <a:latin typeface="Calibri"/>
                        </a:rPr>
                        <a:t>Reviews for vulnerabilities</a:t>
                      </a:r>
                    </a:p>
                  </a:txBody>
                  <a:tcPr>
                    <a:solidFill>
                      <a:srgbClr val="EFE8F9"/>
                    </a:solidFill>
                  </a:tcPr>
                </a:tc>
                <a:tc>
                  <a:txBody>
                    <a:bodyPr/>
                    <a:lstStyle/>
                    <a:p>
                      <a:r>
                        <a:rPr sz="1200">
                          <a:solidFill>
                            <a:srgbClr val="2D3436"/>
                          </a:solidFill>
                          <a:latin typeface="Calibri"/>
                        </a:rPr>
                        <a:t>Security report, fixes</a:t>
                      </a:r>
                    </a:p>
                  </a:txBody>
                  <a:tcPr>
                    <a:solidFill>
                      <a:srgbClr val="EFE8F9"/>
                    </a:solidFill>
                  </a:tcPr>
                </a:tc>
              </a:tr>
              <a:tr h="548640">
                <a:tc>
                  <a:txBody>
                    <a:bodyPr/>
                    <a:lstStyle/>
                    <a:p>
                      <a:r>
                        <a:rPr sz="1200">
                          <a:solidFill>
                            <a:srgbClr val="2D3436"/>
                          </a:solidFill>
                          <a:latin typeface="Calibri"/>
                        </a:rPr>
                        <a:t>DevOps Agent</a:t>
                      </a:r>
                    </a:p>
                  </a:txBody>
                  <a:tcPr>
                    <a:solidFill>
                      <a:srgbClr val="E0F7FA"/>
                    </a:solidFill>
                  </a:tcPr>
                </a:tc>
                <a:tc>
                  <a:txBody>
                    <a:bodyPr/>
                    <a:lstStyle/>
                    <a:p>
                      <a:r>
                        <a:rPr sz="1200">
                          <a:solidFill>
                            <a:srgbClr val="2D3436"/>
                          </a:solidFill>
                          <a:latin typeface="Calibri"/>
                        </a:rPr>
                        <a:t>Automates build &amp; deployment</a:t>
                      </a:r>
                    </a:p>
                  </a:txBody>
                  <a:tcPr>
                    <a:solidFill>
                      <a:srgbClr val="E0F7FA"/>
                    </a:solidFill>
                  </a:tcPr>
                </a:tc>
                <a:tc>
                  <a:txBody>
                    <a:bodyPr/>
                    <a:lstStyle/>
                    <a:p>
                      <a:r>
                        <a:rPr sz="1200">
                          <a:solidFill>
                            <a:srgbClr val="2D3436"/>
                          </a:solidFill>
                          <a:latin typeface="Calibri"/>
                        </a:rPr>
                        <a:t>CI/CD pipeline, deploy config</a:t>
                      </a:r>
                    </a:p>
                  </a:txBody>
                  <a:tcPr>
                    <a:solidFill>
                      <a:srgbClr val="E0F7FA"/>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Model Context Protocol &amp; Tool Integration</a:t>
            </a:r>
          </a:p>
        </p:txBody>
      </p:sp>
      <p:sp>
        <p:nvSpPr>
          <p:cNvPr id="3" name="Rounded Rectangle 2"/>
          <p:cNvSpPr/>
          <p:nvPr/>
        </p:nvSpPr>
        <p:spPr>
          <a:xfrm>
            <a:off x="365760" y="6263640"/>
            <a:ext cx="4114800" cy="347472"/>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Multi-Agent</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35</a:t>
            </a:r>
          </a:p>
        </p:txBody>
      </p:sp>
      <p:sp>
        <p:nvSpPr>
          <p:cNvPr id="5" name="TextBox 4"/>
          <p:cNvSpPr txBox="1"/>
          <p:nvPr/>
        </p:nvSpPr>
        <p:spPr>
          <a:xfrm>
            <a:off x="548640" y="1188720"/>
            <a:ext cx="5029200" cy="365760"/>
          </a:xfrm>
          <a:prstGeom prst="rect">
            <a:avLst/>
          </a:prstGeom>
          <a:noFill/>
        </p:spPr>
        <p:txBody>
          <a:bodyPr wrap="square">
            <a:spAutoFit/>
          </a:bodyPr>
          <a:lstStyle/>
          <a:p>
            <a:pPr algn="l"/>
            <a:r>
              <a:rPr sz="1800" b="1">
                <a:solidFill>
                  <a:srgbClr val="9B59B6"/>
                </a:solidFill>
                <a:latin typeface="Calibri"/>
              </a:rPr>
              <a:t>What is MCP?</a:t>
            </a:r>
          </a:p>
        </p:txBody>
      </p:sp>
      <p:sp>
        <p:nvSpPr>
          <p:cNvPr id="6" name="TextBox 5"/>
          <p:cNvSpPr txBox="1"/>
          <p:nvPr/>
        </p:nvSpPr>
        <p:spPr>
          <a:xfrm>
            <a:off x="548640" y="1645920"/>
            <a:ext cx="5029200" cy="2286000"/>
          </a:xfrm>
          <a:prstGeom prst="rect">
            <a:avLst/>
          </a:prstGeom>
          <a:noFill/>
        </p:spPr>
        <p:txBody>
          <a:bodyPr wrap="square">
            <a:spAutoFit/>
          </a:bodyPr>
          <a:lstStyle/>
          <a:p>
            <a:pPr>
              <a:lnSpc>
                <a:spcPct val="130000"/>
              </a:lnSpc>
              <a:spcAft>
                <a:spcPts val="800"/>
              </a:spcAft>
            </a:pPr>
            <a:r>
              <a:rPr sz="1400">
                <a:solidFill>
                  <a:srgbClr val="2D3436"/>
                </a:solidFill>
                <a:latin typeface="Calibri"/>
              </a:rPr>
              <a:t>• Standardized protocol for agent-tool communication</a:t>
            </a:r>
          </a:p>
          <a:p>
            <a:pPr>
              <a:lnSpc>
                <a:spcPct val="130000"/>
              </a:lnSpc>
              <a:spcAft>
                <a:spcPts val="800"/>
              </a:spcAft>
            </a:pPr>
            <a:r>
              <a:rPr sz="1400">
                <a:solidFill>
                  <a:srgbClr val="2D3436"/>
                </a:solidFill>
                <a:latin typeface="Calibri"/>
              </a:rPr>
              <a:t>• Agents request controlled access to external tools</a:t>
            </a:r>
          </a:p>
          <a:p>
            <a:pPr>
              <a:lnSpc>
                <a:spcPct val="130000"/>
              </a:lnSpc>
              <a:spcAft>
                <a:spcPts val="800"/>
              </a:spcAft>
            </a:pPr>
            <a:r>
              <a:rPr sz="1400">
                <a:solidFill>
                  <a:srgbClr val="2D3436"/>
                </a:solidFill>
                <a:latin typeface="Calibri"/>
              </a:rPr>
              <a:t>• Permissioned, auditable actions on real systems</a:t>
            </a:r>
          </a:p>
          <a:p>
            <a:pPr>
              <a:lnSpc>
                <a:spcPct val="130000"/>
              </a:lnSpc>
              <a:spcAft>
                <a:spcPts val="800"/>
              </a:spcAft>
            </a:pPr>
            <a:r>
              <a:rPr sz="1400">
                <a:solidFill>
                  <a:srgbClr val="2D3436"/>
                </a:solidFill>
                <a:latin typeface="Calibri"/>
              </a:rPr>
              <a:t>• Context optimization — agents get only relevant data</a:t>
            </a:r>
          </a:p>
          <a:p>
            <a:pPr>
              <a:lnSpc>
                <a:spcPct val="130000"/>
              </a:lnSpc>
              <a:spcAft>
                <a:spcPts val="800"/>
              </a:spcAft>
            </a:pPr>
            <a:r>
              <a:rPr sz="1400">
                <a:solidFill>
                  <a:srgbClr val="2D3436"/>
                </a:solidFill>
                <a:latin typeface="Calibri"/>
              </a:rPr>
              <a:t>• Enables multi-agent collaboration via shared context</a:t>
            </a:r>
          </a:p>
        </p:txBody>
      </p:sp>
      <p:sp>
        <p:nvSpPr>
          <p:cNvPr id="7" name="Rounded Rectangle 6"/>
          <p:cNvSpPr/>
          <p:nvPr/>
        </p:nvSpPr>
        <p:spPr>
          <a:xfrm>
            <a:off x="731520" y="4206240"/>
            <a:ext cx="1645920" cy="7315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AI Agent</a:t>
            </a:r>
          </a:p>
          <a:p>
            <a:pPr algn="ctr"/>
            <a:r>
              <a:rPr sz="1100" b="0">
                <a:solidFill>
                  <a:srgbClr val="FFFFFF"/>
                </a:solidFill>
                <a:latin typeface="Calibri"/>
              </a:rPr>
              <a:t>(LLM + Prompt)</a:t>
            </a:r>
          </a:p>
        </p:txBody>
      </p:sp>
      <p:sp>
        <p:nvSpPr>
          <p:cNvPr id="8" name="Right Arrow 7"/>
          <p:cNvSpPr/>
          <p:nvPr/>
        </p:nvSpPr>
        <p:spPr>
          <a:xfrm>
            <a:off x="2423160" y="4389120"/>
            <a:ext cx="457200" cy="274320"/>
          </a:xfrm>
          <a:prstGeom prst="right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26080" y="4023360"/>
            <a:ext cx="2011680" cy="10972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MCP Server</a:t>
            </a:r>
          </a:p>
          <a:p>
            <a:pPr algn="ctr"/>
            <a:r>
              <a:rPr sz="1100" b="0">
                <a:solidFill>
                  <a:srgbClr val="FFFFFF"/>
                </a:solidFill>
                <a:latin typeface="Calibri"/>
              </a:rPr>
              <a:t>(Protocol Layer)</a:t>
            </a:r>
          </a:p>
          <a:p>
            <a:pPr algn="ctr"/>
            <a:r>
              <a:rPr sz="1100" b="0">
                <a:solidFill>
                  <a:srgbClr val="FFFFFF"/>
                </a:solidFill>
                <a:latin typeface="Calibri"/>
              </a:rPr>
              <a:t>Auth + Routing</a:t>
            </a:r>
          </a:p>
        </p:txBody>
      </p:sp>
      <p:sp>
        <p:nvSpPr>
          <p:cNvPr id="10" name="Right Arrow 9"/>
          <p:cNvSpPr/>
          <p:nvPr/>
        </p:nvSpPr>
        <p:spPr>
          <a:xfrm>
            <a:off x="4983480" y="4389120"/>
            <a:ext cx="457200" cy="274320"/>
          </a:xfrm>
          <a:prstGeom prst="rightArrow">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577840" y="3794760"/>
            <a:ext cx="1463040" cy="347472"/>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Git / GitHub</a:t>
            </a:r>
          </a:p>
        </p:txBody>
      </p:sp>
      <p:sp>
        <p:nvSpPr>
          <p:cNvPr id="12" name="Rounded Rectangle 11"/>
          <p:cNvSpPr/>
          <p:nvPr/>
        </p:nvSpPr>
        <p:spPr>
          <a:xfrm>
            <a:off x="5577840" y="4206240"/>
            <a:ext cx="1463040" cy="347472"/>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Jira / Linear</a:t>
            </a:r>
          </a:p>
        </p:txBody>
      </p:sp>
      <p:sp>
        <p:nvSpPr>
          <p:cNvPr id="13" name="Rounded Rectangle 12"/>
          <p:cNvSpPr/>
          <p:nvPr/>
        </p:nvSpPr>
        <p:spPr>
          <a:xfrm>
            <a:off x="5577840" y="4617720"/>
            <a:ext cx="1463040" cy="347472"/>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Jenkins / CI</a:t>
            </a:r>
          </a:p>
        </p:txBody>
      </p:sp>
      <p:sp>
        <p:nvSpPr>
          <p:cNvPr id="14" name="Rounded Rectangle 13"/>
          <p:cNvSpPr/>
          <p:nvPr/>
        </p:nvSpPr>
        <p:spPr>
          <a:xfrm>
            <a:off x="5577840" y="5029200"/>
            <a:ext cx="1463040" cy="347472"/>
          </a:xfrm>
          <a:prstGeom prst="round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Database</a:t>
            </a:r>
          </a:p>
        </p:txBody>
      </p:sp>
      <p:sp>
        <p:nvSpPr>
          <p:cNvPr id="15" name="TextBox 14"/>
          <p:cNvSpPr txBox="1"/>
          <p:nvPr/>
        </p:nvSpPr>
        <p:spPr>
          <a:xfrm>
            <a:off x="7498079" y="1188720"/>
            <a:ext cx="4389120" cy="365760"/>
          </a:xfrm>
          <a:prstGeom prst="rect">
            <a:avLst/>
          </a:prstGeom>
          <a:noFill/>
        </p:spPr>
        <p:txBody>
          <a:bodyPr wrap="square">
            <a:spAutoFit/>
          </a:bodyPr>
          <a:lstStyle/>
          <a:p>
            <a:pPr algn="l"/>
            <a:r>
              <a:rPr sz="1600" b="1">
                <a:solidFill>
                  <a:srgbClr val="9B59B6"/>
                </a:solidFill>
                <a:latin typeface="Calibri"/>
              </a:rPr>
              <a:t>Key MCP Principles</a:t>
            </a:r>
          </a:p>
        </p:txBody>
      </p:sp>
      <p:sp>
        <p:nvSpPr>
          <p:cNvPr id="16" name="Rounded Rectangle 15"/>
          <p:cNvSpPr/>
          <p:nvPr/>
        </p:nvSpPr>
        <p:spPr>
          <a:xfrm>
            <a:off x="7498079" y="1645920"/>
            <a:ext cx="4389120" cy="91440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Permissioned Access</a:t>
            </a:r>
          </a:p>
          <a:p>
            <a:pPr algn="ctr"/>
            <a:r>
              <a:rPr sz="1100" b="0">
                <a:solidFill>
                  <a:srgbClr val="2D3436"/>
                </a:solidFill>
                <a:latin typeface="Calibri"/>
              </a:rPr>
              <a:t>Each agent gets only the tools</a:t>
            </a:r>
          </a:p>
          <a:p>
            <a:pPr algn="ctr"/>
            <a:r>
              <a:rPr sz="1100" b="0">
                <a:solidFill>
                  <a:srgbClr val="2D3436"/>
                </a:solidFill>
                <a:latin typeface="Calibri"/>
              </a:rPr>
              <a:t>it needs — principle of least privilege</a:t>
            </a:r>
          </a:p>
        </p:txBody>
      </p:sp>
      <p:sp>
        <p:nvSpPr>
          <p:cNvPr id="17" name="Rounded Rectangle 16"/>
          <p:cNvSpPr/>
          <p:nvPr/>
        </p:nvSpPr>
        <p:spPr>
          <a:xfrm>
            <a:off x="7498079" y="2743200"/>
            <a:ext cx="4389120" cy="91440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Auditable Actions</a:t>
            </a:r>
          </a:p>
          <a:p>
            <a:pPr algn="ctr"/>
            <a:r>
              <a:rPr sz="1100" b="0">
                <a:solidFill>
                  <a:srgbClr val="2D3436"/>
                </a:solidFill>
                <a:latin typeface="Calibri"/>
              </a:rPr>
              <a:t>Every tool call is logged with</a:t>
            </a:r>
          </a:p>
          <a:p>
            <a:pPr algn="ctr"/>
            <a:r>
              <a:rPr sz="1100" b="0">
                <a:solidFill>
                  <a:srgbClr val="2D3436"/>
                </a:solidFill>
                <a:latin typeface="Calibri"/>
              </a:rPr>
              <a:t>agent identity, timestamp, and result</a:t>
            </a:r>
          </a:p>
        </p:txBody>
      </p:sp>
      <p:sp>
        <p:nvSpPr>
          <p:cNvPr id="18" name="Rounded Rectangle 17"/>
          <p:cNvSpPr/>
          <p:nvPr/>
        </p:nvSpPr>
        <p:spPr>
          <a:xfrm>
            <a:off x="7498079" y="3840480"/>
            <a:ext cx="4389120" cy="91440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Context Optimization</a:t>
            </a:r>
          </a:p>
          <a:p>
            <a:pPr algn="ctr"/>
            <a:r>
              <a:rPr sz="1100" b="0">
                <a:solidFill>
                  <a:srgbClr val="2D3436"/>
                </a:solidFill>
                <a:latin typeface="Calibri"/>
              </a:rPr>
              <a:t>Agents receive curated context</a:t>
            </a:r>
          </a:p>
          <a:p>
            <a:pPr algn="ctr"/>
            <a:r>
              <a:rPr sz="1100" b="0">
                <a:solidFill>
                  <a:srgbClr val="2D3436"/>
                </a:solidFill>
                <a:latin typeface="Calibri"/>
              </a:rPr>
              <a:t>not entire codebases — reduces cost</a:t>
            </a:r>
          </a:p>
        </p:txBody>
      </p:sp>
      <p:sp>
        <p:nvSpPr>
          <p:cNvPr id="19" name="Rounded Rectangle 18"/>
          <p:cNvSpPr/>
          <p:nvPr/>
        </p:nvSpPr>
        <p:spPr>
          <a:xfrm>
            <a:off x="7498079" y="4937759"/>
            <a:ext cx="4389120" cy="91440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Tool Discovery</a:t>
            </a:r>
          </a:p>
          <a:p>
            <a:pPr algn="ctr"/>
            <a:r>
              <a:rPr sz="1100" b="0">
                <a:solidFill>
                  <a:srgbClr val="2D3436"/>
                </a:solidFill>
                <a:latin typeface="Calibri"/>
              </a:rPr>
              <a:t>Agents can discover available</a:t>
            </a:r>
          </a:p>
          <a:p>
            <a:pPr algn="ctr"/>
            <a:r>
              <a:rPr sz="1100" b="0">
                <a:solidFill>
                  <a:srgbClr val="2D3436"/>
                </a:solidFill>
                <a:latin typeface="Calibri"/>
              </a:rPr>
              <a:t>tools and their capabilities at runtime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AI Governance Framework for Software Development</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Governance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36</a:t>
            </a:r>
          </a:p>
        </p:txBody>
      </p:sp>
      <p:sp>
        <p:nvSpPr>
          <p:cNvPr id="5" name="Rounded Rectangle 4"/>
          <p:cNvSpPr/>
          <p:nvPr/>
        </p:nvSpPr>
        <p:spPr>
          <a:xfrm>
            <a:off x="731520" y="4937760"/>
            <a:ext cx="5303520" cy="64008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Policies &amp; Standards</a:t>
            </a:r>
          </a:p>
        </p:txBody>
      </p:sp>
      <p:sp>
        <p:nvSpPr>
          <p:cNvPr id="6" name="Rounded Rectangle 5"/>
          <p:cNvSpPr/>
          <p:nvPr/>
        </p:nvSpPr>
        <p:spPr>
          <a:xfrm>
            <a:off x="1280160" y="4206240"/>
            <a:ext cx="4206240" cy="64008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Data Protection &amp; Privacy</a:t>
            </a:r>
          </a:p>
        </p:txBody>
      </p:sp>
      <p:sp>
        <p:nvSpPr>
          <p:cNvPr id="7" name="Rounded Rectangle 6"/>
          <p:cNvSpPr/>
          <p:nvPr/>
        </p:nvSpPr>
        <p:spPr>
          <a:xfrm>
            <a:off x="1828800" y="3474720"/>
            <a:ext cx="3108960" cy="64008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Model Management &amp; Validation</a:t>
            </a:r>
          </a:p>
        </p:txBody>
      </p:sp>
      <p:sp>
        <p:nvSpPr>
          <p:cNvPr id="8" name="Rounded Rectangle 7"/>
          <p:cNvSpPr/>
          <p:nvPr/>
        </p:nvSpPr>
        <p:spPr>
          <a:xfrm>
            <a:off x="2377440" y="2743200"/>
            <a:ext cx="2011680" cy="640080"/>
          </a:xfrm>
          <a:prstGeom prst="roundRect">
            <a:avLst/>
          </a:prstGeom>
          <a:solidFill>
            <a:srgbClr val="EFE8F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Human Review &amp; Oversight</a:t>
            </a:r>
          </a:p>
        </p:txBody>
      </p:sp>
      <p:sp>
        <p:nvSpPr>
          <p:cNvPr id="9" name="Rounded Rectangle 8"/>
          <p:cNvSpPr/>
          <p:nvPr/>
        </p:nvSpPr>
        <p:spPr>
          <a:xfrm>
            <a:off x="2834640" y="2011680"/>
            <a:ext cx="1097280" cy="640080"/>
          </a:xfrm>
          <a:prstGeom prst="round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Audit Trail &amp;</a:t>
            </a:r>
          </a:p>
          <a:p>
            <a:pPr algn="ctr"/>
            <a:r>
              <a:rPr sz="1100" b="0">
                <a:solidFill>
                  <a:srgbClr val="2D3436"/>
                </a:solidFill>
                <a:latin typeface="Calibri"/>
              </a:rPr>
              <a:t>Accountability</a:t>
            </a:r>
          </a:p>
        </p:txBody>
      </p:sp>
      <p:sp>
        <p:nvSpPr>
          <p:cNvPr id="10" name="TextBox 9"/>
          <p:cNvSpPr txBox="1"/>
          <p:nvPr/>
        </p:nvSpPr>
        <p:spPr>
          <a:xfrm>
            <a:off x="6858000" y="1188720"/>
            <a:ext cx="4846320" cy="365760"/>
          </a:xfrm>
          <a:prstGeom prst="rect">
            <a:avLst/>
          </a:prstGeom>
          <a:noFill/>
        </p:spPr>
        <p:txBody>
          <a:bodyPr wrap="square">
            <a:spAutoFit/>
          </a:bodyPr>
          <a:lstStyle/>
          <a:p>
            <a:pPr algn="l"/>
            <a:r>
              <a:rPr sz="1600" b="1">
                <a:solidFill>
                  <a:srgbClr val="4472C4"/>
                </a:solidFill>
                <a:latin typeface="Calibri"/>
              </a:rPr>
              <a:t>Governance Checklist</a:t>
            </a:r>
          </a:p>
        </p:txBody>
      </p:sp>
      <p:sp>
        <p:nvSpPr>
          <p:cNvPr id="11" name="TextBox 10"/>
          <p:cNvSpPr txBox="1"/>
          <p:nvPr/>
        </p:nvSpPr>
        <p:spPr>
          <a:xfrm>
            <a:off x="6858000" y="1645920"/>
            <a:ext cx="4846320" cy="4389120"/>
          </a:xfrm>
          <a:prstGeom prst="rect">
            <a:avLst/>
          </a:prstGeom>
          <a:noFill/>
        </p:spPr>
        <p:txBody>
          <a:bodyPr wrap="square">
            <a:spAutoFit/>
          </a:bodyPr>
          <a:lstStyle/>
          <a:p>
            <a:pPr>
              <a:lnSpc>
                <a:spcPct val="130000"/>
              </a:lnSpc>
              <a:spcAft>
                <a:spcPts val="800"/>
              </a:spcAft>
            </a:pPr>
            <a:r>
              <a:rPr sz="1200">
                <a:solidFill>
                  <a:srgbClr val="2D3436"/>
                </a:solidFill>
                <a:latin typeface="Calibri"/>
              </a:rPr>
              <a:t>• Establish AI usage policies for development teams</a:t>
            </a:r>
          </a:p>
          <a:p>
            <a:pPr>
              <a:lnSpc>
                <a:spcPct val="130000"/>
              </a:lnSpc>
              <a:spcAft>
                <a:spcPts val="800"/>
              </a:spcAft>
            </a:pPr>
            <a:r>
              <a:rPr sz="1200">
                <a:solidFill>
                  <a:srgbClr val="2D3436"/>
                </a:solidFill>
                <a:latin typeface="Calibri"/>
              </a:rPr>
              <a:t>• Define data handling rules for prompts &amp; outputs</a:t>
            </a:r>
          </a:p>
          <a:p>
            <a:pPr>
              <a:lnSpc>
                <a:spcPct val="130000"/>
              </a:lnSpc>
              <a:spcAft>
                <a:spcPts val="800"/>
              </a:spcAft>
            </a:pPr>
            <a:r>
              <a:rPr sz="1200">
                <a:solidFill>
                  <a:srgbClr val="2D3436"/>
                </a:solidFill>
                <a:latin typeface="Calibri"/>
              </a:rPr>
              <a:t>• Validate AI models against bias &amp; accuracy benchmarks</a:t>
            </a:r>
          </a:p>
          <a:p>
            <a:pPr>
              <a:lnSpc>
                <a:spcPct val="130000"/>
              </a:lnSpc>
              <a:spcAft>
                <a:spcPts val="800"/>
              </a:spcAft>
            </a:pPr>
            <a:r>
              <a:rPr sz="1200">
                <a:solidFill>
                  <a:srgbClr val="2D3436"/>
                </a:solidFill>
                <a:latin typeface="Calibri"/>
              </a:rPr>
              <a:t>• Require human review at architectural decisions</a:t>
            </a:r>
          </a:p>
          <a:p>
            <a:pPr>
              <a:lnSpc>
                <a:spcPct val="130000"/>
              </a:lnSpc>
              <a:spcAft>
                <a:spcPts val="800"/>
              </a:spcAft>
            </a:pPr>
            <a:r>
              <a:rPr sz="1200">
                <a:solidFill>
                  <a:srgbClr val="2D3436"/>
                </a:solidFill>
                <a:latin typeface="Calibri"/>
              </a:rPr>
              <a:t>• Log all AI interactions for audit &amp; compliance</a:t>
            </a:r>
          </a:p>
          <a:p>
            <a:pPr>
              <a:lnSpc>
                <a:spcPct val="130000"/>
              </a:lnSpc>
              <a:spcAft>
                <a:spcPts val="800"/>
              </a:spcAft>
            </a:pPr>
            <a:r>
              <a:rPr sz="1200">
                <a:solidFill>
                  <a:srgbClr val="2D3436"/>
                </a:solidFill>
                <a:latin typeface="Calibri"/>
              </a:rPr>
              <a:t>• Set up feedback loops for continuous improvement</a:t>
            </a:r>
          </a:p>
          <a:p>
            <a:pPr>
              <a:lnSpc>
                <a:spcPct val="130000"/>
              </a:lnSpc>
              <a:spcAft>
                <a:spcPts val="800"/>
              </a:spcAft>
            </a:pPr>
            <a:r>
              <a:rPr sz="1200">
                <a:solidFill>
                  <a:srgbClr val="2D3436"/>
                </a:solidFill>
                <a:latin typeface="Calibri"/>
              </a:rPr>
              <a:t>• Train teams on responsible AI practices</a:t>
            </a:r>
          </a:p>
          <a:p>
            <a:pPr>
              <a:lnSpc>
                <a:spcPct val="130000"/>
              </a:lnSpc>
              <a:spcAft>
                <a:spcPts val="800"/>
              </a:spcAft>
            </a:pPr>
            <a:r>
              <a:rPr sz="1200">
                <a:solidFill>
                  <a:srgbClr val="2D3436"/>
                </a:solidFill>
                <a:latin typeface="Calibri"/>
              </a:rPr>
              <a:t>• Define escalation procedures for AI failures</a:t>
            </a:r>
          </a:p>
          <a:p>
            <a:pPr>
              <a:lnSpc>
                <a:spcPct val="130000"/>
              </a:lnSpc>
              <a:spcAft>
                <a:spcPts val="800"/>
              </a:spcAft>
            </a:pPr>
            <a:r>
              <a:rPr sz="1200">
                <a:solidFill>
                  <a:srgbClr val="2D3436"/>
                </a:solidFill>
                <a:latin typeface="Calibri"/>
              </a:rPr>
              <a:t>• Review AI tools for license &amp; IP compliance</a:t>
            </a:r>
          </a:p>
          <a:p>
            <a:pPr>
              <a:lnSpc>
                <a:spcPct val="130000"/>
              </a:lnSpc>
              <a:spcAft>
                <a:spcPts val="800"/>
              </a:spcAft>
            </a:pPr>
            <a:r>
              <a:rPr sz="1200">
                <a:solidFill>
                  <a:srgbClr val="2D3436"/>
                </a:solidFill>
                <a:latin typeface="Calibri"/>
              </a:rPr>
              <a:t>• Conduct regular governance framework reviews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Responsible AI Principles in Practice</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Governance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37</a:t>
            </a:r>
          </a:p>
        </p:txBody>
      </p:sp>
      <p:sp>
        <p:nvSpPr>
          <p:cNvPr id="5" name="Rounded Rectangle 4"/>
          <p:cNvSpPr/>
          <p:nvPr/>
        </p:nvSpPr>
        <p:spPr>
          <a:xfrm>
            <a:off x="548640" y="1188720"/>
            <a:ext cx="3474720" cy="146304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Fairness</a:t>
            </a:r>
          </a:p>
          <a:p>
            <a:pPr algn="ctr"/>
            <a:r>
              <a:rPr sz="1300" b="0">
                <a:solidFill>
                  <a:srgbClr val="2D3436"/>
                </a:solidFill>
                <a:latin typeface="Calibri"/>
              </a:rPr>
              <a:t/>
            </a:r>
          </a:p>
          <a:p>
            <a:pPr algn="ctr"/>
            <a:r>
              <a:rPr sz="1300" b="0">
                <a:solidFill>
                  <a:srgbClr val="2D3436"/>
                </a:solidFill>
                <a:latin typeface="Calibri"/>
              </a:rPr>
              <a:t>Avoid biased assumptions</a:t>
            </a:r>
          </a:p>
          <a:p>
            <a:pPr algn="ctr"/>
            <a:r>
              <a:rPr sz="1300" b="0">
                <a:solidFill>
                  <a:srgbClr val="2D3436"/>
                </a:solidFill>
                <a:latin typeface="Calibri"/>
              </a:rPr>
              <a:t>in generated systems</a:t>
            </a:r>
          </a:p>
        </p:txBody>
      </p:sp>
      <p:sp>
        <p:nvSpPr>
          <p:cNvPr id="6" name="Rounded Rectangle 5"/>
          <p:cNvSpPr/>
          <p:nvPr/>
        </p:nvSpPr>
        <p:spPr>
          <a:xfrm>
            <a:off x="4343400" y="1188720"/>
            <a:ext cx="3474720" cy="14630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Reliability</a:t>
            </a:r>
          </a:p>
          <a:p>
            <a:pPr algn="ctr"/>
            <a:r>
              <a:rPr sz="1300" b="0">
                <a:solidFill>
                  <a:srgbClr val="2D3436"/>
                </a:solidFill>
                <a:latin typeface="Calibri"/>
              </a:rPr>
              <a:t/>
            </a:r>
          </a:p>
          <a:p>
            <a:pPr algn="ctr"/>
            <a:r>
              <a:rPr sz="1300" b="0">
                <a:solidFill>
                  <a:srgbClr val="2D3436"/>
                </a:solidFill>
                <a:latin typeface="Calibri"/>
              </a:rPr>
              <a:t>Validate outputs with</a:t>
            </a:r>
          </a:p>
          <a:p>
            <a:pPr algn="ctr"/>
            <a:r>
              <a:rPr sz="1300" b="0">
                <a:solidFill>
                  <a:srgbClr val="2D3436"/>
                </a:solidFill>
                <a:latin typeface="Calibri"/>
              </a:rPr>
              <a:t>tests and evidence</a:t>
            </a:r>
          </a:p>
        </p:txBody>
      </p:sp>
      <p:sp>
        <p:nvSpPr>
          <p:cNvPr id="7" name="Rounded Rectangle 6"/>
          <p:cNvSpPr/>
          <p:nvPr/>
        </p:nvSpPr>
        <p:spPr>
          <a:xfrm>
            <a:off x="8138160" y="1188720"/>
            <a:ext cx="3474720" cy="14630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Privacy</a:t>
            </a:r>
          </a:p>
          <a:p>
            <a:pPr algn="ctr"/>
            <a:r>
              <a:rPr sz="1300" b="0">
                <a:solidFill>
                  <a:srgbClr val="2D3436"/>
                </a:solidFill>
                <a:latin typeface="Calibri"/>
              </a:rPr>
              <a:t/>
            </a:r>
          </a:p>
          <a:p>
            <a:pPr algn="ctr"/>
            <a:r>
              <a:rPr sz="1300" b="0">
                <a:solidFill>
                  <a:srgbClr val="2D3436"/>
                </a:solidFill>
                <a:latin typeface="Calibri"/>
              </a:rPr>
              <a:t>Minimize sensitive data</a:t>
            </a:r>
          </a:p>
          <a:p>
            <a:pPr algn="ctr"/>
            <a:r>
              <a:rPr sz="1300" b="0">
                <a:solidFill>
                  <a:srgbClr val="2D3436"/>
                </a:solidFill>
                <a:latin typeface="Calibri"/>
              </a:rPr>
              <a:t>exposure in prompts</a:t>
            </a:r>
          </a:p>
        </p:txBody>
      </p:sp>
      <p:sp>
        <p:nvSpPr>
          <p:cNvPr id="8" name="Rounded Rectangle 7"/>
          <p:cNvSpPr/>
          <p:nvPr/>
        </p:nvSpPr>
        <p:spPr>
          <a:xfrm>
            <a:off x="548640" y="3017520"/>
            <a:ext cx="3474720" cy="146304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Transparency</a:t>
            </a:r>
          </a:p>
          <a:p>
            <a:pPr algn="ctr"/>
            <a:r>
              <a:rPr sz="1300" b="0">
                <a:solidFill>
                  <a:srgbClr val="2D3436"/>
                </a:solidFill>
                <a:latin typeface="Calibri"/>
              </a:rPr>
              <a:t/>
            </a:r>
          </a:p>
          <a:p>
            <a:pPr algn="ctr"/>
            <a:r>
              <a:rPr sz="1300" b="0">
                <a:solidFill>
                  <a:srgbClr val="2D3436"/>
                </a:solidFill>
                <a:latin typeface="Calibri"/>
              </a:rPr>
              <a:t>Document AI usage,</a:t>
            </a:r>
          </a:p>
          <a:p>
            <a:pPr algn="ctr"/>
            <a:r>
              <a:rPr sz="1300" b="0">
                <a:solidFill>
                  <a:srgbClr val="2D3436"/>
                </a:solidFill>
                <a:latin typeface="Calibri"/>
              </a:rPr>
              <a:t>limitations &amp; decisions</a:t>
            </a:r>
          </a:p>
        </p:txBody>
      </p:sp>
      <p:sp>
        <p:nvSpPr>
          <p:cNvPr id="9" name="Rounded Rectangle 8"/>
          <p:cNvSpPr/>
          <p:nvPr/>
        </p:nvSpPr>
        <p:spPr>
          <a:xfrm>
            <a:off x="4343400" y="3017520"/>
            <a:ext cx="3474720" cy="146304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Accountability</a:t>
            </a:r>
          </a:p>
          <a:p>
            <a:pPr algn="ctr"/>
            <a:r>
              <a:rPr sz="1300" b="0">
                <a:solidFill>
                  <a:srgbClr val="2D3436"/>
                </a:solidFill>
                <a:latin typeface="Calibri"/>
              </a:rPr>
              <a:t/>
            </a:r>
          </a:p>
          <a:p>
            <a:pPr algn="ctr"/>
            <a:r>
              <a:rPr sz="1300" b="0">
                <a:solidFill>
                  <a:srgbClr val="2D3436"/>
                </a:solidFill>
                <a:latin typeface="Calibri"/>
              </a:rPr>
              <a:t>Maintain audit trails,</a:t>
            </a:r>
          </a:p>
          <a:p>
            <a:pPr algn="ctr"/>
            <a:r>
              <a:rPr sz="1300" b="0">
                <a:solidFill>
                  <a:srgbClr val="2D3436"/>
                </a:solidFill>
                <a:latin typeface="Calibri"/>
              </a:rPr>
              <a:t>assign ownership</a:t>
            </a:r>
          </a:p>
        </p:txBody>
      </p:sp>
      <p:sp>
        <p:nvSpPr>
          <p:cNvPr id="10" name="Rounded Rectangle 9"/>
          <p:cNvSpPr/>
          <p:nvPr/>
        </p:nvSpPr>
        <p:spPr>
          <a:xfrm>
            <a:off x="8138160" y="3017520"/>
            <a:ext cx="3474720" cy="146304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Safety</a:t>
            </a:r>
          </a:p>
          <a:p>
            <a:pPr algn="ctr"/>
            <a:r>
              <a:rPr sz="1300" b="0">
                <a:solidFill>
                  <a:srgbClr val="2D3436"/>
                </a:solidFill>
                <a:latin typeface="Calibri"/>
              </a:rPr>
              <a:t/>
            </a:r>
          </a:p>
          <a:p>
            <a:pPr algn="ctr"/>
            <a:r>
              <a:rPr sz="1300" b="0">
                <a:solidFill>
                  <a:srgbClr val="2D3436"/>
                </a:solidFill>
                <a:latin typeface="Calibri"/>
              </a:rPr>
              <a:t>Implement guardrails,</a:t>
            </a:r>
          </a:p>
          <a:p>
            <a:pPr algn="ctr"/>
            <a:r>
              <a:rPr sz="1300" b="0">
                <a:solidFill>
                  <a:srgbClr val="2D3436"/>
                </a:solidFill>
                <a:latin typeface="Calibri"/>
              </a:rPr>
              <a:t>human oversight, rollback</a:t>
            </a:r>
          </a:p>
        </p:txBody>
      </p:sp>
      <p:sp>
        <p:nvSpPr>
          <p:cNvPr id="11" name="Rounded Rectangle 10"/>
          <p:cNvSpPr/>
          <p:nvPr/>
        </p:nvSpPr>
        <p:spPr>
          <a:xfrm>
            <a:off x="548640" y="5120640"/>
            <a:ext cx="11064240" cy="82296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Academic Integrity:  Define clear policies on AI use in assignments  |  Teach students WHEN and HOW to use AI responsibly  |  Assess understanding, not just output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AI-Native Adoption Maturity Model</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Governance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38</a:t>
            </a:r>
          </a:p>
        </p:txBody>
      </p:sp>
      <p:sp>
        <p:nvSpPr>
          <p:cNvPr id="5" name="Rounded Rectangle 4"/>
          <p:cNvSpPr/>
          <p:nvPr/>
        </p:nvSpPr>
        <p:spPr>
          <a:xfrm>
            <a:off x="548640" y="4663440"/>
            <a:ext cx="2011680" cy="91440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Level 1: Ad-hoc</a:t>
            </a:r>
          </a:p>
          <a:p>
            <a:pPr algn="ctr"/>
            <a:r>
              <a:rPr sz="1000" b="0">
                <a:solidFill>
                  <a:srgbClr val="2D3436"/>
                </a:solidFill>
                <a:latin typeface="Calibri"/>
              </a:rPr>
              <a:t>Individual developers</a:t>
            </a:r>
          </a:p>
          <a:p>
            <a:pPr algn="ctr"/>
            <a:r>
              <a:rPr sz="1000" b="0">
                <a:solidFill>
                  <a:srgbClr val="2D3436"/>
                </a:solidFill>
                <a:latin typeface="Calibri"/>
              </a:rPr>
              <a:t>use AI informally</a:t>
            </a:r>
          </a:p>
        </p:txBody>
      </p:sp>
      <p:sp>
        <p:nvSpPr>
          <p:cNvPr id="6" name="Rounded Rectangle 5"/>
          <p:cNvSpPr/>
          <p:nvPr/>
        </p:nvSpPr>
        <p:spPr>
          <a:xfrm>
            <a:off x="2651760" y="3931920"/>
            <a:ext cx="2011680" cy="91440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Level 2: Experimentation</a:t>
            </a:r>
          </a:p>
          <a:p>
            <a:pPr algn="ctr"/>
            <a:r>
              <a:rPr sz="1000" b="0">
                <a:solidFill>
                  <a:srgbClr val="2D3436"/>
                </a:solidFill>
                <a:latin typeface="Calibri"/>
              </a:rPr>
              <a:t>Teams pilot AI tools</a:t>
            </a:r>
          </a:p>
          <a:p>
            <a:pPr algn="ctr"/>
            <a:r>
              <a:rPr sz="1000" b="0">
                <a:solidFill>
                  <a:srgbClr val="2D3436"/>
                </a:solidFill>
                <a:latin typeface="Calibri"/>
              </a:rPr>
              <a:t>on selected projects</a:t>
            </a:r>
          </a:p>
        </p:txBody>
      </p:sp>
      <p:sp>
        <p:nvSpPr>
          <p:cNvPr id="7" name="Rounded Rectangle 6"/>
          <p:cNvSpPr/>
          <p:nvPr/>
        </p:nvSpPr>
        <p:spPr>
          <a:xfrm>
            <a:off x="4754880" y="3200400"/>
            <a:ext cx="2011680" cy="91440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Level 3: Standardized</a:t>
            </a:r>
          </a:p>
          <a:p>
            <a:pPr algn="ctr"/>
            <a:r>
              <a:rPr sz="1000" b="0">
                <a:solidFill>
                  <a:srgbClr val="2D3436"/>
                </a:solidFill>
                <a:latin typeface="Calibri"/>
              </a:rPr>
              <a:t>AI practices formalized,</a:t>
            </a:r>
          </a:p>
          <a:p>
            <a:pPr algn="ctr"/>
            <a:r>
              <a:rPr sz="1000" b="0">
                <a:solidFill>
                  <a:srgbClr val="2D3436"/>
                </a:solidFill>
                <a:latin typeface="Calibri"/>
              </a:rPr>
              <a:t>governance in place</a:t>
            </a:r>
          </a:p>
        </p:txBody>
      </p:sp>
      <p:sp>
        <p:nvSpPr>
          <p:cNvPr id="8" name="Rounded Rectangle 7"/>
          <p:cNvSpPr/>
          <p:nvPr/>
        </p:nvSpPr>
        <p:spPr>
          <a:xfrm>
            <a:off x="6858000" y="2468880"/>
            <a:ext cx="2011680" cy="91440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Level 4: Optimized</a:t>
            </a:r>
          </a:p>
          <a:p>
            <a:pPr algn="ctr"/>
            <a:r>
              <a:rPr sz="1000" b="0">
                <a:solidFill>
                  <a:srgbClr val="2D3436"/>
                </a:solidFill>
                <a:latin typeface="Calibri"/>
              </a:rPr>
              <a:t>AI deeply embedded,</a:t>
            </a:r>
          </a:p>
          <a:p>
            <a:pPr algn="ctr"/>
            <a:r>
              <a:rPr sz="1000" b="0">
                <a:solidFill>
                  <a:srgbClr val="2D3436"/>
                </a:solidFill>
                <a:latin typeface="Calibri"/>
              </a:rPr>
              <a:t>multi-agent workflows</a:t>
            </a:r>
          </a:p>
        </p:txBody>
      </p:sp>
      <p:sp>
        <p:nvSpPr>
          <p:cNvPr id="9" name="Rounded Rectangle 8"/>
          <p:cNvSpPr/>
          <p:nvPr/>
        </p:nvSpPr>
        <p:spPr>
          <a:xfrm>
            <a:off x="8961120" y="1737360"/>
            <a:ext cx="2011680" cy="9144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Level 5: Transformational</a:t>
            </a:r>
          </a:p>
          <a:p>
            <a:pPr algn="ctr"/>
            <a:r>
              <a:rPr sz="1000" b="0">
                <a:solidFill>
                  <a:srgbClr val="2D3436"/>
                </a:solidFill>
                <a:latin typeface="Calibri"/>
              </a:rPr>
              <a:t>AI-native is default,</a:t>
            </a:r>
          </a:p>
          <a:p>
            <a:pPr algn="ctr"/>
            <a:r>
              <a:rPr sz="1000" b="0">
                <a:solidFill>
                  <a:srgbClr val="2D3436"/>
                </a:solidFill>
                <a:latin typeface="Calibri"/>
              </a:rPr>
              <a:t>culture shift &amp; innovation</a:t>
            </a:r>
          </a:p>
        </p:txBody>
      </p:sp>
      <p:sp>
        <p:nvSpPr>
          <p:cNvPr id="10" name="Right Arrow 9"/>
          <p:cNvSpPr/>
          <p:nvPr/>
        </p:nvSpPr>
        <p:spPr>
          <a:xfrm>
            <a:off x="2578608" y="4846320"/>
            <a:ext cx="5029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4681727" y="4114800"/>
            <a:ext cx="5029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6784848" y="3383280"/>
            <a:ext cx="5029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8887967" y="2651760"/>
            <a:ext cx="5029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5669280"/>
            <a:ext cx="10698480" cy="45720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Progression requires:  Training &amp; Skills  &gt;&gt;  Tool Adoption  &gt;&gt;  Policy &amp; Governance  &gt;&gt;  Culture Shift  &gt;&gt;  Organizational Transformation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Hands-On Practical Examples</a:t>
            </a:r>
          </a:p>
        </p:txBody>
      </p:sp>
      <p:sp>
        <p:nvSpPr>
          <p:cNvPr id="3" name="Rounded Rectangle 2"/>
          <p:cNvSpPr/>
          <p:nvPr/>
        </p:nvSpPr>
        <p:spPr>
          <a:xfrm>
            <a:off x="365760" y="6263640"/>
            <a:ext cx="4114800"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Practical</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39</a:t>
            </a:r>
          </a:p>
        </p:txBody>
      </p:sp>
      <p:sp>
        <p:nvSpPr>
          <p:cNvPr id="5" name="TextBox 4"/>
          <p:cNvSpPr txBox="1"/>
          <p:nvPr/>
        </p:nvSpPr>
        <p:spPr>
          <a:xfrm>
            <a:off x="548640" y="1143000"/>
            <a:ext cx="5486400" cy="365760"/>
          </a:xfrm>
          <a:prstGeom prst="rect">
            <a:avLst/>
          </a:prstGeom>
          <a:noFill/>
        </p:spPr>
        <p:txBody>
          <a:bodyPr wrap="square">
            <a:spAutoFit/>
          </a:bodyPr>
          <a:lstStyle/>
          <a:p>
            <a:pPr algn="l"/>
            <a:r>
              <a:rPr sz="1600" b="1">
                <a:solidFill>
                  <a:srgbClr val="70AD47"/>
                </a:solidFill>
                <a:latin typeface="Calibri"/>
              </a:rPr>
              <a:t>Primary Lab Exercise</a:t>
            </a:r>
          </a:p>
        </p:txBody>
      </p:sp>
      <p:sp>
        <p:nvSpPr>
          <p:cNvPr id="6" name="Rounded Rectangle 5"/>
          <p:cNvSpPr/>
          <p:nvPr/>
        </p:nvSpPr>
        <p:spPr>
          <a:xfrm>
            <a:off x="548640" y="1554480"/>
            <a:ext cx="5486400" cy="20116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Example 1: Task Management REST API</a:t>
            </a:r>
          </a:p>
          <a:p>
            <a:pPr algn="l"/>
            <a:r>
              <a:rPr sz="1200" b="0">
                <a:solidFill>
                  <a:srgbClr val="2D3436"/>
                </a:solidFill>
                <a:latin typeface="Calibri"/>
              </a:rPr>
              <a:t>Duration: 1-2 hours</a:t>
            </a:r>
          </a:p>
          <a:p>
            <a:pPr algn="l"/>
            <a:r>
              <a:rPr sz="1200" b="0">
                <a:solidFill>
                  <a:srgbClr val="2D3436"/>
                </a:solidFill>
                <a:latin typeface="Calibri"/>
              </a:rPr>
              <a:t/>
            </a:r>
          </a:p>
          <a:p>
            <a:pPr algn="l"/>
            <a:r>
              <a:rPr sz="1200" b="0">
                <a:solidFill>
                  <a:srgbClr val="2D3436"/>
                </a:solidFill>
                <a:latin typeface="Calibri"/>
              </a:rPr>
              <a:t>Build a REST API with full CRUD operations</a:t>
            </a:r>
          </a:p>
          <a:p>
            <a:pPr algn="l"/>
            <a:r>
              <a:rPr sz="1200" b="0">
                <a:solidFill>
                  <a:srgbClr val="2D3436"/>
                </a:solidFill>
                <a:latin typeface="Calibri"/>
              </a:rPr>
              <a:t>Apply spec-driven development methodology</a:t>
            </a:r>
          </a:p>
          <a:p>
            <a:pPr algn="l"/>
            <a:r>
              <a:rPr sz="1200" b="0">
                <a:solidFill>
                  <a:srgbClr val="2D3436"/>
                </a:solidFill>
                <a:latin typeface="Calibri"/>
              </a:rPr>
              <a:t>Generate tests (unit + integration)</a:t>
            </a:r>
          </a:p>
          <a:p>
            <a:pPr algn="l"/>
            <a:r>
              <a:rPr sz="1200" b="0">
                <a:solidFill>
                  <a:srgbClr val="2D3436"/>
                </a:solidFill>
                <a:latin typeface="Calibri"/>
              </a:rPr>
              <a:t>Set up CI/CD pipeline with quality gates</a:t>
            </a:r>
          </a:p>
        </p:txBody>
      </p:sp>
      <p:sp>
        <p:nvSpPr>
          <p:cNvPr id="7" name="Rounded Rectangle 6"/>
          <p:cNvSpPr/>
          <p:nvPr/>
        </p:nvSpPr>
        <p:spPr>
          <a:xfrm>
            <a:off x="548640" y="3794760"/>
            <a:ext cx="5486400" cy="14630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Example 2: Student Grade Calculator</a:t>
            </a:r>
          </a:p>
          <a:p>
            <a:pPr algn="l"/>
            <a:r>
              <a:rPr sz="1200" b="0">
                <a:solidFill>
                  <a:srgbClr val="2D3436"/>
                </a:solidFill>
                <a:latin typeface="Calibri"/>
              </a:rPr>
              <a:t>Duration: 1 hour</a:t>
            </a:r>
          </a:p>
          <a:p>
            <a:pPr algn="l"/>
            <a:r>
              <a:rPr sz="1200" b="0">
                <a:solidFill>
                  <a:srgbClr val="2D3436"/>
                </a:solidFill>
                <a:latin typeface="Calibri"/>
              </a:rPr>
              <a:t/>
            </a:r>
          </a:p>
          <a:p>
            <a:pPr algn="l"/>
            <a:r>
              <a:rPr sz="1200" b="0">
                <a:solidFill>
                  <a:srgbClr val="2D3436"/>
                </a:solidFill>
                <a:latin typeface="Calibri"/>
              </a:rPr>
              <a:t>Calculate and report student grades</a:t>
            </a:r>
          </a:p>
          <a:p>
            <a:pPr algn="l"/>
            <a:r>
              <a:rPr sz="1200" b="0">
                <a:solidFill>
                  <a:srgbClr val="2D3436"/>
                </a:solidFill>
                <a:latin typeface="Calibri"/>
              </a:rPr>
              <a:t>Focus on business logic and testing</a:t>
            </a:r>
          </a:p>
          <a:p>
            <a:pPr algn="l"/>
            <a:r>
              <a:rPr sz="1200" b="0">
                <a:solidFill>
                  <a:srgbClr val="2D3436"/>
                </a:solidFill>
                <a:latin typeface="Calibri"/>
              </a:rPr>
              <a:t>Ideal for shorter sessions or beginners</a:t>
            </a:r>
          </a:p>
        </p:txBody>
      </p:sp>
      <p:sp>
        <p:nvSpPr>
          <p:cNvPr id="8" name="TextBox 7"/>
          <p:cNvSpPr txBox="1"/>
          <p:nvPr/>
        </p:nvSpPr>
        <p:spPr>
          <a:xfrm>
            <a:off x="6583680" y="1143000"/>
            <a:ext cx="5029200" cy="365760"/>
          </a:xfrm>
          <a:prstGeom prst="rect">
            <a:avLst/>
          </a:prstGeom>
          <a:noFill/>
        </p:spPr>
        <p:txBody>
          <a:bodyPr wrap="square">
            <a:spAutoFit/>
          </a:bodyPr>
          <a:lstStyle/>
          <a:p>
            <a:pPr algn="l"/>
            <a:r>
              <a:rPr sz="1600" b="1">
                <a:solidFill>
                  <a:srgbClr val="70AD47"/>
                </a:solidFill>
                <a:latin typeface="Calibri"/>
              </a:rPr>
              <a:t>Lab Exercise Flow</a:t>
            </a:r>
          </a:p>
        </p:txBody>
      </p:sp>
      <p:sp>
        <p:nvSpPr>
          <p:cNvPr id="9" name="Rounded Rectangle 8"/>
          <p:cNvSpPr/>
          <p:nvPr/>
        </p:nvSpPr>
        <p:spPr>
          <a:xfrm>
            <a:off x="6583680" y="1600200"/>
            <a:ext cx="914400" cy="54864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Spec</a:t>
            </a:r>
          </a:p>
        </p:txBody>
      </p:sp>
      <p:sp>
        <p:nvSpPr>
          <p:cNvPr id="10" name="Right Arrow 9"/>
          <p:cNvSpPr/>
          <p:nvPr/>
        </p:nvSpPr>
        <p:spPr>
          <a:xfrm>
            <a:off x="7516368" y="1737360"/>
            <a:ext cx="914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635240" y="1600200"/>
            <a:ext cx="914400" cy="54864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Architecture</a:t>
            </a:r>
          </a:p>
        </p:txBody>
      </p:sp>
      <p:sp>
        <p:nvSpPr>
          <p:cNvPr id="12" name="Right Arrow 11"/>
          <p:cNvSpPr/>
          <p:nvPr/>
        </p:nvSpPr>
        <p:spPr>
          <a:xfrm>
            <a:off x="8567928" y="1737360"/>
            <a:ext cx="914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0" y="1600200"/>
            <a:ext cx="914400" cy="5486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Code</a:t>
            </a:r>
          </a:p>
        </p:txBody>
      </p:sp>
      <p:sp>
        <p:nvSpPr>
          <p:cNvPr id="14" name="Right Arrow 13"/>
          <p:cNvSpPr/>
          <p:nvPr/>
        </p:nvSpPr>
        <p:spPr>
          <a:xfrm>
            <a:off x="9619488" y="1737360"/>
            <a:ext cx="914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38360" y="1600200"/>
            <a:ext cx="914400" cy="54864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Test</a:t>
            </a:r>
          </a:p>
        </p:txBody>
      </p:sp>
      <p:sp>
        <p:nvSpPr>
          <p:cNvPr id="16" name="Right Arrow 15"/>
          <p:cNvSpPr/>
          <p:nvPr/>
        </p:nvSpPr>
        <p:spPr>
          <a:xfrm>
            <a:off x="10671048" y="1737360"/>
            <a:ext cx="914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789920" y="1600200"/>
            <a:ext cx="914400" cy="54864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Deploy</a:t>
            </a:r>
          </a:p>
        </p:txBody>
      </p:sp>
      <p:sp>
        <p:nvSpPr>
          <p:cNvPr id="18" name="TextBox 17"/>
          <p:cNvSpPr txBox="1"/>
          <p:nvPr/>
        </p:nvSpPr>
        <p:spPr>
          <a:xfrm>
            <a:off x="6583680" y="2468880"/>
            <a:ext cx="5029200" cy="365760"/>
          </a:xfrm>
          <a:prstGeom prst="rect">
            <a:avLst/>
          </a:prstGeom>
          <a:noFill/>
        </p:spPr>
        <p:txBody>
          <a:bodyPr wrap="square">
            <a:spAutoFit/>
          </a:bodyPr>
          <a:lstStyle/>
          <a:p>
            <a:pPr algn="l"/>
            <a:r>
              <a:rPr sz="1600" b="1">
                <a:solidFill>
                  <a:srgbClr val="ED7D31"/>
                </a:solidFill>
                <a:latin typeface="Calibri"/>
              </a:rPr>
              <a:t>Homework Exercises</a:t>
            </a:r>
          </a:p>
        </p:txBody>
      </p:sp>
      <p:sp>
        <p:nvSpPr>
          <p:cNvPr id="19" name="TextBox 18"/>
          <p:cNvSpPr txBox="1"/>
          <p:nvPr/>
        </p:nvSpPr>
        <p:spPr>
          <a:xfrm>
            <a:off x="6583680" y="2880360"/>
            <a:ext cx="5029200" cy="2743200"/>
          </a:xfrm>
          <a:prstGeom prst="rect">
            <a:avLst/>
          </a:prstGeom>
          <a:noFill/>
        </p:spPr>
        <p:txBody>
          <a:bodyPr wrap="square">
            <a:spAutoFit/>
          </a:bodyPr>
          <a:lstStyle/>
          <a:p>
            <a:pPr>
              <a:lnSpc>
                <a:spcPct val="130000"/>
              </a:lnSpc>
              <a:spcAft>
                <a:spcPts val="800"/>
              </a:spcAft>
            </a:pPr>
            <a:r>
              <a:rPr sz="1300">
                <a:solidFill>
                  <a:srgbClr val="2D3436"/>
                </a:solidFill>
                <a:latin typeface="Calibri"/>
              </a:rPr>
              <a:t>• Book Library Management System</a:t>
            </a:r>
          </a:p>
          <a:p>
            <a:pPr>
              <a:lnSpc>
                <a:spcPct val="130000"/>
              </a:lnSpc>
              <a:spcAft>
                <a:spcPts val="400"/>
              </a:spcAft>
            </a:pPr>
            <a:r>
              <a:rPr sz="1100">
                <a:solidFill>
                  <a:srgbClr val="636E72"/>
                </a:solidFill>
                <a:latin typeface="Calibri"/>
              </a:rPr>
              <a:t>     - CRUD for books, authors, categories</a:t>
            </a:r>
          </a:p>
          <a:p>
            <a:pPr>
              <a:lnSpc>
                <a:spcPct val="130000"/>
              </a:lnSpc>
              <a:spcAft>
                <a:spcPts val="400"/>
              </a:spcAft>
            </a:pPr>
            <a:r>
              <a:rPr sz="1100">
                <a:solidFill>
                  <a:srgbClr val="636E72"/>
                </a:solidFill>
                <a:latin typeface="Calibri"/>
              </a:rPr>
              <a:t>     - Search &amp; filtering capabilities</a:t>
            </a:r>
          </a:p>
          <a:p>
            <a:pPr>
              <a:lnSpc>
                <a:spcPct val="130000"/>
              </a:lnSpc>
              <a:spcAft>
                <a:spcPts val="400"/>
              </a:spcAft>
            </a:pPr>
            <a:r>
              <a:rPr sz="1100">
                <a:solidFill>
                  <a:srgbClr val="636E72"/>
                </a:solidFill>
                <a:latin typeface="Calibri"/>
              </a:rPr>
              <a:t>     - Full spec-driven workflow</a:t>
            </a:r>
          </a:p>
          <a:p>
            <a:pPr>
              <a:lnSpc>
                <a:spcPct val="130000"/>
              </a:lnSpc>
              <a:spcAft>
                <a:spcPts val="800"/>
              </a:spcAft>
            </a:pPr>
            <a:r>
              <a:rPr sz="1300">
                <a:solidFill>
                  <a:srgbClr val="2D3436"/>
                </a:solidFill>
                <a:latin typeface="Calibri"/>
              </a:rPr>
              <a:t>• Event Registration Platform</a:t>
            </a:r>
          </a:p>
          <a:p>
            <a:pPr>
              <a:lnSpc>
                <a:spcPct val="130000"/>
              </a:lnSpc>
              <a:spcAft>
                <a:spcPts val="400"/>
              </a:spcAft>
            </a:pPr>
            <a:r>
              <a:rPr sz="1100">
                <a:solidFill>
                  <a:srgbClr val="636E72"/>
                </a:solidFill>
                <a:latin typeface="Calibri"/>
              </a:rPr>
              <a:t>     - Event creation &amp; attendee registration</a:t>
            </a:r>
          </a:p>
          <a:p>
            <a:pPr>
              <a:lnSpc>
                <a:spcPct val="130000"/>
              </a:lnSpc>
              <a:spcAft>
                <a:spcPts val="400"/>
              </a:spcAft>
            </a:pPr>
            <a:r>
              <a:rPr sz="1100">
                <a:solidFill>
                  <a:srgbClr val="636E72"/>
                </a:solidFill>
                <a:latin typeface="Calibri"/>
              </a:rPr>
              <a:t>     - Capacity management &amp; notifications</a:t>
            </a:r>
          </a:p>
          <a:p>
            <a:pPr>
              <a:lnSpc>
                <a:spcPct val="130000"/>
              </a:lnSpc>
              <a:spcAft>
                <a:spcPts val="400"/>
              </a:spcAft>
            </a:pPr>
            <a:r>
              <a:rPr sz="1100">
                <a:solidFill>
                  <a:srgbClr val="636E72"/>
                </a:solidFill>
                <a:latin typeface="Calibri"/>
              </a:rPr>
              <a:t>     - Multi-tier architecture</a:t>
            </a:r>
          </a:p>
        </p:txBody>
      </p:sp>
      <p:sp>
        <p:nvSpPr>
          <p:cNvPr id="20" name="Rounded Rectangle 19"/>
          <p:cNvSpPr/>
          <p:nvPr/>
        </p:nvSpPr>
        <p:spPr>
          <a:xfrm>
            <a:off x="548640" y="5486400"/>
            <a:ext cx="11064240" cy="50292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Key Principle:  Every exercise follows Spec-First -&gt; AI-Assisted Design -&gt; Generate &amp; Review -&gt; Test &amp; Validate -&gt; Deploy &amp; Monitor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Key Takeaways &amp; Next Steps</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Closing</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40</a:t>
            </a:r>
          </a:p>
        </p:txBody>
      </p:sp>
      <p:sp>
        <p:nvSpPr>
          <p:cNvPr id="5" name="Rounded Rectangle 4"/>
          <p:cNvSpPr/>
          <p:nvPr/>
        </p:nvSpPr>
        <p:spPr>
          <a:xfrm>
            <a:off x="548640" y="1188720"/>
            <a:ext cx="411480" cy="4114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1</a:t>
            </a:r>
          </a:p>
        </p:txBody>
      </p:sp>
      <p:sp>
        <p:nvSpPr>
          <p:cNvPr id="6" name="Rounded Rectangle 5"/>
          <p:cNvSpPr/>
          <p:nvPr/>
        </p:nvSpPr>
        <p:spPr>
          <a:xfrm>
            <a:off x="1051560" y="1188720"/>
            <a:ext cx="2926080" cy="109728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AI-native development starts with</a:t>
            </a:r>
          </a:p>
          <a:p>
            <a:pPr algn="l"/>
            <a:r>
              <a:rPr sz="1200" b="0">
                <a:solidFill>
                  <a:srgbClr val="2D3436"/>
                </a:solidFill>
                <a:latin typeface="Calibri"/>
              </a:rPr>
              <a:t>SPECIFICATIONS, not code</a:t>
            </a:r>
          </a:p>
        </p:txBody>
      </p:sp>
      <p:sp>
        <p:nvSpPr>
          <p:cNvPr id="7" name="Rounded Rectangle 6"/>
          <p:cNvSpPr/>
          <p:nvPr/>
        </p:nvSpPr>
        <p:spPr>
          <a:xfrm>
            <a:off x="4343400" y="1188720"/>
            <a:ext cx="411480" cy="4114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2</a:t>
            </a:r>
          </a:p>
        </p:txBody>
      </p:sp>
      <p:sp>
        <p:nvSpPr>
          <p:cNvPr id="8" name="Rounded Rectangle 7"/>
          <p:cNvSpPr/>
          <p:nvPr/>
        </p:nvSpPr>
        <p:spPr>
          <a:xfrm>
            <a:off x="4846320" y="1188720"/>
            <a:ext cx="2926080" cy="10972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Human oversight remains essential</a:t>
            </a:r>
          </a:p>
          <a:p>
            <a:pPr algn="l"/>
            <a:r>
              <a:rPr sz="1200" b="0">
                <a:solidFill>
                  <a:srgbClr val="2D3436"/>
                </a:solidFill>
                <a:latin typeface="Calibri"/>
              </a:rPr>
              <a:t>at every stage</a:t>
            </a:r>
          </a:p>
        </p:txBody>
      </p:sp>
      <p:sp>
        <p:nvSpPr>
          <p:cNvPr id="9" name="Rounded Rectangle 8"/>
          <p:cNvSpPr/>
          <p:nvPr/>
        </p:nvSpPr>
        <p:spPr>
          <a:xfrm>
            <a:off x="8138160" y="1188720"/>
            <a:ext cx="411480" cy="4114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3</a:t>
            </a:r>
          </a:p>
        </p:txBody>
      </p:sp>
      <p:sp>
        <p:nvSpPr>
          <p:cNvPr id="10" name="Rounded Rectangle 9"/>
          <p:cNvSpPr/>
          <p:nvPr/>
        </p:nvSpPr>
        <p:spPr>
          <a:xfrm>
            <a:off x="8641080" y="1188720"/>
            <a:ext cx="2926080" cy="109728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Testing and security are</a:t>
            </a:r>
          </a:p>
          <a:p>
            <a:pPr algn="l"/>
            <a:r>
              <a:rPr sz="1200" b="0">
                <a:solidFill>
                  <a:srgbClr val="2D3436"/>
                </a:solidFill>
                <a:latin typeface="Calibri"/>
              </a:rPr>
              <a:t>mandatory guardrails</a:t>
            </a:r>
          </a:p>
        </p:txBody>
      </p:sp>
      <p:sp>
        <p:nvSpPr>
          <p:cNvPr id="11" name="Rounded Rectangle 10"/>
          <p:cNvSpPr/>
          <p:nvPr/>
        </p:nvSpPr>
        <p:spPr>
          <a:xfrm>
            <a:off x="548640" y="2606040"/>
            <a:ext cx="411480" cy="4114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4</a:t>
            </a:r>
          </a:p>
        </p:txBody>
      </p:sp>
      <p:sp>
        <p:nvSpPr>
          <p:cNvPr id="12" name="Rounded Rectangle 11"/>
          <p:cNvSpPr/>
          <p:nvPr/>
        </p:nvSpPr>
        <p:spPr>
          <a:xfrm>
            <a:off x="1051560" y="2606040"/>
            <a:ext cx="2926080" cy="109728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CI/CD automates quality</a:t>
            </a:r>
          </a:p>
          <a:p>
            <a:pPr algn="l"/>
            <a:r>
              <a:rPr sz="1200" b="0">
                <a:solidFill>
                  <a:srgbClr val="2D3436"/>
                </a:solidFill>
                <a:latin typeface="Calibri"/>
              </a:rPr>
              <a:t>enforcement</a:t>
            </a:r>
          </a:p>
        </p:txBody>
      </p:sp>
      <p:sp>
        <p:nvSpPr>
          <p:cNvPr id="13" name="Rounded Rectangle 12"/>
          <p:cNvSpPr/>
          <p:nvPr/>
        </p:nvSpPr>
        <p:spPr>
          <a:xfrm>
            <a:off x="4343400" y="2606040"/>
            <a:ext cx="411480" cy="41148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5</a:t>
            </a:r>
          </a:p>
        </p:txBody>
      </p:sp>
      <p:sp>
        <p:nvSpPr>
          <p:cNvPr id="14" name="Rounded Rectangle 13"/>
          <p:cNvSpPr/>
          <p:nvPr/>
        </p:nvSpPr>
        <p:spPr>
          <a:xfrm>
            <a:off x="4846320" y="2606040"/>
            <a:ext cx="2926080" cy="109728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Multi-agent workflows represent</a:t>
            </a:r>
          </a:p>
          <a:p>
            <a:pPr algn="l"/>
            <a:r>
              <a:rPr sz="1200" b="0">
                <a:solidFill>
                  <a:srgbClr val="2D3436"/>
                </a:solidFill>
                <a:latin typeface="Calibri"/>
              </a:rPr>
              <a:t>the future of SDLC</a:t>
            </a:r>
          </a:p>
        </p:txBody>
      </p:sp>
      <p:sp>
        <p:nvSpPr>
          <p:cNvPr id="15" name="Rounded Rectangle 14"/>
          <p:cNvSpPr/>
          <p:nvPr/>
        </p:nvSpPr>
        <p:spPr>
          <a:xfrm>
            <a:off x="8138160" y="2606040"/>
            <a:ext cx="411480" cy="4114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6</a:t>
            </a:r>
          </a:p>
        </p:txBody>
      </p:sp>
      <p:sp>
        <p:nvSpPr>
          <p:cNvPr id="16" name="Rounded Rectangle 15"/>
          <p:cNvSpPr/>
          <p:nvPr/>
        </p:nvSpPr>
        <p:spPr>
          <a:xfrm>
            <a:off x="8641080" y="2606040"/>
            <a:ext cx="2926080" cy="109728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Governance ensures responsible,</a:t>
            </a:r>
          </a:p>
          <a:p>
            <a:pPr algn="l"/>
            <a:r>
              <a:rPr sz="1200" b="0">
                <a:solidFill>
                  <a:srgbClr val="2D3436"/>
                </a:solidFill>
                <a:latin typeface="Calibri"/>
              </a:rPr>
              <a:t>sustainable AI adoption</a:t>
            </a:r>
          </a:p>
        </p:txBody>
      </p:sp>
      <p:sp>
        <p:nvSpPr>
          <p:cNvPr id="17" name="Rounded Rectangle 16"/>
          <p:cNvSpPr/>
          <p:nvPr/>
        </p:nvSpPr>
        <p:spPr>
          <a:xfrm>
            <a:off x="548640" y="4251960"/>
            <a:ext cx="137160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Human</a:t>
            </a:r>
          </a:p>
          <a:p>
            <a:pPr algn="ctr"/>
            <a:r>
              <a:rPr sz="900" b="0">
                <a:solidFill>
                  <a:srgbClr val="FFFFFF"/>
                </a:solidFill>
                <a:latin typeface="Calibri"/>
              </a:rPr>
              <a:t>Intent</a:t>
            </a:r>
          </a:p>
        </p:txBody>
      </p:sp>
      <p:sp>
        <p:nvSpPr>
          <p:cNvPr id="18" name="Right Arrow 17"/>
          <p:cNvSpPr/>
          <p:nvPr/>
        </p:nvSpPr>
        <p:spPr>
          <a:xfrm>
            <a:off x="1938528"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148840" y="4251960"/>
            <a:ext cx="137160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Executable</a:t>
            </a:r>
          </a:p>
          <a:p>
            <a:pPr algn="ctr"/>
            <a:r>
              <a:rPr sz="900" b="0">
                <a:solidFill>
                  <a:srgbClr val="FFFFFF"/>
                </a:solidFill>
                <a:latin typeface="Calibri"/>
              </a:rPr>
              <a:t>Spec</a:t>
            </a:r>
          </a:p>
        </p:txBody>
      </p:sp>
      <p:sp>
        <p:nvSpPr>
          <p:cNvPr id="20" name="Right Arrow 19"/>
          <p:cNvSpPr/>
          <p:nvPr/>
        </p:nvSpPr>
        <p:spPr>
          <a:xfrm>
            <a:off x="3538728"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749039" y="4251960"/>
            <a:ext cx="137160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AI-Assisted</a:t>
            </a:r>
          </a:p>
          <a:p>
            <a:pPr algn="ctr"/>
            <a:r>
              <a:rPr sz="900" b="0">
                <a:solidFill>
                  <a:srgbClr val="FFFFFF"/>
                </a:solidFill>
                <a:latin typeface="Calibri"/>
              </a:rPr>
              <a:t>Design</a:t>
            </a:r>
          </a:p>
        </p:txBody>
      </p:sp>
      <p:sp>
        <p:nvSpPr>
          <p:cNvPr id="22" name="Right Arrow 21"/>
          <p:cNvSpPr/>
          <p:nvPr/>
        </p:nvSpPr>
        <p:spPr>
          <a:xfrm>
            <a:off x="5138927"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49240" y="4251960"/>
            <a:ext cx="137160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Code</a:t>
            </a:r>
          </a:p>
          <a:p>
            <a:pPr algn="ctr"/>
            <a:r>
              <a:rPr sz="900" b="0">
                <a:solidFill>
                  <a:srgbClr val="FFFFFF"/>
                </a:solidFill>
                <a:latin typeface="Calibri"/>
              </a:rPr>
              <a:t>Generation</a:t>
            </a:r>
          </a:p>
        </p:txBody>
      </p:sp>
      <p:sp>
        <p:nvSpPr>
          <p:cNvPr id="24" name="Right Arrow 23"/>
          <p:cNvSpPr/>
          <p:nvPr/>
        </p:nvSpPr>
        <p:spPr>
          <a:xfrm>
            <a:off x="6739127"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949440" y="4251960"/>
            <a:ext cx="137160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Automated</a:t>
            </a:r>
          </a:p>
          <a:p>
            <a:pPr algn="ctr"/>
            <a:r>
              <a:rPr sz="900" b="0">
                <a:solidFill>
                  <a:srgbClr val="FFFFFF"/>
                </a:solidFill>
                <a:latin typeface="Calibri"/>
              </a:rPr>
              <a:t>Testing</a:t>
            </a:r>
          </a:p>
        </p:txBody>
      </p:sp>
      <p:sp>
        <p:nvSpPr>
          <p:cNvPr id="26" name="Right Arrow 25"/>
          <p:cNvSpPr/>
          <p:nvPr/>
        </p:nvSpPr>
        <p:spPr>
          <a:xfrm>
            <a:off x="8339327"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49640" y="4251960"/>
            <a:ext cx="137160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CI/CD</a:t>
            </a:r>
          </a:p>
          <a:p>
            <a:pPr algn="ctr"/>
            <a:r>
              <a:rPr sz="900" b="0">
                <a:solidFill>
                  <a:srgbClr val="FFFFFF"/>
                </a:solidFill>
                <a:latin typeface="Calibri"/>
              </a:rPr>
              <a:t>Pipeline</a:t>
            </a:r>
          </a:p>
        </p:txBody>
      </p:sp>
      <p:sp>
        <p:nvSpPr>
          <p:cNvPr id="28" name="Right Arrow 27"/>
          <p:cNvSpPr/>
          <p:nvPr/>
        </p:nvSpPr>
        <p:spPr>
          <a:xfrm>
            <a:off x="9939528"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149840" y="4251960"/>
            <a:ext cx="1371600" cy="64008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Continuous</a:t>
            </a:r>
          </a:p>
          <a:p>
            <a:pPr algn="ctr"/>
            <a:r>
              <a:rPr sz="900" b="0">
                <a:solidFill>
                  <a:srgbClr val="FFFFFF"/>
                </a:solidFill>
                <a:latin typeface="Calibri"/>
              </a:rPr>
              <a:t>Feedback</a:t>
            </a:r>
          </a:p>
        </p:txBody>
      </p:sp>
      <p:sp>
        <p:nvSpPr>
          <p:cNvPr id="30" name="Rounded Rectangle 29"/>
          <p:cNvSpPr/>
          <p:nvPr/>
        </p:nvSpPr>
        <p:spPr>
          <a:xfrm>
            <a:off x="548640" y="5166360"/>
            <a:ext cx="11064240" cy="82296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Next Steps:   Complete homework exercises   |   Explore AI tools (Cursor, Copilot, Claude)   |   Apply spec-driven practices in your curriculum   |   Share learnings with colleagues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Prompt Engineering Templates</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41</a:t>
            </a:r>
          </a:p>
        </p:txBody>
      </p:sp>
      <p:sp>
        <p:nvSpPr>
          <p:cNvPr id="5" name="TextBox 4"/>
          <p:cNvSpPr txBox="1"/>
          <p:nvPr/>
        </p:nvSpPr>
        <p:spPr>
          <a:xfrm>
            <a:off x="457200" y="1051560"/>
            <a:ext cx="3657600" cy="274320"/>
          </a:xfrm>
          <a:prstGeom prst="rect">
            <a:avLst/>
          </a:prstGeom>
          <a:noFill/>
        </p:spPr>
        <p:txBody>
          <a:bodyPr wrap="square">
            <a:spAutoFit/>
          </a:bodyPr>
          <a:lstStyle/>
          <a:p>
            <a:pPr algn="l"/>
            <a:r>
              <a:rPr sz="1300" b="1">
                <a:solidFill>
                  <a:srgbClr val="4472C4"/>
                </a:solidFill>
                <a:latin typeface="Calibri"/>
              </a:rPr>
              <a:t>1. Requirements Gathering Prompt</a:t>
            </a:r>
          </a:p>
        </p:txBody>
      </p:sp>
      <p:sp>
        <p:nvSpPr>
          <p:cNvPr id="6" name="Rectangle 5"/>
          <p:cNvSpPr/>
          <p:nvPr/>
        </p:nvSpPr>
        <p:spPr>
          <a:xfrm>
            <a:off x="457200" y="1371600"/>
            <a:ext cx="5394960" cy="146304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You are a requirements analyst.</a:t>
            </a:r>
          </a:p>
          <a:p>
            <a:pPr>
              <a:spcAft>
                <a:spcPts val="100"/>
              </a:spcAft>
            </a:pPr>
            <a:r>
              <a:rPr sz="900">
                <a:solidFill>
                  <a:srgbClr val="2D3436"/>
                </a:solidFill>
                <a:latin typeface="Consolas"/>
              </a:rPr>
              <a:t>Given this feature request:</a:t>
            </a:r>
          </a:p>
          <a:p>
            <a:pPr>
              <a:spcAft>
                <a:spcPts val="100"/>
              </a:spcAft>
            </a:pPr>
            <a:r>
              <a:rPr sz="900">
                <a:solidFill>
                  <a:srgbClr val="2D3436"/>
                </a:solidFill>
                <a:latin typeface="Consolas"/>
              </a:rPr>
              <a:t>  "{feature_description}"</a:t>
            </a:r>
          </a:p>
          <a:p>
            <a:pPr>
              <a:spcAft>
                <a:spcPts val="100"/>
              </a:spcAft>
            </a:pPr>
            <a:r>
              <a:rPr sz="900">
                <a:solidFill>
                  <a:srgbClr val="2D3436"/>
                </a:solidFill>
                <a:latin typeface="Consolas"/>
              </a:rPr>
              <a:t/>
            </a:r>
          </a:p>
          <a:p>
            <a:pPr>
              <a:spcAft>
                <a:spcPts val="100"/>
              </a:spcAft>
            </a:pPr>
            <a:r>
              <a:rPr sz="900">
                <a:solidFill>
                  <a:srgbClr val="2D3436"/>
                </a:solidFill>
                <a:latin typeface="Consolas"/>
              </a:rPr>
              <a:t>Produce:</a:t>
            </a:r>
          </a:p>
          <a:p>
            <a:pPr>
              <a:spcAft>
                <a:spcPts val="100"/>
              </a:spcAft>
            </a:pPr>
            <a:r>
              <a:rPr sz="900">
                <a:solidFill>
                  <a:srgbClr val="2D3436"/>
                </a:solidFill>
                <a:latin typeface="Consolas"/>
              </a:rPr>
              <a:t>1. Functional requirements (numbered)</a:t>
            </a:r>
          </a:p>
          <a:p>
            <a:pPr>
              <a:spcAft>
                <a:spcPts val="100"/>
              </a:spcAft>
            </a:pPr>
            <a:r>
              <a:rPr sz="900">
                <a:solidFill>
                  <a:srgbClr val="2D3436"/>
                </a:solidFill>
                <a:latin typeface="Consolas"/>
              </a:rPr>
              <a:t>2. Non-functional requirements</a:t>
            </a:r>
          </a:p>
          <a:p>
            <a:pPr>
              <a:spcAft>
                <a:spcPts val="100"/>
              </a:spcAft>
            </a:pPr>
            <a:r>
              <a:rPr sz="900">
                <a:solidFill>
                  <a:srgbClr val="2D3436"/>
                </a:solidFill>
                <a:latin typeface="Consolas"/>
              </a:rPr>
              <a:t>3. Acceptance criteria (Given/When/Then)</a:t>
            </a:r>
          </a:p>
          <a:p>
            <a:pPr>
              <a:spcAft>
                <a:spcPts val="100"/>
              </a:spcAft>
            </a:pPr>
            <a:r>
              <a:rPr sz="900">
                <a:solidFill>
                  <a:srgbClr val="2D3436"/>
                </a:solidFill>
                <a:latin typeface="Consolas"/>
              </a:rPr>
              <a:t>4. Edge cases and error scenarios</a:t>
            </a:r>
          </a:p>
        </p:txBody>
      </p:sp>
      <p:sp>
        <p:nvSpPr>
          <p:cNvPr id="7" name="TextBox 6"/>
          <p:cNvSpPr txBox="1"/>
          <p:nvPr/>
        </p:nvSpPr>
        <p:spPr>
          <a:xfrm>
            <a:off x="457200" y="3017520"/>
            <a:ext cx="3657600" cy="274320"/>
          </a:xfrm>
          <a:prstGeom prst="rect">
            <a:avLst/>
          </a:prstGeom>
          <a:noFill/>
        </p:spPr>
        <p:txBody>
          <a:bodyPr wrap="square">
            <a:spAutoFit/>
          </a:bodyPr>
          <a:lstStyle/>
          <a:p>
            <a:pPr algn="l"/>
            <a:r>
              <a:rPr sz="1300" b="1">
                <a:solidFill>
                  <a:srgbClr val="70AD47"/>
                </a:solidFill>
                <a:latin typeface="Calibri"/>
              </a:rPr>
              <a:t>2. Code Generation Prompt</a:t>
            </a:r>
          </a:p>
        </p:txBody>
      </p:sp>
      <p:sp>
        <p:nvSpPr>
          <p:cNvPr id="8" name="Rectangle 7"/>
          <p:cNvSpPr/>
          <p:nvPr/>
        </p:nvSpPr>
        <p:spPr>
          <a:xfrm>
            <a:off x="457200" y="3291840"/>
            <a:ext cx="5394960" cy="146304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You are a senior backend developer.</a:t>
            </a:r>
          </a:p>
          <a:p>
            <a:pPr>
              <a:spcAft>
                <a:spcPts val="100"/>
              </a:spcAft>
            </a:pPr>
            <a:r>
              <a:rPr sz="900">
                <a:solidFill>
                  <a:srgbClr val="2D3436"/>
                </a:solidFill>
                <a:latin typeface="Consolas"/>
              </a:rPr>
              <a:t>Given this specification:</a:t>
            </a:r>
          </a:p>
          <a:p>
            <a:pPr>
              <a:spcAft>
                <a:spcPts val="100"/>
              </a:spcAft>
            </a:pPr>
            <a:r>
              <a:rPr sz="900">
                <a:solidFill>
                  <a:srgbClr val="2D3436"/>
                </a:solidFill>
                <a:latin typeface="Consolas"/>
              </a:rPr>
              <a:t>  {specification}</a:t>
            </a:r>
          </a:p>
          <a:p>
            <a:pPr>
              <a:spcAft>
                <a:spcPts val="100"/>
              </a:spcAft>
            </a:pPr>
            <a:r>
              <a:rPr sz="900">
                <a:solidFill>
                  <a:srgbClr val="2D3436"/>
                </a:solidFill>
                <a:latin typeface="Consolas"/>
              </a:rPr>
              <a:t/>
            </a:r>
          </a:p>
          <a:p>
            <a:pPr>
              <a:spcAft>
                <a:spcPts val="100"/>
              </a:spcAft>
            </a:pPr>
            <a:r>
              <a:rPr sz="900">
                <a:solidFill>
                  <a:srgbClr val="2D3436"/>
                </a:solidFill>
                <a:latin typeface="Consolas"/>
              </a:rPr>
              <a:t>Generate a RESTful API implementation:</a:t>
            </a:r>
          </a:p>
          <a:p>
            <a:pPr>
              <a:spcAft>
                <a:spcPts val="100"/>
              </a:spcAft>
            </a:pPr>
            <a:r>
              <a:rPr sz="900">
                <a:solidFill>
                  <a:srgbClr val="2D3436"/>
                </a:solidFill>
                <a:latin typeface="Consolas"/>
              </a:rPr>
              <a:t>- Language: Python / FastAPI</a:t>
            </a:r>
          </a:p>
          <a:p>
            <a:pPr>
              <a:spcAft>
                <a:spcPts val="100"/>
              </a:spcAft>
            </a:pPr>
            <a:r>
              <a:rPr sz="900">
                <a:solidFill>
                  <a:srgbClr val="2D3436"/>
                </a:solidFill>
                <a:latin typeface="Consolas"/>
              </a:rPr>
              <a:t>- Follow clean architecture patterns</a:t>
            </a:r>
          </a:p>
          <a:p>
            <a:pPr>
              <a:spcAft>
                <a:spcPts val="100"/>
              </a:spcAft>
            </a:pPr>
            <a:r>
              <a:rPr sz="900">
                <a:solidFill>
                  <a:srgbClr val="2D3436"/>
                </a:solidFill>
                <a:latin typeface="Consolas"/>
              </a:rPr>
              <a:t>- Include input validation &amp; error handling</a:t>
            </a:r>
          </a:p>
          <a:p>
            <a:pPr>
              <a:spcAft>
                <a:spcPts val="100"/>
              </a:spcAft>
            </a:pPr>
            <a:r>
              <a:rPr sz="900">
                <a:solidFill>
                  <a:srgbClr val="2D3436"/>
                </a:solidFill>
                <a:latin typeface="Consolas"/>
              </a:rPr>
              <a:t>- Add docstrings and type hints</a:t>
            </a:r>
          </a:p>
        </p:txBody>
      </p:sp>
      <p:sp>
        <p:nvSpPr>
          <p:cNvPr id="9" name="TextBox 8"/>
          <p:cNvSpPr txBox="1"/>
          <p:nvPr/>
        </p:nvSpPr>
        <p:spPr>
          <a:xfrm>
            <a:off x="457200" y="4937760"/>
            <a:ext cx="3657600" cy="274320"/>
          </a:xfrm>
          <a:prstGeom prst="rect">
            <a:avLst/>
          </a:prstGeom>
          <a:noFill/>
        </p:spPr>
        <p:txBody>
          <a:bodyPr wrap="square">
            <a:spAutoFit/>
          </a:bodyPr>
          <a:lstStyle/>
          <a:p>
            <a:pPr algn="l"/>
            <a:r>
              <a:rPr sz="1300" b="1">
                <a:solidFill>
                  <a:srgbClr val="9B59B6"/>
                </a:solidFill>
                <a:latin typeface="Calibri"/>
              </a:rPr>
              <a:t>3. Test Generation Prompt</a:t>
            </a:r>
          </a:p>
        </p:txBody>
      </p:sp>
      <p:sp>
        <p:nvSpPr>
          <p:cNvPr id="10" name="Rectangle 9"/>
          <p:cNvSpPr/>
          <p:nvPr/>
        </p:nvSpPr>
        <p:spPr>
          <a:xfrm>
            <a:off x="457200" y="5212080"/>
            <a:ext cx="5394960" cy="9144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Given this code: {code}</a:t>
            </a:r>
          </a:p>
          <a:p>
            <a:pPr>
              <a:spcAft>
                <a:spcPts val="100"/>
              </a:spcAft>
            </a:pPr>
            <a:r>
              <a:rPr sz="900">
                <a:solidFill>
                  <a:srgbClr val="2D3436"/>
                </a:solidFill>
                <a:latin typeface="Consolas"/>
              </a:rPr>
              <a:t>And acceptance criteria: {criteria}</a:t>
            </a:r>
          </a:p>
          <a:p>
            <a:pPr>
              <a:spcAft>
                <a:spcPts val="100"/>
              </a:spcAft>
            </a:pPr>
            <a:r>
              <a:rPr sz="900">
                <a:solidFill>
                  <a:srgbClr val="2D3436"/>
                </a:solidFill>
                <a:latin typeface="Consolas"/>
              </a:rPr>
              <a:t>Generate: unit tests (pytest), edge case</a:t>
            </a:r>
          </a:p>
          <a:p>
            <a:pPr>
              <a:spcAft>
                <a:spcPts val="100"/>
              </a:spcAft>
            </a:pPr>
            <a:r>
              <a:rPr sz="900">
                <a:solidFill>
                  <a:srgbClr val="2D3436"/>
                </a:solidFill>
                <a:latin typeface="Consolas"/>
              </a:rPr>
              <a:t>tests, and integration tests with mocks.</a:t>
            </a:r>
          </a:p>
        </p:txBody>
      </p:sp>
      <p:sp>
        <p:nvSpPr>
          <p:cNvPr id="11" name="TextBox 10"/>
          <p:cNvSpPr txBox="1"/>
          <p:nvPr/>
        </p:nvSpPr>
        <p:spPr>
          <a:xfrm>
            <a:off x="6217920" y="1051560"/>
            <a:ext cx="5303520" cy="274320"/>
          </a:xfrm>
          <a:prstGeom prst="rect">
            <a:avLst/>
          </a:prstGeom>
          <a:noFill/>
        </p:spPr>
        <p:txBody>
          <a:bodyPr wrap="square">
            <a:spAutoFit/>
          </a:bodyPr>
          <a:lstStyle/>
          <a:p>
            <a:pPr algn="l"/>
            <a:r>
              <a:rPr sz="1600" b="1">
                <a:solidFill>
                  <a:srgbClr val="ED7D31"/>
                </a:solidFill>
                <a:latin typeface="Calibri"/>
              </a:rPr>
              <a:t>Prompt Engineering Tips</a:t>
            </a:r>
          </a:p>
        </p:txBody>
      </p:sp>
      <p:sp>
        <p:nvSpPr>
          <p:cNvPr id="12" name="TextBox 11"/>
          <p:cNvSpPr txBox="1"/>
          <p:nvPr/>
        </p:nvSpPr>
        <p:spPr>
          <a:xfrm>
            <a:off x="6217920" y="1463040"/>
            <a:ext cx="5303520" cy="4572000"/>
          </a:xfrm>
          <a:prstGeom prst="rect">
            <a:avLst/>
          </a:prstGeom>
          <a:noFill/>
        </p:spPr>
        <p:txBody>
          <a:bodyPr wrap="square">
            <a:spAutoFit/>
          </a:bodyPr>
          <a:lstStyle/>
          <a:p>
            <a:pPr>
              <a:lnSpc>
                <a:spcPct val="130000"/>
              </a:lnSpc>
              <a:spcAft>
                <a:spcPts val="800"/>
              </a:spcAft>
            </a:pPr>
            <a:r>
              <a:rPr sz="1200">
                <a:solidFill>
                  <a:srgbClr val="2D3436"/>
                </a:solidFill>
                <a:latin typeface="Calibri"/>
              </a:rPr>
              <a:t>• Always assign a ROLE to the AI (analyst, developer, tester)</a:t>
            </a:r>
          </a:p>
          <a:p>
            <a:pPr>
              <a:lnSpc>
                <a:spcPct val="130000"/>
              </a:lnSpc>
              <a:spcAft>
                <a:spcPts val="800"/>
              </a:spcAft>
            </a:pPr>
            <a:r>
              <a:rPr sz="1200">
                <a:solidFill>
                  <a:srgbClr val="2D3436"/>
                </a:solidFill>
                <a:latin typeface="Calibri"/>
              </a:rPr>
              <a:t>• Provide CONTEXT — specs, constraints, existing code</a:t>
            </a:r>
          </a:p>
          <a:p>
            <a:pPr>
              <a:lnSpc>
                <a:spcPct val="130000"/>
              </a:lnSpc>
              <a:spcAft>
                <a:spcPts val="800"/>
              </a:spcAft>
            </a:pPr>
            <a:r>
              <a:rPr sz="1200">
                <a:solidFill>
                  <a:srgbClr val="2D3436"/>
                </a:solidFill>
                <a:latin typeface="Calibri"/>
              </a:rPr>
              <a:t>• Be SPECIFIC about output format and requirements</a:t>
            </a:r>
          </a:p>
          <a:p>
            <a:pPr>
              <a:lnSpc>
                <a:spcPct val="130000"/>
              </a:lnSpc>
              <a:spcAft>
                <a:spcPts val="800"/>
              </a:spcAft>
            </a:pPr>
            <a:r>
              <a:rPr sz="1200">
                <a:solidFill>
                  <a:srgbClr val="2D3436"/>
                </a:solidFill>
                <a:latin typeface="Calibri"/>
              </a:rPr>
              <a:t>• Include EXAMPLES of desired output when possible</a:t>
            </a:r>
          </a:p>
          <a:p>
            <a:pPr>
              <a:lnSpc>
                <a:spcPct val="130000"/>
              </a:lnSpc>
              <a:spcAft>
                <a:spcPts val="800"/>
              </a:spcAft>
            </a:pPr>
            <a:r>
              <a:rPr sz="1200">
                <a:solidFill>
                  <a:srgbClr val="2D3436"/>
                </a:solidFill>
                <a:latin typeface="Calibri"/>
              </a:rPr>
              <a:t>• Iterate: refine prompts based on output quality</a:t>
            </a:r>
          </a:p>
          <a:p>
            <a:pPr>
              <a:lnSpc>
                <a:spcPct val="130000"/>
              </a:lnSpc>
              <a:spcAft>
                <a:spcPts val="800"/>
              </a:spcAft>
            </a:pPr>
            <a:r>
              <a:rPr sz="1200">
                <a:solidFill>
                  <a:srgbClr val="2D3436"/>
                </a:solidFill>
                <a:latin typeface="Calibri"/>
              </a:rPr>
              <a:t>• Use CHAIN-OF-THOUGHT for complex reasoning tasks</a:t>
            </a:r>
          </a:p>
          <a:p>
            <a:pPr>
              <a:lnSpc>
                <a:spcPct val="130000"/>
              </a:lnSpc>
              <a:spcAft>
                <a:spcPts val="800"/>
              </a:spcAft>
            </a:pPr>
            <a:r>
              <a:rPr sz="1200">
                <a:solidFill>
                  <a:srgbClr val="2D3436"/>
                </a:solidFill>
                <a:latin typeface="Calibri"/>
              </a:rPr>
              <a:t>• Break large tasks into smaller, focused prompts</a:t>
            </a:r>
          </a:p>
          <a:p>
            <a:pPr>
              <a:lnSpc>
                <a:spcPct val="130000"/>
              </a:lnSpc>
              <a:spcAft>
                <a:spcPts val="800"/>
              </a:spcAft>
            </a:pPr>
            <a:r>
              <a:rPr sz="1200">
                <a:solidFill>
                  <a:srgbClr val="2D3436"/>
                </a:solidFill>
                <a:latin typeface="Calibri"/>
              </a:rPr>
              <a:t>• Include constraints: language, framework, patterns</a:t>
            </a:r>
          </a:p>
          <a:p>
            <a:pPr>
              <a:lnSpc>
                <a:spcPct val="130000"/>
              </a:lnSpc>
              <a:spcAft>
                <a:spcPts val="800"/>
              </a:spcAft>
            </a:pPr>
            <a:r>
              <a:rPr sz="1200">
                <a:solidFill>
                  <a:srgbClr val="2D3436"/>
                </a:solidFill>
                <a:latin typeface="Calibri"/>
              </a:rPr>
              <a:t>• Ask AI to explain its reasoning and trade-offs</a:t>
            </a:r>
          </a:p>
          <a:p>
            <a:pPr>
              <a:lnSpc>
                <a:spcPct val="130000"/>
              </a:lnSpc>
              <a:spcAft>
                <a:spcPts val="800"/>
              </a:spcAft>
            </a:pPr>
            <a:r>
              <a:rPr sz="1200">
                <a:solidFill>
                  <a:srgbClr val="2D3436"/>
                </a:solidFill>
                <a:latin typeface="Calibri"/>
              </a:rPr>
              <a:t>• Save effective prompts as reusable templates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Kubernetes Deployment Architecture</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42</a:t>
            </a:r>
          </a:p>
        </p:txBody>
      </p:sp>
      <p:sp>
        <p:nvSpPr>
          <p:cNvPr id="5" name="TextBox 4"/>
          <p:cNvSpPr txBox="1"/>
          <p:nvPr/>
        </p:nvSpPr>
        <p:spPr>
          <a:xfrm>
            <a:off x="457200" y="1051560"/>
            <a:ext cx="5029200" cy="274320"/>
          </a:xfrm>
          <a:prstGeom prst="rect">
            <a:avLst/>
          </a:prstGeom>
          <a:noFill/>
        </p:spPr>
        <p:txBody>
          <a:bodyPr wrap="square">
            <a:spAutoFit/>
          </a:bodyPr>
          <a:lstStyle/>
          <a:p>
            <a:pPr algn="l"/>
            <a:r>
              <a:rPr sz="1400" b="1">
                <a:solidFill>
                  <a:srgbClr val="4472C4"/>
                </a:solidFill>
                <a:latin typeface="Calibri"/>
              </a:rPr>
              <a:t>Deployment YAML</a:t>
            </a:r>
          </a:p>
        </p:txBody>
      </p:sp>
      <p:sp>
        <p:nvSpPr>
          <p:cNvPr id="6" name="Rectangle 5"/>
          <p:cNvSpPr/>
          <p:nvPr/>
        </p:nvSpPr>
        <p:spPr>
          <a:xfrm>
            <a:off x="457200" y="1371600"/>
            <a:ext cx="5303520" cy="32004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apiVersion: apps/v1</a:t>
            </a:r>
          </a:p>
          <a:p>
            <a:pPr>
              <a:spcAft>
                <a:spcPts val="100"/>
              </a:spcAft>
            </a:pPr>
            <a:r>
              <a:rPr sz="900">
                <a:solidFill>
                  <a:srgbClr val="2D3436"/>
                </a:solidFill>
                <a:latin typeface="Consolas"/>
              </a:rPr>
              <a:t>kind: Deployment</a:t>
            </a:r>
          </a:p>
          <a:p>
            <a:pPr>
              <a:spcAft>
                <a:spcPts val="100"/>
              </a:spcAft>
            </a:pPr>
            <a:r>
              <a:rPr sz="900">
                <a:solidFill>
                  <a:srgbClr val="2D3436"/>
                </a:solidFill>
                <a:latin typeface="Consolas"/>
              </a:rPr>
              <a:t>metadata:</a:t>
            </a:r>
          </a:p>
          <a:p>
            <a:pPr>
              <a:spcAft>
                <a:spcPts val="100"/>
              </a:spcAft>
            </a:pPr>
            <a:r>
              <a:rPr sz="900">
                <a:solidFill>
                  <a:srgbClr val="2D3436"/>
                </a:solidFill>
                <a:latin typeface="Consolas"/>
              </a:rPr>
              <a:t>  name: task-api</a:t>
            </a:r>
          </a:p>
          <a:p>
            <a:pPr>
              <a:spcAft>
                <a:spcPts val="100"/>
              </a:spcAft>
            </a:pPr>
            <a:r>
              <a:rPr sz="900">
                <a:solidFill>
                  <a:srgbClr val="2D3436"/>
                </a:solidFill>
                <a:latin typeface="Consolas"/>
              </a:rPr>
              <a:t>spec:</a:t>
            </a:r>
          </a:p>
          <a:p>
            <a:pPr>
              <a:spcAft>
                <a:spcPts val="100"/>
              </a:spcAft>
            </a:pPr>
            <a:r>
              <a:rPr sz="900">
                <a:solidFill>
                  <a:srgbClr val="2D3436"/>
                </a:solidFill>
                <a:latin typeface="Consolas"/>
              </a:rPr>
              <a:t>  replicas: 3</a:t>
            </a:r>
          </a:p>
          <a:p>
            <a:pPr>
              <a:spcAft>
                <a:spcPts val="100"/>
              </a:spcAft>
            </a:pPr>
            <a:r>
              <a:rPr sz="900">
                <a:solidFill>
                  <a:srgbClr val="2D3436"/>
                </a:solidFill>
                <a:latin typeface="Consolas"/>
              </a:rPr>
              <a:t>  selector:</a:t>
            </a:r>
          </a:p>
          <a:p>
            <a:pPr>
              <a:spcAft>
                <a:spcPts val="100"/>
              </a:spcAft>
            </a:pPr>
            <a:r>
              <a:rPr sz="900">
                <a:solidFill>
                  <a:srgbClr val="2D3436"/>
                </a:solidFill>
                <a:latin typeface="Consolas"/>
              </a:rPr>
              <a:t>    matchLabels:</a:t>
            </a:r>
          </a:p>
          <a:p>
            <a:pPr>
              <a:spcAft>
                <a:spcPts val="100"/>
              </a:spcAft>
            </a:pPr>
            <a:r>
              <a:rPr sz="900">
                <a:solidFill>
                  <a:srgbClr val="2D3436"/>
                </a:solidFill>
                <a:latin typeface="Consolas"/>
              </a:rPr>
              <a:t>      app: task-api</a:t>
            </a:r>
          </a:p>
          <a:p>
            <a:pPr>
              <a:spcAft>
                <a:spcPts val="100"/>
              </a:spcAft>
            </a:pPr>
            <a:r>
              <a:rPr sz="900">
                <a:solidFill>
                  <a:srgbClr val="2D3436"/>
                </a:solidFill>
                <a:latin typeface="Consolas"/>
              </a:rPr>
              <a:t>  template:</a:t>
            </a:r>
          </a:p>
          <a:p>
            <a:pPr>
              <a:spcAft>
                <a:spcPts val="100"/>
              </a:spcAft>
            </a:pPr>
            <a:r>
              <a:rPr sz="900">
                <a:solidFill>
                  <a:srgbClr val="2D3436"/>
                </a:solidFill>
                <a:latin typeface="Consolas"/>
              </a:rPr>
              <a:t>    spec:</a:t>
            </a:r>
          </a:p>
          <a:p>
            <a:pPr>
              <a:spcAft>
                <a:spcPts val="100"/>
              </a:spcAft>
            </a:pPr>
            <a:r>
              <a:rPr sz="900">
                <a:solidFill>
                  <a:srgbClr val="2D3436"/>
                </a:solidFill>
                <a:latin typeface="Consolas"/>
              </a:rPr>
              <a:t>      containers:</a:t>
            </a:r>
          </a:p>
          <a:p>
            <a:pPr>
              <a:spcAft>
                <a:spcPts val="100"/>
              </a:spcAft>
            </a:pPr>
            <a:r>
              <a:rPr sz="900">
                <a:solidFill>
                  <a:srgbClr val="2D3436"/>
                </a:solidFill>
                <a:latin typeface="Consolas"/>
              </a:rPr>
              <a:t>      - name: task-api</a:t>
            </a:r>
          </a:p>
          <a:p>
            <a:pPr>
              <a:spcAft>
                <a:spcPts val="100"/>
              </a:spcAft>
            </a:pPr>
            <a:r>
              <a:rPr sz="900">
                <a:solidFill>
                  <a:srgbClr val="2D3436"/>
                </a:solidFill>
                <a:latin typeface="Consolas"/>
              </a:rPr>
              <a:t>        image: task-api:latest</a:t>
            </a:r>
          </a:p>
          <a:p>
            <a:pPr>
              <a:spcAft>
                <a:spcPts val="100"/>
              </a:spcAft>
            </a:pPr>
            <a:r>
              <a:rPr sz="900">
                <a:solidFill>
                  <a:srgbClr val="2D3436"/>
                </a:solidFill>
                <a:latin typeface="Consolas"/>
              </a:rPr>
              <a:t>        ports:</a:t>
            </a:r>
          </a:p>
          <a:p>
            <a:pPr>
              <a:spcAft>
                <a:spcPts val="100"/>
              </a:spcAft>
            </a:pPr>
            <a:r>
              <a:rPr sz="900">
                <a:solidFill>
                  <a:srgbClr val="2D3436"/>
                </a:solidFill>
                <a:latin typeface="Consolas"/>
              </a:rPr>
              <a:t>        - containerPort: 8000</a:t>
            </a:r>
          </a:p>
          <a:p>
            <a:pPr>
              <a:spcAft>
                <a:spcPts val="100"/>
              </a:spcAft>
            </a:pPr>
            <a:r>
              <a:rPr sz="900">
                <a:solidFill>
                  <a:srgbClr val="2D3436"/>
                </a:solidFill>
                <a:latin typeface="Consolas"/>
              </a:rPr>
              <a:t>        resources:</a:t>
            </a:r>
          </a:p>
          <a:p>
            <a:pPr>
              <a:spcAft>
                <a:spcPts val="100"/>
              </a:spcAft>
            </a:pPr>
            <a:r>
              <a:rPr sz="900">
                <a:solidFill>
                  <a:srgbClr val="2D3436"/>
                </a:solidFill>
                <a:latin typeface="Consolas"/>
              </a:rPr>
              <a:t>          limits:</a:t>
            </a:r>
          </a:p>
          <a:p>
            <a:pPr>
              <a:spcAft>
                <a:spcPts val="100"/>
              </a:spcAft>
            </a:pPr>
            <a:r>
              <a:rPr sz="900">
                <a:solidFill>
                  <a:srgbClr val="2D3436"/>
                </a:solidFill>
                <a:latin typeface="Consolas"/>
              </a:rPr>
              <a:t>            memory: "256Mi"</a:t>
            </a:r>
          </a:p>
          <a:p>
            <a:pPr>
              <a:spcAft>
                <a:spcPts val="100"/>
              </a:spcAft>
            </a:pPr>
            <a:r>
              <a:rPr sz="900">
                <a:solidFill>
                  <a:srgbClr val="2D3436"/>
                </a:solidFill>
                <a:latin typeface="Consolas"/>
              </a:rPr>
              <a:t>            cpu: "500m"</a:t>
            </a:r>
          </a:p>
        </p:txBody>
      </p:sp>
      <p:sp>
        <p:nvSpPr>
          <p:cNvPr id="7" name="TextBox 6"/>
          <p:cNvSpPr txBox="1"/>
          <p:nvPr/>
        </p:nvSpPr>
        <p:spPr>
          <a:xfrm>
            <a:off x="6217920" y="1051560"/>
            <a:ext cx="5029200" cy="274320"/>
          </a:xfrm>
          <a:prstGeom prst="rect">
            <a:avLst/>
          </a:prstGeom>
          <a:noFill/>
        </p:spPr>
        <p:txBody>
          <a:bodyPr wrap="square">
            <a:spAutoFit/>
          </a:bodyPr>
          <a:lstStyle/>
          <a:p>
            <a:pPr algn="l"/>
            <a:r>
              <a:rPr sz="1400" b="1">
                <a:solidFill>
                  <a:srgbClr val="4472C4"/>
                </a:solidFill>
                <a:latin typeface="Calibri"/>
              </a:rPr>
              <a:t>K8s Architecture</a:t>
            </a:r>
          </a:p>
        </p:txBody>
      </p:sp>
      <p:sp>
        <p:nvSpPr>
          <p:cNvPr id="8" name="Rounded Rectangle 7"/>
          <p:cNvSpPr/>
          <p:nvPr/>
        </p:nvSpPr>
        <p:spPr>
          <a:xfrm>
            <a:off x="6858000" y="1554480"/>
            <a:ext cx="1828800" cy="59436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Ingress</a:t>
            </a:r>
          </a:p>
          <a:p>
            <a:pPr algn="ctr"/>
            <a:r>
              <a:rPr sz="900" b="0">
                <a:solidFill>
                  <a:srgbClr val="FFFFFF"/>
                </a:solidFill>
                <a:latin typeface="Calibri"/>
              </a:rPr>
              <a:t>Controller</a:t>
            </a:r>
          </a:p>
        </p:txBody>
      </p:sp>
      <p:sp>
        <p:nvSpPr>
          <p:cNvPr id="9" name="Rounded Rectangle 8"/>
          <p:cNvSpPr/>
          <p:nvPr/>
        </p:nvSpPr>
        <p:spPr>
          <a:xfrm>
            <a:off x="6858000" y="2468880"/>
            <a:ext cx="1828800" cy="59436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Service</a:t>
            </a:r>
          </a:p>
          <a:p>
            <a:pPr algn="ctr"/>
            <a:r>
              <a:rPr sz="900" b="0">
                <a:solidFill>
                  <a:srgbClr val="FFFFFF"/>
                </a:solidFill>
                <a:latin typeface="Calibri"/>
              </a:rPr>
              <a:t>(Load Balancer)</a:t>
            </a:r>
          </a:p>
        </p:txBody>
      </p:sp>
      <p:sp>
        <p:nvSpPr>
          <p:cNvPr id="10" name="Rounded Rectangle 9"/>
          <p:cNvSpPr/>
          <p:nvPr/>
        </p:nvSpPr>
        <p:spPr>
          <a:xfrm>
            <a:off x="6217920" y="3383280"/>
            <a:ext cx="1280160" cy="5486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Pod 1</a:t>
            </a:r>
          </a:p>
          <a:p>
            <a:pPr algn="ctr"/>
            <a:r>
              <a:rPr sz="900" b="0">
                <a:solidFill>
                  <a:srgbClr val="FFFFFF"/>
                </a:solidFill>
                <a:latin typeface="Calibri"/>
              </a:rPr>
              <a:t>task-api</a:t>
            </a:r>
          </a:p>
        </p:txBody>
      </p:sp>
      <p:sp>
        <p:nvSpPr>
          <p:cNvPr id="11" name="Rounded Rectangle 10"/>
          <p:cNvSpPr/>
          <p:nvPr/>
        </p:nvSpPr>
        <p:spPr>
          <a:xfrm>
            <a:off x="7680960" y="3383280"/>
            <a:ext cx="1280160" cy="5486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Pod 2</a:t>
            </a:r>
          </a:p>
          <a:p>
            <a:pPr algn="ctr"/>
            <a:r>
              <a:rPr sz="900" b="0">
                <a:solidFill>
                  <a:srgbClr val="FFFFFF"/>
                </a:solidFill>
                <a:latin typeface="Calibri"/>
              </a:rPr>
              <a:t>task-api</a:t>
            </a:r>
          </a:p>
        </p:txBody>
      </p:sp>
      <p:sp>
        <p:nvSpPr>
          <p:cNvPr id="12" name="Rounded Rectangle 11"/>
          <p:cNvSpPr/>
          <p:nvPr/>
        </p:nvSpPr>
        <p:spPr>
          <a:xfrm>
            <a:off x="9144000" y="3383280"/>
            <a:ext cx="1280160" cy="5486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Pod 3</a:t>
            </a:r>
          </a:p>
          <a:p>
            <a:pPr algn="ctr"/>
            <a:r>
              <a:rPr sz="900" b="0">
                <a:solidFill>
                  <a:srgbClr val="FFFFFF"/>
                </a:solidFill>
                <a:latin typeface="Calibri"/>
              </a:rPr>
              <a:t>task-api</a:t>
            </a:r>
          </a:p>
        </p:txBody>
      </p:sp>
      <p:sp>
        <p:nvSpPr>
          <p:cNvPr id="13" name="Rounded Rectangle 12"/>
          <p:cNvSpPr/>
          <p:nvPr/>
        </p:nvSpPr>
        <p:spPr>
          <a:xfrm>
            <a:off x="6858000" y="4297680"/>
            <a:ext cx="2560320" cy="59436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PersistentVolume</a:t>
            </a:r>
          </a:p>
          <a:p>
            <a:pPr algn="ctr"/>
            <a:r>
              <a:rPr sz="900" b="0">
                <a:solidFill>
                  <a:srgbClr val="FFFFFF"/>
                </a:solidFill>
                <a:latin typeface="Calibri"/>
              </a:rPr>
              <a:t>(Database)</a:t>
            </a:r>
          </a:p>
        </p:txBody>
      </p:sp>
      <p:sp>
        <p:nvSpPr>
          <p:cNvPr id="14" name="Down Arrow 13"/>
          <p:cNvSpPr/>
          <p:nvPr/>
        </p:nvSpPr>
        <p:spPr>
          <a:xfrm>
            <a:off x="7635240" y="2194560"/>
            <a:ext cx="274320" cy="228600"/>
          </a:xfrm>
          <a:prstGeom prst="down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nvSpPr>
        <p:spPr>
          <a:xfrm>
            <a:off x="7635240" y="3108960"/>
            <a:ext cx="274320" cy="228600"/>
          </a:xfrm>
          <a:prstGeom prst="down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846320"/>
            <a:ext cx="11247120" cy="1188720"/>
          </a:xfrm>
          <a:prstGeom prst="rect">
            <a:avLst/>
          </a:prstGeom>
          <a:noFill/>
        </p:spPr>
        <p:txBody>
          <a:bodyPr wrap="square">
            <a:spAutoFit/>
          </a:bodyPr>
          <a:lstStyle/>
          <a:p>
            <a:pPr>
              <a:lnSpc>
                <a:spcPct val="130000"/>
              </a:lnSpc>
              <a:spcAft>
                <a:spcPts val="800"/>
              </a:spcAft>
            </a:pPr>
            <a:r>
              <a:rPr sz="1200">
                <a:solidFill>
                  <a:srgbClr val="2D3436"/>
                </a:solidFill>
                <a:latin typeface="Calibri"/>
              </a:rPr>
              <a:t>• Pods: smallest deployable unit — one or more containers sharing network</a:t>
            </a:r>
          </a:p>
          <a:p>
            <a:pPr>
              <a:lnSpc>
                <a:spcPct val="130000"/>
              </a:lnSpc>
              <a:spcAft>
                <a:spcPts val="800"/>
              </a:spcAft>
            </a:pPr>
            <a:r>
              <a:rPr sz="1200">
                <a:solidFill>
                  <a:srgbClr val="2D3436"/>
                </a:solidFill>
                <a:latin typeface="Calibri"/>
              </a:rPr>
              <a:t>• Services: stable network endpoint — load-balances across pods</a:t>
            </a:r>
          </a:p>
          <a:p>
            <a:pPr>
              <a:lnSpc>
                <a:spcPct val="130000"/>
              </a:lnSpc>
              <a:spcAft>
                <a:spcPts val="800"/>
              </a:spcAft>
            </a:pPr>
            <a:r>
              <a:rPr sz="1200">
                <a:solidFill>
                  <a:srgbClr val="2D3436"/>
                </a:solidFill>
                <a:latin typeface="Calibri"/>
              </a:rPr>
              <a:t>• Deployments: declarative updates — rolling upgrades with zero downtime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Observability with OpenTelemetry</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43</a:t>
            </a:r>
          </a:p>
        </p:txBody>
      </p:sp>
      <p:sp>
        <p:nvSpPr>
          <p:cNvPr id="5" name="TextBox 4"/>
          <p:cNvSpPr txBox="1"/>
          <p:nvPr/>
        </p:nvSpPr>
        <p:spPr>
          <a:xfrm>
            <a:off x="457200" y="1051560"/>
            <a:ext cx="7315200" cy="274320"/>
          </a:xfrm>
          <a:prstGeom prst="rect">
            <a:avLst/>
          </a:prstGeom>
          <a:noFill/>
        </p:spPr>
        <p:txBody>
          <a:bodyPr wrap="square">
            <a:spAutoFit/>
          </a:bodyPr>
          <a:lstStyle/>
          <a:p>
            <a:pPr algn="l"/>
            <a:r>
              <a:rPr sz="1600" b="1">
                <a:solidFill>
                  <a:srgbClr val="008B8B"/>
                </a:solidFill>
                <a:latin typeface="Calibri"/>
              </a:rPr>
              <a:t>Observability Architecture</a:t>
            </a:r>
          </a:p>
        </p:txBody>
      </p:sp>
      <p:sp>
        <p:nvSpPr>
          <p:cNvPr id="6" name="Rounded Rectangle 5"/>
          <p:cNvSpPr/>
          <p:nvPr/>
        </p:nvSpPr>
        <p:spPr>
          <a:xfrm>
            <a:off x="548640" y="1645920"/>
            <a:ext cx="1828800" cy="7315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Application</a:t>
            </a:r>
          </a:p>
          <a:p>
            <a:pPr algn="ctr"/>
            <a:r>
              <a:rPr sz="1000" b="0">
                <a:solidFill>
                  <a:srgbClr val="FFFFFF"/>
                </a:solidFill>
                <a:latin typeface="Calibri"/>
              </a:rPr>
              <a:t>(Instrumented)</a:t>
            </a:r>
          </a:p>
        </p:txBody>
      </p:sp>
      <p:sp>
        <p:nvSpPr>
          <p:cNvPr id="7" name="Rounded Rectangle 6"/>
          <p:cNvSpPr/>
          <p:nvPr/>
        </p:nvSpPr>
        <p:spPr>
          <a:xfrm>
            <a:off x="3108960" y="1645920"/>
            <a:ext cx="1645920" cy="73152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OTel</a:t>
            </a:r>
          </a:p>
          <a:p>
            <a:pPr algn="ctr"/>
            <a:r>
              <a:rPr sz="1000" b="0">
                <a:solidFill>
                  <a:srgbClr val="FFFFFF"/>
                </a:solidFill>
                <a:latin typeface="Calibri"/>
              </a:rPr>
              <a:t>Collector</a:t>
            </a:r>
          </a:p>
        </p:txBody>
      </p:sp>
      <p:sp>
        <p:nvSpPr>
          <p:cNvPr id="8" name="Rounded Rectangle 7"/>
          <p:cNvSpPr/>
          <p:nvPr/>
        </p:nvSpPr>
        <p:spPr>
          <a:xfrm>
            <a:off x="5394960" y="1417320"/>
            <a:ext cx="1645920" cy="5486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Prometheus</a:t>
            </a:r>
          </a:p>
          <a:p>
            <a:pPr algn="ctr"/>
            <a:r>
              <a:rPr sz="1000" b="0">
                <a:solidFill>
                  <a:srgbClr val="FFFFFF"/>
                </a:solidFill>
                <a:latin typeface="Calibri"/>
              </a:rPr>
              <a:t>(Metrics)</a:t>
            </a:r>
          </a:p>
        </p:txBody>
      </p:sp>
      <p:sp>
        <p:nvSpPr>
          <p:cNvPr id="9" name="Rounded Rectangle 8"/>
          <p:cNvSpPr/>
          <p:nvPr/>
        </p:nvSpPr>
        <p:spPr>
          <a:xfrm>
            <a:off x="5394960" y="2057400"/>
            <a:ext cx="1645920" cy="54864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Jaeger</a:t>
            </a:r>
          </a:p>
          <a:p>
            <a:pPr algn="ctr"/>
            <a:r>
              <a:rPr sz="1000" b="0">
                <a:solidFill>
                  <a:srgbClr val="FFFFFF"/>
                </a:solidFill>
                <a:latin typeface="Calibri"/>
              </a:rPr>
              <a:t>(Traces)</a:t>
            </a:r>
          </a:p>
        </p:txBody>
      </p:sp>
      <p:sp>
        <p:nvSpPr>
          <p:cNvPr id="10" name="Rounded Rectangle 9"/>
          <p:cNvSpPr/>
          <p:nvPr/>
        </p:nvSpPr>
        <p:spPr>
          <a:xfrm>
            <a:off x="7680960" y="1645920"/>
            <a:ext cx="1828800" cy="73152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Grafana</a:t>
            </a:r>
          </a:p>
          <a:p>
            <a:pPr algn="ctr"/>
            <a:r>
              <a:rPr sz="1000" b="0">
                <a:solidFill>
                  <a:srgbClr val="FFFFFF"/>
                </a:solidFill>
                <a:latin typeface="Calibri"/>
              </a:rPr>
              <a:t>(Dashboards)</a:t>
            </a:r>
          </a:p>
        </p:txBody>
      </p:sp>
      <p:sp>
        <p:nvSpPr>
          <p:cNvPr id="11" name="Right Arrow 10"/>
          <p:cNvSpPr/>
          <p:nvPr/>
        </p:nvSpPr>
        <p:spPr>
          <a:xfrm>
            <a:off x="2423160" y="1828800"/>
            <a:ext cx="6400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800600" y="1828800"/>
            <a:ext cx="5486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086600" y="1828800"/>
            <a:ext cx="5486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743200"/>
            <a:ext cx="10972800" cy="274320"/>
          </a:xfrm>
          <a:prstGeom prst="rect">
            <a:avLst/>
          </a:prstGeom>
          <a:noFill/>
        </p:spPr>
        <p:txBody>
          <a:bodyPr wrap="square">
            <a:spAutoFit/>
          </a:bodyPr>
          <a:lstStyle/>
          <a:p>
            <a:pPr algn="l"/>
            <a:r>
              <a:rPr sz="1600" b="1">
                <a:solidFill>
                  <a:srgbClr val="008B8B"/>
                </a:solidFill>
                <a:latin typeface="Calibri"/>
              </a:rPr>
              <a:t>Key Metrics to Track</a:t>
            </a:r>
          </a:p>
        </p:txBody>
      </p:sp>
      <p:graphicFrame>
        <p:nvGraphicFramePr>
          <p:cNvPr id="15" name="Table 14"/>
          <p:cNvGraphicFramePr>
            <a:graphicFrameLocks noGrp="1"/>
          </p:cNvGraphicFramePr>
          <p:nvPr/>
        </p:nvGraphicFramePr>
        <p:xfrm>
          <a:off x="457200" y="3108960"/>
          <a:ext cx="11247120" cy="2194560"/>
        </p:xfrm>
        <a:graphic>
          <a:graphicData uri="http://schemas.openxmlformats.org/drawingml/2006/table">
            <a:tbl>
              <a:tblPr firstRow="1" bandRow="1">
                <a:tableStyleId>{5C22544A-7EE6-4342-B048-85BDC9FD1C3A}</a:tableStyleId>
              </a:tblPr>
              <a:tblGrid>
                <a:gridCol w="3749040"/>
                <a:gridCol w="3749040"/>
                <a:gridCol w="3749040"/>
              </a:tblGrid>
              <a:tr h="438912">
                <a:tc>
                  <a:txBody>
                    <a:bodyPr/>
                    <a:lstStyle/>
                    <a:p>
                      <a:r>
                        <a:rPr sz="1200" b="1">
                          <a:solidFill>
                            <a:srgbClr val="FFFFFF"/>
                          </a:solidFill>
                          <a:latin typeface="Calibri"/>
                        </a:rPr>
                        <a:t>Metric Category</a:t>
                      </a:r>
                    </a:p>
                  </a:txBody>
                  <a:tcPr>
                    <a:solidFill>
                      <a:srgbClr val="2F75B5"/>
                    </a:solidFill>
                  </a:tcPr>
                </a:tc>
                <a:tc>
                  <a:txBody>
                    <a:bodyPr/>
                    <a:lstStyle/>
                    <a:p>
                      <a:r>
                        <a:rPr sz="1200" b="1">
                          <a:solidFill>
                            <a:srgbClr val="FFFFFF"/>
                          </a:solidFill>
                          <a:latin typeface="Calibri"/>
                        </a:rPr>
                        <a:t>Examples</a:t>
                      </a:r>
                    </a:p>
                  </a:txBody>
                  <a:tcPr>
                    <a:solidFill>
                      <a:srgbClr val="2F75B5"/>
                    </a:solidFill>
                  </a:tcPr>
                </a:tc>
                <a:tc>
                  <a:txBody>
                    <a:bodyPr/>
                    <a:lstStyle/>
                    <a:p>
                      <a:r>
                        <a:rPr sz="1200" b="1">
                          <a:solidFill>
                            <a:srgbClr val="FFFFFF"/>
                          </a:solidFill>
                          <a:latin typeface="Calibri"/>
                        </a:rPr>
                        <a:t>Why It Matters</a:t>
                      </a:r>
                    </a:p>
                  </a:txBody>
                  <a:tcPr>
                    <a:solidFill>
                      <a:srgbClr val="2F75B5"/>
                    </a:solidFill>
                  </a:tcPr>
                </a:tc>
              </a:tr>
              <a:tr h="438912">
                <a:tc>
                  <a:txBody>
                    <a:bodyPr/>
                    <a:lstStyle/>
                    <a:p>
                      <a:r>
                        <a:rPr sz="1200">
                          <a:solidFill>
                            <a:srgbClr val="2D3436"/>
                          </a:solidFill>
                          <a:latin typeface="Calibri"/>
                        </a:rPr>
                        <a:t>Latency</a:t>
                      </a:r>
                    </a:p>
                  </a:txBody>
                  <a:tcPr>
                    <a:solidFill>
                      <a:srgbClr val="FFFFFF"/>
                    </a:solidFill>
                  </a:tcPr>
                </a:tc>
                <a:tc>
                  <a:txBody>
                    <a:bodyPr/>
                    <a:lstStyle/>
                    <a:p>
                      <a:r>
                        <a:rPr sz="1200">
                          <a:solidFill>
                            <a:srgbClr val="2D3436"/>
                          </a:solidFill>
                          <a:latin typeface="Calibri"/>
                        </a:rPr>
                        <a:t>P50, P95, P99 response times</a:t>
                      </a:r>
                    </a:p>
                  </a:txBody>
                  <a:tcPr>
                    <a:solidFill>
                      <a:srgbClr val="FFFFFF"/>
                    </a:solidFill>
                  </a:tcPr>
                </a:tc>
                <a:tc>
                  <a:txBody>
                    <a:bodyPr/>
                    <a:lstStyle/>
                    <a:p>
                      <a:r>
                        <a:rPr sz="1200">
                          <a:solidFill>
                            <a:srgbClr val="2D3436"/>
                          </a:solidFill>
                          <a:latin typeface="Calibri"/>
                        </a:rPr>
                        <a:t>User experience &amp; SLA compliance</a:t>
                      </a:r>
                    </a:p>
                  </a:txBody>
                  <a:tcPr>
                    <a:solidFill>
                      <a:srgbClr val="FFFFFF"/>
                    </a:solidFill>
                  </a:tcPr>
                </a:tc>
              </a:tr>
              <a:tr h="438912">
                <a:tc>
                  <a:txBody>
                    <a:bodyPr/>
                    <a:lstStyle/>
                    <a:p>
                      <a:r>
                        <a:rPr sz="1200">
                          <a:solidFill>
                            <a:srgbClr val="2D3436"/>
                          </a:solidFill>
                          <a:latin typeface="Calibri"/>
                        </a:rPr>
                        <a:t>Throughput</a:t>
                      </a:r>
                    </a:p>
                  </a:txBody>
                  <a:tcPr>
                    <a:solidFill>
                      <a:srgbClr val="DDEBF7"/>
                    </a:solidFill>
                  </a:tcPr>
                </a:tc>
                <a:tc>
                  <a:txBody>
                    <a:bodyPr/>
                    <a:lstStyle/>
                    <a:p>
                      <a:r>
                        <a:rPr sz="1200">
                          <a:solidFill>
                            <a:srgbClr val="2D3436"/>
                          </a:solidFill>
                          <a:latin typeface="Calibri"/>
                        </a:rPr>
                        <a:t>Requests/second, transactions/min</a:t>
                      </a:r>
                    </a:p>
                  </a:txBody>
                  <a:tcPr>
                    <a:solidFill>
                      <a:srgbClr val="DDEBF7"/>
                    </a:solidFill>
                  </a:tcPr>
                </a:tc>
                <a:tc>
                  <a:txBody>
                    <a:bodyPr/>
                    <a:lstStyle/>
                    <a:p>
                      <a:r>
                        <a:rPr sz="1200">
                          <a:solidFill>
                            <a:srgbClr val="2D3436"/>
                          </a:solidFill>
                          <a:latin typeface="Calibri"/>
                        </a:rPr>
                        <a:t>Capacity planning &amp; scaling</a:t>
                      </a:r>
                    </a:p>
                  </a:txBody>
                  <a:tcPr>
                    <a:solidFill>
                      <a:srgbClr val="DDEBF7"/>
                    </a:solidFill>
                  </a:tcPr>
                </a:tc>
              </a:tr>
              <a:tr h="438912">
                <a:tc>
                  <a:txBody>
                    <a:bodyPr/>
                    <a:lstStyle/>
                    <a:p>
                      <a:r>
                        <a:rPr sz="1200">
                          <a:solidFill>
                            <a:srgbClr val="2D3436"/>
                          </a:solidFill>
                          <a:latin typeface="Calibri"/>
                        </a:rPr>
                        <a:t>Error Rate</a:t>
                      </a:r>
                    </a:p>
                  </a:txBody>
                  <a:tcPr>
                    <a:solidFill>
                      <a:srgbClr val="FFFFFF"/>
                    </a:solidFill>
                  </a:tcPr>
                </a:tc>
                <a:tc>
                  <a:txBody>
                    <a:bodyPr/>
                    <a:lstStyle/>
                    <a:p>
                      <a:r>
                        <a:rPr sz="1200">
                          <a:solidFill>
                            <a:srgbClr val="2D3436"/>
                          </a:solidFill>
                          <a:latin typeface="Calibri"/>
                        </a:rPr>
                        <a:t>4xx/5xx rates, exception counts</a:t>
                      </a:r>
                    </a:p>
                  </a:txBody>
                  <a:tcPr>
                    <a:solidFill>
                      <a:srgbClr val="FFFFFF"/>
                    </a:solidFill>
                  </a:tcPr>
                </a:tc>
                <a:tc>
                  <a:txBody>
                    <a:bodyPr/>
                    <a:lstStyle/>
                    <a:p>
                      <a:r>
                        <a:rPr sz="1200">
                          <a:solidFill>
                            <a:srgbClr val="2D3436"/>
                          </a:solidFill>
                          <a:latin typeface="Calibri"/>
                        </a:rPr>
                        <a:t>System health &amp; reliability</a:t>
                      </a:r>
                    </a:p>
                  </a:txBody>
                  <a:tcPr>
                    <a:solidFill>
                      <a:srgbClr val="FFFFFF"/>
                    </a:solidFill>
                  </a:tcPr>
                </a:tc>
              </a:tr>
              <a:tr h="438912">
                <a:tc>
                  <a:txBody>
                    <a:bodyPr/>
                    <a:lstStyle/>
                    <a:p>
                      <a:r>
                        <a:rPr sz="1200">
                          <a:solidFill>
                            <a:srgbClr val="2D3436"/>
                          </a:solidFill>
                          <a:latin typeface="Calibri"/>
                        </a:rPr>
                        <a:t>Saturation</a:t>
                      </a:r>
                    </a:p>
                  </a:txBody>
                  <a:tcPr>
                    <a:solidFill>
                      <a:srgbClr val="DDEBF7"/>
                    </a:solidFill>
                  </a:tcPr>
                </a:tc>
                <a:tc>
                  <a:txBody>
                    <a:bodyPr/>
                    <a:lstStyle/>
                    <a:p>
                      <a:r>
                        <a:rPr sz="1200">
                          <a:solidFill>
                            <a:srgbClr val="2D3436"/>
                          </a:solidFill>
                          <a:latin typeface="Calibri"/>
                        </a:rPr>
                        <a:t>CPU, memory, disk, connection pools</a:t>
                      </a:r>
                    </a:p>
                  </a:txBody>
                  <a:tcPr>
                    <a:solidFill>
                      <a:srgbClr val="DDEBF7"/>
                    </a:solidFill>
                  </a:tcPr>
                </a:tc>
                <a:tc>
                  <a:txBody>
                    <a:bodyPr/>
                    <a:lstStyle/>
                    <a:p>
                      <a:r>
                        <a:rPr sz="1200">
                          <a:solidFill>
                            <a:srgbClr val="2D3436"/>
                          </a:solidFill>
                          <a:latin typeface="Calibri"/>
                        </a:rPr>
                        <a:t>Bottleneck identification</a:t>
                      </a:r>
                    </a:p>
                  </a:txBody>
                  <a:tcPr>
                    <a:solidFill>
                      <a:srgbClr val="DDEBF7"/>
                    </a:solidFill>
                  </a:tcPr>
                </a:tc>
              </a:tr>
            </a:tbl>
          </a:graphicData>
        </a:graphic>
      </p:graphicFrame>
      <p:sp>
        <p:nvSpPr>
          <p:cNvPr id="16" name="TextBox 15"/>
          <p:cNvSpPr txBox="1"/>
          <p:nvPr/>
        </p:nvSpPr>
        <p:spPr>
          <a:xfrm>
            <a:off x="457200" y="5440680"/>
            <a:ext cx="4572000" cy="274320"/>
          </a:xfrm>
          <a:prstGeom prst="rect">
            <a:avLst/>
          </a:prstGeom>
          <a:noFill/>
        </p:spPr>
        <p:txBody>
          <a:bodyPr wrap="square">
            <a:spAutoFit/>
          </a:bodyPr>
          <a:lstStyle/>
          <a:p>
            <a:pPr algn="l"/>
            <a:r>
              <a:rPr sz="1200" b="1">
                <a:solidFill>
                  <a:srgbClr val="008B8B"/>
                </a:solidFill>
                <a:latin typeface="Calibri"/>
              </a:rPr>
              <a:t>Quick OTel Setup (Python)</a:t>
            </a:r>
          </a:p>
        </p:txBody>
      </p:sp>
      <p:sp>
        <p:nvSpPr>
          <p:cNvPr id="17" name="Rectangle 16"/>
          <p:cNvSpPr/>
          <p:nvPr/>
        </p:nvSpPr>
        <p:spPr>
          <a:xfrm>
            <a:off x="457200" y="5669280"/>
            <a:ext cx="5303520" cy="50292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pip install opentelemetry-api opentelemetry-sdk</a:t>
            </a:r>
          </a:p>
          <a:p>
            <a:pPr>
              <a:spcAft>
                <a:spcPts val="100"/>
              </a:spcAft>
            </a:pPr>
            <a:r>
              <a:rPr sz="900">
                <a:solidFill>
                  <a:srgbClr val="2D3436"/>
                </a:solidFill>
                <a:latin typeface="Consolas"/>
              </a:rPr>
              <a:t>opentelemetry-instrument python app.py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Load Testing with k6</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44</a:t>
            </a:r>
          </a:p>
        </p:txBody>
      </p:sp>
      <p:sp>
        <p:nvSpPr>
          <p:cNvPr id="5" name="TextBox 4"/>
          <p:cNvSpPr txBox="1"/>
          <p:nvPr/>
        </p:nvSpPr>
        <p:spPr>
          <a:xfrm>
            <a:off x="457200" y="1051560"/>
            <a:ext cx="5486400" cy="274320"/>
          </a:xfrm>
          <a:prstGeom prst="rect">
            <a:avLst/>
          </a:prstGeom>
          <a:noFill/>
        </p:spPr>
        <p:txBody>
          <a:bodyPr wrap="square">
            <a:spAutoFit/>
          </a:bodyPr>
          <a:lstStyle/>
          <a:p>
            <a:pPr algn="l"/>
            <a:r>
              <a:rPr sz="1400" b="1">
                <a:solidFill>
                  <a:srgbClr val="008B8B"/>
                </a:solidFill>
                <a:latin typeface="Calibri"/>
              </a:rPr>
              <a:t>k6 Load Test Script</a:t>
            </a:r>
          </a:p>
        </p:txBody>
      </p:sp>
      <p:sp>
        <p:nvSpPr>
          <p:cNvPr id="6" name="Rectangle 5"/>
          <p:cNvSpPr/>
          <p:nvPr/>
        </p:nvSpPr>
        <p:spPr>
          <a:xfrm>
            <a:off x="457200" y="1371600"/>
            <a:ext cx="5486400" cy="36576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import http from "k6/http";</a:t>
            </a:r>
          </a:p>
          <a:p>
            <a:pPr>
              <a:spcAft>
                <a:spcPts val="100"/>
              </a:spcAft>
            </a:pPr>
            <a:r>
              <a:rPr sz="900">
                <a:solidFill>
                  <a:srgbClr val="2D3436"/>
                </a:solidFill>
                <a:latin typeface="Consolas"/>
              </a:rPr>
              <a:t>import { check, sleep } from "k6";</a:t>
            </a:r>
          </a:p>
          <a:p>
            <a:pPr>
              <a:spcAft>
                <a:spcPts val="100"/>
              </a:spcAft>
            </a:pPr>
            <a:r>
              <a:rPr sz="900">
                <a:solidFill>
                  <a:srgbClr val="2D3436"/>
                </a:solidFill>
                <a:latin typeface="Consolas"/>
              </a:rPr>
              <a:t/>
            </a:r>
          </a:p>
          <a:p>
            <a:pPr>
              <a:spcAft>
                <a:spcPts val="100"/>
              </a:spcAft>
            </a:pPr>
            <a:r>
              <a:rPr sz="900">
                <a:solidFill>
                  <a:srgbClr val="2D3436"/>
                </a:solidFill>
                <a:latin typeface="Consolas"/>
              </a:rPr>
              <a:t>export const options = {</a:t>
            </a:r>
          </a:p>
          <a:p>
            <a:pPr>
              <a:spcAft>
                <a:spcPts val="100"/>
              </a:spcAft>
            </a:pPr>
            <a:r>
              <a:rPr sz="900">
                <a:solidFill>
                  <a:srgbClr val="2D3436"/>
                </a:solidFill>
                <a:latin typeface="Consolas"/>
              </a:rPr>
              <a:t>  stages: [</a:t>
            </a:r>
          </a:p>
          <a:p>
            <a:pPr>
              <a:spcAft>
                <a:spcPts val="100"/>
              </a:spcAft>
            </a:pPr>
            <a:r>
              <a:rPr sz="900">
                <a:solidFill>
                  <a:srgbClr val="2D3436"/>
                </a:solidFill>
                <a:latin typeface="Consolas"/>
              </a:rPr>
              <a:t>    { duration: "30s", target: 20 },</a:t>
            </a:r>
          </a:p>
          <a:p>
            <a:pPr>
              <a:spcAft>
                <a:spcPts val="100"/>
              </a:spcAft>
            </a:pPr>
            <a:r>
              <a:rPr sz="900">
                <a:solidFill>
                  <a:srgbClr val="2D3436"/>
                </a:solidFill>
                <a:latin typeface="Consolas"/>
              </a:rPr>
              <a:t>    { duration: "1m",  target: 50 },</a:t>
            </a:r>
          </a:p>
          <a:p>
            <a:pPr>
              <a:spcAft>
                <a:spcPts val="100"/>
              </a:spcAft>
            </a:pPr>
            <a:r>
              <a:rPr sz="900">
                <a:solidFill>
                  <a:srgbClr val="2D3436"/>
                </a:solidFill>
                <a:latin typeface="Consolas"/>
              </a:rPr>
              <a:t>    { duration: "30s", target: 0  },</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thresholds: {</a:t>
            </a:r>
          </a:p>
          <a:p>
            <a:pPr>
              <a:spcAft>
                <a:spcPts val="100"/>
              </a:spcAft>
            </a:pPr>
            <a:r>
              <a:rPr sz="900">
                <a:solidFill>
                  <a:srgbClr val="2D3436"/>
                </a:solidFill>
                <a:latin typeface="Consolas"/>
              </a:rPr>
              <a:t>    http_req_duration: ["p(95)&lt;500"],</a:t>
            </a:r>
          </a:p>
          <a:p>
            <a:pPr>
              <a:spcAft>
                <a:spcPts val="100"/>
              </a:spcAft>
            </a:pPr>
            <a:r>
              <a:rPr sz="900">
                <a:solidFill>
                  <a:srgbClr val="2D3436"/>
                </a:solidFill>
                <a:latin typeface="Consolas"/>
              </a:rPr>
              <a:t>    http_req_failed: ["rate&lt;0.01"],</a:t>
            </a:r>
          </a:p>
          <a:p>
            <a:pPr>
              <a:spcAft>
                <a:spcPts val="100"/>
              </a:spcAft>
            </a:pPr>
            <a:r>
              <a:rPr sz="900">
                <a:solidFill>
                  <a:srgbClr val="2D3436"/>
                </a:solidFill>
                <a:latin typeface="Consolas"/>
              </a:rPr>
              <a:t>  },</a:t>
            </a:r>
          </a:p>
          <a:p>
            <a:pPr>
              <a:spcAft>
                <a:spcPts val="100"/>
              </a:spcAft>
            </a:pPr>
            <a:r>
              <a:rPr sz="900">
                <a:solidFill>
                  <a:srgbClr val="2D3436"/>
                </a:solidFill>
                <a:latin typeface="Consolas"/>
              </a:rPr>
              <a:t>};</a:t>
            </a:r>
          </a:p>
          <a:p>
            <a:pPr>
              <a:spcAft>
                <a:spcPts val="100"/>
              </a:spcAft>
            </a:pPr>
            <a:r>
              <a:rPr sz="900">
                <a:solidFill>
                  <a:srgbClr val="2D3436"/>
                </a:solidFill>
                <a:latin typeface="Consolas"/>
              </a:rPr>
              <a:t/>
            </a:r>
          </a:p>
          <a:p>
            <a:pPr>
              <a:spcAft>
                <a:spcPts val="100"/>
              </a:spcAft>
            </a:pPr>
            <a:r>
              <a:rPr sz="900">
                <a:solidFill>
                  <a:srgbClr val="2D3436"/>
                </a:solidFill>
                <a:latin typeface="Consolas"/>
              </a:rPr>
              <a:t>export default function () {</a:t>
            </a:r>
          </a:p>
          <a:p>
            <a:pPr>
              <a:spcAft>
                <a:spcPts val="100"/>
              </a:spcAft>
            </a:pPr>
            <a:r>
              <a:rPr sz="900">
                <a:solidFill>
                  <a:srgbClr val="2D3436"/>
                </a:solidFill>
                <a:latin typeface="Consolas"/>
              </a:rPr>
              <a:t>  const res = http.get(</a:t>
            </a:r>
          </a:p>
          <a:p>
            <a:pPr>
              <a:spcAft>
                <a:spcPts val="100"/>
              </a:spcAft>
            </a:pPr>
            <a:r>
              <a:rPr sz="900">
                <a:solidFill>
                  <a:srgbClr val="2D3436"/>
                </a:solidFill>
                <a:latin typeface="Consolas"/>
              </a:rPr>
              <a:t>    "http://localhost:8000/api/tasks"</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check(res, {</a:t>
            </a:r>
          </a:p>
          <a:p>
            <a:pPr>
              <a:spcAft>
                <a:spcPts val="100"/>
              </a:spcAft>
            </a:pPr>
            <a:r>
              <a:rPr sz="900">
                <a:solidFill>
                  <a:srgbClr val="2D3436"/>
                </a:solidFill>
                <a:latin typeface="Consolas"/>
              </a:rPr>
              <a:t>    "status is 200": (r) =&gt; r.status === 200,</a:t>
            </a:r>
          </a:p>
          <a:p>
            <a:pPr>
              <a:spcAft>
                <a:spcPts val="100"/>
              </a:spcAft>
            </a:pPr>
            <a:r>
              <a:rPr sz="900">
                <a:solidFill>
                  <a:srgbClr val="2D3436"/>
                </a:solidFill>
                <a:latin typeface="Consolas"/>
              </a:rPr>
              <a:t>    "response &lt; 500ms": (r) =&gt;</a:t>
            </a:r>
          </a:p>
          <a:p>
            <a:pPr>
              <a:spcAft>
                <a:spcPts val="100"/>
              </a:spcAft>
            </a:pPr>
            <a:r>
              <a:rPr sz="900">
                <a:solidFill>
                  <a:srgbClr val="2D3436"/>
                </a:solidFill>
                <a:latin typeface="Consolas"/>
              </a:rPr>
              <a:t>      r.timings.duration &lt; 500,</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sleep(1);</a:t>
            </a:r>
          </a:p>
          <a:p>
            <a:pPr>
              <a:spcAft>
                <a:spcPts val="100"/>
              </a:spcAft>
            </a:pPr>
            <a:r>
              <a:rPr sz="900">
                <a:solidFill>
                  <a:srgbClr val="2D3436"/>
                </a:solidFill>
                <a:latin typeface="Consolas"/>
              </a:rPr>
              <a:t>}</a:t>
            </a:r>
          </a:p>
        </p:txBody>
      </p:sp>
      <p:sp>
        <p:nvSpPr>
          <p:cNvPr id="7" name="TextBox 6"/>
          <p:cNvSpPr txBox="1"/>
          <p:nvPr/>
        </p:nvSpPr>
        <p:spPr>
          <a:xfrm>
            <a:off x="6400800" y="1051560"/>
            <a:ext cx="5029200" cy="274320"/>
          </a:xfrm>
          <a:prstGeom prst="rect">
            <a:avLst/>
          </a:prstGeom>
          <a:noFill/>
        </p:spPr>
        <p:txBody>
          <a:bodyPr wrap="square">
            <a:spAutoFit/>
          </a:bodyPr>
          <a:lstStyle/>
          <a:p>
            <a:pPr algn="l"/>
            <a:r>
              <a:rPr sz="1400" b="1">
                <a:solidFill>
                  <a:srgbClr val="008B8B"/>
                </a:solidFill>
                <a:latin typeface="Calibri"/>
              </a:rPr>
              <a:t>Performance Metrics Explained</a:t>
            </a:r>
          </a:p>
        </p:txBody>
      </p:sp>
      <p:sp>
        <p:nvSpPr>
          <p:cNvPr id="8" name="Rounded Rectangle 7"/>
          <p:cNvSpPr/>
          <p:nvPr/>
        </p:nvSpPr>
        <p:spPr>
          <a:xfrm>
            <a:off x="6400800" y="1463040"/>
            <a:ext cx="5029200" cy="9601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Ramp-Up Pattern</a:t>
            </a:r>
          </a:p>
          <a:p>
            <a:pPr algn="ctr"/>
            <a:r>
              <a:rPr sz="1100" b="0">
                <a:solidFill>
                  <a:srgbClr val="2D3436"/>
                </a:solidFill>
                <a:latin typeface="Calibri"/>
              </a:rPr>
              <a:t>Gradually increase load</a:t>
            </a:r>
          </a:p>
          <a:p>
            <a:pPr algn="ctr"/>
            <a:r>
              <a:rPr sz="1100" b="0">
                <a:solidFill>
                  <a:srgbClr val="2D3436"/>
                </a:solidFill>
                <a:latin typeface="Calibri"/>
              </a:rPr>
              <a:t>30s to 20 users -&gt; 1m at 50 -&gt; ramp down</a:t>
            </a:r>
          </a:p>
        </p:txBody>
      </p:sp>
      <p:sp>
        <p:nvSpPr>
          <p:cNvPr id="9" name="Rounded Rectangle 8"/>
          <p:cNvSpPr/>
          <p:nvPr/>
        </p:nvSpPr>
        <p:spPr>
          <a:xfrm>
            <a:off x="6400800" y="2606040"/>
            <a:ext cx="5029200" cy="9601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Thresholds</a:t>
            </a:r>
          </a:p>
          <a:p>
            <a:pPr algn="ctr"/>
            <a:r>
              <a:rPr sz="1100" b="0">
                <a:solidFill>
                  <a:srgbClr val="2D3436"/>
                </a:solidFill>
                <a:latin typeface="Calibri"/>
              </a:rPr>
              <a:t>P95 latency &lt; 500ms</a:t>
            </a:r>
          </a:p>
          <a:p>
            <a:pPr algn="ctr"/>
            <a:r>
              <a:rPr sz="1100" b="0">
                <a:solidFill>
                  <a:srgbClr val="2D3436"/>
                </a:solidFill>
                <a:latin typeface="Calibri"/>
              </a:rPr>
              <a:t>Error rate &lt; 1%</a:t>
            </a:r>
          </a:p>
        </p:txBody>
      </p:sp>
      <p:sp>
        <p:nvSpPr>
          <p:cNvPr id="10" name="Rounded Rectangle 9"/>
          <p:cNvSpPr/>
          <p:nvPr/>
        </p:nvSpPr>
        <p:spPr>
          <a:xfrm>
            <a:off x="6400800" y="3749039"/>
            <a:ext cx="5029200" cy="96012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Checks</a:t>
            </a:r>
          </a:p>
          <a:p>
            <a:pPr algn="ctr"/>
            <a:r>
              <a:rPr sz="1100" b="0">
                <a:solidFill>
                  <a:srgbClr val="2D3436"/>
                </a:solidFill>
                <a:latin typeface="Calibri"/>
              </a:rPr>
              <a:t>Validate response status</a:t>
            </a:r>
          </a:p>
          <a:p>
            <a:pPr algn="ctr"/>
            <a:r>
              <a:rPr sz="1100" b="0">
                <a:solidFill>
                  <a:srgbClr val="2D3436"/>
                </a:solidFill>
                <a:latin typeface="Calibri"/>
              </a:rPr>
              <a:t>and timing per request</a:t>
            </a:r>
          </a:p>
        </p:txBody>
      </p:sp>
      <p:sp>
        <p:nvSpPr>
          <p:cNvPr id="11" name="Rounded Rectangle 10"/>
          <p:cNvSpPr/>
          <p:nvPr/>
        </p:nvSpPr>
        <p:spPr>
          <a:xfrm>
            <a:off x="6400800" y="4892040"/>
            <a:ext cx="5029200" cy="96012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Key Metrics</a:t>
            </a:r>
          </a:p>
          <a:p>
            <a:pPr algn="ctr"/>
            <a:r>
              <a:rPr sz="1100" b="0">
                <a:solidFill>
                  <a:srgbClr val="2D3436"/>
                </a:solidFill>
                <a:latin typeface="Calibri"/>
              </a:rPr>
              <a:t>req_duration, req_failed,</a:t>
            </a:r>
          </a:p>
          <a:p>
            <a:pPr algn="ctr"/>
            <a:r>
              <a:rPr sz="1100" b="0">
                <a:solidFill>
                  <a:srgbClr val="2D3436"/>
                </a:solidFill>
                <a:latin typeface="Calibri"/>
              </a:rPr>
              <a:t>iterations, vus, data_received</a:t>
            </a:r>
          </a:p>
        </p:txBody>
      </p:sp>
      <p:sp>
        <p:nvSpPr>
          <p:cNvPr id="12" name="Rounded Rectangle 11"/>
          <p:cNvSpPr/>
          <p:nvPr/>
        </p:nvSpPr>
        <p:spPr>
          <a:xfrm>
            <a:off x="457200" y="5394960"/>
            <a:ext cx="11247120" cy="59436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When to load test:  Before production deployment  |  After major code changes  |  Before expected traffic spikes  |  As part of CI/CD pipeline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End-to-End Testing with Playwright</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45</a:t>
            </a:r>
          </a:p>
        </p:txBody>
      </p:sp>
      <p:sp>
        <p:nvSpPr>
          <p:cNvPr id="5" name="TextBox 4"/>
          <p:cNvSpPr txBox="1"/>
          <p:nvPr/>
        </p:nvSpPr>
        <p:spPr>
          <a:xfrm>
            <a:off x="457200" y="1051560"/>
            <a:ext cx="5486400" cy="274320"/>
          </a:xfrm>
          <a:prstGeom prst="rect">
            <a:avLst/>
          </a:prstGeom>
          <a:noFill/>
        </p:spPr>
        <p:txBody>
          <a:bodyPr wrap="square">
            <a:spAutoFit/>
          </a:bodyPr>
          <a:lstStyle/>
          <a:p>
            <a:pPr algn="l"/>
            <a:r>
              <a:rPr sz="1400" b="1">
                <a:solidFill>
                  <a:srgbClr val="70AD47"/>
                </a:solidFill>
                <a:latin typeface="Calibri"/>
              </a:rPr>
              <a:t>Playwright Test Example</a:t>
            </a:r>
          </a:p>
        </p:txBody>
      </p:sp>
      <p:sp>
        <p:nvSpPr>
          <p:cNvPr id="6" name="Rectangle 5"/>
          <p:cNvSpPr/>
          <p:nvPr/>
        </p:nvSpPr>
        <p:spPr>
          <a:xfrm>
            <a:off x="457200" y="1371600"/>
            <a:ext cx="5486400" cy="347472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import { test, expect } from "@playwright/test";</a:t>
            </a:r>
          </a:p>
          <a:p>
            <a:pPr>
              <a:spcAft>
                <a:spcPts val="100"/>
              </a:spcAft>
            </a:pPr>
            <a:r>
              <a:rPr sz="900">
                <a:solidFill>
                  <a:srgbClr val="2D3436"/>
                </a:solidFill>
                <a:latin typeface="Consolas"/>
              </a:rPr>
              <a:t/>
            </a:r>
          </a:p>
          <a:p>
            <a:pPr>
              <a:spcAft>
                <a:spcPts val="100"/>
              </a:spcAft>
            </a:pPr>
            <a:r>
              <a:rPr sz="900">
                <a:solidFill>
                  <a:srgbClr val="2D3436"/>
                </a:solidFill>
                <a:latin typeface="Consolas"/>
              </a:rPr>
              <a:t>test("create a new task", async ({ page }) =&gt; {</a:t>
            </a:r>
          </a:p>
          <a:p>
            <a:pPr>
              <a:spcAft>
                <a:spcPts val="100"/>
              </a:spcAft>
            </a:pPr>
            <a:r>
              <a:rPr sz="900">
                <a:solidFill>
                  <a:srgbClr val="2D3436"/>
                </a:solidFill>
                <a:latin typeface="Consolas"/>
              </a:rPr>
              <a:t>  // Navigate to the app</a:t>
            </a:r>
          </a:p>
          <a:p>
            <a:pPr>
              <a:spcAft>
                <a:spcPts val="100"/>
              </a:spcAft>
            </a:pPr>
            <a:r>
              <a:rPr sz="900">
                <a:solidFill>
                  <a:srgbClr val="2D3436"/>
                </a:solidFill>
                <a:latin typeface="Consolas"/>
              </a:rPr>
              <a:t>  await page.goto("http://localhost:3000");</a:t>
            </a:r>
          </a:p>
          <a:p>
            <a:pPr>
              <a:spcAft>
                <a:spcPts val="100"/>
              </a:spcAft>
            </a:pPr>
            <a:r>
              <a:rPr sz="900">
                <a:solidFill>
                  <a:srgbClr val="2D3436"/>
                </a:solidFill>
                <a:latin typeface="Consolas"/>
              </a:rPr>
              <a:t/>
            </a:r>
          </a:p>
          <a:p>
            <a:pPr>
              <a:spcAft>
                <a:spcPts val="100"/>
              </a:spcAft>
            </a:pPr>
            <a:r>
              <a:rPr sz="900">
                <a:solidFill>
                  <a:srgbClr val="2D3436"/>
                </a:solidFill>
                <a:latin typeface="Consolas"/>
              </a:rPr>
              <a:t>  // Click the "New Task" button</a:t>
            </a:r>
          </a:p>
          <a:p>
            <a:pPr>
              <a:spcAft>
                <a:spcPts val="100"/>
              </a:spcAft>
            </a:pPr>
            <a:r>
              <a:rPr sz="900">
                <a:solidFill>
                  <a:srgbClr val="2D3436"/>
                </a:solidFill>
                <a:latin typeface="Consolas"/>
              </a:rPr>
              <a:t>  await page.click(</a:t>
            </a:r>
          </a:p>
          <a:p>
            <a:pPr>
              <a:spcAft>
                <a:spcPts val="100"/>
              </a:spcAft>
            </a:pPr>
            <a:r>
              <a:rPr sz="900">
                <a:solidFill>
                  <a:srgbClr val="2D3436"/>
                </a:solidFill>
                <a:latin typeface="Consolas"/>
              </a:rPr>
              <a:t>    'button:has-text("New Task")'</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a:r>
          </a:p>
          <a:p>
            <a:pPr>
              <a:spcAft>
                <a:spcPts val="100"/>
              </a:spcAft>
            </a:pPr>
            <a:r>
              <a:rPr sz="900">
                <a:solidFill>
                  <a:srgbClr val="2D3436"/>
                </a:solidFill>
                <a:latin typeface="Consolas"/>
              </a:rPr>
              <a:t>  // Fill in task details</a:t>
            </a:r>
          </a:p>
          <a:p>
            <a:pPr>
              <a:spcAft>
                <a:spcPts val="100"/>
              </a:spcAft>
            </a:pPr>
            <a:r>
              <a:rPr sz="900">
                <a:solidFill>
                  <a:srgbClr val="2D3436"/>
                </a:solidFill>
                <a:latin typeface="Consolas"/>
              </a:rPr>
              <a:t>  await page.fill(</a:t>
            </a:r>
          </a:p>
          <a:p>
            <a:pPr>
              <a:spcAft>
                <a:spcPts val="100"/>
              </a:spcAft>
            </a:pPr>
            <a:r>
              <a:rPr sz="900">
                <a:solidFill>
                  <a:srgbClr val="2D3436"/>
                </a:solidFill>
                <a:latin typeface="Consolas"/>
              </a:rPr>
              <a:t>    'input[name="title"]',</a:t>
            </a:r>
          </a:p>
          <a:p>
            <a:pPr>
              <a:spcAft>
                <a:spcPts val="100"/>
              </a:spcAft>
            </a:pPr>
            <a:r>
              <a:rPr sz="900">
                <a:solidFill>
                  <a:srgbClr val="2D3436"/>
                </a:solidFill>
                <a:latin typeface="Consolas"/>
              </a:rPr>
              <a:t>    "Write unit tests"</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await page.fill(</a:t>
            </a:r>
          </a:p>
          <a:p>
            <a:pPr>
              <a:spcAft>
                <a:spcPts val="100"/>
              </a:spcAft>
            </a:pPr>
            <a:r>
              <a:rPr sz="900">
                <a:solidFill>
                  <a:srgbClr val="2D3436"/>
                </a:solidFill>
                <a:latin typeface="Consolas"/>
              </a:rPr>
              <a:t>    'textarea[name="description"]',</a:t>
            </a:r>
          </a:p>
          <a:p>
            <a:pPr>
              <a:spcAft>
                <a:spcPts val="100"/>
              </a:spcAft>
            </a:pPr>
            <a:r>
              <a:rPr sz="900">
                <a:solidFill>
                  <a:srgbClr val="2D3436"/>
                </a:solidFill>
                <a:latin typeface="Consolas"/>
              </a:rPr>
              <a:t>    "Cover all edge cases"</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a:r>
          </a:p>
          <a:p>
            <a:pPr>
              <a:spcAft>
                <a:spcPts val="100"/>
              </a:spcAft>
            </a:pPr>
            <a:r>
              <a:rPr sz="900">
                <a:solidFill>
                  <a:srgbClr val="2D3436"/>
                </a:solidFill>
                <a:latin typeface="Consolas"/>
              </a:rPr>
              <a:t>  // Submit and verify</a:t>
            </a:r>
          </a:p>
          <a:p>
            <a:pPr>
              <a:spcAft>
                <a:spcPts val="100"/>
              </a:spcAft>
            </a:pPr>
            <a:r>
              <a:rPr sz="900">
                <a:solidFill>
                  <a:srgbClr val="2D3436"/>
                </a:solidFill>
                <a:latin typeface="Consolas"/>
              </a:rPr>
              <a:t>  await page.click('button:has-text("Save")');</a:t>
            </a:r>
          </a:p>
          <a:p>
            <a:pPr>
              <a:spcAft>
                <a:spcPts val="100"/>
              </a:spcAft>
            </a:pPr>
            <a:r>
              <a:rPr sz="900">
                <a:solidFill>
                  <a:srgbClr val="2D3436"/>
                </a:solidFill>
                <a:latin typeface="Consolas"/>
              </a:rPr>
              <a:t>  await expect(</a:t>
            </a:r>
          </a:p>
          <a:p>
            <a:pPr>
              <a:spcAft>
                <a:spcPts val="100"/>
              </a:spcAft>
            </a:pPr>
            <a:r>
              <a:rPr sz="900">
                <a:solidFill>
                  <a:srgbClr val="2D3436"/>
                </a:solidFill>
                <a:latin typeface="Consolas"/>
              </a:rPr>
              <a:t>    page.locator(".task-item")</a:t>
            </a:r>
          </a:p>
          <a:p>
            <a:pPr>
              <a:spcAft>
                <a:spcPts val="100"/>
              </a:spcAft>
            </a:pPr>
            <a:r>
              <a:rPr sz="900">
                <a:solidFill>
                  <a:srgbClr val="2D3436"/>
                </a:solidFill>
                <a:latin typeface="Consolas"/>
              </a:rPr>
              <a:t>  ).toContainText("Write unit tests");</a:t>
            </a:r>
          </a:p>
          <a:p>
            <a:pPr>
              <a:spcAft>
                <a:spcPts val="100"/>
              </a:spcAft>
            </a:pPr>
            <a:r>
              <a:rPr sz="900">
                <a:solidFill>
                  <a:srgbClr val="2D3436"/>
                </a:solidFill>
                <a:latin typeface="Consolas"/>
              </a:rPr>
              <a:t>});</a:t>
            </a:r>
          </a:p>
        </p:txBody>
      </p:sp>
      <p:sp>
        <p:nvSpPr>
          <p:cNvPr id="7" name="TextBox 6"/>
          <p:cNvSpPr txBox="1"/>
          <p:nvPr/>
        </p:nvSpPr>
        <p:spPr>
          <a:xfrm>
            <a:off x="6400800" y="1051560"/>
            <a:ext cx="5029200" cy="274320"/>
          </a:xfrm>
          <a:prstGeom prst="rect">
            <a:avLst/>
          </a:prstGeom>
          <a:noFill/>
        </p:spPr>
        <p:txBody>
          <a:bodyPr wrap="square">
            <a:spAutoFit/>
          </a:bodyPr>
          <a:lstStyle/>
          <a:p>
            <a:pPr algn="l"/>
            <a:r>
              <a:rPr sz="1600" b="1">
                <a:solidFill>
                  <a:srgbClr val="70AD47"/>
                </a:solidFill>
                <a:latin typeface="Calibri"/>
              </a:rPr>
              <a:t>Testing Pyramid</a:t>
            </a:r>
          </a:p>
        </p:txBody>
      </p:sp>
      <p:sp>
        <p:nvSpPr>
          <p:cNvPr id="8" name="Rounded Rectangle 7"/>
          <p:cNvSpPr/>
          <p:nvPr/>
        </p:nvSpPr>
        <p:spPr>
          <a:xfrm>
            <a:off x="7498079" y="1554480"/>
            <a:ext cx="2377440" cy="64008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E2E Tests</a:t>
            </a:r>
          </a:p>
          <a:p>
            <a:pPr algn="ctr"/>
            <a:r>
              <a:rPr sz="1100" b="0">
                <a:solidFill>
                  <a:srgbClr val="2D3436"/>
                </a:solidFill>
                <a:latin typeface="Calibri"/>
              </a:rPr>
              <a:t>(Playwright, Cypress)</a:t>
            </a:r>
          </a:p>
        </p:txBody>
      </p:sp>
      <p:sp>
        <p:nvSpPr>
          <p:cNvPr id="9" name="Rounded Rectangle 8"/>
          <p:cNvSpPr/>
          <p:nvPr/>
        </p:nvSpPr>
        <p:spPr>
          <a:xfrm>
            <a:off x="7040880" y="2377440"/>
            <a:ext cx="3291840" cy="64008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Integration Tests</a:t>
            </a:r>
          </a:p>
          <a:p>
            <a:pPr algn="ctr"/>
            <a:r>
              <a:rPr sz="1100" b="0">
                <a:solidFill>
                  <a:srgbClr val="2D3436"/>
                </a:solidFill>
                <a:latin typeface="Calibri"/>
              </a:rPr>
              <a:t>(API, Database)</a:t>
            </a:r>
          </a:p>
        </p:txBody>
      </p:sp>
      <p:sp>
        <p:nvSpPr>
          <p:cNvPr id="10" name="Rounded Rectangle 9"/>
          <p:cNvSpPr/>
          <p:nvPr/>
        </p:nvSpPr>
        <p:spPr>
          <a:xfrm>
            <a:off x="6583680" y="3200400"/>
            <a:ext cx="4206240" cy="64008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Unit Tests</a:t>
            </a:r>
          </a:p>
          <a:p>
            <a:pPr algn="ctr"/>
            <a:r>
              <a:rPr sz="1100" b="0">
                <a:solidFill>
                  <a:srgbClr val="2D3436"/>
                </a:solidFill>
                <a:latin typeface="Calibri"/>
              </a:rPr>
              <a:t>(pytest, Jest)</a:t>
            </a:r>
          </a:p>
        </p:txBody>
      </p:sp>
      <p:sp>
        <p:nvSpPr>
          <p:cNvPr id="11" name="TextBox 10"/>
          <p:cNvSpPr txBox="1"/>
          <p:nvPr/>
        </p:nvSpPr>
        <p:spPr>
          <a:xfrm>
            <a:off x="6400800" y="4114800"/>
            <a:ext cx="5029200" cy="274320"/>
          </a:xfrm>
          <a:prstGeom prst="rect">
            <a:avLst/>
          </a:prstGeom>
          <a:noFill/>
        </p:spPr>
        <p:txBody>
          <a:bodyPr wrap="square">
            <a:spAutoFit/>
          </a:bodyPr>
          <a:lstStyle/>
          <a:p>
            <a:pPr algn="l"/>
            <a:r>
              <a:rPr sz="1300" b="1">
                <a:solidFill>
                  <a:srgbClr val="70AD47"/>
                </a:solidFill>
                <a:latin typeface="Calibri"/>
              </a:rPr>
              <a:t>When to Use Each Type</a:t>
            </a:r>
          </a:p>
        </p:txBody>
      </p:sp>
      <p:graphicFrame>
        <p:nvGraphicFramePr>
          <p:cNvPr id="12" name="Table 11"/>
          <p:cNvGraphicFramePr>
            <a:graphicFrameLocks noGrp="1"/>
          </p:cNvGraphicFramePr>
          <p:nvPr/>
        </p:nvGraphicFramePr>
        <p:xfrm>
          <a:off x="6400800" y="4434840"/>
          <a:ext cx="5303520" cy="1463040"/>
        </p:xfrm>
        <a:graphic>
          <a:graphicData uri="http://schemas.openxmlformats.org/drawingml/2006/table">
            <a:tbl>
              <a:tblPr firstRow="1" bandRow="1">
                <a:tableStyleId>{5C22544A-7EE6-4342-B048-85BDC9FD1C3A}</a:tableStyleId>
              </a:tblPr>
              <a:tblGrid>
                <a:gridCol w="1325880"/>
                <a:gridCol w="1325880"/>
                <a:gridCol w="1325880"/>
                <a:gridCol w="1325880"/>
              </a:tblGrid>
              <a:tr h="365760">
                <a:tc>
                  <a:txBody>
                    <a:bodyPr/>
                    <a:lstStyle/>
                    <a:p>
                      <a:r>
                        <a:rPr sz="1200" b="1">
                          <a:solidFill>
                            <a:srgbClr val="FFFFFF"/>
                          </a:solidFill>
                          <a:latin typeface="Calibri"/>
                        </a:rPr>
                        <a:t>Type</a:t>
                      </a:r>
                    </a:p>
                  </a:txBody>
                  <a:tcPr>
                    <a:solidFill>
                      <a:srgbClr val="2F75B5"/>
                    </a:solidFill>
                  </a:tcPr>
                </a:tc>
                <a:tc>
                  <a:txBody>
                    <a:bodyPr/>
                    <a:lstStyle/>
                    <a:p>
                      <a:r>
                        <a:rPr sz="1200" b="1">
                          <a:solidFill>
                            <a:srgbClr val="FFFFFF"/>
                          </a:solidFill>
                          <a:latin typeface="Calibri"/>
                        </a:rPr>
                        <a:t>Speed</a:t>
                      </a:r>
                    </a:p>
                  </a:txBody>
                  <a:tcPr>
                    <a:solidFill>
                      <a:srgbClr val="2F75B5"/>
                    </a:solidFill>
                  </a:tcPr>
                </a:tc>
                <a:tc>
                  <a:txBody>
                    <a:bodyPr/>
                    <a:lstStyle/>
                    <a:p>
                      <a:r>
                        <a:rPr sz="1200" b="1">
                          <a:solidFill>
                            <a:srgbClr val="FFFFFF"/>
                          </a:solidFill>
                          <a:latin typeface="Calibri"/>
                        </a:rPr>
                        <a:t>Confidence</a:t>
                      </a:r>
                    </a:p>
                  </a:txBody>
                  <a:tcPr>
                    <a:solidFill>
                      <a:srgbClr val="2F75B5"/>
                    </a:solidFill>
                  </a:tcPr>
                </a:tc>
                <a:tc>
                  <a:txBody>
                    <a:bodyPr/>
                    <a:lstStyle/>
                    <a:p>
                      <a:r>
                        <a:rPr sz="1200" b="1">
                          <a:solidFill>
                            <a:srgbClr val="FFFFFF"/>
                          </a:solidFill>
                          <a:latin typeface="Calibri"/>
                        </a:rPr>
                        <a:t>Use For</a:t>
                      </a:r>
                    </a:p>
                  </a:txBody>
                  <a:tcPr>
                    <a:solidFill>
                      <a:srgbClr val="2F75B5"/>
                    </a:solidFill>
                  </a:tcPr>
                </a:tc>
              </a:tr>
              <a:tr h="365760">
                <a:tc>
                  <a:txBody>
                    <a:bodyPr/>
                    <a:lstStyle/>
                    <a:p>
                      <a:r>
                        <a:rPr sz="1200">
                          <a:solidFill>
                            <a:srgbClr val="2D3436"/>
                          </a:solidFill>
                          <a:latin typeface="Calibri"/>
                        </a:rPr>
                        <a:t>Unit</a:t>
                      </a:r>
                    </a:p>
                  </a:txBody>
                  <a:tcPr>
                    <a:solidFill>
                      <a:srgbClr val="FFFFFF"/>
                    </a:solidFill>
                  </a:tcPr>
                </a:tc>
                <a:tc>
                  <a:txBody>
                    <a:bodyPr/>
                    <a:lstStyle/>
                    <a:p>
                      <a:r>
                        <a:rPr sz="1200">
                          <a:solidFill>
                            <a:srgbClr val="2D3436"/>
                          </a:solidFill>
                          <a:latin typeface="Calibri"/>
                        </a:rPr>
                        <a:t>Fast</a:t>
                      </a:r>
                    </a:p>
                  </a:txBody>
                  <a:tcPr>
                    <a:solidFill>
                      <a:srgbClr val="FFFFFF"/>
                    </a:solidFill>
                  </a:tcPr>
                </a:tc>
                <a:tc>
                  <a:txBody>
                    <a:bodyPr/>
                    <a:lstStyle/>
                    <a:p>
                      <a:r>
                        <a:rPr sz="1200">
                          <a:solidFill>
                            <a:srgbClr val="2D3436"/>
                          </a:solidFill>
                          <a:latin typeface="Calibri"/>
                        </a:rPr>
                        <a:t>Low-Med</a:t>
                      </a:r>
                    </a:p>
                  </a:txBody>
                  <a:tcPr>
                    <a:solidFill>
                      <a:srgbClr val="FFFFFF"/>
                    </a:solidFill>
                  </a:tcPr>
                </a:tc>
                <a:tc>
                  <a:txBody>
                    <a:bodyPr/>
                    <a:lstStyle/>
                    <a:p>
                      <a:r>
                        <a:rPr sz="1200">
                          <a:solidFill>
                            <a:srgbClr val="2D3436"/>
                          </a:solidFill>
                          <a:latin typeface="Calibri"/>
                        </a:rPr>
                        <a:t>Business logic, utils</a:t>
                      </a:r>
                    </a:p>
                  </a:txBody>
                  <a:tcPr>
                    <a:solidFill>
                      <a:srgbClr val="FFFFFF"/>
                    </a:solidFill>
                  </a:tcPr>
                </a:tc>
              </a:tr>
              <a:tr h="365760">
                <a:tc>
                  <a:txBody>
                    <a:bodyPr/>
                    <a:lstStyle/>
                    <a:p>
                      <a:r>
                        <a:rPr sz="1200">
                          <a:solidFill>
                            <a:srgbClr val="2D3436"/>
                          </a:solidFill>
                          <a:latin typeface="Calibri"/>
                        </a:rPr>
                        <a:t>Integration</a:t>
                      </a:r>
                    </a:p>
                  </a:txBody>
                  <a:tcPr>
                    <a:solidFill>
                      <a:srgbClr val="DDEBF7"/>
                    </a:solidFill>
                  </a:tcPr>
                </a:tc>
                <a:tc>
                  <a:txBody>
                    <a:bodyPr/>
                    <a:lstStyle/>
                    <a:p>
                      <a:r>
                        <a:rPr sz="1200">
                          <a:solidFill>
                            <a:srgbClr val="2D3436"/>
                          </a:solidFill>
                          <a:latin typeface="Calibri"/>
                        </a:rPr>
                        <a:t>Medium</a:t>
                      </a:r>
                    </a:p>
                  </a:txBody>
                  <a:tcPr>
                    <a:solidFill>
                      <a:srgbClr val="DDEBF7"/>
                    </a:solidFill>
                  </a:tcPr>
                </a:tc>
                <a:tc>
                  <a:txBody>
                    <a:bodyPr/>
                    <a:lstStyle/>
                    <a:p>
                      <a:r>
                        <a:rPr sz="1200">
                          <a:solidFill>
                            <a:srgbClr val="2D3436"/>
                          </a:solidFill>
                          <a:latin typeface="Calibri"/>
                        </a:rPr>
                        <a:t>Medium</a:t>
                      </a:r>
                    </a:p>
                  </a:txBody>
                  <a:tcPr>
                    <a:solidFill>
                      <a:srgbClr val="DDEBF7"/>
                    </a:solidFill>
                  </a:tcPr>
                </a:tc>
                <a:tc>
                  <a:txBody>
                    <a:bodyPr/>
                    <a:lstStyle/>
                    <a:p>
                      <a:r>
                        <a:rPr sz="1200">
                          <a:solidFill>
                            <a:srgbClr val="2D3436"/>
                          </a:solidFill>
                          <a:latin typeface="Calibri"/>
                        </a:rPr>
                        <a:t>API contracts, DB queries</a:t>
                      </a:r>
                    </a:p>
                  </a:txBody>
                  <a:tcPr>
                    <a:solidFill>
                      <a:srgbClr val="DDEBF7"/>
                    </a:solidFill>
                  </a:tcPr>
                </a:tc>
              </a:tr>
              <a:tr h="365760">
                <a:tc>
                  <a:txBody>
                    <a:bodyPr/>
                    <a:lstStyle/>
                    <a:p>
                      <a:r>
                        <a:rPr sz="1200">
                          <a:solidFill>
                            <a:srgbClr val="2D3436"/>
                          </a:solidFill>
                          <a:latin typeface="Calibri"/>
                        </a:rPr>
                        <a:t>E2E</a:t>
                      </a:r>
                    </a:p>
                  </a:txBody>
                  <a:tcPr>
                    <a:solidFill>
                      <a:srgbClr val="FFFFFF"/>
                    </a:solidFill>
                  </a:tcPr>
                </a:tc>
                <a:tc>
                  <a:txBody>
                    <a:bodyPr/>
                    <a:lstStyle/>
                    <a:p>
                      <a:r>
                        <a:rPr sz="1200">
                          <a:solidFill>
                            <a:srgbClr val="2D3436"/>
                          </a:solidFill>
                          <a:latin typeface="Calibri"/>
                        </a:rPr>
                        <a:t>Slow</a:t>
                      </a:r>
                    </a:p>
                  </a:txBody>
                  <a:tcPr>
                    <a:solidFill>
                      <a:srgbClr val="FFFFFF"/>
                    </a:solidFill>
                  </a:tcPr>
                </a:tc>
                <a:tc>
                  <a:txBody>
                    <a:bodyPr/>
                    <a:lstStyle/>
                    <a:p>
                      <a:r>
                        <a:rPr sz="1200">
                          <a:solidFill>
                            <a:srgbClr val="2D3436"/>
                          </a:solidFill>
                          <a:latin typeface="Calibri"/>
                        </a:rPr>
                        <a:t>High</a:t>
                      </a:r>
                    </a:p>
                  </a:txBody>
                  <a:tcPr>
                    <a:solidFill>
                      <a:srgbClr val="FFFFFF"/>
                    </a:solidFill>
                  </a:tcPr>
                </a:tc>
                <a:tc>
                  <a:txBody>
                    <a:bodyPr/>
                    <a:lstStyle/>
                    <a:p>
                      <a:r>
                        <a:rPr sz="1200">
                          <a:solidFill>
                            <a:srgbClr val="2D3436"/>
                          </a:solidFill>
                          <a:latin typeface="Calibri"/>
                        </a:rPr>
                        <a:t>User workflows, UI</a:t>
                      </a:r>
                    </a:p>
                  </a:txBody>
                  <a:tcPr>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Research Opportunities for Faculty</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46</a:t>
            </a:r>
          </a:p>
        </p:txBody>
      </p:sp>
      <p:sp>
        <p:nvSpPr>
          <p:cNvPr id="5" name="TextBox 4"/>
          <p:cNvSpPr txBox="1"/>
          <p:nvPr/>
        </p:nvSpPr>
        <p:spPr>
          <a:xfrm>
            <a:off x="457200" y="1051560"/>
            <a:ext cx="10972800" cy="365760"/>
          </a:xfrm>
          <a:prstGeom prst="rect">
            <a:avLst/>
          </a:prstGeom>
          <a:noFill/>
        </p:spPr>
        <p:txBody>
          <a:bodyPr wrap="square">
            <a:spAutoFit/>
          </a:bodyPr>
          <a:lstStyle/>
          <a:p>
            <a:pPr algn="l"/>
            <a:r>
              <a:rPr sz="1600" b="1">
                <a:solidFill>
                  <a:srgbClr val="4472C4"/>
                </a:solidFill>
                <a:latin typeface="Calibri"/>
              </a:rPr>
              <a:t>Emerging Research Areas in AI-Native Software Engineering</a:t>
            </a:r>
          </a:p>
        </p:txBody>
      </p:sp>
      <p:sp>
        <p:nvSpPr>
          <p:cNvPr id="6" name="Rounded Rectangle 5"/>
          <p:cNvSpPr/>
          <p:nvPr/>
        </p:nvSpPr>
        <p:spPr>
          <a:xfrm>
            <a:off x="457200" y="1508760"/>
            <a:ext cx="5394960" cy="123444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AI-Assisted SE Education</a:t>
            </a:r>
          </a:p>
          <a:p>
            <a:pPr algn="l"/>
            <a:r>
              <a:rPr sz="1100" b="0">
                <a:solidFill>
                  <a:srgbClr val="2D3436"/>
                </a:solidFill>
                <a:latin typeface="Calibri"/>
              </a:rPr>
              <a:t>How does AI-native methodology impact student learning outcomes?</a:t>
            </a:r>
          </a:p>
          <a:p>
            <a:pPr algn="l"/>
            <a:r>
              <a:rPr sz="1100" b="0">
                <a:solidFill>
                  <a:srgbClr val="2D3436"/>
                </a:solidFill>
                <a:latin typeface="Calibri"/>
              </a:rPr>
              <a:t>What assessment methods work best for AI-augmented coursework?</a:t>
            </a:r>
          </a:p>
        </p:txBody>
      </p:sp>
      <p:sp>
        <p:nvSpPr>
          <p:cNvPr id="7" name="Rounded Rectangle 6"/>
          <p:cNvSpPr/>
          <p:nvPr/>
        </p:nvSpPr>
        <p:spPr>
          <a:xfrm>
            <a:off x="6217920" y="1508760"/>
            <a:ext cx="5394960" cy="12344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Spec-to-Code Traceability</a:t>
            </a:r>
          </a:p>
          <a:p>
            <a:pPr algn="l"/>
            <a:r>
              <a:rPr sz="1100" b="0">
                <a:solidFill>
                  <a:srgbClr val="2D3436"/>
                </a:solidFill>
                <a:latin typeface="Calibri"/>
              </a:rPr>
              <a:t>Can we maintain formal traceability from specs through AI generation?</a:t>
            </a:r>
          </a:p>
          <a:p>
            <a:pPr algn="l"/>
            <a:r>
              <a:rPr sz="1100" b="0">
                <a:solidFill>
                  <a:srgbClr val="2D3436"/>
                </a:solidFill>
                <a:latin typeface="Calibri"/>
              </a:rPr>
              <a:t>How do we verify generated code satisfies original requirements?</a:t>
            </a:r>
          </a:p>
        </p:txBody>
      </p:sp>
      <p:sp>
        <p:nvSpPr>
          <p:cNvPr id="8" name="Rounded Rectangle 7"/>
          <p:cNvSpPr/>
          <p:nvPr/>
        </p:nvSpPr>
        <p:spPr>
          <a:xfrm>
            <a:off x="457200" y="2971800"/>
            <a:ext cx="5394960" cy="12344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Agentic SDLC Effectiveness</a:t>
            </a:r>
          </a:p>
          <a:p>
            <a:pPr algn="l"/>
            <a:r>
              <a:rPr sz="1100" b="0">
                <a:solidFill>
                  <a:srgbClr val="2D3436"/>
                </a:solidFill>
                <a:latin typeface="Calibri"/>
              </a:rPr>
              <a:t>How effective are multi-agent workflows vs. single-agent approaches?</a:t>
            </a:r>
          </a:p>
          <a:p>
            <a:pPr algn="l"/>
            <a:r>
              <a:rPr sz="1100" b="0">
                <a:solidFill>
                  <a:srgbClr val="2D3436"/>
                </a:solidFill>
                <a:latin typeface="Calibri"/>
              </a:rPr>
              <a:t>What orchestration patterns yield the best results?</a:t>
            </a:r>
          </a:p>
        </p:txBody>
      </p:sp>
      <p:sp>
        <p:nvSpPr>
          <p:cNvPr id="9" name="Rounded Rectangle 8"/>
          <p:cNvSpPr/>
          <p:nvPr/>
        </p:nvSpPr>
        <p:spPr>
          <a:xfrm>
            <a:off x="6217920" y="2971800"/>
            <a:ext cx="5394960" cy="123444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Security of Generated Code</a:t>
            </a:r>
          </a:p>
          <a:p>
            <a:pPr algn="l"/>
            <a:r>
              <a:rPr sz="1100" b="0">
                <a:solidFill>
                  <a:srgbClr val="2D3436"/>
                </a:solidFill>
                <a:latin typeface="Calibri"/>
              </a:rPr>
              <a:t>What vulnerability patterns are common in AI-generated code?</a:t>
            </a:r>
          </a:p>
          <a:p>
            <a:pPr algn="l"/>
            <a:r>
              <a:rPr sz="1100" b="0">
                <a:solidFill>
                  <a:srgbClr val="2D3436"/>
                </a:solidFill>
                <a:latin typeface="Calibri"/>
              </a:rPr>
              <a:t>Can AI-based security review catch AI-introduced vulnerabilities?</a:t>
            </a:r>
          </a:p>
        </p:txBody>
      </p:sp>
      <p:sp>
        <p:nvSpPr>
          <p:cNvPr id="10" name="Rounded Rectangle 9"/>
          <p:cNvSpPr/>
          <p:nvPr/>
        </p:nvSpPr>
        <p:spPr>
          <a:xfrm>
            <a:off x="457200" y="4434840"/>
            <a:ext cx="5394960" cy="123444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Human-AI Collaboration</a:t>
            </a:r>
          </a:p>
          <a:p>
            <a:pPr algn="l"/>
            <a:r>
              <a:rPr sz="1100" b="0">
                <a:solidFill>
                  <a:srgbClr val="2D3436"/>
                </a:solidFill>
                <a:latin typeface="Calibri"/>
              </a:rPr>
              <a:t>How do developers' roles change in AI-native workflows?</a:t>
            </a:r>
          </a:p>
          <a:p>
            <a:pPr algn="l"/>
            <a:r>
              <a:rPr sz="1100" b="0">
                <a:solidFill>
                  <a:srgbClr val="2D3436"/>
                </a:solidFill>
                <a:latin typeface="Calibri"/>
              </a:rPr>
              <a:t>What skills become more/less important with AI-native practices?</a:t>
            </a:r>
          </a:p>
        </p:txBody>
      </p:sp>
      <p:sp>
        <p:nvSpPr>
          <p:cNvPr id="11" name="Rounded Rectangle 10"/>
          <p:cNvSpPr/>
          <p:nvPr/>
        </p:nvSpPr>
        <p:spPr>
          <a:xfrm>
            <a:off x="6217920" y="4434840"/>
            <a:ext cx="5394960" cy="123444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Cost-Benefit Analysis</a:t>
            </a:r>
          </a:p>
          <a:p>
            <a:pPr algn="l"/>
            <a:r>
              <a:rPr sz="1100" b="0">
                <a:solidFill>
                  <a:srgbClr val="2D3436"/>
                </a:solidFill>
                <a:latin typeface="Calibri"/>
              </a:rPr>
              <a:t>What is the true ROI of AI-native development?</a:t>
            </a:r>
          </a:p>
          <a:p>
            <a:pPr algn="l"/>
            <a:r>
              <a:rPr sz="1100" b="0">
                <a:solidFill>
                  <a:srgbClr val="2D3436"/>
                </a:solidFill>
                <a:latin typeface="Calibri"/>
              </a:rPr>
              <a:t>How do we measure productivity gains accurately?</a:t>
            </a:r>
          </a:p>
        </p:txBody>
      </p:sp>
      <p:sp>
        <p:nvSpPr>
          <p:cNvPr id="12" name="Rounded Rectangle 11"/>
          <p:cNvSpPr/>
          <p:nvPr/>
        </p:nvSpPr>
        <p:spPr>
          <a:xfrm>
            <a:off x="457200" y="5623560"/>
            <a:ext cx="11247120" cy="4572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Collaboration Welcome:  Joint publications  |  Cross-institutional studies  |  Industry partnerships  |  Grant proposals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Instructor Guide &amp; Pitfalls</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47</a:t>
            </a:r>
          </a:p>
        </p:txBody>
      </p:sp>
      <p:sp>
        <p:nvSpPr>
          <p:cNvPr id="5" name="TextBox 4"/>
          <p:cNvSpPr txBox="1"/>
          <p:nvPr/>
        </p:nvSpPr>
        <p:spPr>
          <a:xfrm>
            <a:off x="457200" y="1051560"/>
            <a:ext cx="5303520" cy="365760"/>
          </a:xfrm>
          <a:prstGeom prst="rect">
            <a:avLst/>
          </a:prstGeom>
          <a:noFill/>
        </p:spPr>
        <p:txBody>
          <a:bodyPr wrap="square">
            <a:spAutoFit/>
          </a:bodyPr>
          <a:lstStyle/>
          <a:p>
            <a:pPr algn="l"/>
            <a:r>
              <a:rPr sz="1600" b="1">
                <a:solidFill>
                  <a:srgbClr val="ED7D31"/>
                </a:solidFill>
                <a:latin typeface="Calibri"/>
              </a:rPr>
              <a:t>Common Pitfalls</a:t>
            </a:r>
          </a:p>
        </p:txBody>
      </p:sp>
      <p:graphicFrame>
        <p:nvGraphicFramePr>
          <p:cNvPr id="6" name="Table 5"/>
          <p:cNvGraphicFramePr>
            <a:graphicFrameLocks noGrp="1"/>
          </p:cNvGraphicFramePr>
          <p:nvPr/>
        </p:nvGraphicFramePr>
        <p:xfrm>
          <a:off x="457200" y="1463040"/>
          <a:ext cx="5486400" cy="4389120"/>
        </p:xfrm>
        <a:graphic>
          <a:graphicData uri="http://schemas.openxmlformats.org/drawingml/2006/table">
            <a:tbl>
              <a:tblPr firstRow="1" bandRow="1">
                <a:tableStyleId>{5C22544A-7EE6-4342-B048-85BDC9FD1C3A}</a:tableStyleId>
              </a:tblPr>
              <a:tblGrid>
                <a:gridCol w="2743200"/>
                <a:gridCol w="2743200"/>
              </a:tblGrid>
              <a:tr h="627017">
                <a:tc>
                  <a:txBody>
                    <a:bodyPr/>
                    <a:lstStyle/>
                    <a:p>
                      <a:r>
                        <a:rPr sz="1200" b="1">
                          <a:solidFill>
                            <a:srgbClr val="FFFFFF"/>
                          </a:solidFill>
                          <a:latin typeface="Calibri"/>
                        </a:rPr>
                        <a:t>Pitfall</a:t>
                      </a:r>
                    </a:p>
                  </a:txBody>
                  <a:tcPr>
                    <a:solidFill>
                      <a:srgbClr val="2F75B5"/>
                    </a:solidFill>
                  </a:tcPr>
                </a:tc>
                <a:tc>
                  <a:txBody>
                    <a:bodyPr/>
                    <a:lstStyle/>
                    <a:p>
                      <a:r>
                        <a:rPr sz="1200" b="1">
                          <a:solidFill>
                            <a:srgbClr val="FFFFFF"/>
                          </a:solidFill>
                          <a:latin typeface="Calibri"/>
                        </a:rPr>
                        <a:t>Mitigation Strategy</a:t>
                      </a:r>
                    </a:p>
                  </a:txBody>
                  <a:tcPr>
                    <a:solidFill>
                      <a:srgbClr val="2F75B5"/>
                    </a:solidFill>
                  </a:tcPr>
                </a:tc>
              </a:tr>
              <a:tr h="627017">
                <a:tc>
                  <a:txBody>
                    <a:bodyPr/>
                    <a:lstStyle/>
                    <a:p>
                      <a:r>
                        <a:rPr sz="1200">
                          <a:solidFill>
                            <a:srgbClr val="2D3436"/>
                          </a:solidFill>
                          <a:latin typeface="Calibri"/>
                        </a:rPr>
                        <a:t>Students skip the spec</a:t>
                      </a:r>
                    </a:p>
                    <a:p>
                      <a:r>
                        <a:rPr sz="1200">
                          <a:solidFill>
                            <a:srgbClr val="2D3436"/>
                          </a:solidFill>
                          <a:latin typeface="Calibri"/>
                        </a:rPr>
                        <a:t>and jump to code</a:t>
                      </a:r>
                    </a:p>
                  </a:txBody>
                  <a:tcPr>
                    <a:solidFill>
                      <a:srgbClr val="DDEBF7"/>
                    </a:solidFill>
                  </a:tcPr>
                </a:tc>
                <a:tc>
                  <a:txBody>
                    <a:bodyPr/>
                    <a:lstStyle/>
                    <a:p>
                      <a:r>
                        <a:rPr sz="1200">
                          <a:solidFill>
                            <a:srgbClr val="2D3436"/>
                          </a:solidFill>
                          <a:latin typeface="Calibri"/>
                        </a:rPr>
                        <a:t>Require spec submission before</a:t>
                      </a:r>
                    </a:p>
                    <a:p>
                      <a:r>
                        <a:rPr sz="1200">
                          <a:solidFill>
                            <a:srgbClr val="2D3436"/>
                          </a:solidFill>
                          <a:latin typeface="Calibri"/>
                        </a:rPr>
                        <a:t>code generation is allowed</a:t>
                      </a:r>
                    </a:p>
                  </a:txBody>
                  <a:tcPr>
                    <a:solidFill>
                      <a:srgbClr val="DDEBF7"/>
                    </a:solidFill>
                  </a:tcPr>
                </a:tc>
              </a:tr>
              <a:tr h="627017">
                <a:tc>
                  <a:txBody>
                    <a:bodyPr/>
                    <a:lstStyle/>
                    <a:p>
                      <a:r>
                        <a:rPr sz="1200">
                          <a:solidFill>
                            <a:srgbClr val="2D3436"/>
                          </a:solidFill>
                          <a:latin typeface="Calibri"/>
                        </a:rPr>
                        <a:t>Over-reliance on AI</a:t>
                      </a:r>
                    </a:p>
                    <a:p>
                      <a:r>
                        <a:rPr sz="1200">
                          <a:solidFill>
                            <a:srgbClr val="2D3436"/>
                          </a:solidFill>
                          <a:latin typeface="Calibri"/>
                        </a:rPr>
                        <a:t>without understanding</a:t>
                      </a:r>
                    </a:p>
                  </a:txBody>
                  <a:tcPr>
                    <a:solidFill>
                      <a:srgbClr val="E2EFDA"/>
                    </a:solidFill>
                  </a:tcPr>
                </a:tc>
                <a:tc>
                  <a:txBody>
                    <a:bodyPr/>
                    <a:lstStyle/>
                    <a:p>
                      <a:r>
                        <a:rPr sz="1200">
                          <a:solidFill>
                            <a:srgbClr val="2D3436"/>
                          </a:solidFill>
                          <a:latin typeface="Calibri"/>
                        </a:rPr>
                        <a:t>Assess via oral explanation</a:t>
                      </a:r>
                    </a:p>
                    <a:p>
                      <a:r>
                        <a:rPr sz="1200">
                          <a:solidFill>
                            <a:srgbClr val="2D3436"/>
                          </a:solidFill>
                          <a:latin typeface="Calibri"/>
                        </a:rPr>
                        <a:t>and code modification exercises</a:t>
                      </a:r>
                    </a:p>
                  </a:txBody>
                  <a:tcPr>
                    <a:solidFill>
                      <a:srgbClr val="E2EFDA"/>
                    </a:solidFill>
                  </a:tcPr>
                </a:tc>
              </a:tr>
              <a:tr h="627017">
                <a:tc>
                  <a:txBody>
                    <a:bodyPr/>
                    <a:lstStyle/>
                    <a:p>
                      <a:r>
                        <a:rPr sz="1200">
                          <a:solidFill>
                            <a:srgbClr val="2D3436"/>
                          </a:solidFill>
                          <a:latin typeface="Calibri"/>
                        </a:rPr>
                        <a:t>Copy-paste without</a:t>
                      </a:r>
                    </a:p>
                    <a:p>
                      <a:r>
                        <a:rPr sz="1200">
                          <a:solidFill>
                            <a:srgbClr val="2D3436"/>
                          </a:solidFill>
                          <a:latin typeface="Calibri"/>
                        </a:rPr>
                        <a:t>review or testing</a:t>
                      </a:r>
                    </a:p>
                  </a:txBody>
                  <a:tcPr>
                    <a:solidFill>
                      <a:srgbClr val="FCE4D6"/>
                    </a:solidFill>
                  </a:tcPr>
                </a:tc>
                <a:tc>
                  <a:txBody>
                    <a:bodyPr/>
                    <a:lstStyle/>
                    <a:p>
                      <a:r>
                        <a:rPr sz="1200">
                          <a:solidFill>
                            <a:srgbClr val="2D3436"/>
                          </a:solidFill>
                          <a:latin typeface="Calibri"/>
                        </a:rPr>
                        <a:t>Mandate code review checklists</a:t>
                      </a:r>
                    </a:p>
                    <a:p>
                      <a:r>
                        <a:rPr sz="1200">
                          <a:solidFill>
                            <a:srgbClr val="2D3436"/>
                          </a:solidFill>
                          <a:latin typeface="Calibri"/>
                        </a:rPr>
                        <a:t>and minimum test coverage</a:t>
                      </a:r>
                    </a:p>
                  </a:txBody>
                  <a:tcPr>
                    <a:solidFill>
                      <a:srgbClr val="FCE4D6"/>
                    </a:solidFill>
                  </a:tcPr>
                </a:tc>
              </a:tr>
              <a:tr h="627017">
                <a:tc>
                  <a:txBody>
                    <a:bodyPr/>
                    <a:lstStyle/>
                    <a:p>
                      <a:r>
                        <a:rPr sz="1200">
                          <a:solidFill>
                            <a:srgbClr val="2D3436"/>
                          </a:solidFill>
                          <a:latin typeface="Calibri"/>
                        </a:rPr>
                        <a:t>Ignoring security</a:t>
                      </a:r>
                    </a:p>
                    <a:p>
                      <a:r>
                        <a:rPr sz="1200">
                          <a:solidFill>
                            <a:srgbClr val="2D3436"/>
                          </a:solidFill>
                          <a:latin typeface="Calibri"/>
                        </a:rPr>
                        <a:t>vulnerabilities</a:t>
                      </a:r>
                    </a:p>
                  </a:txBody>
                  <a:tcPr>
                    <a:solidFill>
                      <a:srgbClr val="FFF2CC"/>
                    </a:solidFill>
                  </a:tcPr>
                </a:tc>
                <a:tc>
                  <a:txBody>
                    <a:bodyPr/>
                    <a:lstStyle/>
                    <a:p>
                      <a:r>
                        <a:rPr sz="1200">
                          <a:solidFill>
                            <a:srgbClr val="2D3436"/>
                          </a:solidFill>
                          <a:latin typeface="Calibri"/>
                        </a:rPr>
                        <a:t>Integrate security scanning in</a:t>
                      </a:r>
                    </a:p>
                    <a:p>
                      <a:r>
                        <a:rPr sz="1200">
                          <a:solidFill>
                            <a:srgbClr val="2D3436"/>
                          </a:solidFill>
                          <a:latin typeface="Calibri"/>
                        </a:rPr>
                        <a:t>CI/CD; grade on security posture</a:t>
                      </a:r>
                    </a:p>
                  </a:txBody>
                  <a:tcPr>
                    <a:solidFill>
                      <a:srgbClr val="FFF2CC"/>
                    </a:solidFill>
                  </a:tcPr>
                </a:tc>
              </a:tr>
              <a:tr h="627017">
                <a:tc>
                  <a:txBody>
                    <a:bodyPr/>
                    <a:lstStyle/>
                    <a:p>
                      <a:r>
                        <a:rPr sz="1200">
                          <a:solidFill>
                            <a:srgbClr val="2D3436"/>
                          </a:solidFill>
                          <a:latin typeface="Calibri"/>
                        </a:rPr>
                        <a:t>Prompt engineering</a:t>
                      </a:r>
                    </a:p>
                    <a:p>
                      <a:r>
                        <a:rPr sz="1200">
                          <a:solidFill>
                            <a:srgbClr val="2D3436"/>
                          </a:solidFill>
                          <a:latin typeface="Calibri"/>
                        </a:rPr>
                        <a:t>frustration</a:t>
                      </a:r>
                    </a:p>
                  </a:txBody>
                  <a:tcPr>
                    <a:solidFill>
                      <a:srgbClr val="EFE8F9"/>
                    </a:solidFill>
                  </a:tcPr>
                </a:tc>
                <a:tc>
                  <a:txBody>
                    <a:bodyPr/>
                    <a:lstStyle/>
                    <a:p>
                      <a:r>
                        <a:rPr sz="1200">
                          <a:solidFill>
                            <a:srgbClr val="2D3436"/>
                          </a:solidFill>
                          <a:latin typeface="Calibri"/>
                        </a:rPr>
                        <a:t>Provide starter templates;</a:t>
                      </a:r>
                    </a:p>
                    <a:p>
                      <a:r>
                        <a:rPr sz="1200">
                          <a:solidFill>
                            <a:srgbClr val="2D3436"/>
                          </a:solidFill>
                          <a:latin typeface="Calibri"/>
                        </a:rPr>
                        <a:t>teach iterative refinement</a:t>
                      </a:r>
                    </a:p>
                  </a:txBody>
                  <a:tcPr>
                    <a:solidFill>
                      <a:srgbClr val="EFE8F9"/>
                    </a:solidFill>
                  </a:tcPr>
                </a:tc>
              </a:tr>
              <a:tr h="627018">
                <a:tc>
                  <a:txBody>
                    <a:bodyPr/>
                    <a:lstStyle/>
                    <a:p>
                      <a:r>
                        <a:rPr sz="1200">
                          <a:solidFill>
                            <a:srgbClr val="2D3436"/>
                          </a:solidFill>
                          <a:latin typeface="Calibri"/>
                        </a:rPr>
                        <a:t>Tool access issues</a:t>
                      </a:r>
                    </a:p>
                    <a:p>
                      <a:r>
                        <a:rPr sz="1200">
                          <a:solidFill>
                            <a:srgbClr val="2D3436"/>
                          </a:solidFill>
                          <a:latin typeface="Calibri"/>
                        </a:rPr>
                        <a:t>(cost, availability)</a:t>
                      </a:r>
                    </a:p>
                  </a:txBody>
                  <a:tcPr>
                    <a:solidFill>
                      <a:srgbClr val="E0F7FA"/>
                    </a:solidFill>
                  </a:tcPr>
                </a:tc>
                <a:tc>
                  <a:txBody>
                    <a:bodyPr/>
                    <a:lstStyle/>
                    <a:p>
                      <a:r>
                        <a:rPr sz="1200">
                          <a:solidFill>
                            <a:srgbClr val="2D3436"/>
                          </a:solidFill>
                          <a:latin typeface="Calibri"/>
                        </a:rPr>
                        <a:t>Use free tiers; have</a:t>
                      </a:r>
                    </a:p>
                    <a:p>
                      <a:r>
                        <a:rPr sz="1200">
                          <a:solidFill>
                            <a:srgbClr val="2D3436"/>
                          </a:solidFill>
                          <a:latin typeface="Calibri"/>
                        </a:rPr>
                        <a:t>offline backup exercises</a:t>
                      </a:r>
                    </a:p>
                  </a:txBody>
                  <a:tcPr>
                    <a:solidFill>
                      <a:srgbClr val="E0F7FA"/>
                    </a:solidFill>
                  </a:tcPr>
                </a:tc>
              </a:tr>
            </a:tbl>
          </a:graphicData>
        </a:graphic>
      </p:graphicFrame>
      <p:sp>
        <p:nvSpPr>
          <p:cNvPr id="7" name="TextBox 6"/>
          <p:cNvSpPr txBox="1"/>
          <p:nvPr/>
        </p:nvSpPr>
        <p:spPr>
          <a:xfrm>
            <a:off x="6400800" y="1051560"/>
            <a:ext cx="5029200" cy="365760"/>
          </a:xfrm>
          <a:prstGeom prst="rect">
            <a:avLst/>
          </a:prstGeom>
          <a:noFill/>
        </p:spPr>
        <p:txBody>
          <a:bodyPr wrap="square">
            <a:spAutoFit/>
          </a:bodyPr>
          <a:lstStyle/>
          <a:p>
            <a:pPr algn="l"/>
            <a:r>
              <a:rPr sz="1600" b="1">
                <a:solidFill>
                  <a:srgbClr val="70AD47"/>
                </a:solidFill>
                <a:latin typeface="Calibri"/>
              </a:rPr>
              <a:t>Facilitation Tips</a:t>
            </a:r>
          </a:p>
        </p:txBody>
      </p:sp>
      <p:sp>
        <p:nvSpPr>
          <p:cNvPr id="8" name="TextBox 7"/>
          <p:cNvSpPr txBox="1"/>
          <p:nvPr/>
        </p:nvSpPr>
        <p:spPr>
          <a:xfrm>
            <a:off x="6400800" y="1508760"/>
            <a:ext cx="5029200" cy="4572000"/>
          </a:xfrm>
          <a:prstGeom prst="rect">
            <a:avLst/>
          </a:prstGeom>
          <a:noFill/>
        </p:spPr>
        <p:txBody>
          <a:bodyPr wrap="square">
            <a:spAutoFit/>
          </a:bodyPr>
          <a:lstStyle/>
          <a:p>
            <a:pPr>
              <a:lnSpc>
                <a:spcPct val="130000"/>
              </a:lnSpc>
              <a:spcAft>
                <a:spcPts val="800"/>
              </a:spcAft>
            </a:pPr>
            <a:r>
              <a:rPr sz="1200">
                <a:solidFill>
                  <a:srgbClr val="2D3436"/>
                </a:solidFill>
                <a:latin typeface="Calibri"/>
              </a:rPr>
              <a:t>• Start with a live demo before hands-on exercises</a:t>
            </a:r>
          </a:p>
          <a:p>
            <a:pPr>
              <a:lnSpc>
                <a:spcPct val="130000"/>
              </a:lnSpc>
              <a:spcAft>
                <a:spcPts val="800"/>
              </a:spcAft>
            </a:pPr>
            <a:r>
              <a:rPr sz="1200">
                <a:solidFill>
                  <a:srgbClr val="2D3436"/>
                </a:solidFill>
                <a:latin typeface="Calibri"/>
              </a:rPr>
              <a:t>• Pair experienced and novice participants</a:t>
            </a:r>
          </a:p>
          <a:p>
            <a:pPr>
              <a:lnSpc>
                <a:spcPct val="130000"/>
              </a:lnSpc>
              <a:spcAft>
                <a:spcPts val="800"/>
              </a:spcAft>
            </a:pPr>
            <a:r>
              <a:rPr sz="1200">
                <a:solidFill>
                  <a:srgbClr val="2D3436"/>
                </a:solidFill>
                <a:latin typeface="Calibri"/>
              </a:rPr>
              <a:t>• Keep exercises time-boxed (20-30 min each)</a:t>
            </a:r>
          </a:p>
          <a:p>
            <a:pPr>
              <a:lnSpc>
                <a:spcPct val="130000"/>
              </a:lnSpc>
              <a:spcAft>
                <a:spcPts val="800"/>
              </a:spcAft>
            </a:pPr>
            <a:r>
              <a:rPr sz="1200">
                <a:solidFill>
                  <a:srgbClr val="2D3436"/>
                </a:solidFill>
                <a:latin typeface="Calibri"/>
              </a:rPr>
              <a:t>• Circulate during hands-on time; don't just observe</a:t>
            </a:r>
          </a:p>
          <a:p>
            <a:pPr>
              <a:lnSpc>
                <a:spcPct val="130000"/>
              </a:lnSpc>
              <a:spcAft>
                <a:spcPts val="800"/>
              </a:spcAft>
            </a:pPr>
            <a:r>
              <a:rPr sz="1200">
                <a:solidFill>
                  <a:srgbClr val="2D3436"/>
                </a:solidFill>
                <a:latin typeface="Calibri"/>
              </a:rPr>
              <a:t>• Have pre-written backup solutions ready</a:t>
            </a:r>
          </a:p>
          <a:p>
            <a:pPr>
              <a:lnSpc>
                <a:spcPct val="130000"/>
              </a:lnSpc>
              <a:spcAft>
                <a:spcPts val="800"/>
              </a:spcAft>
            </a:pPr>
            <a:r>
              <a:rPr sz="1200">
                <a:solidFill>
                  <a:srgbClr val="2D3436"/>
                </a:solidFill>
                <a:latin typeface="Calibri"/>
              </a:rPr>
              <a:t>• Encourage questions; create safe failure space</a:t>
            </a:r>
          </a:p>
          <a:p>
            <a:pPr>
              <a:lnSpc>
                <a:spcPct val="130000"/>
              </a:lnSpc>
              <a:spcAft>
                <a:spcPts val="800"/>
              </a:spcAft>
            </a:pPr>
            <a:r>
              <a:rPr sz="1200">
                <a:solidFill>
                  <a:srgbClr val="2D3436"/>
                </a:solidFill>
                <a:latin typeface="Calibri"/>
              </a:rPr>
              <a:t>• Debrief after each exercise: what surprised you?</a:t>
            </a:r>
          </a:p>
          <a:p>
            <a:pPr>
              <a:lnSpc>
                <a:spcPct val="130000"/>
              </a:lnSpc>
              <a:spcAft>
                <a:spcPts val="800"/>
              </a:spcAft>
            </a:pPr>
            <a:r>
              <a:rPr sz="1200">
                <a:solidFill>
                  <a:srgbClr val="2D3436"/>
                </a:solidFill>
                <a:latin typeface="Calibri"/>
              </a:rPr>
              <a:t>• Adjust pace based on room experience level</a:t>
            </a:r>
          </a:p>
          <a:p>
            <a:pPr>
              <a:lnSpc>
                <a:spcPct val="130000"/>
              </a:lnSpc>
              <a:spcAft>
                <a:spcPts val="800"/>
              </a:spcAft>
            </a:pPr>
            <a:r>
              <a:rPr sz="1200">
                <a:solidFill>
                  <a:srgbClr val="2D3436"/>
                </a:solidFill>
                <a:latin typeface="Calibri"/>
              </a:rPr>
              <a:t>• Use screen sharing for collaborative debugging</a:t>
            </a:r>
          </a:p>
          <a:p>
            <a:pPr>
              <a:lnSpc>
                <a:spcPct val="130000"/>
              </a:lnSpc>
              <a:spcAft>
                <a:spcPts val="800"/>
              </a:spcAft>
            </a:pPr>
            <a:r>
              <a:rPr sz="1200">
                <a:solidFill>
                  <a:srgbClr val="2D3436"/>
                </a:solidFill>
                <a:latin typeface="Calibri"/>
              </a:rPr>
              <a:t>• End each section with a reflection question</a:t>
            </a:r>
          </a:p>
          <a:p>
            <a:pPr>
              <a:lnSpc>
                <a:spcPct val="130000"/>
              </a:lnSpc>
              <a:spcAft>
                <a:spcPts val="800"/>
              </a:spcAft>
            </a:pPr>
            <a:r>
              <a:rPr sz="1200">
                <a:solidFill>
                  <a:srgbClr val="2D3436"/>
                </a:solidFill>
                <a:latin typeface="Calibri"/>
              </a:rPr>
              <a:t>• Document common issues for future sessions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Assessment Rubric for AI-Native Projects</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48</a:t>
            </a:r>
          </a:p>
        </p:txBody>
      </p:sp>
      <p:sp>
        <p:nvSpPr>
          <p:cNvPr id="5" name="TextBox 4"/>
          <p:cNvSpPr txBox="1"/>
          <p:nvPr/>
        </p:nvSpPr>
        <p:spPr>
          <a:xfrm>
            <a:off x="457200" y="1051560"/>
            <a:ext cx="10972800" cy="274320"/>
          </a:xfrm>
          <a:prstGeom prst="rect">
            <a:avLst/>
          </a:prstGeom>
          <a:noFill/>
        </p:spPr>
        <p:txBody>
          <a:bodyPr wrap="square">
            <a:spAutoFit/>
          </a:bodyPr>
          <a:lstStyle/>
          <a:p>
            <a:pPr algn="l"/>
            <a:r>
              <a:rPr sz="1500" b="1">
                <a:solidFill>
                  <a:srgbClr val="4472C4"/>
                </a:solidFill>
                <a:latin typeface="Calibri"/>
              </a:rPr>
              <a:t>Rubric for Evaluating AI-Native Software Projects</a:t>
            </a:r>
          </a:p>
        </p:txBody>
      </p:sp>
      <p:graphicFrame>
        <p:nvGraphicFramePr>
          <p:cNvPr id="6" name="Table 5"/>
          <p:cNvGraphicFramePr>
            <a:graphicFrameLocks noGrp="1"/>
          </p:cNvGraphicFramePr>
          <p:nvPr/>
        </p:nvGraphicFramePr>
        <p:xfrm>
          <a:off x="274320" y="1371600"/>
          <a:ext cx="11612880" cy="4572000"/>
        </p:xfrm>
        <a:graphic>
          <a:graphicData uri="http://schemas.openxmlformats.org/drawingml/2006/table">
            <a:tbl>
              <a:tblPr firstRow="1" bandRow="1">
                <a:tableStyleId>{5C22544A-7EE6-4342-B048-85BDC9FD1C3A}</a:tableStyleId>
              </a:tblPr>
              <a:tblGrid>
                <a:gridCol w="2903220"/>
                <a:gridCol w="2903220"/>
                <a:gridCol w="2903220"/>
                <a:gridCol w="2903220"/>
              </a:tblGrid>
              <a:tr h="653142">
                <a:tc>
                  <a:txBody>
                    <a:bodyPr/>
                    <a:lstStyle/>
                    <a:p>
                      <a:r>
                        <a:rPr sz="1200" b="1">
                          <a:solidFill>
                            <a:srgbClr val="FFFFFF"/>
                          </a:solidFill>
                          <a:latin typeface="Calibri"/>
                        </a:rPr>
                        <a:t>Criteria</a:t>
                      </a:r>
                    </a:p>
                  </a:txBody>
                  <a:tcPr>
                    <a:solidFill>
                      <a:srgbClr val="2F75B5"/>
                    </a:solidFill>
                  </a:tcPr>
                </a:tc>
                <a:tc>
                  <a:txBody>
                    <a:bodyPr/>
                    <a:lstStyle/>
                    <a:p>
                      <a:r>
                        <a:rPr sz="1200" b="1">
                          <a:solidFill>
                            <a:srgbClr val="FFFFFF"/>
                          </a:solidFill>
                          <a:latin typeface="Calibri"/>
                        </a:rPr>
                        <a:t>Excellent (A)</a:t>
                      </a:r>
                    </a:p>
                  </a:txBody>
                  <a:tcPr>
                    <a:solidFill>
                      <a:srgbClr val="2F75B5"/>
                    </a:solidFill>
                  </a:tcPr>
                </a:tc>
                <a:tc>
                  <a:txBody>
                    <a:bodyPr/>
                    <a:lstStyle/>
                    <a:p>
                      <a:r>
                        <a:rPr sz="1200" b="1">
                          <a:solidFill>
                            <a:srgbClr val="FFFFFF"/>
                          </a:solidFill>
                          <a:latin typeface="Calibri"/>
                        </a:rPr>
                        <a:t>Good (B)</a:t>
                      </a:r>
                    </a:p>
                  </a:txBody>
                  <a:tcPr>
                    <a:solidFill>
                      <a:srgbClr val="2F75B5"/>
                    </a:solidFill>
                  </a:tcPr>
                </a:tc>
                <a:tc>
                  <a:txBody>
                    <a:bodyPr/>
                    <a:lstStyle/>
                    <a:p>
                      <a:r>
                        <a:rPr sz="1200" b="1">
                          <a:solidFill>
                            <a:srgbClr val="FFFFFF"/>
                          </a:solidFill>
                          <a:latin typeface="Calibri"/>
                        </a:rPr>
                        <a:t>Needs Improvement (C)</a:t>
                      </a:r>
                    </a:p>
                  </a:txBody>
                  <a:tcPr>
                    <a:solidFill>
                      <a:srgbClr val="2F75B5"/>
                    </a:solidFill>
                  </a:tcPr>
                </a:tc>
              </a:tr>
              <a:tr h="653142">
                <a:tc>
                  <a:txBody>
                    <a:bodyPr/>
                    <a:lstStyle/>
                    <a:p>
                      <a:r>
                        <a:rPr sz="1200">
                          <a:solidFill>
                            <a:srgbClr val="2D3436"/>
                          </a:solidFill>
                          <a:latin typeface="Calibri"/>
                        </a:rPr>
                        <a:t>Specification</a:t>
                      </a:r>
                    </a:p>
                    <a:p>
                      <a:r>
                        <a:rPr sz="1200">
                          <a:solidFill>
                            <a:srgbClr val="2D3436"/>
                          </a:solidFill>
                          <a:latin typeface="Calibri"/>
                        </a:rPr>
                        <a:t>Quality</a:t>
                      </a:r>
                    </a:p>
                  </a:txBody>
                  <a:tcPr>
                    <a:solidFill>
                      <a:srgbClr val="DDEBF7"/>
                    </a:solidFill>
                  </a:tcPr>
                </a:tc>
                <a:tc>
                  <a:txBody>
                    <a:bodyPr/>
                    <a:lstStyle/>
                    <a:p>
                      <a:r>
                        <a:rPr sz="1200">
                          <a:solidFill>
                            <a:srgbClr val="2D3436"/>
                          </a:solidFill>
                          <a:latin typeface="Calibri"/>
                        </a:rPr>
                        <a:t>Complete, structured spec</a:t>
                      </a:r>
                    </a:p>
                    <a:p>
                      <a:r>
                        <a:rPr sz="1200">
                          <a:solidFill>
                            <a:srgbClr val="2D3436"/>
                          </a:solidFill>
                          <a:latin typeface="Calibri"/>
                        </a:rPr>
                        <a:t>with acceptance criteria</a:t>
                      </a:r>
                    </a:p>
                  </a:txBody>
                  <a:tcPr>
                    <a:solidFill>
                      <a:srgbClr val="DDEBF7"/>
                    </a:solidFill>
                  </a:tcPr>
                </a:tc>
                <a:tc>
                  <a:txBody>
                    <a:bodyPr/>
                    <a:lstStyle/>
                    <a:p>
                      <a:r>
                        <a:rPr sz="1200">
                          <a:solidFill>
                            <a:srgbClr val="2D3436"/>
                          </a:solidFill>
                          <a:latin typeface="Calibri"/>
                        </a:rPr>
                        <a:t>Adequate spec with</a:t>
                      </a:r>
                    </a:p>
                    <a:p>
                      <a:r>
                        <a:rPr sz="1200">
                          <a:solidFill>
                            <a:srgbClr val="2D3436"/>
                          </a:solidFill>
                          <a:latin typeface="Calibri"/>
                        </a:rPr>
                        <a:t>some gaps</a:t>
                      </a:r>
                    </a:p>
                  </a:txBody>
                  <a:tcPr>
                    <a:solidFill>
                      <a:srgbClr val="DDEBF7"/>
                    </a:solidFill>
                  </a:tcPr>
                </a:tc>
                <a:tc>
                  <a:txBody>
                    <a:bodyPr/>
                    <a:lstStyle/>
                    <a:p>
                      <a:r>
                        <a:rPr sz="1200">
                          <a:solidFill>
                            <a:srgbClr val="2D3436"/>
                          </a:solidFill>
                          <a:latin typeface="Calibri"/>
                        </a:rPr>
                        <a:t>Minimal or vague</a:t>
                      </a:r>
                    </a:p>
                    <a:p>
                      <a:r>
                        <a:rPr sz="1200">
                          <a:solidFill>
                            <a:srgbClr val="2D3436"/>
                          </a:solidFill>
                          <a:latin typeface="Calibri"/>
                        </a:rPr>
                        <a:t>specification</a:t>
                      </a:r>
                    </a:p>
                  </a:txBody>
                  <a:tcPr>
                    <a:solidFill>
                      <a:srgbClr val="DDEBF7"/>
                    </a:solidFill>
                  </a:tcPr>
                </a:tc>
              </a:tr>
              <a:tr h="653142">
                <a:tc>
                  <a:txBody>
                    <a:bodyPr/>
                    <a:lstStyle/>
                    <a:p>
                      <a:r>
                        <a:rPr sz="1200">
                          <a:solidFill>
                            <a:srgbClr val="2D3436"/>
                          </a:solidFill>
                          <a:latin typeface="Calibri"/>
                        </a:rPr>
                        <a:t>Architecture</a:t>
                      </a:r>
                    </a:p>
                    <a:p>
                      <a:r>
                        <a:rPr sz="1200">
                          <a:solidFill>
                            <a:srgbClr val="2D3436"/>
                          </a:solidFill>
                          <a:latin typeface="Calibri"/>
                        </a:rPr>
                        <a:t>Decision</a:t>
                      </a:r>
                    </a:p>
                  </a:txBody>
                  <a:tcPr>
                    <a:solidFill>
                      <a:srgbClr val="E2EFDA"/>
                    </a:solidFill>
                  </a:tcPr>
                </a:tc>
                <a:tc>
                  <a:txBody>
                    <a:bodyPr/>
                    <a:lstStyle/>
                    <a:p>
                      <a:r>
                        <a:rPr sz="1200">
                          <a:solidFill>
                            <a:srgbClr val="2D3436"/>
                          </a:solidFill>
                          <a:latin typeface="Calibri"/>
                        </a:rPr>
                        <a:t>Well-reasoned design with</a:t>
                      </a:r>
                    </a:p>
                    <a:p>
                      <a:r>
                        <a:rPr sz="1200">
                          <a:solidFill>
                            <a:srgbClr val="2D3436"/>
                          </a:solidFill>
                          <a:latin typeface="Calibri"/>
                        </a:rPr>
                        <a:t>documented trade-offs</a:t>
                      </a:r>
                    </a:p>
                  </a:txBody>
                  <a:tcPr>
                    <a:solidFill>
                      <a:srgbClr val="E2EFDA"/>
                    </a:solidFill>
                  </a:tcPr>
                </a:tc>
                <a:tc>
                  <a:txBody>
                    <a:bodyPr/>
                    <a:lstStyle/>
                    <a:p>
                      <a:r>
                        <a:rPr sz="1200">
                          <a:solidFill>
                            <a:srgbClr val="2D3436"/>
                          </a:solidFill>
                          <a:latin typeface="Calibri"/>
                        </a:rPr>
                        <a:t>Reasonable design but</a:t>
                      </a:r>
                    </a:p>
                    <a:p>
                      <a:r>
                        <a:rPr sz="1200">
                          <a:solidFill>
                            <a:srgbClr val="2D3436"/>
                          </a:solidFill>
                          <a:latin typeface="Calibri"/>
                        </a:rPr>
                        <a:t>limited justification</a:t>
                      </a:r>
                    </a:p>
                  </a:txBody>
                  <a:tcPr>
                    <a:solidFill>
                      <a:srgbClr val="E2EFDA"/>
                    </a:solidFill>
                  </a:tcPr>
                </a:tc>
                <a:tc>
                  <a:txBody>
                    <a:bodyPr/>
                    <a:lstStyle/>
                    <a:p>
                      <a:r>
                        <a:rPr sz="1200">
                          <a:solidFill>
                            <a:srgbClr val="2D3436"/>
                          </a:solidFill>
                          <a:latin typeface="Calibri"/>
                        </a:rPr>
                        <a:t>No clear architecture</a:t>
                      </a:r>
                    </a:p>
                    <a:p>
                      <a:r>
                        <a:rPr sz="1200">
                          <a:solidFill>
                            <a:srgbClr val="2D3436"/>
                          </a:solidFill>
                          <a:latin typeface="Calibri"/>
                        </a:rPr>
                        <a:t>or rationale</a:t>
                      </a:r>
                    </a:p>
                  </a:txBody>
                  <a:tcPr>
                    <a:solidFill>
                      <a:srgbClr val="E2EFDA"/>
                    </a:solidFill>
                  </a:tcPr>
                </a:tc>
              </a:tr>
              <a:tr h="653142">
                <a:tc>
                  <a:txBody>
                    <a:bodyPr/>
                    <a:lstStyle/>
                    <a:p>
                      <a:r>
                        <a:rPr sz="1200">
                          <a:solidFill>
                            <a:srgbClr val="2D3436"/>
                          </a:solidFill>
                          <a:latin typeface="Calibri"/>
                        </a:rPr>
                        <a:t>Code Quality</a:t>
                      </a:r>
                    </a:p>
                    <a:p>
                      <a:r>
                        <a:rPr sz="1200">
                          <a:solidFill>
                            <a:srgbClr val="2D3436"/>
                          </a:solidFill>
                          <a:latin typeface="Calibri"/>
                        </a:rPr>
                        <a:t>&amp; Review</a:t>
                      </a:r>
                    </a:p>
                  </a:txBody>
                  <a:tcPr>
                    <a:solidFill>
                      <a:srgbClr val="FCE4D6"/>
                    </a:solidFill>
                  </a:tcPr>
                </a:tc>
                <a:tc>
                  <a:txBody>
                    <a:bodyPr/>
                    <a:lstStyle/>
                    <a:p>
                      <a:r>
                        <a:rPr sz="1200">
                          <a:solidFill>
                            <a:srgbClr val="2D3436"/>
                          </a:solidFill>
                          <a:latin typeface="Calibri"/>
                        </a:rPr>
                        <a:t>Clean, reviewed code with</a:t>
                      </a:r>
                    </a:p>
                    <a:p>
                      <a:r>
                        <a:rPr sz="1200">
                          <a:solidFill>
                            <a:srgbClr val="2D3436"/>
                          </a:solidFill>
                          <a:latin typeface="Calibri"/>
                        </a:rPr>
                        <a:t>meaningful modifications</a:t>
                      </a:r>
                    </a:p>
                  </a:txBody>
                  <a:tcPr>
                    <a:solidFill>
                      <a:srgbClr val="FCE4D6"/>
                    </a:solidFill>
                  </a:tcPr>
                </a:tc>
                <a:tc>
                  <a:txBody>
                    <a:bodyPr/>
                    <a:lstStyle/>
                    <a:p>
                      <a:r>
                        <a:rPr sz="1200">
                          <a:solidFill>
                            <a:srgbClr val="2D3436"/>
                          </a:solidFill>
                          <a:latin typeface="Calibri"/>
                        </a:rPr>
                        <a:t>Functional code with</a:t>
                      </a:r>
                    </a:p>
                    <a:p>
                      <a:r>
                        <a:rPr sz="1200">
                          <a:solidFill>
                            <a:srgbClr val="2D3436"/>
                          </a:solidFill>
                          <a:latin typeface="Calibri"/>
                        </a:rPr>
                        <a:t>some review evidence</a:t>
                      </a:r>
                    </a:p>
                  </a:txBody>
                  <a:tcPr>
                    <a:solidFill>
                      <a:srgbClr val="FCE4D6"/>
                    </a:solidFill>
                  </a:tcPr>
                </a:tc>
                <a:tc>
                  <a:txBody>
                    <a:bodyPr/>
                    <a:lstStyle/>
                    <a:p>
                      <a:r>
                        <a:rPr sz="1200">
                          <a:solidFill>
                            <a:srgbClr val="2D3436"/>
                          </a:solidFill>
                          <a:latin typeface="Calibri"/>
                        </a:rPr>
                        <a:t>Unreviewed AI output</a:t>
                      </a:r>
                    </a:p>
                    <a:p>
                      <a:r>
                        <a:rPr sz="1200">
                          <a:solidFill>
                            <a:srgbClr val="2D3436"/>
                          </a:solidFill>
                          <a:latin typeface="Calibri"/>
                        </a:rPr>
                        <a:t>with no changes</a:t>
                      </a:r>
                    </a:p>
                  </a:txBody>
                  <a:tcPr>
                    <a:solidFill>
                      <a:srgbClr val="FCE4D6"/>
                    </a:solidFill>
                  </a:tcPr>
                </a:tc>
              </a:tr>
              <a:tr h="653142">
                <a:tc>
                  <a:txBody>
                    <a:bodyPr/>
                    <a:lstStyle/>
                    <a:p>
                      <a:r>
                        <a:rPr sz="1200">
                          <a:solidFill>
                            <a:srgbClr val="2D3436"/>
                          </a:solidFill>
                          <a:latin typeface="Calibri"/>
                        </a:rPr>
                        <a:t>Testing</a:t>
                      </a:r>
                    </a:p>
                    <a:p>
                      <a:r>
                        <a:rPr sz="1200">
                          <a:solidFill>
                            <a:srgbClr val="2D3436"/>
                          </a:solidFill>
                          <a:latin typeface="Calibri"/>
                        </a:rPr>
                        <a:t>Coverage</a:t>
                      </a:r>
                    </a:p>
                  </a:txBody>
                  <a:tcPr>
                    <a:solidFill>
                      <a:srgbClr val="FFF2CC"/>
                    </a:solidFill>
                  </a:tcPr>
                </a:tc>
                <a:tc>
                  <a:txBody>
                    <a:bodyPr/>
                    <a:lstStyle/>
                    <a:p>
                      <a:r>
                        <a:rPr sz="1200">
                          <a:solidFill>
                            <a:srgbClr val="2D3436"/>
                          </a:solidFill>
                          <a:latin typeface="Calibri"/>
                        </a:rPr>
                        <a:t>Comprehensive tests:</a:t>
                      </a:r>
                    </a:p>
                    <a:p>
                      <a:r>
                        <a:rPr sz="1200">
                          <a:solidFill>
                            <a:srgbClr val="2D3436"/>
                          </a:solidFill>
                          <a:latin typeface="Calibri"/>
                        </a:rPr>
                        <a:t>unit, integration, edge cases</a:t>
                      </a:r>
                    </a:p>
                  </a:txBody>
                  <a:tcPr>
                    <a:solidFill>
                      <a:srgbClr val="FFF2CC"/>
                    </a:solidFill>
                  </a:tcPr>
                </a:tc>
                <a:tc>
                  <a:txBody>
                    <a:bodyPr/>
                    <a:lstStyle/>
                    <a:p>
                      <a:r>
                        <a:rPr sz="1200">
                          <a:solidFill>
                            <a:srgbClr val="2D3436"/>
                          </a:solidFill>
                          <a:latin typeface="Calibri"/>
                        </a:rPr>
                        <a:t>Basic unit tests</a:t>
                      </a:r>
                    </a:p>
                    <a:p>
                      <a:r>
                        <a:rPr sz="1200">
                          <a:solidFill>
                            <a:srgbClr val="2D3436"/>
                          </a:solidFill>
                          <a:latin typeface="Calibri"/>
                        </a:rPr>
                        <a:t>with decent coverage</a:t>
                      </a:r>
                    </a:p>
                  </a:txBody>
                  <a:tcPr>
                    <a:solidFill>
                      <a:srgbClr val="FFF2CC"/>
                    </a:solidFill>
                  </a:tcPr>
                </a:tc>
                <a:tc>
                  <a:txBody>
                    <a:bodyPr/>
                    <a:lstStyle/>
                    <a:p>
                      <a:r>
                        <a:rPr sz="1200">
                          <a:solidFill>
                            <a:srgbClr val="2D3436"/>
                          </a:solidFill>
                          <a:latin typeface="Calibri"/>
                        </a:rPr>
                        <a:t>Minimal or no tests;</a:t>
                      </a:r>
                    </a:p>
                    <a:p>
                      <a:r>
                        <a:rPr sz="1200">
                          <a:solidFill>
                            <a:srgbClr val="2D3436"/>
                          </a:solidFill>
                          <a:latin typeface="Calibri"/>
                        </a:rPr>
                        <a:t>low coverage</a:t>
                      </a:r>
                    </a:p>
                  </a:txBody>
                  <a:tcPr>
                    <a:solidFill>
                      <a:srgbClr val="FFF2CC"/>
                    </a:solidFill>
                  </a:tcPr>
                </a:tc>
              </a:tr>
              <a:tr h="653142">
                <a:tc>
                  <a:txBody>
                    <a:bodyPr/>
                    <a:lstStyle/>
                    <a:p>
                      <a:r>
                        <a:rPr sz="1200">
                          <a:solidFill>
                            <a:srgbClr val="2D3436"/>
                          </a:solidFill>
                          <a:latin typeface="Calibri"/>
                        </a:rPr>
                        <a:t>Security</a:t>
                      </a:r>
                    </a:p>
                    <a:p>
                      <a:r>
                        <a:rPr sz="1200">
                          <a:solidFill>
                            <a:srgbClr val="2D3436"/>
                          </a:solidFill>
                          <a:latin typeface="Calibri"/>
                        </a:rPr>
                        <a:t>Practice</a:t>
                      </a:r>
                    </a:p>
                  </a:txBody>
                  <a:tcPr>
                    <a:solidFill>
                      <a:srgbClr val="EFE8F9"/>
                    </a:solidFill>
                  </a:tcPr>
                </a:tc>
                <a:tc>
                  <a:txBody>
                    <a:bodyPr/>
                    <a:lstStyle/>
                    <a:p>
                      <a:r>
                        <a:rPr sz="1200">
                          <a:solidFill>
                            <a:srgbClr val="2D3436"/>
                          </a:solidFill>
                          <a:latin typeface="Calibri"/>
                        </a:rPr>
                        <a:t>Security scan integrated;</a:t>
                      </a:r>
                    </a:p>
                    <a:p>
                      <a:r>
                        <a:rPr sz="1200">
                          <a:solidFill>
                            <a:srgbClr val="2D3436"/>
                          </a:solidFill>
                          <a:latin typeface="Calibri"/>
                        </a:rPr>
                        <a:t>vulnerabilities addressed</a:t>
                      </a:r>
                    </a:p>
                  </a:txBody>
                  <a:tcPr>
                    <a:solidFill>
                      <a:srgbClr val="EFE8F9"/>
                    </a:solidFill>
                  </a:tcPr>
                </a:tc>
                <a:tc>
                  <a:txBody>
                    <a:bodyPr/>
                    <a:lstStyle/>
                    <a:p>
                      <a:r>
                        <a:rPr sz="1200">
                          <a:solidFill>
                            <a:srgbClr val="2D3436"/>
                          </a:solidFill>
                          <a:latin typeface="Calibri"/>
                        </a:rPr>
                        <a:t>Basic security awareness;</a:t>
                      </a:r>
                    </a:p>
                    <a:p>
                      <a:r>
                        <a:rPr sz="1200">
                          <a:solidFill>
                            <a:srgbClr val="2D3436"/>
                          </a:solidFill>
                          <a:latin typeface="Calibri"/>
                        </a:rPr>
                        <a:t>some scanning</a:t>
                      </a:r>
                    </a:p>
                  </a:txBody>
                  <a:tcPr>
                    <a:solidFill>
                      <a:srgbClr val="EFE8F9"/>
                    </a:solidFill>
                  </a:tcPr>
                </a:tc>
                <a:tc>
                  <a:txBody>
                    <a:bodyPr/>
                    <a:lstStyle/>
                    <a:p>
                      <a:r>
                        <a:rPr sz="1200">
                          <a:solidFill>
                            <a:srgbClr val="2D3436"/>
                          </a:solidFill>
                          <a:latin typeface="Calibri"/>
                        </a:rPr>
                        <a:t>No security consideration</a:t>
                      </a:r>
                    </a:p>
                    <a:p>
                      <a:r>
                        <a:rPr sz="1200">
                          <a:solidFill>
                            <a:srgbClr val="2D3436"/>
                          </a:solidFill>
                          <a:latin typeface="Calibri"/>
                        </a:rPr>
                        <a:t>in the project</a:t>
                      </a:r>
                    </a:p>
                  </a:txBody>
                  <a:tcPr>
                    <a:solidFill>
                      <a:srgbClr val="EFE8F9"/>
                    </a:solidFill>
                  </a:tcPr>
                </a:tc>
              </a:tr>
              <a:tr h="653148">
                <a:tc>
                  <a:txBody>
                    <a:bodyPr/>
                    <a:lstStyle/>
                    <a:p>
                      <a:r>
                        <a:rPr sz="1200">
                          <a:solidFill>
                            <a:srgbClr val="2D3436"/>
                          </a:solidFill>
                          <a:latin typeface="Calibri"/>
                        </a:rPr>
                        <a:t>Process</a:t>
                      </a:r>
                    </a:p>
                    <a:p>
                      <a:r>
                        <a:rPr sz="1200">
                          <a:solidFill>
                            <a:srgbClr val="2D3436"/>
                          </a:solidFill>
                          <a:latin typeface="Calibri"/>
                        </a:rPr>
                        <a:t>Documentation</a:t>
                      </a:r>
                    </a:p>
                  </a:txBody>
                  <a:tcPr>
                    <a:solidFill>
                      <a:srgbClr val="E0F7FA"/>
                    </a:solidFill>
                  </a:tcPr>
                </a:tc>
                <a:tc>
                  <a:txBody>
                    <a:bodyPr/>
                    <a:lstStyle/>
                    <a:p>
                      <a:r>
                        <a:rPr sz="1200">
                          <a:solidFill>
                            <a:srgbClr val="2D3436"/>
                          </a:solidFill>
                          <a:latin typeface="Calibri"/>
                        </a:rPr>
                        <a:t>Full AI interaction log;</a:t>
                      </a:r>
                    </a:p>
                    <a:p>
                      <a:r>
                        <a:rPr sz="1200">
                          <a:solidFill>
                            <a:srgbClr val="2D3436"/>
                          </a:solidFill>
                          <a:latin typeface="Calibri"/>
                        </a:rPr>
                        <a:t>decision rationale documented</a:t>
                      </a:r>
                    </a:p>
                  </a:txBody>
                  <a:tcPr>
                    <a:solidFill>
                      <a:srgbClr val="E0F7FA"/>
                    </a:solidFill>
                  </a:tcPr>
                </a:tc>
                <a:tc>
                  <a:txBody>
                    <a:bodyPr/>
                    <a:lstStyle/>
                    <a:p>
                      <a:r>
                        <a:rPr sz="1200">
                          <a:solidFill>
                            <a:srgbClr val="2D3436"/>
                          </a:solidFill>
                          <a:latin typeface="Calibri"/>
                        </a:rPr>
                        <a:t>Partial documentation</a:t>
                      </a:r>
                    </a:p>
                    <a:p>
                      <a:r>
                        <a:rPr sz="1200">
                          <a:solidFill>
                            <a:srgbClr val="2D3436"/>
                          </a:solidFill>
                          <a:latin typeface="Calibri"/>
                        </a:rPr>
                        <a:t>of AI usage</a:t>
                      </a:r>
                    </a:p>
                  </a:txBody>
                  <a:tcPr>
                    <a:solidFill>
                      <a:srgbClr val="E0F7FA"/>
                    </a:solidFill>
                  </a:tcPr>
                </a:tc>
                <a:tc>
                  <a:txBody>
                    <a:bodyPr/>
                    <a:lstStyle/>
                    <a:p>
                      <a:r>
                        <a:rPr sz="1200">
                          <a:solidFill>
                            <a:srgbClr val="2D3436"/>
                          </a:solidFill>
                          <a:latin typeface="Calibri"/>
                        </a:rPr>
                        <a:t>No documentation of</a:t>
                      </a:r>
                    </a:p>
                    <a:p>
                      <a:r>
                        <a:rPr sz="1200">
                          <a:solidFill>
                            <a:srgbClr val="2D3436"/>
                          </a:solidFill>
                          <a:latin typeface="Calibri"/>
                        </a:rPr>
                        <a:t>AI-assisted process</a:t>
                      </a:r>
                    </a:p>
                  </a:txBody>
                  <a:tcPr>
                    <a:solidFill>
                      <a:srgbClr val="E0F7FA"/>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AI Development Tool Comparison</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49</a:t>
            </a:r>
          </a:p>
        </p:txBody>
      </p:sp>
      <p:sp>
        <p:nvSpPr>
          <p:cNvPr id="5" name="TextBox 4"/>
          <p:cNvSpPr txBox="1"/>
          <p:nvPr/>
        </p:nvSpPr>
        <p:spPr>
          <a:xfrm>
            <a:off x="457200" y="1051560"/>
            <a:ext cx="10972800" cy="274320"/>
          </a:xfrm>
          <a:prstGeom prst="rect">
            <a:avLst/>
          </a:prstGeom>
          <a:noFill/>
        </p:spPr>
        <p:txBody>
          <a:bodyPr wrap="square">
            <a:spAutoFit/>
          </a:bodyPr>
          <a:lstStyle/>
          <a:p>
            <a:pPr algn="l"/>
            <a:r>
              <a:rPr sz="1500" b="1">
                <a:solidFill>
                  <a:srgbClr val="4472C4"/>
                </a:solidFill>
                <a:latin typeface="Calibri"/>
              </a:rPr>
              <a:t>AI-Powered Development Tools: Feature Comparison</a:t>
            </a:r>
          </a:p>
        </p:txBody>
      </p:sp>
      <p:graphicFrame>
        <p:nvGraphicFramePr>
          <p:cNvPr id="6" name="Table 5"/>
          <p:cNvGraphicFramePr>
            <a:graphicFrameLocks noGrp="1"/>
          </p:cNvGraphicFramePr>
          <p:nvPr/>
        </p:nvGraphicFramePr>
        <p:xfrm>
          <a:off x="274320" y="1371600"/>
          <a:ext cx="11612880" cy="3840480"/>
        </p:xfrm>
        <a:graphic>
          <a:graphicData uri="http://schemas.openxmlformats.org/drawingml/2006/table">
            <a:tbl>
              <a:tblPr firstRow="1" bandRow="1">
                <a:tableStyleId>{5C22544A-7EE6-4342-B048-85BDC9FD1C3A}</a:tableStyleId>
              </a:tblPr>
              <a:tblGrid>
                <a:gridCol w="2322576"/>
                <a:gridCol w="2322576"/>
                <a:gridCol w="2322576"/>
                <a:gridCol w="2322576"/>
                <a:gridCol w="2322576"/>
              </a:tblGrid>
              <a:tr h="480060">
                <a:tc>
                  <a:txBody>
                    <a:bodyPr/>
                    <a:lstStyle/>
                    <a:p>
                      <a:r>
                        <a:rPr sz="1200" b="1">
                          <a:solidFill>
                            <a:srgbClr val="FFFFFF"/>
                          </a:solidFill>
                          <a:latin typeface="Calibri"/>
                        </a:rPr>
                        <a:t>Tool</a:t>
                      </a:r>
                    </a:p>
                  </a:txBody>
                  <a:tcPr>
                    <a:solidFill>
                      <a:srgbClr val="2F75B5"/>
                    </a:solidFill>
                  </a:tcPr>
                </a:tc>
                <a:tc>
                  <a:txBody>
                    <a:bodyPr/>
                    <a:lstStyle/>
                    <a:p>
                      <a:r>
                        <a:rPr sz="1200" b="1">
                          <a:solidFill>
                            <a:srgbClr val="FFFFFF"/>
                          </a:solidFill>
                          <a:latin typeface="Calibri"/>
                        </a:rPr>
                        <a:t>Type</a:t>
                      </a:r>
                    </a:p>
                  </a:txBody>
                  <a:tcPr>
                    <a:solidFill>
                      <a:srgbClr val="2F75B5"/>
                    </a:solidFill>
                  </a:tcPr>
                </a:tc>
                <a:tc>
                  <a:txBody>
                    <a:bodyPr/>
                    <a:lstStyle/>
                    <a:p>
                      <a:r>
                        <a:rPr sz="1200" b="1">
                          <a:solidFill>
                            <a:srgbClr val="FFFFFF"/>
                          </a:solidFill>
                          <a:latin typeface="Calibri"/>
                        </a:rPr>
                        <a:t>Key Strength</a:t>
                      </a:r>
                    </a:p>
                  </a:txBody>
                  <a:tcPr>
                    <a:solidFill>
                      <a:srgbClr val="2F75B5"/>
                    </a:solidFill>
                  </a:tcPr>
                </a:tc>
                <a:tc>
                  <a:txBody>
                    <a:bodyPr/>
                    <a:lstStyle/>
                    <a:p>
                      <a:r>
                        <a:rPr sz="1200" b="1">
                          <a:solidFill>
                            <a:srgbClr val="FFFFFF"/>
                          </a:solidFill>
                          <a:latin typeface="Calibri"/>
                        </a:rPr>
                        <a:t>Best For</a:t>
                      </a:r>
                    </a:p>
                  </a:txBody>
                  <a:tcPr>
                    <a:solidFill>
                      <a:srgbClr val="2F75B5"/>
                    </a:solidFill>
                  </a:tcPr>
                </a:tc>
                <a:tc>
                  <a:txBody>
                    <a:bodyPr/>
                    <a:lstStyle/>
                    <a:p>
                      <a:r>
                        <a:rPr sz="1200" b="1">
                          <a:solidFill>
                            <a:srgbClr val="FFFFFF"/>
                          </a:solidFill>
                          <a:latin typeface="Calibri"/>
                        </a:rPr>
                        <a:t>Cost</a:t>
                      </a:r>
                    </a:p>
                  </a:txBody>
                  <a:tcPr>
                    <a:solidFill>
                      <a:srgbClr val="2F75B5"/>
                    </a:solidFill>
                  </a:tcPr>
                </a:tc>
              </a:tr>
              <a:tr h="480060">
                <a:tc>
                  <a:txBody>
                    <a:bodyPr/>
                    <a:lstStyle/>
                    <a:p>
                      <a:r>
                        <a:rPr sz="1200">
                          <a:solidFill>
                            <a:srgbClr val="2D3436"/>
                          </a:solidFill>
                          <a:latin typeface="Calibri"/>
                        </a:rPr>
                        <a:t>GitHub Copilot</a:t>
                      </a:r>
                    </a:p>
                  </a:txBody>
                  <a:tcPr>
                    <a:solidFill>
                      <a:srgbClr val="DDEBF7"/>
                    </a:solidFill>
                  </a:tcPr>
                </a:tc>
                <a:tc>
                  <a:txBody>
                    <a:bodyPr/>
                    <a:lstStyle/>
                    <a:p>
                      <a:r>
                        <a:rPr sz="1200">
                          <a:solidFill>
                            <a:srgbClr val="2D3436"/>
                          </a:solidFill>
                          <a:latin typeface="Calibri"/>
                        </a:rPr>
                        <a:t>Code completion</a:t>
                      </a:r>
                    </a:p>
                  </a:txBody>
                  <a:tcPr>
                    <a:solidFill>
                      <a:srgbClr val="DDEBF7"/>
                    </a:solidFill>
                  </a:tcPr>
                </a:tc>
                <a:tc>
                  <a:txBody>
                    <a:bodyPr/>
                    <a:lstStyle/>
                    <a:p>
                      <a:r>
                        <a:rPr sz="1200">
                          <a:solidFill>
                            <a:srgbClr val="2D3436"/>
                          </a:solidFill>
                          <a:latin typeface="Calibri"/>
                        </a:rPr>
                        <a:t>Deep IDE integration</a:t>
                      </a:r>
                    </a:p>
                  </a:txBody>
                  <a:tcPr>
                    <a:solidFill>
                      <a:srgbClr val="DDEBF7"/>
                    </a:solidFill>
                  </a:tcPr>
                </a:tc>
                <a:tc>
                  <a:txBody>
                    <a:bodyPr/>
                    <a:lstStyle/>
                    <a:p>
                      <a:r>
                        <a:rPr sz="1200">
                          <a:solidFill>
                            <a:srgbClr val="2D3436"/>
                          </a:solidFill>
                          <a:latin typeface="Calibri"/>
                        </a:rPr>
                        <a:t>Inline code suggestions</a:t>
                      </a:r>
                    </a:p>
                  </a:txBody>
                  <a:tcPr>
                    <a:solidFill>
                      <a:srgbClr val="DDEBF7"/>
                    </a:solidFill>
                  </a:tcPr>
                </a:tc>
                <a:tc>
                  <a:txBody>
                    <a:bodyPr/>
                    <a:lstStyle/>
                    <a:p>
                      <a:r>
                        <a:rPr sz="1200">
                          <a:solidFill>
                            <a:srgbClr val="2D3436"/>
                          </a:solidFill>
                          <a:latin typeface="Calibri"/>
                        </a:rPr>
                        <a:t>Free for students</a:t>
                      </a:r>
                    </a:p>
                  </a:txBody>
                  <a:tcPr>
                    <a:solidFill>
                      <a:srgbClr val="DDEBF7"/>
                    </a:solidFill>
                  </a:tcPr>
                </a:tc>
              </a:tr>
              <a:tr h="480060">
                <a:tc>
                  <a:txBody>
                    <a:bodyPr/>
                    <a:lstStyle/>
                    <a:p>
                      <a:r>
                        <a:rPr sz="1200">
                          <a:solidFill>
                            <a:srgbClr val="2D3436"/>
                          </a:solidFill>
                          <a:latin typeface="Calibri"/>
                        </a:rPr>
                        <a:t>Cursor</a:t>
                      </a:r>
                    </a:p>
                  </a:txBody>
                  <a:tcPr>
                    <a:solidFill>
                      <a:srgbClr val="E2EFDA"/>
                    </a:solidFill>
                  </a:tcPr>
                </a:tc>
                <a:tc>
                  <a:txBody>
                    <a:bodyPr/>
                    <a:lstStyle/>
                    <a:p>
                      <a:r>
                        <a:rPr sz="1200">
                          <a:solidFill>
                            <a:srgbClr val="2D3436"/>
                          </a:solidFill>
                          <a:latin typeface="Calibri"/>
                        </a:rPr>
                        <a:t>AI-native IDE</a:t>
                      </a:r>
                    </a:p>
                  </a:txBody>
                  <a:tcPr>
                    <a:solidFill>
                      <a:srgbClr val="E2EFDA"/>
                    </a:solidFill>
                  </a:tcPr>
                </a:tc>
                <a:tc>
                  <a:txBody>
                    <a:bodyPr/>
                    <a:lstStyle/>
                    <a:p>
                      <a:r>
                        <a:rPr sz="1200">
                          <a:solidFill>
                            <a:srgbClr val="2D3436"/>
                          </a:solidFill>
                          <a:latin typeface="Calibri"/>
                        </a:rPr>
                        <a:t>Full-file editing, agents</a:t>
                      </a:r>
                    </a:p>
                  </a:txBody>
                  <a:tcPr>
                    <a:solidFill>
                      <a:srgbClr val="E2EFDA"/>
                    </a:solidFill>
                  </a:tcPr>
                </a:tc>
                <a:tc>
                  <a:txBody>
                    <a:bodyPr/>
                    <a:lstStyle/>
                    <a:p>
                      <a:r>
                        <a:rPr sz="1200">
                          <a:solidFill>
                            <a:srgbClr val="2D3436"/>
                          </a:solidFill>
                          <a:latin typeface="Calibri"/>
                        </a:rPr>
                        <a:t>Agentic coding workflows</a:t>
                      </a:r>
                    </a:p>
                  </a:txBody>
                  <a:tcPr>
                    <a:solidFill>
                      <a:srgbClr val="E2EFDA"/>
                    </a:solidFill>
                  </a:tcPr>
                </a:tc>
                <a:tc>
                  <a:txBody>
                    <a:bodyPr/>
                    <a:lstStyle/>
                    <a:p>
                      <a:r>
                        <a:rPr sz="1200">
                          <a:solidFill>
                            <a:srgbClr val="2D3436"/>
                          </a:solidFill>
                          <a:latin typeface="Calibri"/>
                        </a:rPr>
                        <a:t>$20/month</a:t>
                      </a:r>
                    </a:p>
                  </a:txBody>
                  <a:tcPr>
                    <a:solidFill>
                      <a:srgbClr val="E2EFDA"/>
                    </a:solidFill>
                  </a:tcPr>
                </a:tc>
              </a:tr>
              <a:tr h="480060">
                <a:tc>
                  <a:txBody>
                    <a:bodyPr/>
                    <a:lstStyle/>
                    <a:p>
                      <a:r>
                        <a:rPr sz="1200">
                          <a:solidFill>
                            <a:srgbClr val="2D3436"/>
                          </a:solidFill>
                          <a:latin typeface="Calibri"/>
                        </a:rPr>
                        <a:t>Claude (Anthropic)</a:t>
                      </a:r>
                    </a:p>
                  </a:txBody>
                  <a:tcPr>
                    <a:solidFill>
                      <a:srgbClr val="FCE4D6"/>
                    </a:solidFill>
                  </a:tcPr>
                </a:tc>
                <a:tc>
                  <a:txBody>
                    <a:bodyPr/>
                    <a:lstStyle/>
                    <a:p>
                      <a:r>
                        <a:rPr sz="1200">
                          <a:solidFill>
                            <a:srgbClr val="2D3436"/>
                          </a:solidFill>
                          <a:latin typeface="Calibri"/>
                        </a:rPr>
                        <a:t>Chat + code</a:t>
                      </a:r>
                    </a:p>
                  </a:txBody>
                  <a:tcPr>
                    <a:solidFill>
                      <a:srgbClr val="FCE4D6"/>
                    </a:solidFill>
                  </a:tcPr>
                </a:tc>
                <a:tc>
                  <a:txBody>
                    <a:bodyPr/>
                    <a:lstStyle/>
                    <a:p>
                      <a:r>
                        <a:rPr sz="1200">
                          <a:solidFill>
                            <a:srgbClr val="2D3436"/>
                          </a:solidFill>
                          <a:latin typeface="Calibri"/>
                        </a:rPr>
                        <a:t>Long context, reasoning</a:t>
                      </a:r>
                    </a:p>
                  </a:txBody>
                  <a:tcPr>
                    <a:solidFill>
                      <a:srgbClr val="FCE4D6"/>
                    </a:solidFill>
                  </a:tcPr>
                </a:tc>
                <a:tc>
                  <a:txBody>
                    <a:bodyPr/>
                    <a:lstStyle/>
                    <a:p>
                      <a:r>
                        <a:rPr sz="1200">
                          <a:solidFill>
                            <a:srgbClr val="2D3436"/>
                          </a:solidFill>
                          <a:latin typeface="Calibri"/>
                        </a:rPr>
                        <a:t>Architecture &amp; specs</a:t>
                      </a:r>
                    </a:p>
                  </a:txBody>
                  <a:tcPr>
                    <a:solidFill>
                      <a:srgbClr val="FCE4D6"/>
                    </a:solidFill>
                  </a:tcPr>
                </a:tc>
                <a:tc>
                  <a:txBody>
                    <a:bodyPr/>
                    <a:lstStyle/>
                    <a:p>
                      <a:r>
                        <a:rPr sz="1200">
                          <a:solidFill>
                            <a:srgbClr val="2D3436"/>
                          </a:solidFill>
                          <a:latin typeface="Calibri"/>
                        </a:rPr>
                        <a:t>Free tier available</a:t>
                      </a:r>
                    </a:p>
                  </a:txBody>
                  <a:tcPr>
                    <a:solidFill>
                      <a:srgbClr val="FCE4D6"/>
                    </a:solidFill>
                  </a:tcPr>
                </a:tc>
              </a:tr>
              <a:tr h="480060">
                <a:tc>
                  <a:txBody>
                    <a:bodyPr/>
                    <a:lstStyle/>
                    <a:p>
                      <a:r>
                        <a:rPr sz="1200">
                          <a:solidFill>
                            <a:srgbClr val="2D3436"/>
                          </a:solidFill>
                          <a:latin typeface="Calibri"/>
                        </a:rPr>
                        <a:t>ChatGPT (OpenAI)</a:t>
                      </a:r>
                    </a:p>
                  </a:txBody>
                  <a:tcPr>
                    <a:solidFill>
                      <a:srgbClr val="FFF2CC"/>
                    </a:solidFill>
                  </a:tcPr>
                </a:tc>
                <a:tc>
                  <a:txBody>
                    <a:bodyPr/>
                    <a:lstStyle/>
                    <a:p>
                      <a:r>
                        <a:rPr sz="1200">
                          <a:solidFill>
                            <a:srgbClr val="2D3436"/>
                          </a:solidFill>
                          <a:latin typeface="Calibri"/>
                        </a:rPr>
                        <a:t>Chat + code</a:t>
                      </a:r>
                    </a:p>
                  </a:txBody>
                  <a:tcPr>
                    <a:solidFill>
                      <a:srgbClr val="FFF2CC"/>
                    </a:solidFill>
                  </a:tcPr>
                </a:tc>
                <a:tc>
                  <a:txBody>
                    <a:bodyPr/>
                    <a:lstStyle/>
                    <a:p>
                      <a:r>
                        <a:rPr sz="1200">
                          <a:solidFill>
                            <a:srgbClr val="2D3436"/>
                          </a:solidFill>
                          <a:latin typeface="Calibri"/>
                        </a:rPr>
                        <a:t>Broad knowledge base</a:t>
                      </a:r>
                    </a:p>
                  </a:txBody>
                  <a:tcPr>
                    <a:solidFill>
                      <a:srgbClr val="FFF2CC"/>
                    </a:solidFill>
                  </a:tcPr>
                </a:tc>
                <a:tc>
                  <a:txBody>
                    <a:bodyPr/>
                    <a:lstStyle/>
                    <a:p>
                      <a:r>
                        <a:rPr sz="1200">
                          <a:solidFill>
                            <a:srgbClr val="2D3436"/>
                          </a:solidFill>
                          <a:latin typeface="Calibri"/>
                        </a:rPr>
                        <a:t>General-purpose coding</a:t>
                      </a:r>
                    </a:p>
                  </a:txBody>
                  <a:tcPr>
                    <a:solidFill>
                      <a:srgbClr val="FFF2CC"/>
                    </a:solidFill>
                  </a:tcPr>
                </a:tc>
                <a:tc>
                  <a:txBody>
                    <a:bodyPr/>
                    <a:lstStyle/>
                    <a:p>
                      <a:r>
                        <a:rPr sz="1200">
                          <a:solidFill>
                            <a:srgbClr val="2D3436"/>
                          </a:solidFill>
                          <a:latin typeface="Calibri"/>
                        </a:rPr>
                        <a:t>Free tier available</a:t>
                      </a:r>
                    </a:p>
                  </a:txBody>
                  <a:tcPr>
                    <a:solidFill>
                      <a:srgbClr val="FFF2CC"/>
                    </a:solidFill>
                  </a:tcPr>
                </a:tc>
              </a:tr>
              <a:tr h="480060">
                <a:tc>
                  <a:txBody>
                    <a:bodyPr/>
                    <a:lstStyle/>
                    <a:p>
                      <a:r>
                        <a:rPr sz="1200">
                          <a:solidFill>
                            <a:srgbClr val="2D3436"/>
                          </a:solidFill>
                          <a:latin typeface="Calibri"/>
                        </a:rPr>
                        <a:t>Windsurf</a:t>
                      </a:r>
                    </a:p>
                  </a:txBody>
                  <a:tcPr>
                    <a:solidFill>
                      <a:srgbClr val="EFE8F9"/>
                    </a:solidFill>
                  </a:tcPr>
                </a:tc>
                <a:tc>
                  <a:txBody>
                    <a:bodyPr/>
                    <a:lstStyle/>
                    <a:p>
                      <a:r>
                        <a:rPr sz="1200">
                          <a:solidFill>
                            <a:srgbClr val="2D3436"/>
                          </a:solidFill>
                          <a:latin typeface="Calibri"/>
                        </a:rPr>
                        <a:t>AI-native IDE</a:t>
                      </a:r>
                    </a:p>
                  </a:txBody>
                  <a:tcPr>
                    <a:solidFill>
                      <a:srgbClr val="EFE8F9"/>
                    </a:solidFill>
                  </a:tcPr>
                </a:tc>
                <a:tc>
                  <a:txBody>
                    <a:bodyPr/>
                    <a:lstStyle/>
                    <a:p>
                      <a:r>
                        <a:rPr sz="1200">
                          <a:solidFill>
                            <a:srgbClr val="2D3436"/>
                          </a:solidFill>
                          <a:latin typeface="Calibri"/>
                        </a:rPr>
                        <a:t>Cascade flows, agents</a:t>
                      </a:r>
                    </a:p>
                  </a:txBody>
                  <a:tcPr>
                    <a:solidFill>
                      <a:srgbClr val="EFE8F9"/>
                    </a:solidFill>
                  </a:tcPr>
                </a:tc>
                <a:tc>
                  <a:txBody>
                    <a:bodyPr/>
                    <a:lstStyle/>
                    <a:p>
                      <a:r>
                        <a:rPr sz="1200">
                          <a:solidFill>
                            <a:srgbClr val="2D3436"/>
                          </a:solidFill>
                          <a:latin typeface="Calibri"/>
                        </a:rPr>
                        <a:t>End-to-end development</a:t>
                      </a:r>
                    </a:p>
                  </a:txBody>
                  <a:tcPr>
                    <a:solidFill>
                      <a:srgbClr val="EFE8F9"/>
                    </a:solidFill>
                  </a:tcPr>
                </a:tc>
                <a:tc>
                  <a:txBody>
                    <a:bodyPr/>
                    <a:lstStyle/>
                    <a:p>
                      <a:r>
                        <a:rPr sz="1200">
                          <a:solidFill>
                            <a:srgbClr val="2D3436"/>
                          </a:solidFill>
                          <a:latin typeface="Calibri"/>
                        </a:rPr>
                        <a:t>$15/month</a:t>
                      </a:r>
                    </a:p>
                  </a:txBody>
                  <a:tcPr>
                    <a:solidFill>
                      <a:srgbClr val="EFE8F9"/>
                    </a:solidFill>
                  </a:tcPr>
                </a:tc>
              </a:tr>
              <a:tr h="480060">
                <a:tc>
                  <a:txBody>
                    <a:bodyPr/>
                    <a:lstStyle/>
                    <a:p>
                      <a:r>
                        <a:rPr sz="1200">
                          <a:solidFill>
                            <a:srgbClr val="2D3436"/>
                          </a:solidFill>
                          <a:latin typeface="Calibri"/>
                        </a:rPr>
                        <a:t>Amazon Q Dev</a:t>
                      </a:r>
                    </a:p>
                  </a:txBody>
                  <a:tcPr>
                    <a:solidFill>
                      <a:srgbClr val="E0F7FA"/>
                    </a:solidFill>
                  </a:tcPr>
                </a:tc>
                <a:tc>
                  <a:txBody>
                    <a:bodyPr/>
                    <a:lstStyle/>
                    <a:p>
                      <a:r>
                        <a:rPr sz="1200">
                          <a:solidFill>
                            <a:srgbClr val="2D3436"/>
                          </a:solidFill>
                          <a:latin typeface="Calibri"/>
                        </a:rPr>
                        <a:t>AWS integrated</a:t>
                      </a:r>
                    </a:p>
                  </a:txBody>
                  <a:tcPr>
                    <a:solidFill>
                      <a:srgbClr val="E0F7FA"/>
                    </a:solidFill>
                  </a:tcPr>
                </a:tc>
                <a:tc>
                  <a:txBody>
                    <a:bodyPr/>
                    <a:lstStyle/>
                    <a:p>
                      <a:r>
                        <a:rPr sz="1200">
                          <a:solidFill>
                            <a:srgbClr val="2D3436"/>
                          </a:solidFill>
                          <a:latin typeface="Calibri"/>
                        </a:rPr>
                        <a:t>Cloud-native dev</a:t>
                      </a:r>
                    </a:p>
                  </a:txBody>
                  <a:tcPr>
                    <a:solidFill>
                      <a:srgbClr val="E0F7FA"/>
                    </a:solidFill>
                  </a:tcPr>
                </a:tc>
                <a:tc>
                  <a:txBody>
                    <a:bodyPr/>
                    <a:lstStyle/>
                    <a:p>
                      <a:r>
                        <a:rPr sz="1200">
                          <a:solidFill>
                            <a:srgbClr val="2D3436"/>
                          </a:solidFill>
                          <a:latin typeface="Calibri"/>
                        </a:rPr>
                        <a:t>AWS infrastructure</a:t>
                      </a:r>
                    </a:p>
                  </a:txBody>
                  <a:tcPr>
                    <a:solidFill>
                      <a:srgbClr val="E0F7FA"/>
                    </a:solidFill>
                  </a:tcPr>
                </a:tc>
                <a:tc>
                  <a:txBody>
                    <a:bodyPr/>
                    <a:lstStyle/>
                    <a:p>
                      <a:r>
                        <a:rPr sz="1200">
                          <a:solidFill>
                            <a:srgbClr val="2D3436"/>
                          </a:solidFill>
                          <a:latin typeface="Calibri"/>
                        </a:rPr>
                        <a:t>Free tier available</a:t>
                      </a:r>
                    </a:p>
                  </a:txBody>
                  <a:tcPr>
                    <a:solidFill>
                      <a:srgbClr val="E0F7FA"/>
                    </a:solidFill>
                  </a:tcPr>
                </a:tc>
              </a:tr>
              <a:tr h="480060">
                <a:tc>
                  <a:txBody>
                    <a:bodyPr/>
                    <a:lstStyle/>
                    <a:p>
                      <a:r>
                        <a:rPr sz="1200">
                          <a:solidFill>
                            <a:srgbClr val="2D3436"/>
                          </a:solidFill>
                          <a:latin typeface="Calibri"/>
                        </a:rPr>
                        <a:t>Tabnine</a:t>
                      </a:r>
                    </a:p>
                  </a:txBody>
                  <a:tcPr>
                    <a:solidFill>
                      <a:srgbClr val="DDEBF7"/>
                    </a:solidFill>
                  </a:tcPr>
                </a:tc>
                <a:tc>
                  <a:txBody>
                    <a:bodyPr/>
                    <a:lstStyle/>
                    <a:p>
                      <a:r>
                        <a:rPr sz="1200">
                          <a:solidFill>
                            <a:srgbClr val="2D3436"/>
                          </a:solidFill>
                          <a:latin typeface="Calibri"/>
                        </a:rPr>
                        <a:t>Code completion</a:t>
                      </a:r>
                    </a:p>
                  </a:txBody>
                  <a:tcPr>
                    <a:solidFill>
                      <a:srgbClr val="DDEBF7"/>
                    </a:solidFill>
                  </a:tcPr>
                </a:tc>
                <a:tc>
                  <a:txBody>
                    <a:bodyPr/>
                    <a:lstStyle/>
                    <a:p>
                      <a:r>
                        <a:rPr sz="1200">
                          <a:solidFill>
                            <a:srgbClr val="2D3436"/>
                          </a:solidFill>
                          <a:latin typeface="Calibri"/>
                        </a:rPr>
                        <a:t>Privacy-focused</a:t>
                      </a:r>
                    </a:p>
                  </a:txBody>
                  <a:tcPr>
                    <a:solidFill>
                      <a:srgbClr val="DDEBF7"/>
                    </a:solidFill>
                  </a:tcPr>
                </a:tc>
                <a:tc>
                  <a:txBody>
                    <a:bodyPr/>
                    <a:lstStyle/>
                    <a:p>
                      <a:r>
                        <a:rPr sz="1200">
                          <a:solidFill>
                            <a:srgbClr val="2D3436"/>
                          </a:solidFill>
                          <a:latin typeface="Calibri"/>
                        </a:rPr>
                        <a:t>Enterprise, on-prem</a:t>
                      </a:r>
                    </a:p>
                  </a:txBody>
                  <a:tcPr>
                    <a:solidFill>
                      <a:srgbClr val="DDEBF7"/>
                    </a:solidFill>
                  </a:tcPr>
                </a:tc>
                <a:tc>
                  <a:txBody>
                    <a:bodyPr/>
                    <a:lstStyle/>
                    <a:p>
                      <a:r>
                        <a:rPr sz="1200">
                          <a:solidFill>
                            <a:srgbClr val="2D3436"/>
                          </a:solidFill>
                          <a:latin typeface="Calibri"/>
                        </a:rPr>
                        <a:t>Free tier available</a:t>
                      </a:r>
                    </a:p>
                  </a:txBody>
                  <a:tcPr>
                    <a:solidFill>
                      <a:srgbClr val="DDEBF7"/>
                    </a:solidFill>
                  </a:tcPr>
                </a:tc>
              </a:tr>
            </a:tbl>
          </a:graphicData>
        </a:graphic>
      </p:graphicFrame>
      <p:sp>
        <p:nvSpPr>
          <p:cNvPr id="7" name="TextBox 6"/>
          <p:cNvSpPr txBox="1"/>
          <p:nvPr/>
        </p:nvSpPr>
        <p:spPr>
          <a:xfrm>
            <a:off x="457200" y="5394960"/>
            <a:ext cx="10972800" cy="274320"/>
          </a:xfrm>
          <a:prstGeom prst="rect">
            <a:avLst/>
          </a:prstGeom>
          <a:noFill/>
        </p:spPr>
        <p:txBody>
          <a:bodyPr wrap="square">
            <a:spAutoFit/>
          </a:bodyPr>
          <a:lstStyle/>
          <a:p>
            <a:pPr algn="l"/>
            <a:r>
              <a:rPr sz="1400" b="1">
                <a:solidFill>
                  <a:srgbClr val="ED7D31"/>
                </a:solidFill>
                <a:latin typeface="Calibri"/>
              </a:rPr>
              <a:t>Selection Criteria</a:t>
            </a:r>
          </a:p>
        </p:txBody>
      </p:sp>
      <p:sp>
        <p:nvSpPr>
          <p:cNvPr id="8" name="TextBox 7"/>
          <p:cNvSpPr txBox="1"/>
          <p:nvPr/>
        </p:nvSpPr>
        <p:spPr>
          <a:xfrm>
            <a:off x="457200" y="5669280"/>
            <a:ext cx="10972800" cy="548640"/>
          </a:xfrm>
          <a:prstGeom prst="rect">
            <a:avLst/>
          </a:prstGeom>
          <a:noFill/>
        </p:spPr>
        <p:txBody>
          <a:bodyPr wrap="square">
            <a:spAutoFit/>
          </a:bodyPr>
          <a:lstStyle/>
          <a:p>
            <a:pPr>
              <a:lnSpc>
                <a:spcPct val="130000"/>
              </a:lnSpc>
              <a:spcAft>
                <a:spcPts val="800"/>
              </a:spcAft>
            </a:pPr>
            <a:r>
              <a:rPr sz="1200">
                <a:solidFill>
                  <a:srgbClr val="2D3436"/>
                </a:solidFill>
                <a:latin typeface="Calibri"/>
              </a:rPr>
              <a:t>• Consider: privacy policies, institutional licenses, student accessibility, language/framework support, and integration with existing workflows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Architecture Patterns for AI-Native Systems</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50</a:t>
            </a:r>
          </a:p>
        </p:txBody>
      </p:sp>
      <p:sp>
        <p:nvSpPr>
          <p:cNvPr id="5" name="TextBox 4"/>
          <p:cNvSpPr txBox="1"/>
          <p:nvPr/>
        </p:nvSpPr>
        <p:spPr>
          <a:xfrm>
            <a:off x="457200" y="1051560"/>
            <a:ext cx="10972800" cy="365760"/>
          </a:xfrm>
          <a:prstGeom prst="rect">
            <a:avLst/>
          </a:prstGeom>
          <a:noFill/>
        </p:spPr>
        <p:txBody>
          <a:bodyPr wrap="square">
            <a:spAutoFit/>
          </a:bodyPr>
          <a:lstStyle/>
          <a:p>
            <a:pPr algn="l"/>
            <a:r>
              <a:rPr sz="1600" b="1">
                <a:solidFill>
                  <a:srgbClr val="4472C4"/>
                </a:solidFill>
                <a:latin typeface="Calibri"/>
              </a:rPr>
              <a:t>Advanced Architecture Patterns</a:t>
            </a:r>
          </a:p>
        </p:txBody>
      </p:sp>
      <p:sp>
        <p:nvSpPr>
          <p:cNvPr id="6" name="Rounded Rectangle 5"/>
          <p:cNvSpPr/>
          <p:nvPr/>
        </p:nvSpPr>
        <p:spPr>
          <a:xfrm>
            <a:off x="457200" y="1508760"/>
            <a:ext cx="3566160" cy="39319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Event-Driven Architecture</a:t>
            </a:r>
          </a:p>
          <a:p>
            <a:pPr algn="l"/>
            <a:r>
              <a:rPr sz="1000" b="0">
                <a:solidFill>
                  <a:srgbClr val="2D3436"/>
                </a:solidFill>
                <a:latin typeface="Calibri"/>
              </a:rPr>
              <a:t/>
            </a:r>
          </a:p>
          <a:p>
            <a:pPr algn="l"/>
            <a:r>
              <a:rPr sz="1000" b="0">
                <a:solidFill>
                  <a:srgbClr val="2D3436"/>
                </a:solidFill>
                <a:latin typeface="Calibri"/>
              </a:rPr>
              <a:t>Components communicate via events</a:t>
            </a:r>
          </a:p>
          <a:p>
            <a:pPr algn="l"/>
            <a:r>
              <a:rPr sz="1000" b="0">
                <a:solidFill>
                  <a:srgbClr val="2D3436"/>
                </a:solidFill>
                <a:latin typeface="Calibri"/>
              </a:rPr>
              <a:t/>
            </a:r>
          </a:p>
          <a:p>
            <a:pPr algn="l"/>
            <a:r>
              <a:rPr sz="1000" b="0">
                <a:solidFill>
                  <a:srgbClr val="2D3436"/>
                </a:solidFill>
                <a:latin typeface="Calibri"/>
              </a:rPr>
              <a:t>Producer -&gt; Event Bus -&gt; Consumer</a:t>
            </a:r>
          </a:p>
          <a:p>
            <a:pPr algn="l"/>
            <a:r>
              <a:rPr sz="1000" b="0">
                <a:solidFill>
                  <a:srgbClr val="2D3436"/>
                </a:solidFill>
                <a:latin typeface="Calibri"/>
              </a:rPr>
              <a:t/>
            </a:r>
          </a:p>
          <a:p>
            <a:pPr algn="l"/>
            <a:r>
              <a:rPr sz="1000" b="0">
                <a:solidFill>
                  <a:srgbClr val="2D3436"/>
                </a:solidFill>
                <a:latin typeface="Calibri"/>
              </a:rPr>
              <a:t>Benefits:</a:t>
            </a:r>
          </a:p>
          <a:p>
            <a:pPr algn="l"/>
            <a:r>
              <a:rPr sz="1000" b="0">
                <a:solidFill>
                  <a:srgbClr val="2D3436"/>
                </a:solidFill>
                <a:latin typeface="Calibri"/>
              </a:rPr>
              <a:t>  Loose coupling between services</a:t>
            </a:r>
          </a:p>
          <a:p>
            <a:pPr algn="l"/>
            <a:r>
              <a:rPr sz="1000" b="0">
                <a:solidFill>
                  <a:srgbClr val="2D3436"/>
                </a:solidFill>
                <a:latin typeface="Calibri"/>
              </a:rPr>
              <a:t>  Scalable and resilient</a:t>
            </a:r>
          </a:p>
          <a:p>
            <a:pPr algn="l"/>
            <a:r>
              <a:rPr sz="1000" b="0">
                <a:solidFill>
                  <a:srgbClr val="2D3436"/>
                </a:solidFill>
                <a:latin typeface="Calibri"/>
              </a:rPr>
              <a:t>  Natural fit for async workflows</a:t>
            </a:r>
          </a:p>
        </p:txBody>
      </p:sp>
      <p:sp>
        <p:nvSpPr>
          <p:cNvPr id="7" name="Rounded Rectangle 6"/>
          <p:cNvSpPr/>
          <p:nvPr/>
        </p:nvSpPr>
        <p:spPr>
          <a:xfrm>
            <a:off x="4297680" y="1508760"/>
            <a:ext cx="3566160" cy="39319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CQRS (Command Query</a:t>
            </a:r>
          </a:p>
          <a:p>
            <a:pPr algn="l"/>
            <a:r>
              <a:rPr sz="1000" b="0">
                <a:solidFill>
                  <a:srgbClr val="2D3436"/>
                </a:solidFill>
                <a:latin typeface="Calibri"/>
              </a:rPr>
              <a:t>Responsibility Segregation)</a:t>
            </a:r>
          </a:p>
          <a:p>
            <a:pPr algn="l"/>
            <a:r>
              <a:rPr sz="1000" b="0">
                <a:solidFill>
                  <a:srgbClr val="2D3436"/>
                </a:solidFill>
                <a:latin typeface="Calibri"/>
              </a:rPr>
              <a:t/>
            </a:r>
          </a:p>
          <a:p>
            <a:pPr algn="l"/>
            <a:r>
              <a:rPr sz="1000" b="0">
                <a:solidFill>
                  <a:srgbClr val="2D3436"/>
                </a:solidFill>
                <a:latin typeface="Calibri"/>
              </a:rPr>
              <a:t>Separate read and write models</a:t>
            </a:r>
          </a:p>
          <a:p>
            <a:pPr algn="l"/>
            <a:r>
              <a:rPr sz="1000" b="0">
                <a:solidFill>
                  <a:srgbClr val="2D3436"/>
                </a:solidFill>
                <a:latin typeface="Calibri"/>
              </a:rPr>
              <a:t/>
            </a:r>
          </a:p>
          <a:p>
            <a:pPr algn="l"/>
            <a:r>
              <a:rPr sz="1000" b="0">
                <a:solidFill>
                  <a:srgbClr val="2D3436"/>
                </a:solidFill>
                <a:latin typeface="Calibri"/>
              </a:rPr>
              <a:t>Commands -&gt; Write Model</a:t>
            </a:r>
          </a:p>
          <a:p>
            <a:pPr algn="l"/>
            <a:r>
              <a:rPr sz="1000" b="0">
                <a:solidFill>
                  <a:srgbClr val="2D3436"/>
                </a:solidFill>
                <a:latin typeface="Calibri"/>
              </a:rPr>
              <a:t>Queries  -&gt; Read Model</a:t>
            </a:r>
          </a:p>
          <a:p>
            <a:pPr algn="l"/>
            <a:r>
              <a:rPr sz="1000" b="0">
                <a:solidFill>
                  <a:srgbClr val="2D3436"/>
                </a:solidFill>
                <a:latin typeface="Calibri"/>
              </a:rPr>
              <a:t/>
            </a:r>
          </a:p>
          <a:p>
            <a:pPr algn="l"/>
            <a:r>
              <a:rPr sz="1000" b="0">
                <a:solidFill>
                  <a:srgbClr val="2D3436"/>
                </a:solidFill>
                <a:latin typeface="Calibri"/>
              </a:rPr>
              <a:t>Benefits:</a:t>
            </a:r>
          </a:p>
          <a:p>
            <a:pPr algn="l"/>
            <a:r>
              <a:rPr sz="1000" b="0">
                <a:solidFill>
                  <a:srgbClr val="2D3436"/>
                </a:solidFill>
                <a:latin typeface="Calibri"/>
              </a:rPr>
              <a:t>  Optimized read/write paths</a:t>
            </a:r>
          </a:p>
          <a:p>
            <a:pPr algn="l"/>
            <a:r>
              <a:rPr sz="1000" b="0">
                <a:solidFill>
                  <a:srgbClr val="2D3436"/>
                </a:solidFill>
                <a:latin typeface="Calibri"/>
              </a:rPr>
              <a:t>  Better scalability</a:t>
            </a:r>
          </a:p>
          <a:p>
            <a:pPr algn="l"/>
            <a:r>
              <a:rPr sz="1000" b="0">
                <a:solidFill>
                  <a:srgbClr val="2D3436"/>
                </a:solidFill>
                <a:latin typeface="Calibri"/>
              </a:rPr>
              <a:t>  Clearer domain model</a:t>
            </a:r>
          </a:p>
        </p:txBody>
      </p:sp>
      <p:sp>
        <p:nvSpPr>
          <p:cNvPr id="8" name="Rounded Rectangle 7"/>
          <p:cNvSpPr/>
          <p:nvPr/>
        </p:nvSpPr>
        <p:spPr>
          <a:xfrm>
            <a:off x="8138160" y="1508760"/>
            <a:ext cx="3566160" cy="393192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Hexagonal Architecture</a:t>
            </a:r>
          </a:p>
          <a:p>
            <a:pPr algn="l"/>
            <a:r>
              <a:rPr sz="1000" b="0">
                <a:solidFill>
                  <a:srgbClr val="2D3436"/>
                </a:solidFill>
                <a:latin typeface="Calibri"/>
              </a:rPr>
              <a:t>(Ports &amp; Adapters)</a:t>
            </a:r>
          </a:p>
          <a:p>
            <a:pPr algn="l"/>
            <a:r>
              <a:rPr sz="1000" b="0">
                <a:solidFill>
                  <a:srgbClr val="2D3436"/>
                </a:solidFill>
                <a:latin typeface="Calibri"/>
              </a:rPr>
              <a:t/>
            </a:r>
          </a:p>
          <a:p>
            <a:pPr algn="l"/>
            <a:r>
              <a:rPr sz="1000" b="0">
                <a:solidFill>
                  <a:srgbClr val="2D3436"/>
                </a:solidFill>
                <a:latin typeface="Calibri"/>
              </a:rPr>
              <a:t>Core logic isolated from I/O</a:t>
            </a:r>
          </a:p>
          <a:p>
            <a:pPr algn="l"/>
            <a:r>
              <a:rPr sz="1000" b="0">
                <a:solidFill>
                  <a:srgbClr val="2D3436"/>
                </a:solidFill>
                <a:latin typeface="Calibri"/>
              </a:rPr>
              <a:t/>
            </a:r>
          </a:p>
          <a:p>
            <a:pPr algn="l"/>
            <a:r>
              <a:rPr sz="1000" b="0">
                <a:solidFill>
                  <a:srgbClr val="2D3436"/>
                </a:solidFill>
                <a:latin typeface="Calibri"/>
              </a:rPr>
              <a:t>Adapters -&gt; Ports -&gt; Core</a:t>
            </a:r>
          </a:p>
          <a:p>
            <a:pPr algn="l"/>
            <a:r>
              <a:rPr sz="1000" b="0">
                <a:solidFill>
                  <a:srgbClr val="2D3436"/>
                </a:solidFill>
                <a:latin typeface="Calibri"/>
              </a:rPr>
              <a:t/>
            </a:r>
          </a:p>
          <a:p>
            <a:pPr algn="l"/>
            <a:r>
              <a:rPr sz="1000" b="0">
                <a:solidFill>
                  <a:srgbClr val="2D3436"/>
                </a:solidFill>
                <a:latin typeface="Calibri"/>
              </a:rPr>
              <a:t>Benefits:</a:t>
            </a:r>
          </a:p>
          <a:p>
            <a:pPr algn="l"/>
            <a:r>
              <a:rPr sz="1000" b="0">
                <a:solidFill>
                  <a:srgbClr val="2D3436"/>
                </a:solidFill>
                <a:latin typeface="Calibri"/>
              </a:rPr>
              <a:t>  Testable business logic</a:t>
            </a:r>
          </a:p>
          <a:p>
            <a:pPr algn="l"/>
            <a:r>
              <a:rPr sz="1000" b="0">
                <a:solidFill>
                  <a:srgbClr val="2D3436"/>
                </a:solidFill>
                <a:latin typeface="Calibri"/>
              </a:rPr>
              <a:t>  Swappable infrastructure</a:t>
            </a:r>
          </a:p>
          <a:p>
            <a:pPr algn="l"/>
            <a:r>
              <a:rPr sz="1000" b="0">
                <a:solidFill>
                  <a:srgbClr val="2D3436"/>
                </a:solidFill>
                <a:latin typeface="Calibri"/>
              </a:rPr>
              <a:t>  AI generates adapters easily</a:t>
            </a:r>
          </a:p>
        </p:txBody>
      </p:sp>
      <p:sp>
        <p:nvSpPr>
          <p:cNvPr id="9" name="Rounded Rectangle 8"/>
          <p:cNvSpPr/>
          <p:nvPr/>
        </p:nvSpPr>
        <p:spPr>
          <a:xfrm>
            <a:off x="457200" y="5623560"/>
            <a:ext cx="11247120" cy="4572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Pattern Selection:  Event-Driven for microservices  |  CQRS for read-heavy systems  |  Hexagonal for testable, maintainable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