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14: Architecture Design with AI Assistance</a:t>
            </a:r>
          </a:p>
          <a:p>
            <a:r>
              <a:t>-------------------------------------------------------------------</a:t>
            </a:r>
          </a:p>
          <a:p>
            <a:r>
              <a:t>This slide introduces how AI transforms the architecture decision process.</a:t>
            </a:r>
          </a:p>
          <a:p/>
          <a:p>
            <a:r>
              <a:t>1. HOW AI PROPOSES ARCHITECTURE:</a:t>
            </a:r>
          </a:p>
          <a:p>
            <a:r>
              <a:t>   - Feed your requirements specification into the AI (functional reqs, NFRs, constraints)</a:t>
            </a:r>
          </a:p>
          <a:p>
            <a:r>
              <a:t>   - Ask it to propose 2-3 architecture options with trade-offs</a:t>
            </a:r>
          </a:p>
          <a:p>
            <a:r>
              <a:t>   - AI considers factors like team size, deployment target, scale requirements, budget</a:t>
            </a:r>
          </a:p>
          <a:p>
            <a:r>
              <a:t>   - Example prompt: "Given these requirements for a Task Management API serving 1000 users, propose three architecture options with trade-offs"</a:t>
            </a:r>
          </a:p>
          <a:p/>
          <a:p>
            <a:r>
              <a:t>2. THE DECISION MATRIX:</a:t>
            </a:r>
          </a:p>
          <a:p>
            <a:r>
              <a:t>   - Walk through each row comparing Monolith, Microservices, and Serverless</a:t>
            </a:r>
          </a:p>
          <a:p>
            <a:r>
              <a:t>   - Complexity: Monoliths are simpler to build and deploy initially</a:t>
            </a:r>
          </a:p>
          <a:p>
            <a:r>
              <a:t>   - Scalability: Microservices scale independently; serverless auto-scales</a:t>
            </a:r>
          </a:p>
          <a:p>
            <a:r>
              <a:t>   - Team Size: Microservices need larger teams due to operational overhead</a:t>
            </a:r>
          </a:p>
          <a:p/>
          <a:p>
            <a:r>
              <a:t>3. WHEN TO OVERRIDE AI SUGGESTIONS:</a:t>
            </a:r>
          </a:p>
          <a:p>
            <a:r>
              <a:t>   - AI may recommend microservices because it is trained on large-scale examples</a:t>
            </a:r>
          </a:p>
          <a:p>
            <a:r>
              <a:t>   - For a teaching context or small team, a monolith is almost always the right starting point</a:t>
            </a:r>
          </a:p>
          <a:p/>
          <a:p>
            <a:r>
              <a:t>4. ARCHITECTURE DECISION RECORDS (ADRs):</a:t>
            </a:r>
          </a:p>
          <a:p>
            <a:r>
              <a:t>   - ADRs document the WHY behind architecture decisions</a:t>
            </a:r>
          </a:p>
          <a:p>
            <a:r>
              <a:t>   - Template: Title, Status, Context, Decision, Consequences</a:t>
            </a:r>
          </a:p>
          <a:p>
            <a:r>
              <a:t>   - AI can generate ADRs from a conversation about trade-offs</a:t>
            </a:r>
          </a:p>
          <a:p/>
          <a:p>
            <a:r>
              <a:t>5. OUR RECOMMENDATION:</a:t>
            </a:r>
          </a:p>
          <a:p>
            <a:r>
              <a:t>   - For the Task Management API, we choose a Modular Monolith</a:t>
            </a:r>
          </a:p>
          <a:p>
            <a:r>
              <a:t>   - Simple to start, clear module boundaries, can be split later</a:t>
            </a:r>
          </a:p>
          <a:p/>
          <a:p>
            <a:r>
              <a:t>DISCUSSION: Ask faculty what architecture they would choose for a student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15: System Architecture Block Diagram</a:t>
            </a:r>
          </a:p>
          <a:p>
            <a:r>
              <a:t>--------------------------------------------------------------</a:t>
            </a:r>
          </a:p>
          <a:p>
            <a:r>
              <a:t>This slide presents the layered architecture for our Task Management API. Walk through each layer:</a:t>
            </a:r>
          </a:p>
          <a:p/>
          <a:p>
            <a:r>
              <a:t>1. PRESENTATION LAYER (Client): The consumer of our API -- could be web frontend, mobile app, or other services.</a:t>
            </a:r>
          </a:p>
          <a:p/>
          <a:p>
            <a:r>
              <a:t>2. GATEWAY LAYER (API Gateway / Auth): All requests pass through authentication middleware first. JWT token validation happens here. Rate limiting, logging, CORS handled at this layer.</a:t>
            </a:r>
          </a:p>
          <a:p/>
          <a:p>
            <a:r>
              <a:t>3. BUSINESS LOGIC LAYER (Services): Task Service handles CRUD operations. User Service handles auth, profiles, roles. Separate modules within our modular monolith.</a:t>
            </a:r>
          </a:p>
          <a:p/>
          <a:p>
            <a:r>
              <a:t>4. DATA LAYER: PostgreSQL for primary storage with ACID transactions. Redis for caching frequently read data.</a:t>
            </a:r>
          </a:p>
          <a:p/>
          <a:p>
            <a:r>
              <a:t>5. DESIGN RATIONALE (right cards): Walk through each rationale card and explain WHY this architecture was chosen.</a:t>
            </a:r>
          </a:p>
          <a:p/>
          <a:p>
            <a:r>
              <a:t>HOW AI HELPED: Prompted AI with functional requirements and NFRs. AI proposed this layered architecture with rationale. We validated against constraints (small team, moderate scale).</a:t>
            </a:r>
          </a:p>
          <a:p/>
          <a:p>
            <a:r>
              <a:t>DISCUSSION: Ask participants which layer they think is most important to get right. Answer: the interfaces between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16: UML Class Diagram - Domain Model</a:t>
            </a:r>
          </a:p>
          <a:p>
            <a:r>
              <a:t>-------------------------------------------------------------</a:t>
            </a:r>
          </a:p>
          <a:p>
            <a:r>
              <a:t>Walk through each entity:</a:t>
            </a:r>
          </a:p>
          <a:p/>
          <a:p>
            <a:r>
              <a:t>1. TASK ENTITY: Central entity. UUID primary key. title/description for content. status and priority as enums with validated transitions. assigneeId and categoryId as foreign keys. Audit timestamps.</a:t>
            </a:r>
          </a:p>
          <a:p/>
          <a:p>
            <a:r>
              <a:t>2. USER ENTITY: email has UNIQUE constraint. role is ENUM (ADMIN, MEMBER, VIEWER). Password hash NOT in this table for security.</a:t>
            </a:r>
          </a:p>
          <a:p/>
          <a:p>
            <a:r>
              <a:t>3. CATEGORY ENTITY: Simple grouping mechanism for tasks. Separate table because categories are reusable entities.</a:t>
            </a:r>
          </a:p>
          <a:p/>
          <a:p>
            <a:r>
              <a:t>4. COMMENT ENTITY: Links tasks and users for collaboration. Both task_id and user_id are foreign keys.</a:t>
            </a:r>
          </a:p>
          <a:p/>
          <a:p>
            <a:r>
              <a:t>5. RELATIONSHIPS: Task to User is many-to-one. Task to Category is many-to-one. Task to Comment is one-to-many.</a:t>
            </a:r>
          </a:p>
          <a:p/>
          <a:p>
            <a:r>
              <a:t>HOW AI GENERATES CLASS DIAGRAMS:</a:t>
            </a:r>
          </a:p>
          <a:p>
            <a:r>
              <a:t>   - Provide natural language description of your domain</a:t>
            </a:r>
          </a:p>
          <a:p>
            <a:r>
              <a:t>   - AI proposes entities, attributes, and relationships</a:t>
            </a:r>
          </a:p>
          <a:p>
            <a:r>
              <a:t>   - Human reviews for correctness, validates cardinality</a:t>
            </a:r>
          </a:p>
          <a:p>
            <a:r>
              <a:t>   - AI can output PlantUML, Mermaid, or direct code</a:t>
            </a:r>
          </a:p>
          <a:p/>
          <a:p>
            <a:r>
              <a:t>DISCUSSION: Ask participants to identify a missing entity. Example: task attachments? task history/audit log?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17: UML Sequence Diagram - Create Task Flow</a:t>
            </a:r>
          </a:p>
          <a:p>
            <a:r>
              <a:t>--------------------------------------------------------------------</a:t>
            </a:r>
          </a:p>
          <a:p>
            <a:r>
              <a:t>Walk through each message in order:</a:t>
            </a:r>
          </a:p>
          <a:p/>
          <a:p>
            <a:r>
              <a:t>1. POST /api/tasks (Client -&gt; API Gateway): HTTP POST with task data. Authorization: Bearer JWT in header.</a:t>
            </a:r>
          </a:p>
          <a:p/>
          <a:p>
            <a:r>
              <a:t>2. validateToken() (API Gateway self-call): Validates JWT token. Checks token not expired, signature valid, user has CREATE permission. If fails: 401 Unauthorized.</a:t>
            </a:r>
          </a:p>
          <a:p/>
          <a:p>
            <a:r>
              <a:t>3. createTask(dto) (API Gateway -&gt; Task Service): Forwards validated request using DTO. Strips fields user should not set (id, createdAt).</a:t>
            </a:r>
          </a:p>
          <a:p/>
          <a:p>
            <a:r>
              <a:t>4. validate &amp; INSERT (Task Service -&gt; Database): Validates business rules: title required, valid status, assignee exists. Executes INSERT. Database enforces FK constraints.</a:t>
            </a:r>
          </a:p>
          <a:p/>
          <a:p>
            <a:r>
              <a:t>5. return taskId (Database -&gt; Task Service): Returns generated UUID for new task.</a:t>
            </a:r>
          </a:p>
          <a:p/>
          <a:p>
            <a:r>
              <a:t>6. 201 Created (Task Service -&gt; Client): Response includes created task with ID. HTTP 201 indicates new resource created.</a:t>
            </a:r>
          </a:p>
          <a:p/>
          <a:p>
            <a:r>
              <a:t>WHY SEQUENCE DIAGRAMS MATTER:</a:t>
            </a:r>
          </a:p>
          <a:p>
            <a:r>
              <a:t>   - Reveal runtime behavior that class diagrams cannot show</a:t>
            </a:r>
          </a:p>
          <a:p>
            <a:r>
              <a:t>   - Help identify performance bottlenecks</a:t>
            </a:r>
          </a:p>
          <a:p>
            <a:r>
              <a:t>   - Expose error handling gaps</a:t>
            </a:r>
          </a:p>
          <a:p/>
          <a:p>
            <a:r>
              <a:t>EXERCISE PREVIEW: Participants will ask AI to generate a sequence diagram for "Update Task Status"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18: API Contract-First Design</a:t>
            </a:r>
          </a:p>
          <a:p>
            <a:r>
              <a:t>------------------------------------------------------</a:t>
            </a:r>
          </a:p>
          <a:p>
            <a:r>
              <a:t>Contract-first API design using OpenAPI is a cornerstone of AI-native development.</a:t>
            </a:r>
          </a:p>
          <a:p/>
          <a:p>
            <a:r>
              <a:t>1. WHAT IS CONTRACT-FIRST? Define the API contract FIRST, then generate code. The OpenAPI spec describes every endpoint, schema, status code.</a:t>
            </a:r>
          </a:p>
          <a:p/>
          <a:p>
            <a:r>
              <a:t>2. WALK THROUGH THE OPENAPI SNIPPET: paths, HTTP method, requestBody, responses, $ref for reusable schemas.</a:t>
            </a:r>
          </a:p>
          <a:p/>
          <a:p>
            <a:r>
              <a:t>3. BENEFITS: Parallel development (frontend mocks from spec), auto-generated docs, contract tests, breaking change detection, client SDK generation.</a:t>
            </a:r>
          </a:p>
          <a:p/>
          <a:p>
            <a:r>
              <a:t>4. WORKFLOW (bottom flow): Write spec -&gt; Review -&gt; Generate stubs -&gt; Implement logic -&gt; Contract tests.</a:t>
            </a:r>
          </a:p>
          <a:p/>
          <a:p>
            <a:r>
              <a:t>5. HOW AI HELPS: AI generates entire OpenAPI spec from requirements. AI validates spec for consistency. AI generates mock data from schemas. Always review: AI may generate overly permissive schemas.</a:t>
            </a:r>
          </a:p>
          <a:p/>
          <a:p>
            <a:r>
              <a:t>TOOLS: Swagger Editor, Stoplight Studio, Spectral (linting), Prism (mock server).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19: Data Model Design</a:t>
            </a:r>
          </a:p>
          <a:p>
            <a:r>
              <a:t>----------------------------------------------</a:t>
            </a:r>
          </a:p>
          <a:p>
            <a:r>
              <a:t>Walk through each table and design decisions:</a:t>
            </a:r>
          </a:p>
          <a:p/>
          <a:p>
            <a:r>
              <a:t>1. TASKS TABLE: UUID primary key (globally unique, better for distributed systems). Status/priority as ENUMs enforced at DB level. FK to users and categories.</a:t>
            </a:r>
          </a:p>
          <a:p/>
          <a:p>
            <a:r>
              <a:t>2. USERS TABLE: Email UNIQUE constraint. Password hash NOT in this table (separate auth table for security).</a:t>
            </a:r>
          </a:p>
          <a:p/>
          <a:p>
            <a:r>
              <a:t>3. CATEGORIES TABLE: Simple lookup table. Separate table because categories are reusable entities.</a:t>
            </a:r>
          </a:p>
          <a:p/>
          <a:p>
            <a:r>
              <a:t>4. COMMENTS TABLE: Links tasks and users. Both FKs ensure referential integrity.</a:t>
            </a:r>
          </a:p>
          <a:p/>
          <a:p>
            <a:r>
              <a:t>KEY DESIGN PRINCIPLES:</a:t>
            </a:r>
          </a:p>
          <a:p>
            <a:r>
              <a:t>- NORMALIZATION: 3NF to reduce redundancy</a:t>
            </a:r>
          </a:p>
          <a:p>
            <a:r>
              <a:t>- CONSTRAINTS: Let the database enforce business rules</a:t>
            </a:r>
          </a:p>
          <a:p>
            <a:r>
              <a:t>- INDEXING: FK columns and common query columns</a:t>
            </a:r>
          </a:p>
          <a:p>
            <a:r>
              <a:t>- AUDIT FIELDS: created_at, updated_at on every table</a:t>
            </a:r>
          </a:p>
          <a:p>
            <a:r>
              <a:t>- SOFT DELETES: deleted_at instead of permanent removal</a:t>
            </a:r>
          </a:p>
          <a:p/>
          <a:p>
            <a:r>
              <a:t>HOW AI HELPS: Generates CREATE TABLE statements, suggests indexes, generates migration scripts. Always review: AI may miss unique constraints or incorrect FK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20: AI Code Generation Workflow</a:t>
            </a:r>
          </a:p>
          <a:p>
            <a:r>
              <a:t>--------------------------------------------------------</a:t>
            </a:r>
          </a:p>
          <a:p>
            <a:r>
              <a:t>Disciplined workflow for generating code with AI. This is where many teams go wrong.</a:t>
            </a:r>
          </a:p>
          <a:p/>
          <a:p>
            <a:r>
              <a:t>1. WORKFLOW: Approved Spec -&gt; Prompt Construction -&gt; AI Generation -&gt; Human Review -&gt; Refactor -&gt; Commit.</a:t>
            </a:r>
          </a:p>
          <a:p/>
          <a:p>
            <a:r>
              <a:t>2. BEST PRACTICES:</a:t>
            </a:r>
          </a:p>
          <a:p>
            <a:r>
              <a:t>   - ONE COMPONENT AT A TIME: Generate controller, then service, then repository, reviewing each.</a:t>
            </a:r>
          </a:p>
          <a:p>
            <a:r>
              <a:t>   - REVIEW BEFORE NEXT: If the service layer has a bug, generating the controller on top compounds the error.</a:t>
            </a:r>
          </a:p>
          <a:p>
            <a:r>
              <a:t>   - PROMPTS TIED TO SPECS: "Implement FR-3 from task-management.spec.yaml" is better than generic requests.</a:t>
            </a:r>
          </a:p>
          <a:p>
            <a:r>
              <a:t>   - COMMIT FREQUENTLY: Working increments create rollback points.</a:t>
            </a:r>
          </a:p>
          <a:p>
            <a:r>
              <a:t>   - NEVER SKIP REVIEW: AI makes subtle errors -- off-by-one, incorrect null handling, wrong status codes.</a:t>
            </a:r>
          </a:p>
          <a:p/>
          <a:p>
            <a:r>
              <a:t>3. SAMPLE PROMPT: Walk through each section -- Context, Spec file, Layer, Component, numbered requirements, tech stack, convention reference.</a:t>
            </a:r>
          </a:p>
          <a:p/>
          <a:p>
            <a:r>
              <a:t>4. ANTI-PATTERN: "Build me a task management API" produces a monolithic blob that is hard to review. Decompose into 10-15 focused generation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21: Code Review in AI-Native Development</a:t>
            </a:r>
          </a:p>
          <a:p>
            <a:r>
              <a:t>-----------------------------------------------------------------</a:t>
            </a:r>
          </a:p>
          <a:p>
            <a:r>
              <a:t>Code review becomes MORE important when code is AI-generated.</a:t>
            </a:r>
          </a:p>
          <a:p/>
          <a:p>
            <a:r>
              <a:t>LEFT COLUMN -- WHAT TO REVIEW:</a:t>
            </a:r>
          </a:p>
          <a:p>
            <a:r>
              <a:t>1. SPEC COMPLIANCE: Does generated code implement what the specification says? AI may add extra features or miss edge cases.</a:t>
            </a:r>
          </a:p>
          <a:p>
            <a:r>
              <a:t>2. BUSINESS RULES: Domain-specific rules correctly implemented? "Only ADMIN can delete" -- is this enforced?</a:t>
            </a:r>
          </a:p>
          <a:p>
            <a:r>
              <a:t>3. ERROR HANDLING: All error cases handled? AI tends to generate optimistic code.</a:t>
            </a:r>
          </a:p>
          <a:p>
            <a:r>
              <a:t>4. NAMING &amp; STYLE: Follows project naming conventions?</a:t>
            </a:r>
          </a:p>
          <a:p>
            <a:r>
              <a:t>5. SECURITY: Authentication enforced? Input validated? Sensitive data excluded from responses?</a:t>
            </a:r>
          </a:p>
          <a:p>
            <a:r>
              <a:t>6. TEST COVERAGE: Tests actually testing business logic, not just trivially asserting?</a:t>
            </a:r>
          </a:p>
          <a:p/>
          <a:p>
            <a:r>
              <a:t>RIGHT COLUMN -- REVIEW WORKFLOW: AI generates -&gt; Static analysis -&gt; AI-assisted review -&gt; Human review -&gt; Approve/Reject. The final decision is always human.</a:t>
            </a:r>
          </a:p>
          <a:p/>
          <a:p>
            <a:r>
              <a:t>KEY INSIGHT: Review the spec first. In AI-native development, 60% of review effort on specifications, 40% 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22: Refactoring AI-Generated Code</a:t>
            </a:r>
          </a:p>
          <a:p>
            <a:r>
              <a:t>-----------------------------------------------------------</a:t>
            </a:r>
          </a:p>
          <a:p>
            <a:r>
              <a:t>AI-generated code almost always needs refactoring.</a:t>
            </a:r>
          </a:p>
          <a:p/>
          <a:p>
            <a:r>
              <a:t>LEFT COLUMN -- COMMON ISSUES:</a:t>
            </a:r>
          </a:p>
          <a:p>
            <a:r>
              <a:t>1. DUPLICATION: Each prompt is independent so AI duplicates validation, error handling, utility functions.</a:t>
            </a:r>
          </a:p>
          <a:p>
            <a:r>
              <a:t>2. UNCLEAR NAMING: Generic variable names (data, result, response). Should be specific (task, userProfile).</a:t>
            </a:r>
          </a:p>
          <a:p>
            <a:r>
              <a:t>3. MISSING ERROR BOUNDARIES: AI generates happy path but skips error handling.</a:t>
            </a:r>
          </a:p>
          <a:p>
            <a:r>
              <a:t>4. OVER-ENGINEERING: AI sometimes applies unnecessary design patterns. Simplicity is a feature.</a:t>
            </a:r>
          </a:p>
          <a:p>
            <a:r>
              <a:t>5. HARDCODED VALUES: Database URLs, port numbers, API keys embedded directly in code.</a:t>
            </a:r>
          </a:p>
          <a:p/>
          <a:p>
            <a:r>
              <a:t>RIGHT COLUMN -- REFACTORING STRATEGIES:</a:t>
            </a:r>
          </a:p>
          <a:p>
            <a:r>
              <a:t>1. EXTRACT SERVICES: One service per domain entity.</a:t>
            </a:r>
          </a:p>
          <a:p>
            <a:r>
              <a:t>2. APPLY CONVENTIONS: Systematic renaming.</a:t>
            </a:r>
          </a:p>
          <a:p>
            <a:r>
              <a:t>3. ADD ERROR HANDLING: Try-catch around DB calls, proper HTTP status codes.</a:t>
            </a:r>
          </a:p>
          <a:p>
            <a:r>
              <a:t>4. SIMPLIFY: Remove unnecessary abstractions.</a:t>
            </a:r>
          </a:p>
          <a:p>
            <a:r>
              <a:t>5. USE CONFIGURATION: Environment variables for env-specific values.</a:t>
            </a:r>
          </a:p>
          <a:p/>
          <a:p>
            <a:r>
              <a:t>BOTTOM EXAMPLE: Walk through before/after. Before: flat handler with no layers. After: layered architecture with middleware.</a:t>
            </a:r>
          </a:p>
          <a:p/>
          <a:p>
            <a:r>
              <a:t>PRACTICAL TIP: Ask AI to review its own output: "Review this code for duplication, naming issues, missing error handling." AI is good at reviewing when specifically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Architecture Design with AI Assistance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Calibri"/>
              </a:rPr>
              <a:t>AI-Assisted Architecture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AI proposes architecture options based on requirements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Evaluate trade-offs: simplicity vs scalability, monolith vs microservices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Generate Architecture Decision Records (ADRs) automatically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Humans validate and approve all design decisions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AI provides rationale for each option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636E72"/>
                </a:solidFill>
                <a:latin typeface="Calibri"/>
              </a:rPr>
              <a:t>     - Cost analysis, team expertise, time-to-market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636E72"/>
                </a:solidFill>
                <a:latin typeface="Calibri"/>
              </a:rPr>
              <a:t>     - Scalability projections and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Calibri"/>
              </a:rPr>
              <a:t>Architecture Decision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60020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Criteria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Monolith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Microservices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Serverless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Auto-scale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Team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Deploy Speed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Slower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Independent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Instant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Cost (start)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Pay-per-use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Debugging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Easy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Complex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846320"/>
            <a:ext cx="11155680" cy="6400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Recommendation for Task Management API:  Modular Monolith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Start simple, evolve to microservices when team/scale demands it  |  AI can generate migration paths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2606040" cy="4572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Start Simple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5623560"/>
            <a:ext cx="2606040" cy="4572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Document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5623560"/>
            <a:ext cx="2606040" cy="4572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Plan for Evolution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5623560"/>
            <a:ext cx="2606040" cy="45720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Validate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System Architecture: Task Management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472C4"/>
                </a:solidFill>
                <a:latin typeface="Calibri"/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0AD47"/>
                </a:solidFill>
                <a:latin typeface="Calibri"/>
              </a:rPr>
              <a:t>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Calibri"/>
              </a:rPr>
              <a:t>Business
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74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B59B6"/>
                </a:solidFill>
                <a:latin typeface="Calibri"/>
              </a:rPr>
              <a:t>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148840"/>
            <a:ext cx="6309360" cy="0"/>
          </a:xfrm>
          <a:prstGeom prst="line">
            <a:avLst/>
          </a:prstGeom>
          <a:ln w="9525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37360" y="3383280"/>
            <a:ext cx="6309360" cy="0"/>
          </a:xfrm>
          <a:prstGeom prst="line">
            <a:avLst/>
          </a:prstGeom>
          <a:ln w="9525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37360" y="4663440"/>
            <a:ext cx="6309360" cy="0"/>
          </a:xfrm>
          <a:prstGeom prst="line">
            <a:avLst/>
          </a:prstGeom>
          <a:ln w="9525">
            <a:solidFill>
              <a:srgbClr val="63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1097280"/>
            <a:ext cx="3931920" cy="6400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3436"/>
                </a:solidFill>
                <a:latin typeface="Calibri"/>
              </a:rPr>
              <a:t>Client (Web / Mobile)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754880" y="1783080"/>
            <a:ext cx="274320" cy="32004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2331720"/>
            <a:ext cx="3931920" cy="6400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3436"/>
                </a:solidFill>
                <a:latin typeface="Calibri"/>
              </a:rPr>
              <a:t>API Gateway  /  Auth Middleware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754880" y="3017520"/>
            <a:ext cx="274320" cy="320040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03120" y="3566160"/>
            <a:ext cx="2743200" cy="6858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Task Service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create | read | update |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3566160"/>
            <a:ext cx="2743200" cy="6858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User Service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auth | profile | roles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337560" y="4297680"/>
            <a:ext cx="274320" cy="32004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6446520" y="4297680"/>
            <a:ext cx="274320" cy="32004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03120" y="4846320"/>
            <a:ext cx="2743200" cy="68580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PostgreSQL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Primary 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4846320"/>
            <a:ext cx="2743200" cy="68580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Redis Cache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Session &amp; Query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Design Rationale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600200"/>
            <a:ext cx="3383280" cy="868680"/>
          </a:xfrm>
          <a:prstGeom prst="round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Layered Separation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Each layer has clear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responsibility boundary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2651760"/>
            <a:ext cx="3383280" cy="86868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Service Modularity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Task &amp; User services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can evolve independently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703320"/>
            <a:ext cx="3383280" cy="868680"/>
          </a:xfrm>
          <a:prstGeom prst="round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Caching Strategy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Redis reduces DB load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for read-heavy queries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754879"/>
            <a:ext cx="3383280" cy="868680"/>
          </a:xfrm>
          <a:prstGeom prst="roundRect">
            <a:avLst/>
          </a:prstGeom>
          <a:solidFill>
            <a:srgbClr val="EF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Auth at Gateway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Single auth checkpoint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before any service call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UML Class Diagram: Task Management 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743200" cy="25603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Task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~~~~~~~~~~~~~~~~~~~~~~~~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id: UUID (PK)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title: String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description: Text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status: Enum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priority: Enum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assigneeId: UUID (FK)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categoryId: UUID (FK)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createdAt: DateTime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updatedAt: DateTime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188720"/>
            <a:ext cx="2468880" cy="16459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User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~~~~~~~~~~~~~~~~~~~~~~~~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id: UUID (PK)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name: String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email: String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role: Enum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createdAt: DateTime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188720"/>
            <a:ext cx="2468880" cy="146304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Category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~~~~~~~~~~~~~~~~~~~~~~~~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id: UUID (PK)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name: String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description: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291840"/>
            <a:ext cx="2468880" cy="182880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Comment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~~~~~~~~~~~~~~~~~~~~~~~~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id: UUID (PK)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taskId: UUID (FK)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userId: UUID (FK)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content: Text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  createdAt: DateTime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1920240"/>
            <a:ext cx="54864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17520" y="1600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Calibri"/>
              </a:rPr>
              <a:t>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600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0AD47"/>
                </a:solidFill>
                <a:latin typeface="Calibri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91840" y="1828800"/>
            <a:ext cx="3474720" cy="54864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2608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Calibri"/>
              </a:rPr>
              <a:t>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508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3749039"/>
            <a:ext cx="1920240" cy="182881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5448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472C4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59B6"/>
                </a:solidFill>
                <a:latin typeface="Calibri"/>
              </a:rPr>
              <a:t>*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029200" y="2834640"/>
            <a:ext cx="0" cy="457200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Domain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600200"/>
            <a:ext cx="2286000" cy="1325880"/>
          </a:xfrm>
          <a:prstGeom prst="round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2D3436"/>
                </a:solidFill>
                <a:latin typeface="Calibri"/>
              </a:rPr>
              <a:t>Relationships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Task belongs to User (assignee)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Task belongs to Category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Task has many Comments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Comment belongs to User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108960"/>
            <a:ext cx="2286000" cy="132588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2D3436"/>
                </a:solidFill>
                <a:latin typeface="Calibri"/>
              </a:rPr>
              <a:t>Enumerations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Status: TODO, IN_PROGRESS,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REVIEW, DONE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Priority: LOW, MEDIUM,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HIGH, CRITICAL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Role: ADMIN, MEMBER, 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4617720"/>
            <a:ext cx="2286000" cy="1325880"/>
          </a:xfrm>
          <a:prstGeom prst="round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2D3436"/>
                </a:solidFill>
                <a:latin typeface="Calibri"/>
              </a:rPr>
              <a:t>Constraints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Email must be unique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Title is required (max 200)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Status transitions validated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FK integrity enforced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8686800" cy="5486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Legend:   1 = one   |   * = many   |   Lines show foreign key relationships   |   AI generates these diagrams from natural language descriptions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UML Sequence Diagram: Create Task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051560"/>
            <a:ext cx="164592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051560"/>
            <a:ext cx="164592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51560"/>
            <a:ext cx="1645920" cy="4572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Task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051560"/>
            <a:ext cx="164592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1508760"/>
            <a:ext cx="0" cy="4160520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1508760"/>
            <a:ext cx="0" cy="416052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1508760"/>
            <a:ext cx="0" cy="416052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20" y="1508760"/>
            <a:ext cx="0" cy="4160520"/>
          </a:xfrm>
          <a:prstGeom prst="line">
            <a:avLst/>
          </a:prstGeom>
          <a:ln w="1905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94560" y="1828800"/>
            <a:ext cx="173736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72C4"/>
                </a:solidFill>
                <a:latin typeface="Calibri"/>
              </a:rPr>
              <a:t>1. POST /api/tasks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240280"/>
            <a:ext cx="1371600" cy="3200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validateToken()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36E72"/>
                </a:solidFill>
                <a:latin typeface="Calibri"/>
              </a:rPr>
              <a:t>2. self-call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2926080"/>
            <a:ext cx="1737360" cy="0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4632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0AD47"/>
                </a:solidFill>
                <a:latin typeface="Calibri"/>
              </a:rPr>
              <a:t>3. createTask(dto)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3474720"/>
            <a:ext cx="173736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0664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7D31"/>
                </a:solidFill>
                <a:latin typeface="Calibri"/>
              </a:rPr>
              <a:t>4. validate &amp; INSERT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315200" y="4023360"/>
            <a:ext cx="1737360" cy="0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0664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B59B6"/>
                </a:solidFill>
                <a:latin typeface="Calibri"/>
              </a:rPr>
              <a:t>5. return taskId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194560" y="4572000"/>
            <a:ext cx="512064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297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D7D31"/>
                </a:solidFill>
                <a:latin typeface="Calibri"/>
              </a:rPr>
              <a:t>6. 201 Created { taskId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Key 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1508760"/>
            <a:ext cx="2011680" cy="82296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Auth First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Token validated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before any logic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2514600"/>
            <a:ext cx="2011680" cy="822960"/>
          </a:xfrm>
          <a:prstGeom prst="round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DTO Pattern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Data Transfer Object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isolates layers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5520" y="3520440"/>
            <a:ext cx="2011680" cy="822960"/>
          </a:xfrm>
          <a:prstGeom prst="round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DB Validation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Constraints checked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at persistence level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4526280"/>
            <a:ext cx="2011680" cy="822960"/>
          </a:xfrm>
          <a:prstGeom prst="roundRect">
            <a:avLst/>
          </a:prstGeom>
          <a:solidFill>
            <a:srgbClr val="EF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Clear Response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Status code + created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resource returned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20640"/>
            <a:ext cx="8961120" cy="4572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Sequence diagrams model runtime interactions -- essential for understanding API flows before writing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API Contract-First Design (OpenAPI)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Calibri"/>
              </a:rPr>
              <a:t>Contract-First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Define endpoints, request/response bodies BEFORE coding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Use OpenAPI/Swagger as the single source of truth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Generate server stubs and client SDKs from the spec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Contract becomes the testing baseline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Benefits of API-first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636E72"/>
                </a:solidFill>
                <a:latin typeface="Calibri"/>
              </a:rPr>
              <a:t>     - Frontend and backend teams work in parallel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636E72"/>
                </a:solidFill>
                <a:latin typeface="Calibri"/>
              </a:rPr>
              <a:t>     - Auto-generate documentation and mock servers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636E72"/>
                </a:solidFill>
                <a:latin typeface="Calibri"/>
              </a:rPr>
              <a:t>     - Contract tests catch breaking changes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OpenAPI Snippet -- POST /api/tasks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548640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openapi: 3.0.3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paths: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/api/tasks: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post: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summary: Create a new task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operationId: createTask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tags: [Tasks]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requestBody: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required: true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content: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application/json: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  schema: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    $ref: '#/components/schemas/CreateTaskDTO'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responses: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'201':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description: Task created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content: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  application/json: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    schema: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      $ref: '#/components/schemas/Task'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'400':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description: Validation error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'401':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2D3436"/>
                </a:solidFill>
                <a:latin typeface="Consolas"/>
              </a:rPr>
              <a:t>          description: Unauthorized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49240"/>
            <a:ext cx="1965960" cy="6400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Write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OpenAPI Spec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32888" y="5504688"/>
            <a:ext cx="32004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5349240"/>
            <a:ext cx="1965960" cy="6400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Review &amp;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4608" y="5504688"/>
            <a:ext cx="32004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79" y="5349240"/>
            <a:ext cx="196596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Generate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Stubs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96327" y="5504688"/>
            <a:ext cx="32004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0" y="5349240"/>
            <a:ext cx="196596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Implement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Logic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28048" y="5504688"/>
            <a:ext cx="32004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19" y="5349240"/>
            <a:ext cx="1965960" cy="64008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Contract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Data Model Design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200400" cy="25603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2D3436"/>
                </a:solidFill>
                <a:latin typeface="Calibri"/>
              </a:rPr>
              <a:t>tasks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------------------------------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id          UUID PK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title       VARCHAR(200) NOT NULL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description TEXT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status      ENUM NOT NULL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priority    ENUM NOT NULL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assignee_id UUID FK -&gt; users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category_id UUID FK -&gt; categories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created_at  TIMESTAMP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updated_at  TIMESTAMP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097280"/>
            <a:ext cx="2743200" cy="17373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2D3436"/>
                </a:solidFill>
                <a:latin typeface="Calibri"/>
              </a:rPr>
              <a:t>users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------------------------------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id         UUID PK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name       VARCHAR(100)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email      VARCHAR(255) UNIQUE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role       ENUM NOT NULL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created_at TIMESTAMP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097280"/>
            <a:ext cx="2560320" cy="13716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2D3436"/>
                </a:solidFill>
                <a:latin typeface="Calibri"/>
              </a:rPr>
              <a:t>categories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------------------------------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id          UUID PK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name        VARCHAR(100)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description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108960"/>
            <a:ext cx="2743200" cy="173736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1">
                <a:solidFill>
                  <a:srgbClr val="2D3436"/>
                </a:solidFill>
                <a:latin typeface="Calibri"/>
              </a:rPr>
              <a:t>comments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------------------------------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id         UUID PK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task_id    UUID FK -&gt; tasks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user_id    UUID FK -&gt; users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content    TEXT NOT NULL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  created_at TIMESTAMP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657600" y="2011680"/>
            <a:ext cx="274320" cy="548640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657600" y="1737360"/>
            <a:ext cx="3291840" cy="100584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286000" y="3657600"/>
            <a:ext cx="1645920" cy="0"/>
          </a:xfrm>
          <a:prstGeom prst="line">
            <a:avLst/>
          </a:prstGeom>
          <a:ln w="1905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303520" y="2834640"/>
            <a:ext cx="0" cy="27432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75520" y="1097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Design Principles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554480"/>
            <a:ext cx="2011680" cy="731520"/>
          </a:xfrm>
          <a:prstGeom prst="round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Normalization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3NF to reduce redundancy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Each fact stored once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423160"/>
            <a:ext cx="2011680" cy="73152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Constraints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NOT NULL, UNIQUE, FK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for data integrity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3291839"/>
            <a:ext cx="2011680" cy="731520"/>
          </a:xfrm>
          <a:prstGeom prst="round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Indexing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Index FKs and common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query columns (status)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4160520"/>
            <a:ext cx="2011680" cy="731520"/>
          </a:xfrm>
          <a:prstGeom prst="roundRect">
            <a:avLst/>
          </a:prstGeom>
          <a:solidFill>
            <a:srgbClr val="EF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Audit Fields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created_at, updated_at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on every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5029200"/>
            <a:ext cx="2011680" cy="731520"/>
          </a:xfrm>
          <a:prstGeom prst="round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Soft Deletes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deleted_at column instead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of permanent removal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9144000" cy="8229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Key Data Modeling Practices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Normalize to 3NF  |  Enforce constraints at DB level  |  Index FK columns  |  Add audit timestamps  |  Use migrations for schema changes  |  AI generates DDL from ER diagrams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AI Code Generation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691640" cy="7772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Approved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67128" y="1371600"/>
            <a:ext cx="2286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1143000"/>
            <a:ext cx="1691640" cy="7772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Prompt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Construction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33087" y="1371600"/>
            <a:ext cx="2286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143000"/>
            <a:ext cx="1691640" cy="7772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99048" y="1371600"/>
            <a:ext cx="2286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79" y="1143000"/>
            <a:ext cx="1691640" cy="7772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Human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65008" y="1371600"/>
            <a:ext cx="2286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143000"/>
            <a:ext cx="1691640" cy="7772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Refactor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&amp; Improve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30967" y="1371600"/>
            <a:ext cx="2286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87000" y="1143000"/>
            <a:ext cx="1691640" cy="7772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Commit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&amp;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86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59B6"/>
                </a:solidFill>
                <a:latin typeface="Calibri"/>
              </a:rPr>
              <a:t>Best Practices for AI Code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Generate ONE component/layer at a time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Review before asking AI for the next layer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Keep prompts tied to specs and file names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Commit working increments frequently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Never skip human review -- even for simple code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Include test expectations in generation prompts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Ask AI to explain its implementation choices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59B6"/>
                </a:solidFill>
                <a:latin typeface="Calibri"/>
              </a:rPr>
              <a:t>Sample Generation Prompt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743200"/>
            <a:ext cx="502920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Context: Task Management API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Spec file: task-service.spec.yaml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Layer: Service layer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Component: TaskService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---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Generate the TaskService class that: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1. Implements createTask(dto)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2. Validates title is non-empty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3. Sets status to TODO by default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4. Saves via TaskRepository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5. Returns the created task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---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Tech stack: Java + Spring Boot 3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Follow project conventions in: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src/services/UserService.java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69280"/>
            <a:ext cx="11155680" cy="4572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Anti-Pattern:  'Build me the entire app'  -&gt;  Always decompose into small, reviewable units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Code Review in AI-Native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B59B6"/>
                </a:solidFill>
                <a:latin typeface="Calibri"/>
              </a:rPr>
              <a:t>What to Review (Checklist)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486400" cy="566928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Spec Compliance:  Does it match the specification exactly?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13432"/>
            <a:ext cx="5486400" cy="566928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Business Rules:  Are business rules correctly implemented?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26664"/>
            <a:ext cx="5486400" cy="566928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Error Handling:  Is error handling appropriate and complete?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39896"/>
            <a:ext cx="5486400" cy="566928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Naming &amp; Style:  Are naming conventions and style guide followed?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53128"/>
            <a:ext cx="5486400" cy="566928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Security:  Auth, input validation, data exposure checked?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66360"/>
            <a:ext cx="5486400" cy="566928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Test Coverage:  Are generated tests meaningful, not trivial?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B59B6"/>
                </a:solidFill>
                <a:latin typeface="Calibri"/>
              </a:rPr>
              <a:t>Review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00200"/>
            <a:ext cx="4572000" cy="6400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AI Generates Code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23960" y="2258568"/>
            <a:ext cx="228600" cy="18288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2468880"/>
            <a:ext cx="4572000" cy="6400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Static Analysis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(lint, type-check)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823960" y="3127248"/>
            <a:ext cx="228600" cy="182880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3337560"/>
            <a:ext cx="4572000" cy="64008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AI-Assisted Review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(detect patterns &amp; smells)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823960" y="3995928"/>
            <a:ext cx="228600" cy="18288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4206240"/>
            <a:ext cx="4572000" cy="64008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Human Review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(intent, logic, security)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23960" y="4864607"/>
            <a:ext cx="228600" cy="182880"/>
          </a:xfrm>
          <a:prstGeom prst="down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0" y="5074920"/>
            <a:ext cx="4572000" cy="64008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Approve / Reject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669280"/>
            <a:ext cx="11430000" cy="4572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AI-Native Code Review Principle:  Review INTENT (spec) first, then CODE -- if the spec is wrong, the code will be wrong regardless of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Refactoring AI-Generated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59B6"/>
                </a:solidFill>
                <a:latin typeface="Calibri"/>
              </a:rPr>
              <a:t>Common Issues in AI-Generated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303520" cy="621792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Duplication:  Repeated logic from separate prompts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303520" cy="621792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Unclear Naming:  Generic names: data, result, handler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5303520" cy="621792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Missing Error Boundaries:  No try-catch, no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621792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Over-Engineering:  Complex patterns where simple suffices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09160"/>
            <a:ext cx="5303520" cy="621792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Hardcoded Values:  URLs, ports, keys embedded in code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3200400"/>
            <a:ext cx="457200" cy="274320"/>
          </a:xfrm>
          <a:prstGeom prst="right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59B6"/>
                </a:solidFill>
                <a:latin typeface="Calibri"/>
              </a:rPr>
              <a:t>Refactoring Strategies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600200"/>
            <a:ext cx="5303520" cy="621792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Extract Services:  Move business rules into dedicated service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377440"/>
            <a:ext cx="5303520" cy="621792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Apply Conventions:  Rename to match project style guide consistently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154680"/>
            <a:ext cx="5303520" cy="621792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Add Error Handling:  Wrap in try-catch, validate inputs, return proper codes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931920"/>
            <a:ext cx="5303520" cy="621792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Simplify Patterns:  Replace complex abstractions with straightforward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709160"/>
            <a:ext cx="5303520" cy="621792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Use Configuration:  Move environment-specific values to .env / config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Before (AI-generated)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548640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// Hardcoded, no validation, generic names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app.post('/api/tasks', (req, res) =&gt; {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  const data = req.body;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  db.query('INSERT INTO tasks...', data)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    .then(r =&gt; res.json(r));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});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349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0AD47"/>
                </a:solidFill>
                <a:latin typeface="Calibri"/>
              </a:rPr>
              <a:t>After (Refactored)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5577840"/>
            <a:ext cx="53035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// Validated, typed, error-handled, configured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router.post('/api/tasks',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  auth, validate(CreateTaskDTO),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  taskController.create  // -&gt; service -&gt; repo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D3436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