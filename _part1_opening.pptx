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 &amp; Welcome</a:t>
            </a:r>
          </a:p>
          <a:p>
            <a:r>
              <a:t>-----------------------------------------</a:t>
            </a:r>
          </a:p>
          <a:p>
            <a:r>
              <a:t>Welcome the faculty participants and introduce yourself. Set the tone: this is NOT a passive lecture — it is an interactive, hands-on workshop where participants will build a real application using AI-native practices.</a:t>
            </a:r>
          </a:p>
          <a:p/>
          <a:p>
            <a:r>
              <a:t>Key talking points:</a:t>
            </a:r>
          </a:p>
          <a:p>
            <a:r>
              <a:t>1. Explain what "AI-Native" means: AI is embedded across the ENTIRE software development lifecycle — from requirements capture, through architecture, code generation, testing, security, CI/CD, and continuous feedback — not bolted on as an afterthought.</a:t>
            </a:r>
          </a:p>
          <a:p>
            <a:r>
              <a:t>2. Walk through the lifecycle flow on screen: Human Intent -&gt; Specification -&gt; Design -&gt; Code -&gt; Tests -&gt; CI/CD -&gt; Feedback. Emphasize that each stage has AI augmentation but human oversight remains critical.</a:t>
            </a:r>
          </a:p>
          <a:p>
            <a:r>
              <a:t>3. Mention the workshop structure: ~2 hours of concepts and methodology, ~2-3 hours of guided implementation lab.</a:t>
            </a:r>
          </a:p>
          <a:p>
            <a:r>
              <a:t>4. Set expectations: By end of session, participants will have hands-on experience with spec-driven development, AI-assisted code generation, automated testing, and CI/CD pipeline setup.</a:t>
            </a:r>
          </a:p>
          <a:p>
            <a:r>
              <a:t>5. Highlight the tagline: AI-Native = Human Intent + Executable Specification + Automated Feedback Loops. This is the foundational equation they should remember.</a:t>
            </a:r>
          </a:p>
          <a:p/>
          <a:p>
            <a:r>
              <a:t>Audience engagement: Ask how many have used AI coding assistants (GitHub Copilot, Cursor, ChatGPT for code). This gauges the room's baseline.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Workshop Learning Outcomes</a:t>
            </a:r>
          </a:p>
          <a:p>
            <a:r>
              <a:t>-----------------------------------------------------</a:t>
            </a:r>
          </a:p>
          <a:p>
            <a:r>
              <a:t>Walk through each learning outcome and explain WHY it matters:</a:t>
            </a:r>
          </a:p>
          <a:p/>
          <a:p>
            <a:r>
              <a:t>1. UNDERSTAND AI-NATIVE SDLC: This is not about using ChatGPT to write code snippets. AI-native means AI is woven into requirements gathering, architecture decisions, code generation, testing strategy, security analysis, CI/CD automation, and continuous improvement. Ask: "How many of you currently use AI only for code completion? By the end of today, you'll see AI participating in every single phase."</a:t>
            </a:r>
          </a:p>
          <a:p/>
          <a:p>
            <a:r>
              <a:t>2. APPLY SPEC-DRIVEN DEVELOPMENT: The #1 mistake teams make with AI is jumping straight to code generation. Spec-driven development means you write clear, structured specifications first — functional requirements, non-functional requirements, API contracts, acceptance criteria — and THEN use AI to generate implementation. This dramatically improves output quality.</a:t>
            </a:r>
          </a:p>
          <a:p/>
          <a:p>
            <a:r>
              <a:t>3. BUILD &amp; TEST END-TO-END: Theory alone won't stick. Participants will build a Task Management REST API from scratch using AI-native practices. They'll experience the full cycle: requirement spec -&gt; architecture design -&gt; code generation -&gt; unit tests -&gt; integration tests -&gt; CI/CD pipeline.</a:t>
            </a:r>
          </a:p>
          <a:p/>
          <a:p>
            <a:r>
              <a:t>4. EVALUATE GOVERNANCE &amp; SECURITY: AI-generated code introduces unique risks — hallucinated dependencies, insecure defaults, data exposure in prompts. We'll cover governance frameworks, responsible AI principles, and practical security checklists.</a:t>
            </a:r>
          </a:p>
          <a:p/>
          <a:p>
            <a:r>
              <a:t>5. EXPLORE MULTI-AGENT DEVELOPMENT: The cutting edge of AI-native development uses multiple specialized AI agents (Requirements Agent, Architect Agent, Coder, Tester, Security, DevOps) orchestrated together. We'll explore this emerging paradigm.</a:t>
            </a:r>
          </a:p>
          <a:p/>
          <a:p>
            <a:r>
              <a:t>Point out the three cards on the right:</a:t>
            </a:r>
          </a:p>
          <a:p>
            <a:r>
              <a:t>- Teaching approach follows a structured cycle</a:t>
            </a:r>
          </a:p>
          <a:p>
            <a:r>
              <a:t>- The practical lab is a real, implementable example</a:t>
            </a:r>
          </a:p>
          <a:p>
            <a:r>
              <a:t>- Participants will produce concrete, reviewable artifacts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Session Agenda</a:t>
            </a:r>
          </a:p>
          <a:p>
            <a:r>
              <a:t>-----------------------------------------</a:t>
            </a:r>
          </a:p>
          <a:p>
            <a:r>
              <a:t>Walk through the timeline so participants know what to expect:</a:t>
            </a:r>
          </a:p>
          <a:p/>
          <a:p>
            <a:r>
              <a:t>PART 1 - FOUNDATIONS &amp; METHODOLOGY (~90 minutes):</a:t>
            </a:r>
          </a:p>
          <a:p>
            <a:r>
              <a:t>- Start with "What is AI-Native?" — the core concepts and why this matters NOW</a:t>
            </a:r>
          </a:p>
          <a:p>
            <a:r>
              <a:t>- Cover the AI tool landscape — what's available, what works, what doesn't</a:t>
            </a:r>
          </a:p>
          <a:p>
            <a:r>
              <a:t>- Deep dive into spec-driven development — the methodology that makes AI code generation actually useful</a:t>
            </a:r>
          </a:p>
          <a:p>
            <a:r>
              <a:t>- Architecture design principles — how to make architectural decisions with AI assistance</a:t>
            </a:r>
          </a:p>
          <a:p>
            <a:r>
              <a:t>- Prompt engineering for software engineering — not generic prompting, but structured approaches for code, specs, and tests</a:t>
            </a:r>
          </a:p>
          <a:p/>
          <a:p>
            <a:r>
              <a:t>BREAK (15 minutes) — Encourage participants to install any required tools if not already done</a:t>
            </a:r>
          </a:p>
          <a:p/>
          <a:p>
            <a:r>
              <a:t>PART 2 - GUIDED HANDS-ON LAB (~120 minutes):</a:t>
            </a:r>
          </a:p>
          <a:p>
            <a:r>
              <a:t>- This is the core of the workshop. Participants will build a Task Management REST API</a:t>
            </a:r>
          </a:p>
          <a:p>
            <a:r>
              <a:t>- Exercise 1: Write the specification using a structured template</a:t>
            </a:r>
          </a:p>
          <a:p>
            <a:r>
              <a:t>- Exercise 2: Generate architecture and API contracts</a:t>
            </a:r>
          </a:p>
          <a:p>
            <a:r>
              <a:t>- Exercise 3: Generate and review backend code</a:t>
            </a:r>
          </a:p>
          <a:p>
            <a:r>
              <a:t>- Exercise 4: Write and run tests</a:t>
            </a:r>
          </a:p>
          <a:p>
            <a:r>
              <a:t>- Exercise 5: Set up a CI/CD pipeline</a:t>
            </a:r>
          </a:p>
          <a:p>
            <a:r>
              <a:t>- Each exercise builds on the previous one — it's a continuous flow</a:t>
            </a:r>
          </a:p>
          <a:p/>
          <a:p>
            <a:r>
              <a:t>BREAK (15 minutes)</a:t>
            </a:r>
          </a:p>
          <a:p/>
          <a:p>
            <a:r>
              <a:t>PART 3 - ADVANCED TOPICS &amp; WRAP-UP (~60 minutes):</a:t>
            </a:r>
          </a:p>
          <a:p>
            <a:r>
              <a:t>- Multi-agent development — the future of AI-native SDLC</a:t>
            </a:r>
          </a:p>
          <a:p>
            <a:r>
              <a:t>- AI governance and responsible use</a:t>
            </a:r>
          </a:p>
          <a:p>
            <a:r>
              <a:t>- Security considerations specific to AI-generated code</a:t>
            </a:r>
          </a:p>
          <a:p>
            <a:r>
              <a:t>- Homework assignments for continued practice</a:t>
            </a:r>
          </a:p>
          <a:p>
            <a:r>
              <a:t>- Discussion, Q&amp;A, and key takeaways</a:t>
            </a:r>
          </a:p>
          <a:p/>
          <a:p>
            <a:r>
              <a:t>Emphasize the flow at the bottom: every topic follows Concepts -&gt; Demo -&gt; Hands-on -&gt; Review -&gt; Discuss. This is a pedagogical loop that ensures deep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What is AI-Native Software Development?</a:t>
            </a:r>
          </a:p>
          <a:p>
            <a:r>
              <a:t>------------------------------------------------------------------</a:t>
            </a:r>
          </a:p>
          <a:p>
            <a:r>
              <a:t>This is the foundational slide. Spend time here — make sure everyone understands the paradigm shift.</a:t>
            </a:r>
          </a:p>
          <a:p/>
          <a:p>
            <a:r>
              <a:t>KEY DISTINCTION - AI-Assisted vs AI-Native:</a:t>
            </a:r>
          </a:p>
          <a:p>
            <a:r>
              <a:t>- AI-ASSISTED: You write code, AI helps with autocomplete, suggestions, and refactoring. AI is a tool you use occasionally. The human drives the process.</a:t>
            </a:r>
          </a:p>
          <a:p>
            <a:r>
              <a:t>- AI-NATIVE: AI is embedded in EVERY phase. Requirements are captured in structured formats that AI can process. Architecture decisions are proposed by AI and validated by humans. Code, tests, and pipelines are generated from specifications. Feedback from CI/CD and production flows back to improve the next iteration.</a:t>
            </a:r>
          </a:p>
          <a:p/>
          <a:p>
            <a:r>
              <a:t>Walk through each principle:</a:t>
            </a:r>
          </a:p>
          <a:p>
            <a:r>
              <a:t>1. SPEC-FIRST: "The biggest mistake teams make is opening an IDE and asking AI to 'build me a todo app.' Instead, you write a structured specification — functional requirements, non-functional requirements, API contracts, acceptance criteria — and THEN generate. The spec IS the product; code is a byproduct."</a:t>
            </a:r>
          </a:p>
          <a:p/>
          <a:p>
            <a:r>
              <a:t>2. HUMAN-IN-THE-LOOP: "AI is powerful but not infallible. It hallucinates APIs that don't exist, generates plausible but incorrect business logic, and can introduce security vulnerabilities. Every critical decision — architecture choices, security boundaries, data model design — requires human review."</a:t>
            </a:r>
          </a:p>
          <a:p/>
          <a:p>
            <a:r>
              <a:t>3. AUTOMATED VALIDATION: "When code is generated at scale, you cannot manually review everything. Automated tests, static analysis, security scans, and CI/CD pipelines become your safety net. If the generated code doesn't pass the validation suite, it doesn't ship."</a:t>
            </a:r>
          </a:p>
          <a:p/>
          <a:p>
            <a:r>
              <a:t>4. CONTINUOUS LEARNING: "Production telemetry, bug reports, and user feedback become inputs for the next generation cycle. The system gets better over time."</a:t>
            </a:r>
          </a:p>
          <a:p/>
          <a:p>
            <a:r>
              <a:t>Ask the audience: "In your current teaching, where does AI fit? Is it a tool students use for homework, or is it part of how you teach the engineering process itself?" This question frames the rest of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Traditional vs AI-Native SDLC</a:t>
            </a:r>
          </a:p>
          <a:p>
            <a:r>
              <a:t>--------------------------------------------------------</a:t>
            </a:r>
          </a:p>
          <a:p>
            <a:r>
              <a:t>Use this comparison table to make the paradigm shift concrete. Walk through each row:</a:t>
            </a:r>
          </a:p>
          <a:p/>
          <a:p>
            <a:r>
              <a:t>1. REQUIREMENTS: Traditional — someone writes a Word doc or Confluence page; it gets outdated within weeks. AI-Native — requirements are structured (YAML, JSON, or templated markdown) so AI can consume them programmatically. They are version-controlled alongside code.</a:t>
            </a:r>
          </a:p>
          <a:p/>
          <a:p>
            <a:r>
              <a:t>2. DESIGN: Traditional — architects draw diagrams in Visio or Lucidchart; they live in a separate repo and drift. AI-Native — AI proposes architecture based on requirements, generates UML diagrams, and humans validate the choices. Diagrams are generated from specs.</a:t>
            </a:r>
          </a:p>
          <a:p/>
          <a:p>
            <a:r>
              <a:t>3. IMPLEMENTATION: Traditional — developers spend 60-80% of their time writing code. AI-Native — developers spend 60-80% of their time reviewing and refining specs and generated outputs. Code writing shifts to code curation.</a:t>
            </a:r>
          </a:p>
          <a:p/>
          <a:p>
            <a:r>
              <a:t>4. TESTING: This is where the biggest ROI is. Traditional testing is often an afterthought — "we'll write tests later." AI-native generates tests FROM acceptance criteria, which means tests exist BEFORE code.</a:t>
            </a:r>
          </a:p>
          <a:p/>
          <a:p>
            <a:r>
              <a:t>5. CODE REVIEW: In traditional development, you review code someone already spent hours writing. In AI-native, you review the SPECIFICATION first. If the spec is wrong, regenerating code is cheap. Catching errors at the spec level saves enormous time.</a:t>
            </a:r>
          </a:p>
          <a:p/>
          <a:p>
            <a:r>
              <a:t>6-9. Walk through CI/CD, Security, Documentation, and Feedback similarly.</a:t>
            </a:r>
          </a:p>
          <a:p/>
          <a:p>
            <a:r>
              <a:t>KEY INSIGHT at bottom: "In AI-native development, the specification and test suite are more valuable than the code itself. Code can be regenerated in minutes; a well-crafted specification represents the team's understanding of the problem."</a:t>
            </a:r>
          </a:p>
          <a:p/>
          <a:p>
            <a:r>
              <a:t>Discussion question for the audience: "Which of these shifts do you think would have the biggest impact on how you teach software engineering?" This gets faculty thinking about curriculum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AI-Native SDLC Lifecycle</a:t>
            </a:r>
          </a:p>
          <a:p>
            <a:r>
              <a:t>---------------------------------------------------</a:t>
            </a:r>
          </a:p>
          <a:p>
            <a:r>
              <a:t>This diagram shows the continuous cycle of AI-native development. Unlike traditional waterfall (linear) or even agile (iterative but still human-driven), AI-native is a CONTINUOUS FEEDBACK LOOP where AI participates at every stage.</a:t>
            </a:r>
          </a:p>
          <a:p/>
          <a:p>
            <a:r>
              <a:t>Walk through each stage clockwise:</a:t>
            </a:r>
          </a:p>
          <a:p/>
          <a:p>
            <a:r>
              <a:t>1. CAPTURE INTENT: Everything starts with human intent. What problem are we solving? Who are the users? What are the constraints? This is captured in structured formats — not free-form emails, but templated requirement documents that AI can process.</a:t>
            </a:r>
          </a:p>
          <a:p/>
          <a:p>
            <a:r>
              <a:t>2. WRITE SPECIFICATION: Requirements are formalized into executable specifications: functional requirements with acceptance criteria, non-functional requirements with measurable targets, API contracts in OpenAPI format, data models with constraints. KEY POINT: This step is the most important. The quality of AI-generated output is directly proportional to the quality of input specifications.</a:t>
            </a:r>
          </a:p>
          <a:p/>
          <a:p>
            <a:r>
              <a:t>3. AI-ASSISTED DESIGN: AI proposes architecture options — microservices vs monolith, database choices, API patterns. It generates UML class diagrams, sequence diagrams, and deployment views. Humans evaluate trade-offs and approve. Architecture Decision Records (ADRs) document the rationale.</a:t>
            </a:r>
          </a:p>
          <a:p/>
          <a:p>
            <a:r>
              <a:t>4. GENERATE CODE: With approved specs and architecture, AI generates implementation code — controllers, services, repositories, DTOs. The code follows the approved patterns and conventions. But it MUST be reviewed. Generation is fast; review is where engineering skill matters.</a:t>
            </a:r>
          </a:p>
          <a:p/>
          <a:p>
            <a:r>
              <a:t>5. AUTOMATED TESTING: Tests are generated from acceptance criteria. Unit tests cover business rules, integration tests cover API behavior, E2E tests cover user journeys. The test suite becomes the contract — if generated code passes all tests, it meets the specification.</a:t>
            </a:r>
          </a:p>
          <a:p/>
          <a:p>
            <a:r>
              <a:t>6. CI/CD DEPLOY: Every commit triggers an automated pipeline: build -&gt; test -&gt; security scan -&gt; package -&gt; deploy to staging -&gt; smoke test. Quality gates enforce minimum coverage, zero critical vulnerabilities, and performance budgets.</a:t>
            </a:r>
          </a:p>
          <a:p/>
          <a:p>
            <a:r>
              <a:t>7. MONITOR &amp; FEEDBACK: Production telemetry (response times, error rates, user behavior) feeds back into the next cycle. Bugs become new acceptance criteria. Performance bottlenecks become new non-functional requirements. The cycle never stops.</a:t>
            </a:r>
          </a:p>
          <a:p/>
          <a:p>
            <a:r>
              <a:t>CRITICAL INSIGHT: The arrow from step 7 back to step 1 is what makes this AI-NATIVE, not just AI-ASSISTED. The system learns and improves continuously.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DEBF7"/>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640080"/>
          </a:xfrm>
          <a:prstGeom prst="rect">
            <a:avLst/>
          </a:prstGeom>
          <a:noFill/>
        </p:spPr>
        <p:txBody>
          <a:bodyPr wrap="square">
            <a:spAutoFit/>
          </a:bodyPr>
          <a:lstStyle/>
          <a:p>
            <a:pPr algn="l"/>
            <a:r>
              <a:rPr sz="3800" b="1">
                <a:solidFill>
                  <a:srgbClr val="FFFFFF"/>
                </a:solidFill>
                <a:latin typeface="Calibri"/>
              </a:rPr>
              <a:t>AI-Native Software Development</a:t>
            </a:r>
          </a:p>
        </p:txBody>
      </p:sp>
      <p:sp>
        <p:nvSpPr>
          <p:cNvPr id="4" name="TextBox 3"/>
          <p:cNvSpPr txBox="1"/>
          <p:nvPr/>
        </p:nvSpPr>
        <p:spPr>
          <a:xfrm>
            <a:off x="548640" y="822960"/>
            <a:ext cx="10972800" cy="457200"/>
          </a:xfrm>
          <a:prstGeom prst="rect">
            <a:avLst/>
          </a:prstGeom>
          <a:noFill/>
        </p:spPr>
        <p:txBody>
          <a:bodyPr wrap="square">
            <a:spAutoFit/>
          </a:bodyPr>
          <a:lstStyle/>
          <a:p>
            <a:pPr algn="l"/>
            <a:r>
              <a:rPr sz="2200" b="0">
                <a:solidFill>
                  <a:srgbClr val="DDEBF7"/>
                </a:solidFill>
                <a:latin typeface="Calibri"/>
              </a:rPr>
              <a:t>Theory, Methodology &amp; Hands-On Practical Sessions</a:t>
            </a:r>
          </a:p>
        </p:txBody>
      </p:sp>
      <p:sp>
        <p:nvSpPr>
          <p:cNvPr id="5" name="TextBox 4"/>
          <p:cNvSpPr txBox="1"/>
          <p:nvPr/>
        </p:nvSpPr>
        <p:spPr>
          <a:xfrm>
            <a:off x="548640" y="1828800"/>
            <a:ext cx="7315200" cy="457200"/>
          </a:xfrm>
          <a:prstGeom prst="rect">
            <a:avLst/>
          </a:prstGeom>
          <a:noFill/>
        </p:spPr>
        <p:txBody>
          <a:bodyPr wrap="square">
            <a:spAutoFit/>
          </a:bodyPr>
          <a:lstStyle/>
          <a:p>
            <a:pPr algn="l"/>
            <a:r>
              <a:rPr sz="1800" b="0">
                <a:solidFill>
                  <a:srgbClr val="2D3436"/>
                </a:solidFill>
                <a:latin typeface="Calibri"/>
              </a:rPr>
              <a:t>Faculty Development Program  |  4-5 Hour Interactive Workshop</a:t>
            </a:r>
          </a:p>
        </p:txBody>
      </p:sp>
      <p:sp>
        <p:nvSpPr>
          <p:cNvPr id="6" name="TextBox 5"/>
          <p:cNvSpPr txBox="1"/>
          <p:nvPr/>
        </p:nvSpPr>
        <p:spPr>
          <a:xfrm>
            <a:off x="548640" y="2377440"/>
            <a:ext cx="9144000" cy="731520"/>
          </a:xfrm>
          <a:prstGeom prst="rect">
            <a:avLst/>
          </a:prstGeom>
          <a:noFill/>
        </p:spPr>
        <p:txBody>
          <a:bodyPr wrap="square">
            <a:spAutoFit/>
          </a:bodyPr>
          <a:lstStyle/>
          <a:p>
            <a:pPr algn="l"/>
            <a:r>
              <a:rPr sz="1400" b="0">
                <a:solidFill>
                  <a:srgbClr val="636E72"/>
                </a:solidFill>
                <a:latin typeface="Calibri"/>
              </a:rPr>
              <a:t>From foundational concepts to advanced AI-native engineering
Includes guided practical labs, spec-driven development &amp; multi-agent workflows</a:t>
            </a:r>
          </a:p>
        </p:txBody>
      </p:sp>
      <p:sp>
        <p:nvSpPr>
          <p:cNvPr id="7" name="Rounded Rectangle 6"/>
          <p:cNvSpPr/>
          <p:nvPr/>
        </p:nvSpPr>
        <p:spPr>
          <a:xfrm>
            <a:off x="548640" y="3474720"/>
            <a:ext cx="1371600" cy="7772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Human</a:t>
            </a:r>
          </a:p>
          <a:p>
            <a:pPr algn="ctr"/>
            <a:r>
              <a:rPr sz="1100" b="0">
                <a:solidFill>
                  <a:srgbClr val="FFFFFF"/>
                </a:solidFill>
                <a:latin typeface="Calibri"/>
              </a:rPr>
              <a:t>Intent</a:t>
            </a:r>
          </a:p>
        </p:txBody>
      </p:sp>
      <p:sp>
        <p:nvSpPr>
          <p:cNvPr id="8" name="Right Arrow 7"/>
          <p:cNvSpPr/>
          <p:nvPr/>
        </p:nvSpPr>
        <p:spPr>
          <a:xfrm>
            <a:off x="1938528"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48840" y="3474720"/>
            <a:ext cx="137160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Executable</a:t>
            </a:r>
          </a:p>
          <a:p>
            <a:pPr algn="ctr"/>
            <a:r>
              <a:rPr sz="1100" b="0">
                <a:solidFill>
                  <a:srgbClr val="FFFFFF"/>
                </a:solidFill>
                <a:latin typeface="Calibri"/>
              </a:rPr>
              <a:t>Specification</a:t>
            </a:r>
          </a:p>
        </p:txBody>
      </p:sp>
      <p:sp>
        <p:nvSpPr>
          <p:cNvPr id="10" name="Right Arrow 9"/>
          <p:cNvSpPr/>
          <p:nvPr/>
        </p:nvSpPr>
        <p:spPr>
          <a:xfrm>
            <a:off x="3538728"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9039" y="3474720"/>
            <a:ext cx="1371600" cy="7772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AI-Assisted</a:t>
            </a:r>
          </a:p>
          <a:p>
            <a:pPr algn="ctr"/>
            <a:r>
              <a:rPr sz="1100" b="0">
                <a:solidFill>
                  <a:srgbClr val="FFFFFF"/>
                </a:solidFill>
                <a:latin typeface="Calibri"/>
              </a:rPr>
              <a:t>Design</a:t>
            </a:r>
          </a:p>
        </p:txBody>
      </p:sp>
      <p:sp>
        <p:nvSpPr>
          <p:cNvPr id="12" name="Right Arrow 11"/>
          <p:cNvSpPr/>
          <p:nvPr/>
        </p:nvSpPr>
        <p:spPr>
          <a:xfrm>
            <a:off x="5138927"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49240" y="3474720"/>
            <a:ext cx="1371600" cy="7772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Code</a:t>
            </a:r>
          </a:p>
          <a:p>
            <a:pPr algn="ctr"/>
            <a:r>
              <a:rPr sz="1100" b="0">
                <a:solidFill>
                  <a:srgbClr val="FFFFFF"/>
                </a:solidFill>
                <a:latin typeface="Calibri"/>
              </a:rPr>
              <a:t>Generation</a:t>
            </a:r>
          </a:p>
        </p:txBody>
      </p:sp>
      <p:sp>
        <p:nvSpPr>
          <p:cNvPr id="14" name="Right Arrow 13"/>
          <p:cNvSpPr/>
          <p:nvPr/>
        </p:nvSpPr>
        <p:spPr>
          <a:xfrm>
            <a:off x="6739127"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0" y="3474720"/>
            <a:ext cx="1371600" cy="7772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Automated</a:t>
            </a:r>
          </a:p>
          <a:p>
            <a:pPr algn="ctr"/>
            <a:r>
              <a:rPr sz="1100" b="0">
                <a:solidFill>
                  <a:srgbClr val="FFFFFF"/>
                </a:solidFill>
                <a:latin typeface="Calibri"/>
              </a:rPr>
              <a:t>Testing</a:t>
            </a:r>
          </a:p>
        </p:txBody>
      </p:sp>
      <p:sp>
        <p:nvSpPr>
          <p:cNvPr id="16" name="Right Arrow 15"/>
          <p:cNvSpPr/>
          <p:nvPr/>
        </p:nvSpPr>
        <p:spPr>
          <a:xfrm>
            <a:off x="8339327"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49640" y="3474720"/>
            <a:ext cx="1371600" cy="7772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CI/CD</a:t>
            </a:r>
          </a:p>
          <a:p>
            <a:pPr algn="ctr"/>
            <a:r>
              <a:rPr sz="1100" b="0">
                <a:solidFill>
                  <a:srgbClr val="FFFFFF"/>
                </a:solidFill>
                <a:latin typeface="Calibri"/>
              </a:rPr>
              <a:t>Pipeline</a:t>
            </a:r>
          </a:p>
        </p:txBody>
      </p:sp>
      <p:sp>
        <p:nvSpPr>
          <p:cNvPr id="18" name="Right Arrow 17"/>
          <p:cNvSpPr/>
          <p:nvPr/>
        </p:nvSpPr>
        <p:spPr>
          <a:xfrm>
            <a:off x="9939528" y="3703320"/>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49840" y="3474720"/>
            <a:ext cx="1371600" cy="7772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Continuous</a:t>
            </a:r>
          </a:p>
          <a:p>
            <a:pPr algn="ctr"/>
            <a:r>
              <a:rPr sz="1100" b="0">
                <a:solidFill>
                  <a:srgbClr val="FFFFFF"/>
                </a:solidFill>
                <a:latin typeface="Calibri"/>
              </a:rPr>
              <a:t>Feedback</a:t>
            </a:r>
          </a:p>
        </p:txBody>
      </p:sp>
      <p:sp>
        <p:nvSpPr>
          <p:cNvPr id="20" name="Rounded Rectangle 19"/>
          <p:cNvSpPr/>
          <p:nvPr/>
        </p:nvSpPr>
        <p:spPr>
          <a:xfrm>
            <a:off x="1371600" y="4663440"/>
            <a:ext cx="9418320" cy="50292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D3436"/>
                </a:solidFill>
                <a:latin typeface="Calibri"/>
              </a:rPr>
              <a:t>AI-Native = Human Intent  +  Executable Specification  +  Automated Feedback Loops</a:t>
            </a:r>
          </a:p>
        </p:txBody>
      </p:sp>
      <p:sp>
        <p:nvSpPr>
          <p:cNvPr id="21" name="Rounded Rectangle 20"/>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Opening</a:t>
            </a:r>
          </a:p>
        </p:txBody>
      </p:sp>
      <p:sp>
        <p:nvSpPr>
          <p:cNvPr id="22" name="TextBox 21"/>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Workshop Learning Outcomes</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Opening</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2</a:t>
            </a:r>
          </a:p>
        </p:txBody>
      </p:sp>
      <p:sp>
        <p:nvSpPr>
          <p:cNvPr id="5" name="TextBox 4"/>
          <p:cNvSpPr txBox="1"/>
          <p:nvPr/>
        </p:nvSpPr>
        <p:spPr>
          <a:xfrm>
            <a:off x="548640" y="1188720"/>
            <a:ext cx="5943600" cy="4754880"/>
          </a:xfrm>
          <a:prstGeom prst="rect">
            <a:avLst/>
          </a:prstGeom>
          <a:noFill/>
        </p:spPr>
        <p:txBody>
          <a:bodyPr wrap="square">
            <a:spAutoFit/>
          </a:bodyPr>
          <a:lstStyle/>
          <a:p>
            <a:pPr>
              <a:lnSpc>
                <a:spcPct val="130000"/>
              </a:lnSpc>
              <a:spcAft>
                <a:spcPts val="800"/>
              </a:spcAft>
            </a:pPr>
            <a:r>
              <a:rPr sz="1500">
                <a:solidFill>
                  <a:srgbClr val="2D3436"/>
                </a:solidFill>
                <a:latin typeface="Calibri"/>
              </a:rPr>
              <a:t>• Understand AI-Native SDLC</a:t>
            </a:r>
          </a:p>
          <a:p>
            <a:pPr>
              <a:lnSpc>
                <a:spcPct val="130000"/>
              </a:lnSpc>
              <a:spcAft>
                <a:spcPts val="400"/>
              </a:spcAft>
            </a:pPr>
            <a:r>
              <a:rPr sz="1300">
                <a:solidFill>
                  <a:srgbClr val="636E72"/>
                </a:solidFill>
                <a:latin typeface="Calibri"/>
              </a:rPr>
              <a:t>     - Grasp how AI transforms every phase of software development</a:t>
            </a:r>
          </a:p>
          <a:p>
            <a:pPr>
              <a:lnSpc>
                <a:spcPct val="130000"/>
              </a:lnSpc>
              <a:spcAft>
                <a:spcPts val="400"/>
              </a:spcAft>
            </a:pPr>
            <a:r>
              <a:rPr sz="1300">
                <a:solidFill>
                  <a:srgbClr val="636E72"/>
                </a:solidFill>
                <a:latin typeface="Calibri"/>
              </a:rPr>
              <a:t>     - Distinguish AI-native from AI-assisted approaches</a:t>
            </a:r>
          </a:p>
          <a:p>
            <a:pPr>
              <a:lnSpc>
                <a:spcPct val="130000"/>
              </a:lnSpc>
              <a:spcAft>
                <a:spcPts val="800"/>
              </a:spcAft>
            </a:pPr>
            <a:r>
              <a:rPr sz="1500">
                <a:solidFill>
                  <a:srgbClr val="2D3436"/>
                </a:solidFill>
                <a:latin typeface="Calibri"/>
              </a:rPr>
              <a:t>• Apply Spec-Driven Development</a:t>
            </a:r>
          </a:p>
          <a:p>
            <a:pPr>
              <a:lnSpc>
                <a:spcPct val="130000"/>
              </a:lnSpc>
              <a:spcAft>
                <a:spcPts val="400"/>
              </a:spcAft>
            </a:pPr>
            <a:r>
              <a:rPr sz="1300">
                <a:solidFill>
                  <a:srgbClr val="636E72"/>
                </a:solidFill>
                <a:latin typeface="Calibri"/>
              </a:rPr>
              <a:t>     - Write structured specifications BEFORE generating code</a:t>
            </a:r>
          </a:p>
          <a:p>
            <a:pPr>
              <a:lnSpc>
                <a:spcPct val="130000"/>
              </a:lnSpc>
              <a:spcAft>
                <a:spcPts val="400"/>
              </a:spcAft>
            </a:pPr>
            <a:r>
              <a:rPr sz="1300">
                <a:solidFill>
                  <a:srgbClr val="636E72"/>
                </a:solidFill>
                <a:latin typeface="Calibri"/>
              </a:rPr>
              <a:t>     - Use AI to refine requirements, resolve ambiguity</a:t>
            </a:r>
          </a:p>
          <a:p>
            <a:pPr>
              <a:lnSpc>
                <a:spcPct val="130000"/>
              </a:lnSpc>
              <a:spcAft>
                <a:spcPts val="800"/>
              </a:spcAft>
            </a:pPr>
            <a:r>
              <a:rPr sz="1500">
                <a:solidFill>
                  <a:srgbClr val="2D3436"/>
                </a:solidFill>
                <a:latin typeface="Calibri"/>
              </a:rPr>
              <a:t>• Build &amp; Test an Application End-to-End</a:t>
            </a:r>
          </a:p>
          <a:p>
            <a:pPr>
              <a:lnSpc>
                <a:spcPct val="130000"/>
              </a:lnSpc>
              <a:spcAft>
                <a:spcPts val="400"/>
              </a:spcAft>
            </a:pPr>
            <a:r>
              <a:rPr sz="1300">
                <a:solidFill>
                  <a:srgbClr val="636E72"/>
                </a:solidFill>
                <a:latin typeface="Calibri"/>
              </a:rPr>
              <a:t>     - Design, implement, test, secure, and deploy a working system</a:t>
            </a:r>
          </a:p>
          <a:p>
            <a:pPr>
              <a:lnSpc>
                <a:spcPct val="130000"/>
              </a:lnSpc>
              <a:spcAft>
                <a:spcPts val="400"/>
              </a:spcAft>
            </a:pPr>
            <a:r>
              <a:rPr sz="1300">
                <a:solidFill>
                  <a:srgbClr val="636E72"/>
                </a:solidFill>
                <a:latin typeface="Calibri"/>
              </a:rPr>
              <a:t>     - Experience the full AI-native workflow hands-on</a:t>
            </a:r>
          </a:p>
          <a:p>
            <a:pPr>
              <a:lnSpc>
                <a:spcPct val="130000"/>
              </a:lnSpc>
              <a:spcAft>
                <a:spcPts val="800"/>
              </a:spcAft>
            </a:pPr>
            <a:r>
              <a:rPr sz="1500">
                <a:solidFill>
                  <a:srgbClr val="2D3436"/>
                </a:solidFill>
                <a:latin typeface="Calibri"/>
              </a:rPr>
              <a:t>• Evaluate Governance &amp; Security</a:t>
            </a:r>
          </a:p>
          <a:p>
            <a:pPr>
              <a:lnSpc>
                <a:spcPct val="130000"/>
              </a:lnSpc>
              <a:spcAft>
                <a:spcPts val="400"/>
              </a:spcAft>
            </a:pPr>
            <a:r>
              <a:rPr sz="1300">
                <a:solidFill>
                  <a:srgbClr val="636E72"/>
                </a:solidFill>
                <a:latin typeface="Calibri"/>
              </a:rPr>
              <a:t>     - Apply responsible AI principles to software engineering</a:t>
            </a:r>
          </a:p>
          <a:p>
            <a:pPr>
              <a:lnSpc>
                <a:spcPct val="130000"/>
              </a:lnSpc>
              <a:spcAft>
                <a:spcPts val="400"/>
              </a:spcAft>
            </a:pPr>
            <a:r>
              <a:rPr sz="1300">
                <a:solidFill>
                  <a:srgbClr val="636E72"/>
                </a:solidFill>
                <a:latin typeface="Calibri"/>
              </a:rPr>
              <a:t>     - Implement security reviews and quality gates</a:t>
            </a:r>
          </a:p>
          <a:p>
            <a:pPr>
              <a:lnSpc>
                <a:spcPct val="130000"/>
              </a:lnSpc>
              <a:spcAft>
                <a:spcPts val="800"/>
              </a:spcAft>
            </a:pPr>
            <a:r>
              <a:rPr sz="1500">
                <a:solidFill>
                  <a:srgbClr val="2D3436"/>
                </a:solidFill>
                <a:latin typeface="Calibri"/>
              </a:rPr>
              <a:t>• Explore Multi-Agent Development</a:t>
            </a:r>
          </a:p>
          <a:p>
            <a:pPr>
              <a:lnSpc>
                <a:spcPct val="130000"/>
              </a:lnSpc>
              <a:spcAft>
                <a:spcPts val="400"/>
              </a:spcAft>
            </a:pPr>
            <a:r>
              <a:rPr sz="1300">
                <a:solidFill>
                  <a:srgbClr val="636E72"/>
                </a:solidFill>
                <a:latin typeface="Calibri"/>
              </a:rPr>
              <a:t>     - Understand orchestrated AI agent roles in SDLC</a:t>
            </a:r>
          </a:p>
          <a:p>
            <a:pPr>
              <a:lnSpc>
                <a:spcPct val="130000"/>
              </a:lnSpc>
              <a:spcAft>
                <a:spcPts val="400"/>
              </a:spcAft>
            </a:pPr>
            <a:r>
              <a:rPr sz="1300">
                <a:solidFill>
                  <a:srgbClr val="636E72"/>
                </a:solidFill>
                <a:latin typeface="Calibri"/>
              </a:rPr>
              <a:t>     - See how specialized agents collaborate on complex tasks</a:t>
            </a:r>
          </a:p>
        </p:txBody>
      </p:sp>
      <p:sp>
        <p:nvSpPr>
          <p:cNvPr id="6" name="Rounded Rectangle 5"/>
          <p:cNvSpPr/>
          <p:nvPr/>
        </p:nvSpPr>
        <p:spPr>
          <a:xfrm>
            <a:off x="7132320" y="1371600"/>
            <a:ext cx="4572000" cy="12344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Teaching Approach</a:t>
            </a:r>
          </a:p>
          <a:p>
            <a:pPr algn="ctr"/>
            <a:r>
              <a:rPr sz="1300" b="0">
                <a:solidFill>
                  <a:srgbClr val="2D3436"/>
                </a:solidFill>
                <a:latin typeface="Calibri"/>
              </a:rPr>
              <a:t>Explain -&gt; Demonstrate -&gt;</a:t>
            </a:r>
          </a:p>
          <a:p>
            <a:pPr algn="ctr"/>
            <a:r>
              <a:rPr sz="1300" b="0">
                <a:solidFill>
                  <a:srgbClr val="2D3436"/>
                </a:solidFill>
                <a:latin typeface="Calibri"/>
              </a:rPr>
              <a:t>Validate -&gt; Reflect</a:t>
            </a:r>
          </a:p>
        </p:txBody>
      </p:sp>
      <p:sp>
        <p:nvSpPr>
          <p:cNvPr id="7" name="Rounded Rectangle 6"/>
          <p:cNvSpPr/>
          <p:nvPr/>
        </p:nvSpPr>
        <p:spPr>
          <a:xfrm>
            <a:off x="7132320" y="2926080"/>
            <a:ext cx="4572000" cy="12344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Practical Lab</a:t>
            </a:r>
          </a:p>
          <a:p>
            <a:pPr algn="ctr"/>
            <a:r>
              <a:rPr sz="1300" b="0">
                <a:solidFill>
                  <a:srgbClr val="2D3436"/>
                </a:solidFill>
                <a:latin typeface="Calibri"/>
              </a:rPr>
              <a:t>Task Management REST API</a:t>
            </a:r>
          </a:p>
          <a:p>
            <a:pPr algn="ctr"/>
            <a:r>
              <a:rPr sz="1300" b="0">
                <a:solidFill>
                  <a:srgbClr val="2D3436"/>
                </a:solidFill>
                <a:latin typeface="Calibri"/>
              </a:rPr>
              <a:t>Spec -&gt; Code -&gt; Test -&gt; Deploy</a:t>
            </a:r>
          </a:p>
        </p:txBody>
      </p:sp>
      <p:sp>
        <p:nvSpPr>
          <p:cNvPr id="8" name="Rounded Rectangle 7"/>
          <p:cNvSpPr/>
          <p:nvPr/>
        </p:nvSpPr>
        <p:spPr>
          <a:xfrm>
            <a:off x="7132320" y="4480560"/>
            <a:ext cx="4572000" cy="12344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Deliverables</a:t>
            </a:r>
          </a:p>
          <a:p>
            <a:pPr algn="ctr"/>
            <a:r>
              <a:rPr sz="1300" b="0">
                <a:solidFill>
                  <a:srgbClr val="2D3436"/>
                </a:solidFill>
                <a:latin typeface="Calibri"/>
              </a:rPr>
              <a:t>Spec | API | Code | Tests |</a:t>
            </a:r>
          </a:p>
          <a:p>
            <a:pPr algn="ctr"/>
            <a:r>
              <a:rPr sz="1300" b="0">
                <a:solidFill>
                  <a:srgbClr val="2D3436"/>
                </a:solidFill>
                <a:latin typeface="Calibri"/>
              </a:rPr>
              <a:t>CI/CD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4-5 Hour Session Agenda</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Opening</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a:t>
            </a:r>
          </a:p>
        </p:txBody>
      </p:sp>
      <p:sp>
        <p:nvSpPr>
          <p:cNvPr id="5" name="Rounded Rectangle 4"/>
          <p:cNvSpPr/>
          <p:nvPr/>
        </p:nvSpPr>
        <p:spPr>
          <a:xfrm>
            <a:off x="457200" y="1188720"/>
            <a:ext cx="320040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Part 1: Foundations</a:t>
            </a:r>
          </a:p>
          <a:p>
            <a:pPr algn="ctr"/>
            <a:r>
              <a:rPr sz="1200" b="0">
                <a:solidFill>
                  <a:srgbClr val="FFFFFF"/>
                </a:solidFill>
                <a:latin typeface="Calibri"/>
              </a:rPr>
              <a:t>&amp; Methodology</a:t>
            </a:r>
          </a:p>
        </p:txBody>
      </p:sp>
      <p:sp>
        <p:nvSpPr>
          <p:cNvPr id="6" name="TextBox 5"/>
          <p:cNvSpPr txBox="1"/>
          <p:nvPr/>
        </p:nvSpPr>
        <p:spPr>
          <a:xfrm>
            <a:off x="457200" y="1874519"/>
            <a:ext cx="3200400" cy="274320"/>
          </a:xfrm>
          <a:prstGeom prst="rect">
            <a:avLst/>
          </a:prstGeom>
          <a:noFill/>
        </p:spPr>
        <p:txBody>
          <a:bodyPr wrap="square">
            <a:spAutoFit/>
          </a:bodyPr>
          <a:lstStyle/>
          <a:p>
            <a:pPr algn="ctr"/>
            <a:r>
              <a:rPr sz="1100" b="1">
                <a:solidFill>
                  <a:srgbClr val="4472C4"/>
                </a:solidFill>
                <a:latin typeface="Calibri"/>
              </a:rPr>
              <a:t>~90 min</a:t>
            </a:r>
          </a:p>
        </p:txBody>
      </p:sp>
      <p:sp>
        <p:nvSpPr>
          <p:cNvPr id="7" name="Rounded Rectangle 6"/>
          <p:cNvSpPr/>
          <p:nvPr/>
        </p:nvSpPr>
        <p:spPr>
          <a:xfrm>
            <a:off x="457200" y="2194560"/>
            <a:ext cx="3200400" cy="16459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0">
                <a:solidFill>
                  <a:srgbClr val="2D3436"/>
                </a:solidFill>
                <a:latin typeface="Calibri"/>
              </a:rPr>
              <a:t>AI-Native concepts</a:t>
            </a:r>
          </a:p>
          <a:p>
            <a:pPr algn="l"/>
            <a:r>
              <a:rPr sz="1100" b="0">
                <a:solidFill>
                  <a:srgbClr val="2D3436"/>
                </a:solidFill>
                <a:latin typeface="Calibri"/>
              </a:rPr>
              <a:t>Spec-driven development</a:t>
            </a:r>
          </a:p>
          <a:p>
            <a:pPr algn="l"/>
            <a:r>
              <a:rPr sz="1100" b="0">
                <a:solidFill>
                  <a:srgbClr val="2D3436"/>
                </a:solidFill>
                <a:latin typeface="Calibri"/>
              </a:rPr>
              <a:t>Tools &amp; prompt engineering</a:t>
            </a:r>
          </a:p>
          <a:p>
            <a:pPr algn="l"/>
            <a:r>
              <a:rPr sz="1100" b="0">
                <a:solidFill>
                  <a:srgbClr val="2D3436"/>
                </a:solidFill>
                <a:latin typeface="Calibri"/>
              </a:rPr>
              <a:t>Architecture design</a:t>
            </a:r>
          </a:p>
        </p:txBody>
      </p:sp>
      <p:sp>
        <p:nvSpPr>
          <p:cNvPr id="8" name="Rounded Rectangle 7"/>
          <p:cNvSpPr/>
          <p:nvPr/>
        </p:nvSpPr>
        <p:spPr>
          <a:xfrm>
            <a:off x="3840480" y="1188720"/>
            <a:ext cx="1097280" cy="640080"/>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Break</a:t>
            </a:r>
          </a:p>
        </p:txBody>
      </p:sp>
      <p:sp>
        <p:nvSpPr>
          <p:cNvPr id="9" name="TextBox 8"/>
          <p:cNvSpPr txBox="1"/>
          <p:nvPr/>
        </p:nvSpPr>
        <p:spPr>
          <a:xfrm>
            <a:off x="3840480" y="1874519"/>
            <a:ext cx="1097280" cy="274320"/>
          </a:xfrm>
          <a:prstGeom prst="rect">
            <a:avLst/>
          </a:prstGeom>
          <a:noFill/>
        </p:spPr>
        <p:txBody>
          <a:bodyPr wrap="square">
            <a:spAutoFit/>
          </a:bodyPr>
          <a:lstStyle/>
          <a:p>
            <a:pPr algn="ctr"/>
            <a:r>
              <a:rPr sz="1100" b="1">
                <a:solidFill>
                  <a:srgbClr val="636E72"/>
                </a:solidFill>
                <a:latin typeface="Calibri"/>
              </a:rPr>
              <a:t>15 min</a:t>
            </a:r>
          </a:p>
        </p:txBody>
      </p:sp>
      <p:sp>
        <p:nvSpPr>
          <p:cNvPr id="10" name="Rounded Rectangle 9"/>
          <p:cNvSpPr/>
          <p:nvPr/>
        </p:nvSpPr>
        <p:spPr>
          <a:xfrm>
            <a:off x="5120640" y="1188720"/>
            <a:ext cx="32004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Part 2: Guided</a:t>
            </a:r>
          </a:p>
          <a:p>
            <a:pPr algn="ctr"/>
            <a:r>
              <a:rPr sz="1200" b="0">
                <a:solidFill>
                  <a:srgbClr val="FFFFFF"/>
                </a:solidFill>
                <a:latin typeface="Calibri"/>
              </a:rPr>
              <a:t>Hands-On Lab</a:t>
            </a:r>
          </a:p>
        </p:txBody>
      </p:sp>
      <p:sp>
        <p:nvSpPr>
          <p:cNvPr id="11" name="TextBox 10"/>
          <p:cNvSpPr txBox="1"/>
          <p:nvPr/>
        </p:nvSpPr>
        <p:spPr>
          <a:xfrm>
            <a:off x="5120640" y="1874519"/>
            <a:ext cx="3200400" cy="274320"/>
          </a:xfrm>
          <a:prstGeom prst="rect">
            <a:avLst/>
          </a:prstGeom>
          <a:noFill/>
        </p:spPr>
        <p:txBody>
          <a:bodyPr wrap="square">
            <a:spAutoFit/>
          </a:bodyPr>
          <a:lstStyle/>
          <a:p>
            <a:pPr algn="ctr"/>
            <a:r>
              <a:rPr sz="1100" b="1">
                <a:solidFill>
                  <a:srgbClr val="70AD47"/>
                </a:solidFill>
                <a:latin typeface="Calibri"/>
              </a:rPr>
              <a:t>~120 min</a:t>
            </a:r>
          </a:p>
        </p:txBody>
      </p:sp>
      <p:sp>
        <p:nvSpPr>
          <p:cNvPr id="12" name="Rounded Rectangle 11"/>
          <p:cNvSpPr/>
          <p:nvPr/>
        </p:nvSpPr>
        <p:spPr>
          <a:xfrm>
            <a:off x="5120640" y="2194560"/>
            <a:ext cx="3200400" cy="16459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0">
                <a:solidFill>
                  <a:srgbClr val="2D3436"/>
                </a:solidFill>
                <a:latin typeface="Calibri"/>
              </a:rPr>
              <a:t>Spec writing exercise</a:t>
            </a:r>
          </a:p>
          <a:p>
            <a:pPr algn="l"/>
            <a:r>
              <a:rPr sz="1100" b="0">
                <a:solidFill>
                  <a:srgbClr val="2D3436"/>
                </a:solidFill>
                <a:latin typeface="Calibri"/>
              </a:rPr>
              <a:t>Code generation &amp; review</a:t>
            </a:r>
          </a:p>
          <a:p>
            <a:pPr algn="l"/>
            <a:r>
              <a:rPr sz="1100" b="0">
                <a:solidFill>
                  <a:srgbClr val="2D3436"/>
                </a:solidFill>
                <a:latin typeface="Calibri"/>
              </a:rPr>
              <a:t>Testing &amp; validation</a:t>
            </a:r>
          </a:p>
          <a:p>
            <a:pPr algn="l"/>
            <a:r>
              <a:rPr sz="1100" b="0">
                <a:solidFill>
                  <a:srgbClr val="2D3436"/>
                </a:solidFill>
                <a:latin typeface="Calibri"/>
              </a:rPr>
              <a:t>CI/CD pipeline setup</a:t>
            </a:r>
          </a:p>
        </p:txBody>
      </p:sp>
      <p:sp>
        <p:nvSpPr>
          <p:cNvPr id="13" name="Rounded Rectangle 12"/>
          <p:cNvSpPr/>
          <p:nvPr/>
        </p:nvSpPr>
        <p:spPr>
          <a:xfrm>
            <a:off x="8503920" y="1188720"/>
            <a:ext cx="1097280" cy="640080"/>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Break</a:t>
            </a:r>
          </a:p>
        </p:txBody>
      </p:sp>
      <p:sp>
        <p:nvSpPr>
          <p:cNvPr id="14" name="TextBox 13"/>
          <p:cNvSpPr txBox="1"/>
          <p:nvPr/>
        </p:nvSpPr>
        <p:spPr>
          <a:xfrm>
            <a:off x="8503920" y="1874519"/>
            <a:ext cx="1097280" cy="274320"/>
          </a:xfrm>
          <a:prstGeom prst="rect">
            <a:avLst/>
          </a:prstGeom>
          <a:noFill/>
        </p:spPr>
        <p:txBody>
          <a:bodyPr wrap="square">
            <a:spAutoFit/>
          </a:bodyPr>
          <a:lstStyle/>
          <a:p>
            <a:pPr algn="ctr"/>
            <a:r>
              <a:rPr sz="1100" b="1">
                <a:solidFill>
                  <a:srgbClr val="636E72"/>
                </a:solidFill>
                <a:latin typeface="Calibri"/>
              </a:rPr>
              <a:t>15 min</a:t>
            </a:r>
          </a:p>
        </p:txBody>
      </p:sp>
      <p:sp>
        <p:nvSpPr>
          <p:cNvPr id="15" name="Rounded Rectangle 14"/>
          <p:cNvSpPr/>
          <p:nvPr/>
        </p:nvSpPr>
        <p:spPr>
          <a:xfrm>
            <a:off x="9784080" y="1188720"/>
            <a:ext cx="320040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Part 3: Advanced</a:t>
            </a:r>
          </a:p>
          <a:p>
            <a:pPr algn="ctr"/>
            <a:r>
              <a:rPr sz="1200" b="0">
                <a:solidFill>
                  <a:srgbClr val="FFFFFF"/>
                </a:solidFill>
                <a:latin typeface="Calibri"/>
              </a:rPr>
              <a:t>Topics &amp; Wrap-up</a:t>
            </a:r>
          </a:p>
        </p:txBody>
      </p:sp>
      <p:sp>
        <p:nvSpPr>
          <p:cNvPr id="16" name="TextBox 15"/>
          <p:cNvSpPr txBox="1"/>
          <p:nvPr/>
        </p:nvSpPr>
        <p:spPr>
          <a:xfrm>
            <a:off x="9784080" y="1874519"/>
            <a:ext cx="3200400" cy="274320"/>
          </a:xfrm>
          <a:prstGeom prst="rect">
            <a:avLst/>
          </a:prstGeom>
          <a:noFill/>
        </p:spPr>
        <p:txBody>
          <a:bodyPr wrap="square">
            <a:spAutoFit/>
          </a:bodyPr>
          <a:lstStyle/>
          <a:p>
            <a:pPr algn="ctr"/>
            <a:r>
              <a:rPr sz="1100" b="1">
                <a:solidFill>
                  <a:srgbClr val="9B59B6"/>
                </a:solidFill>
                <a:latin typeface="Calibri"/>
              </a:rPr>
              <a:t>~60 min</a:t>
            </a:r>
          </a:p>
        </p:txBody>
      </p:sp>
      <p:sp>
        <p:nvSpPr>
          <p:cNvPr id="17" name="Rounded Rectangle 16"/>
          <p:cNvSpPr/>
          <p:nvPr/>
        </p:nvSpPr>
        <p:spPr>
          <a:xfrm>
            <a:off x="9784080" y="2194560"/>
            <a:ext cx="3200400" cy="16459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0">
                <a:solidFill>
                  <a:srgbClr val="2D3436"/>
                </a:solidFill>
                <a:latin typeface="Calibri"/>
              </a:rPr>
              <a:t>Multi-agent development</a:t>
            </a:r>
          </a:p>
          <a:p>
            <a:pPr algn="l"/>
            <a:r>
              <a:rPr sz="1100" b="0">
                <a:solidFill>
                  <a:srgbClr val="2D3436"/>
                </a:solidFill>
                <a:latin typeface="Calibri"/>
              </a:rPr>
              <a:t>AI governance &amp; security</a:t>
            </a:r>
          </a:p>
          <a:p>
            <a:pPr algn="l"/>
            <a:r>
              <a:rPr sz="1100" b="0">
                <a:solidFill>
                  <a:srgbClr val="2D3436"/>
                </a:solidFill>
                <a:latin typeface="Calibri"/>
              </a:rPr>
              <a:t>Homework &amp; discussion</a:t>
            </a:r>
          </a:p>
          <a:p>
            <a:pPr algn="l"/>
            <a:r>
              <a:rPr sz="1100" b="0">
                <a:solidFill>
                  <a:srgbClr val="2D3436"/>
                </a:solidFill>
                <a:latin typeface="Calibri"/>
              </a:rPr>
              <a:t>Key takeaways</a:t>
            </a:r>
          </a:p>
        </p:txBody>
      </p:sp>
      <p:sp>
        <p:nvSpPr>
          <p:cNvPr id="18" name="Rounded Rectangle 17"/>
          <p:cNvSpPr/>
          <p:nvPr/>
        </p:nvSpPr>
        <p:spPr>
          <a:xfrm>
            <a:off x="457200" y="4297680"/>
            <a:ext cx="11247120" cy="5486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2D3436"/>
                </a:solidFill>
                <a:latin typeface="Calibri"/>
              </a:rPr>
              <a:t>Suggested balance:  40% Concepts &amp; Theory   |   60% Guided Practice &amp; Discussion</a:t>
            </a:r>
          </a:p>
        </p:txBody>
      </p:sp>
      <p:sp>
        <p:nvSpPr>
          <p:cNvPr id="19" name="Rounded Rectangle 18"/>
          <p:cNvSpPr/>
          <p:nvPr/>
        </p:nvSpPr>
        <p:spPr>
          <a:xfrm>
            <a:off x="914400" y="5212080"/>
            <a:ext cx="1645920" cy="5029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Concepts</a:t>
            </a:r>
          </a:p>
        </p:txBody>
      </p:sp>
      <p:sp>
        <p:nvSpPr>
          <p:cNvPr id="20" name="Right Arrow 19"/>
          <p:cNvSpPr/>
          <p:nvPr/>
        </p:nvSpPr>
        <p:spPr>
          <a:xfrm>
            <a:off x="257860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08960" y="5212080"/>
            <a:ext cx="1645920" cy="5029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Demo</a:t>
            </a:r>
          </a:p>
        </p:txBody>
      </p:sp>
      <p:sp>
        <p:nvSpPr>
          <p:cNvPr id="22" name="Right Arrow 21"/>
          <p:cNvSpPr/>
          <p:nvPr/>
        </p:nvSpPr>
        <p:spPr>
          <a:xfrm>
            <a:off x="477316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03520" y="5212080"/>
            <a:ext cx="1645920" cy="50292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Hands-on</a:t>
            </a:r>
          </a:p>
        </p:txBody>
      </p:sp>
      <p:sp>
        <p:nvSpPr>
          <p:cNvPr id="24" name="Right Arrow 23"/>
          <p:cNvSpPr/>
          <p:nvPr/>
        </p:nvSpPr>
        <p:spPr>
          <a:xfrm>
            <a:off x="696772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98079" y="5212080"/>
            <a:ext cx="1645920" cy="50292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Review</a:t>
            </a:r>
          </a:p>
        </p:txBody>
      </p:sp>
      <p:sp>
        <p:nvSpPr>
          <p:cNvPr id="26" name="Right Arrow 25"/>
          <p:cNvSpPr/>
          <p:nvPr/>
        </p:nvSpPr>
        <p:spPr>
          <a:xfrm>
            <a:off x="9162288" y="5321808"/>
            <a:ext cx="45720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5212080"/>
            <a:ext cx="1645920" cy="50292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latin typeface="Calibri"/>
              </a:rPr>
              <a:t>Discuss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What is AI-Native Software Development?</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Foundations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a:t>
            </a:r>
          </a:p>
        </p:txBody>
      </p:sp>
      <p:sp>
        <p:nvSpPr>
          <p:cNvPr id="5" name="TextBox 4"/>
          <p:cNvSpPr txBox="1"/>
          <p:nvPr/>
        </p:nvSpPr>
        <p:spPr>
          <a:xfrm>
            <a:off x="548640" y="1188720"/>
            <a:ext cx="5486400" cy="365760"/>
          </a:xfrm>
          <a:prstGeom prst="rect">
            <a:avLst/>
          </a:prstGeom>
          <a:noFill/>
        </p:spPr>
        <p:txBody>
          <a:bodyPr wrap="square">
            <a:spAutoFit/>
          </a:bodyPr>
          <a:lstStyle/>
          <a:p>
            <a:pPr algn="l"/>
            <a:r>
              <a:rPr sz="1800" b="1">
                <a:solidFill>
                  <a:srgbClr val="4472C4"/>
                </a:solidFill>
                <a:latin typeface="Calibri"/>
              </a:rPr>
              <a:t>Definition</a:t>
            </a:r>
          </a:p>
        </p:txBody>
      </p:sp>
      <p:sp>
        <p:nvSpPr>
          <p:cNvPr id="6" name="TextBox 5"/>
          <p:cNvSpPr txBox="1"/>
          <p:nvPr/>
        </p:nvSpPr>
        <p:spPr>
          <a:xfrm>
            <a:off x="548640" y="1645920"/>
            <a:ext cx="5486400" cy="2286000"/>
          </a:xfrm>
          <a:prstGeom prst="rect">
            <a:avLst/>
          </a:prstGeom>
          <a:noFill/>
        </p:spPr>
        <p:txBody>
          <a:bodyPr wrap="square">
            <a:spAutoFit/>
          </a:bodyPr>
          <a:lstStyle/>
          <a:p>
            <a:pPr>
              <a:lnSpc>
                <a:spcPct val="130000"/>
              </a:lnSpc>
              <a:spcAft>
                <a:spcPts val="800"/>
              </a:spcAft>
            </a:pPr>
            <a:r>
              <a:rPr sz="1400">
                <a:solidFill>
                  <a:srgbClr val="2D3436"/>
                </a:solidFill>
                <a:latin typeface="Calibri"/>
              </a:rPr>
              <a:t>• AI participates across the ENTIRE lifecycle, not just coding</a:t>
            </a:r>
          </a:p>
          <a:p>
            <a:pPr>
              <a:lnSpc>
                <a:spcPct val="130000"/>
              </a:lnSpc>
              <a:spcAft>
                <a:spcPts val="800"/>
              </a:spcAft>
            </a:pPr>
            <a:r>
              <a:rPr sz="1400">
                <a:solidFill>
                  <a:srgbClr val="2D3436"/>
                </a:solidFill>
                <a:latin typeface="Calibri"/>
              </a:rPr>
              <a:t>• Specifications become the primary control mechanism</a:t>
            </a:r>
          </a:p>
          <a:p>
            <a:pPr>
              <a:lnSpc>
                <a:spcPct val="130000"/>
              </a:lnSpc>
              <a:spcAft>
                <a:spcPts val="800"/>
              </a:spcAft>
            </a:pPr>
            <a:r>
              <a:rPr sz="1400">
                <a:solidFill>
                  <a:srgbClr val="2D3436"/>
                </a:solidFill>
                <a:latin typeface="Calibri"/>
              </a:rPr>
              <a:t>• Humans review intent, architecture, safety &amp; fitness</a:t>
            </a:r>
          </a:p>
          <a:p>
            <a:pPr>
              <a:lnSpc>
                <a:spcPct val="130000"/>
              </a:lnSpc>
              <a:spcAft>
                <a:spcPts val="800"/>
              </a:spcAft>
            </a:pPr>
            <a:r>
              <a:rPr sz="1400">
                <a:solidFill>
                  <a:srgbClr val="2D3436"/>
                </a:solidFill>
                <a:latin typeface="Calibri"/>
              </a:rPr>
              <a:t>• Continuous feedback loops improve every iteration</a:t>
            </a:r>
          </a:p>
          <a:p>
            <a:pPr>
              <a:lnSpc>
                <a:spcPct val="130000"/>
              </a:lnSpc>
              <a:spcAft>
                <a:spcPts val="800"/>
              </a:spcAft>
            </a:pPr>
            <a:r>
              <a:rPr sz="1400">
                <a:solidFill>
                  <a:srgbClr val="2D3436"/>
                </a:solidFill>
                <a:latin typeface="Calibri"/>
              </a:rPr>
              <a:t>• Code is a generated artifact — specs are the source of truth</a:t>
            </a:r>
          </a:p>
        </p:txBody>
      </p:sp>
      <p:sp>
        <p:nvSpPr>
          <p:cNvPr id="7" name="TextBox 6"/>
          <p:cNvSpPr txBox="1"/>
          <p:nvPr/>
        </p:nvSpPr>
        <p:spPr>
          <a:xfrm>
            <a:off x="6858000" y="1188720"/>
            <a:ext cx="4572000" cy="365760"/>
          </a:xfrm>
          <a:prstGeom prst="rect">
            <a:avLst/>
          </a:prstGeom>
          <a:noFill/>
        </p:spPr>
        <p:txBody>
          <a:bodyPr wrap="square">
            <a:spAutoFit/>
          </a:bodyPr>
          <a:lstStyle/>
          <a:p>
            <a:pPr algn="l"/>
            <a:r>
              <a:rPr sz="1800" b="1">
                <a:solidFill>
                  <a:srgbClr val="4472C4"/>
                </a:solidFill>
                <a:latin typeface="Calibri"/>
              </a:rPr>
              <a:t>Core Principles</a:t>
            </a:r>
          </a:p>
        </p:txBody>
      </p:sp>
      <p:sp>
        <p:nvSpPr>
          <p:cNvPr id="8" name="Rounded Rectangle 7"/>
          <p:cNvSpPr/>
          <p:nvPr/>
        </p:nvSpPr>
        <p:spPr>
          <a:xfrm>
            <a:off x="6858000" y="1691640"/>
            <a:ext cx="4754880" cy="8686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Spec-First</a:t>
            </a:r>
          </a:p>
          <a:p>
            <a:pPr algn="ctr"/>
            <a:r>
              <a:rPr sz="1200" b="0">
                <a:solidFill>
                  <a:srgbClr val="2D3436"/>
                </a:solidFill>
                <a:latin typeface="Calibri"/>
              </a:rPr>
              <a:t>Specifications before code.</a:t>
            </a:r>
          </a:p>
          <a:p>
            <a:pPr algn="ctr"/>
            <a:r>
              <a:rPr sz="1200" b="0">
                <a:solidFill>
                  <a:srgbClr val="2D3436"/>
                </a:solidFill>
                <a:latin typeface="Calibri"/>
              </a:rPr>
              <a:t>AI refines, humans approve.</a:t>
            </a:r>
          </a:p>
        </p:txBody>
      </p:sp>
      <p:sp>
        <p:nvSpPr>
          <p:cNvPr id="9" name="Rounded Rectangle 8"/>
          <p:cNvSpPr/>
          <p:nvPr/>
        </p:nvSpPr>
        <p:spPr>
          <a:xfrm>
            <a:off x="6858000" y="2743200"/>
            <a:ext cx="4754880" cy="8686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Human-in-the-Loop</a:t>
            </a:r>
          </a:p>
          <a:p>
            <a:pPr algn="ctr"/>
            <a:r>
              <a:rPr sz="1200" b="0">
                <a:solidFill>
                  <a:srgbClr val="2D3436"/>
                </a:solidFill>
                <a:latin typeface="Calibri"/>
              </a:rPr>
              <a:t>Critical decisions require</a:t>
            </a:r>
          </a:p>
          <a:p>
            <a:pPr algn="ctr"/>
            <a:r>
              <a:rPr sz="1200" b="0">
                <a:solidFill>
                  <a:srgbClr val="2D3436"/>
                </a:solidFill>
                <a:latin typeface="Calibri"/>
              </a:rPr>
              <a:t>human judgment &amp; review.</a:t>
            </a:r>
          </a:p>
        </p:txBody>
      </p:sp>
      <p:sp>
        <p:nvSpPr>
          <p:cNvPr id="10" name="Rounded Rectangle 9"/>
          <p:cNvSpPr/>
          <p:nvPr/>
        </p:nvSpPr>
        <p:spPr>
          <a:xfrm>
            <a:off x="6858000" y="3794760"/>
            <a:ext cx="4754880" cy="8686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Automated Validation</a:t>
            </a:r>
          </a:p>
          <a:p>
            <a:pPr algn="ctr"/>
            <a:r>
              <a:rPr sz="1200" b="0">
                <a:solidFill>
                  <a:srgbClr val="2D3436"/>
                </a:solidFill>
                <a:latin typeface="Calibri"/>
              </a:rPr>
              <a:t>Tests, scans &amp; CI/CD verify</a:t>
            </a:r>
          </a:p>
          <a:p>
            <a:pPr algn="ctr"/>
            <a:r>
              <a:rPr sz="1200" b="0">
                <a:solidFill>
                  <a:srgbClr val="2D3436"/>
                </a:solidFill>
                <a:latin typeface="Calibri"/>
              </a:rPr>
              <a:t>every generated artifact.</a:t>
            </a:r>
          </a:p>
        </p:txBody>
      </p:sp>
      <p:sp>
        <p:nvSpPr>
          <p:cNvPr id="11" name="Rounded Rectangle 10"/>
          <p:cNvSpPr/>
          <p:nvPr/>
        </p:nvSpPr>
        <p:spPr>
          <a:xfrm>
            <a:off x="6858000" y="4846320"/>
            <a:ext cx="4754880" cy="8686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Continuous Learning</a:t>
            </a:r>
          </a:p>
          <a:p>
            <a:pPr algn="ctr"/>
            <a:r>
              <a:rPr sz="1200" b="0">
                <a:solidFill>
                  <a:srgbClr val="2D3436"/>
                </a:solidFill>
                <a:latin typeface="Calibri"/>
              </a:rPr>
              <a:t>Feedback from production</a:t>
            </a:r>
          </a:p>
          <a:p>
            <a:pPr algn="ctr"/>
            <a:r>
              <a:rPr sz="1200" b="0">
                <a:solidFill>
                  <a:srgbClr val="2D3436"/>
                </a:solidFill>
                <a:latin typeface="Calibri"/>
              </a:rPr>
              <a:t>improves future generations.</a:t>
            </a:r>
          </a:p>
        </p:txBody>
      </p:sp>
      <p:sp>
        <p:nvSpPr>
          <p:cNvPr id="12" name="Rounded Rectangle 11"/>
          <p:cNvSpPr/>
          <p:nvPr/>
        </p:nvSpPr>
        <p:spPr>
          <a:xfrm>
            <a:off x="914400" y="5577840"/>
            <a:ext cx="10332720" cy="502920"/>
          </a:xfrm>
          <a:prstGeom prst="round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AI-Native  =  Human Intent  +  Executable Specification  +  AI Generation  +  Automated Validation  +  Feedback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Traditional SDLC vs AI-Native SDLC</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Foundations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5</a:t>
            </a:r>
          </a:p>
        </p:txBody>
      </p:sp>
      <p:graphicFrame>
        <p:nvGraphicFramePr>
          <p:cNvPr id="5" name="Table 4"/>
          <p:cNvGraphicFramePr>
            <a:graphicFrameLocks noGrp="1"/>
          </p:cNvGraphicFramePr>
          <p:nvPr/>
        </p:nvGraphicFramePr>
        <p:xfrm>
          <a:off x="457200" y="1188720"/>
          <a:ext cx="11247120" cy="4572000"/>
        </p:xfrm>
        <a:graphic>
          <a:graphicData uri="http://schemas.openxmlformats.org/drawingml/2006/table">
            <a:tbl>
              <a:tblPr firstRow="1" bandRow="1">
                <a:tableStyleId>{5C22544A-7EE6-4342-B048-85BDC9FD1C3A}</a:tableStyleId>
              </a:tblPr>
              <a:tblGrid>
                <a:gridCol w="3749040"/>
                <a:gridCol w="3749040"/>
                <a:gridCol w="3749040"/>
              </a:tblGrid>
              <a:tr h="457200">
                <a:tc>
                  <a:txBody>
                    <a:bodyPr/>
                    <a:lstStyle/>
                    <a:p>
                      <a:r>
                        <a:rPr sz="1200" b="1">
                          <a:solidFill>
                            <a:srgbClr val="FFFFFF"/>
                          </a:solidFill>
                          <a:latin typeface="Calibri"/>
                        </a:rPr>
                        <a:t>Dimension</a:t>
                      </a:r>
                    </a:p>
                  </a:txBody>
                  <a:tcPr>
                    <a:solidFill>
                      <a:srgbClr val="2F75B5"/>
                    </a:solidFill>
                  </a:tcPr>
                </a:tc>
                <a:tc>
                  <a:txBody>
                    <a:bodyPr/>
                    <a:lstStyle/>
                    <a:p>
                      <a:r>
                        <a:rPr sz="1200" b="1">
                          <a:solidFill>
                            <a:srgbClr val="FFFFFF"/>
                          </a:solidFill>
                          <a:latin typeface="Calibri"/>
                        </a:rPr>
                        <a:t>Traditional SDLC</a:t>
                      </a:r>
                    </a:p>
                  </a:txBody>
                  <a:tcPr>
                    <a:solidFill>
                      <a:srgbClr val="2F75B5"/>
                    </a:solidFill>
                  </a:tcPr>
                </a:tc>
                <a:tc>
                  <a:txBody>
                    <a:bodyPr/>
                    <a:lstStyle/>
                    <a:p>
                      <a:r>
                        <a:rPr sz="1200" b="1">
                          <a:solidFill>
                            <a:srgbClr val="FFFFFF"/>
                          </a:solidFill>
                          <a:latin typeface="Calibri"/>
                        </a:rPr>
                        <a:t>AI-Native SDLC</a:t>
                      </a:r>
                    </a:p>
                  </a:txBody>
                  <a:tcPr>
                    <a:solidFill>
                      <a:srgbClr val="2F75B5"/>
                    </a:solidFill>
                  </a:tcPr>
                </a:tc>
              </a:tr>
              <a:tr h="457200">
                <a:tc>
                  <a:txBody>
                    <a:bodyPr/>
                    <a:lstStyle/>
                    <a:p>
                      <a:r>
                        <a:rPr sz="1200">
                          <a:solidFill>
                            <a:srgbClr val="2D3436"/>
                          </a:solidFill>
                          <a:latin typeface="Calibri"/>
                        </a:rPr>
                        <a:t>Requirements</a:t>
                      </a:r>
                    </a:p>
                  </a:txBody>
                  <a:tcPr>
                    <a:solidFill>
                      <a:srgbClr val="FFFFFF"/>
                    </a:solidFill>
                  </a:tcPr>
                </a:tc>
                <a:tc>
                  <a:txBody>
                    <a:bodyPr/>
                    <a:lstStyle/>
                    <a:p>
                      <a:r>
                        <a:rPr sz="1200">
                          <a:solidFill>
                            <a:srgbClr val="2D3436"/>
                          </a:solidFill>
                          <a:latin typeface="Calibri"/>
                        </a:rPr>
                        <a:t>Written documents, often outdated</a:t>
                      </a:r>
                    </a:p>
                  </a:txBody>
                  <a:tcPr>
                    <a:solidFill>
                      <a:srgbClr val="FFFFFF"/>
                    </a:solidFill>
                  </a:tcPr>
                </a:tc>
                <a:tc>
                  <a:txBody>
                    <a:bodyPr/>
                    <a:lstStyle/>
                    <a:p>
                      <a:r>
                        <a:rPr sz="1200">
                          <a:solidFill>
                            <a:srgbClr val="2D3436"/>
                          </a:solidFill>
                          <a:latin typeface="Calibri"/>
                        </a:rPr>
                        <a:t>Structured, machine-readable specs</a:t>
                      </a:r>
                    </a:p>
                  </a:txBody>
                  <a:tcPr>
                    <a:solidFill>
                      <a:srgbClr val="FFFFFF"/>
                    </a:solidFill>
                  </a:tcPr>
                </a:tc>
              </a:tr>
              <a:tr h="457200">
                <a:tc>
                  <a:txBody>
                    <a:bodyPr/>
                    <a:lstStyle/>
                    <a:p>
                      <a:r>
                        <a:rPr sz="1200">
                          <a:solidFill>
                            <a:srgbClr val="2D3436"/>
                          </a:solidFill>
                          <a:latin typeface="Calibri"/>
                        </a:rPr>
                        <a:t>Design</a:t>
                      </a:r>
                    </a:p>
                  </a:txBody>
                  <a:tcPr>
                    <a:solidFill>
                      <a:srgbClr val="DDEBF7"/>
                    </a:solidFill>
                  </a:tcPr>
                </a:tc>
                <a:tc>
                  <a:txBody>
                    <a:bodyPr/>
                    <a:lstStyle/>
                    <a:p>
                      <a:r>
                        <a:rPr sz="1200">
                          <a:solidFill>
                            <a:srgbClr val="2D3436"/>
                          </a:solidFill>
                          <a:latin typeface="Calibri"/>
                        </a:rPr>
                        <a:t>Manual architecture, static diagrams</a:t>
                      </a:r>
                    </a:p>
                  </a:txBody>
                  <a:tcPr>
                    <a:solidFill>
                      <a:srgbClr val="DDEBF7"/>
                    </a:solidFill>
                  </a:tcPr>
                </a:tc>
                <a:tc>
                  <a:txBody>
                    <a:bodyPr/>
                    <a:lstStyle/>
                    <a:p>
                      <a:r>
                        <a:rPr sz="1200">
                          <a:solidFill>
                            <a:srgbClr val="2D3436"/>
                          </a:solidFill>
                          <a:latin typeface="Calibri"/>
                        </a:rPr>
                        <a:t>AI-proposed designs, validated by humans</a:t>
                      </a:r>
                    </a:p>
                  </a:txBody>
                  <a:tcPr>
                    <a:solidFill>
                      <a:srgbClr val="DDEBF7"/>
                    </a:solidFill>
                  </a:tcPr>
                </a:tc>
              </a:tr>
              <a:tr h="457200">
                <a:tc>
                  <a:txBody>
                    <a:bodyPr/>
                    <a:lstStyle/>
                    <a:p>
                      <a:r>
                        <a:rPr sz="1200">
                          <a:solidFill>
                            <a:srgbClr val="2D3436"/>
                          </a:solidFill>
                          <a:latin typeface="Calibri"/>
                        </a:rPr>
                        <a:t>Implementation</a:t>
                      </a:r>
                    </a:p>
                  </a:txBody>
                  <a:tcPr>
                    <a:solidFill>
                      <a:srgbClr val="FFFFFF"/>
                    </a:solidFill>
                  </a:tcPr>
                </a:tc>
                <a:tc>
                  <a:txBody>
                    <a:bodyPr/>
                    <a:lstStyle/>
                    <a:p>
                      <a:r>
                        <a:rPr sz="1200">
                          <a:solidFill>
                            <a:srgbClr val="2D3436"/>
                          </a:solidFill>
                          <a:latin typeface="Calibri"/>
                        </a:rPr>
                        <a:t>Developers write all code manually</a:t>
                      </a:r>
                    </a:p>
                  </a:txBody>
                  <a:tcPr>
                    <a:solidFill>
                      <a:srgbClr val="FFFFFF"/>
                    </a:solidFill>
                  </a:tcPr>
                </a:tc>
                <a:tc>
                  <a:txBody>
                    <a:bodyPr/>
                    <a:lstStyle/>
                    <a:p>
                      <a:r>
                        <a:rPr sz="1200">
                          <a:solidFill>
                            <a:srgbClr val="2D3436"/>
                          </a:solidFill>
                          <a:latin typeface="Calibri"/>
                        </a:rPr>
                        <a:t>AI generates code from specs + review</a:t>
                      </a:r>
                    </a:p>
                  </a:txBody>
                  <a:tcPr>
                    <a:solidFill>
                      <a:srgbClr val="FFFFFF"/>
                    </a:solidFill>
                  </a:tcPr>
                </a:tc>
              </a:tr>
              <a:tr h="457200">
                <a:tc>
                  <a:txBody>
                    <a:bodyPr/>
                    <a:lstStyle/>
                    <a:p>
                      <a:r>
                        <a:rPr sz="1200">
                          <a:solidFill>
                            <a:srgbClr val="2D3436"/>
                          </a:solidFill>
                          <a:latin typeface="Calibri"/>
                        </a:rPr>
                        <a:t>Testing</a:t>
                      </a:r>
                    </a:p>
                  </a:txBody>
                  <a:tcPr>
                    <a:solidFill>
                      <a:srgbClr val="DDEBF7"/>
                    </a:solidFill>
                  </a:tcPr>
                </a:tc>
                <a:tc>
                  <a:txBody>
                    <a:bodyPr/>
                    <a:lstStyle/>
                    <a:p>
                      <a:r>
                        <a:rPr sz="1200">
                          <a:solidFill>
                            <a:srgbClr val="2D3436"/>
                          </a:solidFill>
                          <a:latin typeface="Calibri"/>
                        </a:rPr>
                        <a:t>Manual test writing, often late</a:t>
                      </a:r>
                    </a:p>
                  </a:txBody>
                  <a:tcPr>
                    <a:solidFill>
                      <a:srgbClr val="DDEBF7"/>
                    </a:solidFill>
                  </a:tcPr>
                </a:tc>
                <a:tc>
                  <a:txBody>
                    <a:bodyPr/>
                    <a:lstStyle/>
                    <a:p>
                      <a:r>
                        <a:rPr sz="1200">
                          <a:solidFill>
                            <a:srgbClr val="2D3436"/>
                          </a:solidFill>
                          <a:latin typeface="Calibri"/>
                        </a:rPr>
                        <a:t>AI generates tests from acceptance criteria</a:t>
                      </a:r>
                    </a:p>
                  </a:txBody>
                  <a:tcPr>
                    <a:solidFill>
                      <a:srgbClr val="DDEBF7"/>
                    </a:solidFill>
                  </a:tcPr>
                </a:tc>
              </a:tr>
              <a:tr h="457200">
                <a:tc>
                  <a:txBody>
                    <a:bodyPr/>
                    <a:lstStyle/>
                    <a:p>
                      <a:r>
                        <a:rPr sz="1200">
                          <a:solidFill>
                            <a:srgbClr val="2D3436"/>
                          </a:solidFill>
                          <a:latin typeface="Calibri"/>
                        </a:rPr>
                        <a:t>Code Review</a:t>
                      </a:r>
                    </a:p>
                  </a:txBody>
                  <a:tcPr>
                    <a:solidFill>
                      <a:srgbClr val="FFFFFF"/>
                    </a:solidFill>
                  </a:tcPr>
                </a:tc>
                <a:tc>
                  <a:txBody>
                    <a:bodyPr/>
                    <a:lstStyle/>
                    <a:p>
                      <a:r>
                        <a:rPr sz="1200">
                          <a:solidFill>
                            <a:srgbClr val="2D3436"/>
                          </a:solidFill>
                          <a:latin typeface="Calibri"/>
                        </a:rPr>
                        <a:t>Peer review of finished code</a:t>
                      </a:r>
                    </a:p>
                  </a:txBody>
                  <a:tcPr>
                    <a:solidFill>
                      <a:srgbClr val="FFFFFF"/>
                    </a:solidFill>
                  </a:tcPr>
                </a:tc>
                <a:tc>
                  <a:txBody>
                    <a:bodyPr/>
                    <a:lstStyle/>
                    <a:p>
                      <a:r>
                        <a:rPr sz="1200">
                          <a:solidFill>
                            <a:srgbClr val="2D3436"/>
                          </a:solidFill>
                          <a:latin typeface="Calibri"/>
                        </a:rPr>
                        <a:t>Review starts at specification stage</a:t>
                      </a:r>
                    </a:p>
                  </a:txBody>
                  <a:tcPr>
                    <a:solidFill>
                      <a:srgbClr val="FFFFFF"/>
                    </a:solidFill>
                  </a:tcPr>
                </a:tc>
              </a:tr>
              <a:tr h="457200">
                <a:tc>
                  <a:txBody>
                    <a:bodyPr/>
                    <a:lstStyle/>
                    <a:p>
                      <a:r>
                        <a:rPr sz="1200">
                          <a:solidFill>
                            <a:srgbClr val="2D3436"/>
                          </a:solidFill>
                          <a:latin typeface="Calibri"/>
                        </a:rPr>
                        <a:t>CI/CD</a:t>
                      </a:r>
                    </a:p>
                  </a:txBody>
                  <a:tcPr>
                    <a:solidFill>
                      <a:srgbClr val="DDEBF7"/>
                    </a:solidFill>
                  </a:tcPr>
                </a:tc>
                <a:tc>
                  <a:txBody>
                    <a:bodyPr/>
                    <a:lstStyle/>
                    <a:p>
                      <a:r>
                        <a:rPr sz="1200">
                          <a:solidFill>
                            <a:srgbClr val="2D3436"/>
                          </a:solidFill>
                          <a:latin typeface="Calibri"/>
                        </a:rPr>
                        <a:t>Pipeline configured separately</a:t>
                      </a:r>
                    </a:p>
                  </a:txBody>
                  <a:tcPr>
                    <a:solidFill>
                      <a:srgbClr val="DDEBF7"/>
                    </a:solidFill>
                  </a:tcPr>
                </a:tc>
                <a:tc>
                  <a:txBody>
                    <a:bodyPr/>
                    <a:lstStyle/>
                    <a:p>
                      <a:r>
                        <a:rPr sz="1200">
                          <a:solidFill>
                            <a:srgbClr val="2D3436"/>
                          </a:solidFill>
                          <a:latin typeface="Calibri"/>
                        </a:rPr>
                        <a:t>Pipeline generated alongside code</a:t>
                      </a:r>
                    </a:p>
                  </a:txBody>
                  <a:tcPr>
                    <a:solidFill>
                      <a:srgbClr val="DDEBF7"/>
                    </a:solidFill>
                  </a:tcPr>
                </a:tc>
              </a:tr>
              <a:tr h="457200">
                <a:tc>
                  <a:txBody>
                    <a:bodyPr/>
                    <a:lstStyle/>
                    <a:p>
                      <a:r>
                        <a:rPr sz="1200">
                          <a:solidFill>
                            <a:srgbClr val="2D3436"/>
                          </a:solidFill>
                          <a:latin typeface="Calibri"/>
                        </a:rPr>
                        <a:t>Security</a:t>
                      </a:r>
                    </a:p>
                  </a:txBody>
                  <a:tcPr>
                    <a:solidFill>
                      <a:srgbClr val="FFFFFF"/>
                    </a:solidFill>
                  </a:tcPr>
                </a:tc>
                <a:tc>
                  <a:txBody>
                    <a:bodyPr/>
                    <a:lstStyle/>
                    <a:p>
                      <a:r>
                        <a:rPr sz="1200">
                          <a:solidFill>
                            <a:srgbClr val="2D3436"/>
                          </a:solidFill>
                          <a:latin typeface="Calibri"/>
                        </a:rPr>
                        <a:t>Penetration testing at the end</a:t>
                      </a:r>
                    </a:p>
                  </a:txBody>
                  <a:tcPr>
                    <a:solidFill>
                      <a:srgbClr val="FFFFFF"/>
                    </a:solidFill>
                  </a:tcPr>
                </a:tc>
                <a:tc>
                  <a:txBody>
                    <a:bodyPr/>
                    <a:lstStyle/>
                    <a:p>
                      <a:r>
                        <a:rPr sz="1200">
                          <a:solidFill>
                            <a:srgbClr val="2D3436"/>
                          </a:solidFill>
                          <a:latin typeface="Calibri"/>
                        </a:rPr>
                        <a:t>Continuous security scanning in pipeline</a:t>
                      </a:r>
                    </a:p>
                  </a:txBody>
                  <a:tcPr>
                    <a:solidFill>
                      <a:srgbClr val="FFFFFF"/>
                    </a:solidFill>
                  </a:tcPr>
                </a:tc>
              </a:tr>
              <a:tr h="457200">
                <a:tc>
                  <a:txBody>
                    <a:bodyPr/>
                    <a:lstStyle/>
                    <a:p>
                      <a:r>
                        <a:rPr sz="1200">
                          <a:solidFill>
                            <a:srgbClr val="2D3436"/>
                          </a:solidFill>
                          <a:latin typeface="Calibri"/>
                        </a:rPr>
                        <a:t>Documentation</a:t>
                      </a:r>
                    </a:p>
                  </a:txBody>
                  <a:tcPr>
                    <a:solidFill>
                      <a:srgbClr val="DDEBF7"/>
                    </a:solidFill>
                  </a:tcPr>
                </a:tc>
                <a:tc>
                  <a:txBody>
                    <a:bodyPr/>
                    <a:lstStyle/>
                    <a:p>
                      <a:r>
                        <a:rPr sz="1200">
                          <a:solidFill>
                            <a:srgbClr val="2D3436"/>
                          </a:solidFill>
                          <a:latin typeface="Calibri"/>
                        </a:rPr>
                        <a:t>Docs drift from code over time</a:t>
                      </a:r>
                    </a:p>
                  </a:txBody>
                  <a:tcPr>
                    <a:solidFill>
                      <a:srgbClr val="DDEBF7"/>
                    </a:solidFill>
                  </a:tcPr>
                </a:tc>
                <a:tc>
                  <a:txBody>
                    <a:bodyPr/>
                    <a:lstStyle/>
                    <a:p>
                      <a:r>
                        <a:rPr sz="1200">
                          <a:solidFill>
                            <a:srgbClr val="2D3436"/>
                          </a:solidFill>
                          <a:latin typeface="Calibri"/>
                        </a:rPr>
                        <a:t>Specs, code, tests stay synchronized</a:t>
                      </a:r>
                    </a:p>
                  </a:txBody>
                  <a:tcPr>
                    <a:solidFill>
                      <a:srgbClr val="DDEBF7"/>
                    </a:solidFill>
                  </a:tcPr>
                </a:tc>
              </a:tr>
              <a:tr h="457200">
                <a:tc>
                  <a:txBody>
                    <a:bodyPr/>
                    <a:lstStyle/>
                    <a:p>
                      <a:r>
                        <a:rPr sz="1200">
                          <a:solidFill>
                            <a:srgbClr val="2D3436"/>
                          </a:solidFill>
                          <a:latin typeface="Calibri"/>
                        </a:rPr>
                        <a:t>Feedback</a:t>
                      </a:r>
                    </a:p>
                  </a:txBody>
                  <a:tcPr>
                    <a:solidFill>
                      <a:srgbClr val="FFFFFF"/>
                    </a:solidFill>
                  </a:tcPr>
                </a:tc>
                <a:tc>
                  <a:txBody>
                    <a:bodyPr/>
                    <a:lstStyle/>
                    <a:p>
                      <a:r>
                        <a:rPr sz="1200">
                          <a:solidFill>
                            <a:srgbClr val="2D3436"/>
                          </a:solidFill>
                          <a:latin typeface="Calibri"/>
                        </a:rPr>
                        <a:t>Quarterly retrospectives</a:t>
                      </a:r>
                    </a:p>
                  </a:txBody>
                  <a:tcPr>
                    <a:solidFill>
                      <a:srgbClr val="FFFFFF"/>
                    </a:solidFill>
                  </a:tcPr>
                </a:tc>
                <a:tc>
                  <a:txBody>
                    <a:bodyPr/>
                    <a:lstStyle/>
                    <a:p>
                      <a:r>
                        <a:rPr sz="1200">
                          <a:solidFill>
                            <a:srgbClr val="2D3436"/>
                          </a:solidFill>
                          <a:latin typeface="Calibri"/>
                        </a:rPr>
                        <a:t>Continuous automated feedback loops</a:t>
                      </a:r>
                    </a:p>
                  </a:txBody>
                  <a:tcPr>
                    <a:solidFill>
                      <a:srgbClr val="FFFFFF"/>
                    </a:solidFill>
                  </a:tcPr>
                </a:tc>
              </a:tr>
            </a:tbl>
          </a:graphicData>
        </a:graphic>
      </p:graphicFrame>
      <p:sp>
        <p:nvSpPr>
          <p:cNvPr id="6" name="Rounded Rectangle 5"/>
          <p:cNvSpPr/>
          <p:nvPr/>
        </p:nvSpPr>
        <p:spPr>
          <a:xfrm>
            <a:off x="1371600" y="5623560"/>
            <a:ext cx="94183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Key Insight: In AI-native development, specifications and tests are MORE important than code itself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AI-Native SDLC Lifecycle</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Foundations</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6</a:t>
            </a:r>
          </a:p>
        </p:txBody>
      </p:sp>
      <p:sp>
        <p:nvSpPr>
          <p:cNvPr id="5" name="Rounded Rectangle 4"/>
          <p:cNvSpPr/>
          <p:nvPr/>
        </p:nvSpPr>
        <p:spPr>
          <a:xfrm>
            <a:off x="3200400" y="1234439"/>
            <a:ext cx="128016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1. Capture</a:t>
            </a:r>
          </a:p>
          <a:p>
            <a:pPr algn="ctr"/>
            <a:r>
              <a:rPr sz="1000" b="0">
                <a:solidFill>
                  <a:srgbClr val="FFFFFF"/>
                </a:solidFill>
                <a:latin typeface="Calibri"/>
              </a:rPr>
              <a:t>Intent</a:t>
            </a:r>
          </a:p>
        </p:txBody>
      </p:sp>
      <p:sp>
        <p:nvSpPr>
          <p:cNvPr id="6" name="Rounded Rectangle 5"/>
          <p:cNvSpPr/>
          <p:nvPr/>
        </p:nvSpPr>
        <p:spPr>
          <a:xfrm>
            <a:off x="4773194" y="1991858"/>
            <a:ext cx="128016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2. Write</a:t>
            </a:r>
          </a:p>
          <a:p>
            <a:pPr algn="ctr"/>
            <a:r>
              <a:rPr sz="1000" b="0">
                <a:solidFill>
                  <a:srgbClr val="FFFFFF"/>
                </a:solidFill>
                <a:latin typeface="Calibri"/>
              </a:rPr>
              <a:t>Specification</a:t>
            </a:r>
          </a:p>
        </p:txBody>
      </p:sp>
      <p:sp>
        <p:nvSpPr>
          <p:cNvPr id="7" name="Rounded Rectangle 6"/>
          <p:cNvSpPr/>
          <p:nvPr/>
        </p:nvSpPr>
        <p:spPr>
          <a:xfrm>
            <a:off x="5161642" y="3693760"/>
            <a:ext cx="12801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3. AI-Assisted</a:t>
            </a:r>
          </a:p>
          <a:p>
            <a:pPr algn="ctr"/>
            <a:r>
              <a:rPr sz="1000" b="0">
                <a:solidFill>
                  <a:srgbClr val="FFFFFF"/>
                </a:solidFill>
                <a:latin typeface="Calibri"/>
              </a:rPr>
              <a:t>Design</a:t>
            </a:r>
          </a:p>
        </p:txBody>
      </p:sp>
      <p:sp>
        <p:nvSpPr>
          <p:cNvPr id="8" name="Rounded Rectangle 7"/>
          <p:cNvSpPr/>
          <p:nvPr/>
        </p:nvSpPr>
        <p:spPr>
          <a:xfrm>
            <a:off x="4073235" y="5058581"/>
            <a:ext cx="128016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4. Generate</a:t>
            </a:r>
          </a:p>
          <a:p>
            <a:pPr algn="ctr"/>
            <a:r>
              <a:rPr sz="1000" b="0">
                <a:solidFill>
                  <a:srgbClr val="FFFFFF"/>
                </a:solidFill>
                <a:latin typeface="Calibri"/>
              </a:rPr>
              <a:t>Code</a:t>
            </a:r>
          </a:p>
        </p:txBody>
      </p:sp>
      <p:sp>
        <p:nvSpPr>
          <p:cNvPr id="9" name="Rounded Rectangle 8"/>
          <p:cNvSpPr/>
          <p:nvPr/>
        </p:nvSpPr>
        <p:spPr>
          <a:xfrm>
            <a:off x="2327564" y="5058581"/>
            <a:ext cx="128016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5. Automated</a:t>
            </a:r>
          </a:p>
          <a:p>
            <a:pPr algn="ctr"/>
            <a:r>
              <a:rPr sz="1000" b="0">
                <a:solidFill>
                  <a:srgbClr val="FFFFFF"/>
                </a:solidFill>
                <a:latin typeface="Calibri"/>
              </a:rPr>
              <a:t>Testing</a:t>
            </a:r>
          </a:p>
        </p:txBody>
      </p:sp>
      <p:sp>
        <p:nvSpPr>
          <p:cNvPr id="10" name="Rounded Rectangle 9"/>
          <p:cNvSpPr/>
          <p:nvPr/>
        </p:nvSpPr>
        <p:spPr>
          <a:xfrm>
            <a:off x="1239157" y="3693760"/>
            <a:ext cx="128016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6. CI/CD</a:t>
            </a:r>
          </a:p>
          <a:p>
            <a:pPr algn="ctr"/>
            <a:r>
              <a:rPr sz="1000" b="0">
                <a:solidFill>
                  <a:srgbClr val="FFFFFF"/>
                </a:solidFill>
                <a:latin typeface="Calibri"/>
              </a:rPr>
              <a:t>Deploy</a:t>
            </a:r>
          </a:p>
        </p:txBody>
      </p:sp>
      <p:sp>
        <p:nvSpPr>
          <p:cNvPr id="11" name="Rounded Rectangle 10"/>
          <p:cNvSpPr/>
          <p:nvPr/>
        </p:nvSpPr>
        <p:spPr>
          <a:xfrm>
            <a:off x="1627605" y="1991858"/>
            <a:ext cx="128016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7. Monitor &amp;</a:t>
            </a:r>
          </a:p>
          <a:p>
            <a:pPr algn="ctr"/>
            <a:r>
              <a:rPr sz="1000" b="0">
                <a:solidFill>
                  <a:srgbClr val="FFFFFF"/>
                </a:solidFill>
                <a:latin typeface="Calibri"/>
              </a:rPr>
              <a:t>Feedback</a:t>
            </a:r>
          </a:p>
        </p:txBody>
      </p:sp>
      <p:sp>
        <p:nvSpPr>
          <p:cNvPr id="12" name="Rounded Rectangle 11"/>
          <p:cNvSpPr/>
          <p:nvPr/>
        </p:nvSpPr>
        <p:spPr>
          <a:xfrm>
            <a:off x="3108960" y="3246120"/>
            <a:ext cx="1463040" cy="640080"/>
          </a:xfrm>
          <a:prstGeom prst="round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AI-Native</a:t>
            </a:r>
          </a:p>
          <a:p>
            <a:pPr algn="ctr"/>
            <a:r>
              <a:rPr sz="1400" b="0">
                <a:solidFill>
                  <a:srgbClr val="FFFFFF"/>
                </a:solidFill>
                <a:latin typeface="Calibri"/>
              </a:rPr>
              <a:t>SDLC</a:t>
            </a:r>
          </a:p>
        </p:txBody>
      </p:sp>
      <p:sp>
        <p:nvSpPr>
          <p:cNvPr id="13" name="TextBox 12"/>
          <p:cNvSpPr txBox="1"/>
          <p:nvPr/>
        </p:nvSpPr>
        <p:spPr>
          <a:xfrm>
            <a:off x="6858000" y="1188720"/>
            <a:ext cx="4572000" cy="365760"/>
          </a:xfrm>
          <a:prstGeom prst="rect">
            <a:avLst/>
          </a:prstGeom>
          <a:noFill/>
        </p:spPr>
        <p:txBody>
          <a:bodyPr wrap="square">
            <a:spAutoFit/>
          </a:bodyPr>
          <a:lstStyle/>
          <a:p>
            <a:pPr algn="l"/>
            <a:r>
              <a:rPr sz="1600" b="1">
                <a:solidFill>
                  <a:srgbClr val="4472C4"/>
                </a:solidFill>
                <a:latin typeface="Calibri"/>
              </a:rPr>
              <a:t>What Happens at Each Stage</a:t>
            </a:r>
          </a:p>
        </p:txBody>
      </p:sp>
      <p:sp>
        <p:nvSpPr>
          <p:cNvPr id="14" name="Rounded Rectangle 13"/>
          <p:cNvSpPr/>
          <p:nvPr/>
        </p:nvSpPr>
        <p:spPr>
          <a:xfrm>
            <a:off x="6858000" y="1691640"/>
            <a:ext cx="4754880" cy="50292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Intent Capture:  Stakeholder needs converted to structured requirements</a:t>
            </a:r>
          </a:p>
        </p:txBody>
      </p:sp>
      <p:sp>
        <p:nvSpPr>
          <p:cNvPr id="15" name="Rounded Rectangle 14"/>
          <p:cNvSpPr/>
          <p:nvPr/>
        </p:nvSpPr>
        <p:spPr>
          <a:xfrm>
            <a:off x="6858000" y="2331720"/>
            <a:ext cx="4754880" cy="50292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Specification:  Functional/non-functional reqs, API contracts, acceptance criteria</a:t>
            </a:r>
          </a:p>
        </p:txBody>
      </p:sp>
      <p:sp>
        <p:nvSpPr>
          <p:cNvPr id="16" name="Rounded Rectangle 15"/>
          <p:cNvSpPr/>
          <p:nvPr/>
        </p:nvSpPr>
        <p:spPr>
          <a:xfrm>
            <a:off x="6858000" y="2971800"/>
            <a:ext cx="4754880" cy="50292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AI Design:  Architecture proposals, trade-off analysis, UML generation</a:t>
            </a:r>
          </a:p>
        </p:txBody>
      </p:sp>
      <p:sp>
        <p:nvSpPr>
          <p:cNvPr id="17" name="Rounded Rectangle 16"/>
          <p:cNvSpPr/>
          <p:nvPr/>
        </p:nvSpPr>
        <p:spPr>
          <a:xfrm>
            <a:off x="6858000" y="3611879"/>
            <a:ext cx="4754880" cy="50292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Code Generation:  AI generates implementation; humans review &amp; refine</a:t>
            </a:r>
          </a:p>
        </p:txBody>
      </p:sp>
      <p:sp>
        <p:nvSpPr>
          <p:cNvPr id="18" name="Rounded Rectangle 17"/>
          <p:cNvSpPr/>
          <p:nvPr/>
        </p:nvSpPr>
        <p:spPr>
          <a:xfrm>
            <a:off x="6858000" y="4251960"/>
            <a:ext cx="4754880" cy="50292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Testing:  Unit, integration, E2E tests generated from specs</a:t>
            </a:r>
          </a:p>
        </p:txBody>
      </p:sp>
      <p:sp>
        <p:nvSpPr>
          <p:cNvPr id="19" name="Rounded Rectangle 18"/>
          <p:cNvSpPr/>
          <p:nvPr/>
        </p:nvSpPr>
        <p:spPr>
          <a:xfrm>
            <a:off x="6858000" y="4892040"/>
            <a:ext cx="4754880" cy="50292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CI/CD Deploy:  Automated build, scan, deploy with quality gates</a:t>
            </a:r>
          </a:p>
        </p:txBody>
      </p:sp>
      <p:sp>
        <p:nvSpPr>
          <p:cNvPr id="20" name="Rounded Rectangle 19"/>
          <p:cNvSpPr/>
          <p:nvPr/>
        </p:nvSpPr>
        <p:spPr>
          <a:xfrm>
            <a:off x="6858000" y="5532119"/>
            <a:ext cx="4754880" cy="50292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0">
                <a:solidFill>
                  <a:srgbClr val="2D3436"/>
                </a:solidFill>
                <a:latin typeface="Calibri"/>
              </a:rPr>
              <a:t>Feedback:  Telemetry, bug reports, and metrics feed next cycle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