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23: Testing Strategy in AI-Native Development</a:t>
            </a:r>
          </a:p>
          <a:p>
            <a:r>
              <a:t>----------------------------------------------------------------------</a:t>
            </a:r>
          </a:p>
          <a:p>
            <a:r>
              <a:t>THE TESTING PYRAMID:</a:t>
            </a:r>
          </a:p>
          <a:p>
            <a:r>
              <a:t>- Base (Unit Tests): Most numerous. Test business rules, service methods, utility functions. Run in milliseconds. AI generates these FROM acceptance criteria.</a:t>
            </a:r>
          </a:p>
          <a:p>
            <a:r>
              <a:t>- Middle (Integration Tests): Tests how components work together -- API endpoints, database queries. Slower but catch issues unit tests miss.</a:t>
            </a:r>
          </a:p>
          <a:p>
            <a:r>
              <a:t>- Top (E2E Tests): Tests complete user journeys. Expensive to write/maintain, only cover critical paths.</a:t>
            </a:r>
          </a:p>
          <a:p/>
          <a:p>
            <a:r>
              <a:t>WHY TESTING IS MORE IMPORTANT IN AI-NATIVE:</a:t>
            </a:r>
          </a:p>
          <a:p>
            <a:r>
              <a:t>1. AI-generated code is plausible but potentially incorrect. Tests catch subtle bugs.</a:t>
            </a:r>
          </a:p>
          <a:p>
            <a:r>
              <a:t>2. When specs change and code is regenerated, tests ensure no regressions.</a:t>
            </a:r>
          </a:p>
          <a:p>
            <a:r>
              <a:t>3. Tests are executable documentation of what the system should do.</a:t>
            </a:r>
          </a:p>
          <a:p/>
          <a:p>
            <a:r>
              <a:t>THE TEST-FIRST APPROACH:</a:t>
            </a:r>
          </a:p>
          <a:p>
            <a:r>
              <a:t>- Prompt AI to generate tests from acceptance criteria BEFORE generating implementation code.</a:t>
            </a:r>
          </a:p>
          <a:p>
            <a:r>
              <a:t>- This gives you a validation harness that every generated implementation must pass.</a:t>
            </a:r>
          </a:p>
          <a:p/>
          <a:p>
            <a:r>
              <a:t>FLOW AT BOTTOM: Acceptance Criteria -&gt; Tests -&gt; Code -&gt; Validation. This is the AI-native quality loop.</a:t>
            </a:r>
          </a:p>
          <a:p/>
          <a:p>
            <a:r>
              <a:t>Discussion: "How does this change the way you teach testing? If tests come first and code is generated, what skills do students need?"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24: AI-Assisted Test Generation</a:t>
            </a:r>
          </a:p>
          <a:p>
            <a:r>
              <a:t>--------------------------------------------------------</a:t>
            </a:r>
          </a:p>
          <a:p>
            <a:r>
              <a:t>THE FLOW: Acceptance Criteria -&gt; AI Prompt -&gt; Generated Tests -&gt; Human Review -&gt; Test Suite.</a:t>
            </a:r>
          </a:p>
          <a:p/>
          <a:p>
            <a:r>
              <a:t>THE CODE EXAMPLE:</a:t>
            </a:r>
          </a:p>
          <a:p>
            <a:r>
              <a:t>- shouldCreateTaskSuccessfully(): Happy path. Creates valid request, verifies response has ID and status is OPEN.</a:t>
            </a:r>
          </a:p>
          <a:p>
            <a:r>
              <a:t>- shouldRejectDuplicateTask(): Negative test. Verifies DuplicateTaskException on duplicate title. AI often misses negative tests.</a:t>
            </a:r>
          </a:p>
          <a:p/>
          <a:p>
            <a:r>
              <a:t>BEST PRACTICES:</a:t>
            </a:r>
          </a:p>
          <a:p>
            <a:r>
              <a:t>1. PROMPT STRATEGY: Include acceptance criteria, mention edge cases explicitly, specify framework.</a:t>
            </a:r>
          </a:p>
          <a:p>
            <a:r>
              <a:t>2. REVIEW CHECKLIST: Verify assertions match spec, check boundaries, ensure negative tests exist.</a:t>
            </a:r>
          </a:p>
          <a:p>
            <a:r>
              <a:t>3. COVERAGE TARGETS: Line &gt; 80%, Branch &gt; 70%, Mutation score &gt; 60% (tests actually catch bugs).</a:t>
            </a:r>
          </a:p>
          <a:p/>
          <a:p>
            <a:r>
              <a:t>Ask: "What's the difference between a test that runs code and a test that validates behavior?" High coverage doesn't mean good tests.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25: Validation Matrix &amp; Quality Gates</a:t>
            </a:r>
          </a:p>
          <a:p>
            <a:r>
              <a:t>--------------------------------------------------------------</a:t>
            </a:r>
          </a:p>
          <a:p>
            <a:r>
              <a:t>VALIDATION MATRIX:</a:t>
            </a:r>
          </a:p>
          <a:p>
            <a:r>
              <a:t>1. Requirements Validation (Before Coding): Check that spec captures stakeholder needs. AI can help: "Review this spec for ambiguity and contradictions."</a:t>
            </a:r>
          </a:p>
          <a:p>
            <a:r>
              <a:t>2. Functional Validation (Every Commit): Unit + integration tests verify code works correctly. Automated in CI.</a:t>
            </a:r>
          </a:p>
          <a:p>
            <a:r>
              <a:t>3. Security Validation (Every Commit): SAST (SonarQube, Snyk Code) and DAST (OWASP ZAP). AI-generated code is particularly prone to security issues.</a:t>
            </a:r>
          </a:p>
          <a:p>
            <a:r>
              <a:t>4. Performance Validation (Before Release): Load testing with measurable targets. AI code often has N+1 queries and missing indexes.</a:t>
            </a:r>
          </a:p>
          <a:p>
            <a:r>
              <a:t>5. Operational Validation (After Deployment): Smoke tests, health checks in target environment.</a:t>
            </a:r>
          </a:p>
          <a:p/>
          <a:p>
            <a:r>
              <a:t>QUALITY GATES: Non-negotiable thresholds:</a:t>
            </a:r>
          </a:p>
          <a:p>
            <a:r>
              <a:t>- Code Coverage &gt; 80%: Most code paths tested</a:t>
            </a:r>
          </a:p>
          <a:p>
            <a:r>
              <a:t>- Critical Vulnerabilities = 0: No known critical security issues</a:t>
            </a:r>
          </a:p>
          <a:p>
            <a:r>
              <a:t>- P95 Response &lt; 200ms: Response time under 200ms</a:t>
            </a:r>
          </a:p>
          <a:p>
            <a:r>
              <a:t>- Mutation Score &gt; 60%: Tests actually catch injected bugs</a:t>
            </a:r>
          </a:p>
          <a:p>
            <a:r>
              <a:t>- Lint 0 Warnings: Clean code standards enforced</a:t>
            </a:r>
          </a:p>
          <a:p/>
          <a:p>
            <a:r>
              <a:t>KEY MESSAGE: All gates must pass. No manual overrides.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26: Security in AI-Generated Software</a:t>
            </a:r>
          </a:p>
          <a:p>
            <a:r>
              <a:t>--------------------------------------------------------------</a:t>
            </a:r>
          </a:p>
          <a:p>
            <a:r>
              <a:t>UNIQUE RISKS:</a:t>
            </a:r>
          </a:p>
          <a:p>
            <a:r>
              <a:t>1. INSECURE DEFAULTS: AI often generates CORS "*", .permitAll(), HTTP instead of HTTPS.</a:t>
            </a:r>
          </a:p>
          <a:p>
            <a:r>
              <a:t>2. HALLUCINATED DEPENDENCIES: AI suggests packages that don't exist. Attackers register them ("dependency confusion").</a:t>
            </a:r>
          </a:p>
          <a:p>
            <a:r>
              <a:t>3. SECRET LEAKAGE: Credentials in prompts may end up in generated code or AI training data.</a:t>
            </a:r>
          </a:p>
          <a:p>
            <a:r>
              <a:t>4. OVER-PERMISSIVE AUTH: AI generates simple auth checks -- authenticated but not authorized for the specific resource.</a:t>
            </a:r>
          </a:p>
          <a:p>
            <a:r>
              <a:t>5. MISSING INPUT VALIDATION: No @Valid annotations, no size limits, no format checks.</a:t>
            </a:r>
          </a:p>
          <a:p>
            <a:r>
              <a:t>6. OUTDATED PATTERNS: MD5 for password hashing, JWT without expiration, etc.</a:t>
            </a:r>
          </a:p>
          <a:p/>
          <a:p>
            <a:r>
              <a:t>MITIGATION STRATEGIES:</a:t>
            </a:r>
          </a:p>
          <a:p>
            <a:r>
              <a:t>1. Manual auth review -- too critical for AI alone.</a:t>
            </a:r>
          </a:p>
          <a:p>
            <a:r>
              <a:t>2. Snyk/Dependabot for dependency scanning.</a:t>
            </a:r>
          </a:p>
          <a:p>
            <a:r>
              <a:t>3. Secret managers (Vault, AWS Secrets Manager).</a:t>
            </a:r>
          </a:p>
          <a:p>
            <a:r>
              <a:t>4. OWASP Top 10 checklist per endpoint.</a:t>
            </a:r>
          </a:p>
          <a:p>
            <a:r>
              <a:t>5. SAST/DAST in CI pipeline.</a:t>
            </a:r>
          </a:p>
          <a:p>
            <a:r>
              <a:t>6. Regular security code reviews.</a:t>
            </a:r>
          </a:p>
          <a:p/>
          <a:p>
            <a:r>
              <a:t>SECURITY WORKFLOW: Generate -&gt; SAST -&gt; Dependency Audit -&gt; Manual Review -&gt; Secure Code.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27: OWASP-Oriented Security Review</a:t>
            </a:r>
          </a:p>
          <a:p>
            <a:r>
              <a:t>------------------------------------------------------------</a:t>
            </a:r>
          </a:p>
          <a:p>
            <a:r>
              <a:t>OWASP CATEGORIES:</a:t>
            </a:r>
          </a:p>
          <a:p>
            <a:r>
              <a:t>1. A01 - BROKEN ACCESS CONTROL: AI checks auth but not authorization. Does every endpoint validate resource ownership?</a:t>
            </a:r>
          </a:p>
          <a:p>
            <a:r>
              <a:t>2. A03 - INJECTION: AI sometimes generates raw SQL with string concatenation. Always use parameterized queries.</a:t>
            </a:r>
          </a:p>
          <a:p>
            <a:r>
              <a:t>3. A05 - SECURITY MISCONFIGURATION: Debug mode, open CORS, default accounts. Create a security config checklist.</a:t>
            </a:r>
          </a:p>
          <a:p>
            <a:r>
              <a:t>4. A06 - VULNERABLE DEPENDENCIES: Outdated versions with CVEs. Hallucinated packages. Run npm audit / mvn dependency-check.</a:t>
            </a:r>
          </a:p>
          <a:p>
            <a:r>
              <a:t>5. A02 - CRYPTOGRAPHIC FAILURES: MD5 instead of bcrypt. Sensitive data in logs. Missing TLS.</a:t>
            </a:r>
          </a:p>
          <a:p/>
          <a:p>
            <a:r>
              <a:t>THREAT MODELING FRAMEWORK:</a:t>
            </a:r>
          </a:p>
          <a:p>
            <a:r>
              <a:t>- ASSET: What you're protecting (user data, auth tokens, API keys)</a:t>
            </a:r>
          </a:p>
          <a:p>
            <a:r>
              <a:t>- THREAT: What could go wrong (unauthorized access, data exposure, injection)</a:t>
            </a:r>
          </a:p>
          <a:p>
            <a:r>
              <a:t>- CONTROL: How to prevent (authentication, authorization, input validation)</a:t>
            </a:r>
          </a:p>
          <a:p>
            <a:r>
              <a:t>- EVIDENCE: How to verify (security tests, SAST scans, penetration testing)</a:t>
            </a:r>
          </a:p>
          <a:p/>
          <a:p>
            <a:r>
              <a:t>Exercise idea: Take one endpoint and apply this framework.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28: Secure Coding Practices &amp; DevSecOps</a:t>
            </a:r>
          </a:p>
          <a:p>
            <a:r>
              <a:t>-----------------------------------------------------------------</a:t>
            </a:r>
          </a:p>
          <a:p>
            <a:r>
              <a:t>CODE EXAMPLE WALKTHROUGH:</a:t>
            </a:r>
          </a:p>
          <a:p>
            <a:r>
              <a:t>1. @PreAuthorize("hasRole('USER')"): Method-level authorization. AI often omits this.</a:t>
            </a:r>
          </a:p>
          <a:p>
            <a:r>
              <a:t>2. @Valid on @RequestBody: Triggers Bean Validation. AI sometimes skips validation.</a:t>
            </a:r>
          </a:p>
          <a:p>
            <a:r>
              <a:t>3. @AuthenticationPrincipal: Injects authenticated user. Critical for ownership validation.</a:t>
            </a:r>
          </a:p>
          <a:p>
            <a:r>
              <a:t>4. user.getId() passed to service: Prevents horizontal privilege escalation. AI often accepts userId from request body.</a:t>
            </a:r>
          </a:p>
          <a:p/>
          <a:p>
            <a:r>
              <a:t>KEY PRACTICES:</a:t>
            </a:r>
          </a:p>
          <a:p>
            <a:r>
              <a:t>1. Method-Level Auth: Every endpoint needs authorization.</a:t>
            </a:r>
          </a:p>
          <a:p>
            <a:r>
              <a:t>2. Input Validation: @NotBlank, @Size, @Email on DTOs.</a:t>
            </a:r>
          </a:p>
          <a:p>
            <a:r>
              <a:t>3. Audit Logging: Log security events for forensic analysis.</a:t>
            </a:r>
          </a:p>
          <a:p>
            <a:r>
              <a:t>4. Secret Management: Environment variables or secret managers.</a:t>
            </a:r>
          </a:p>
          <a:p>
            <a:r>
              <a:t>5. Dependency Audit: Run scans on every build.</a:t>
            </a:r>
          </a:p>
          <a:p/>
          <a:p>
            <a:r>
              <a:t>DEVSECOPS: Security is embedded in spec review, code generation prompts, CI pipeline, and post-deployment monitoring.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29: CI/CD Pipeline Architecture</a:t>
            </a:r>
          </a:p>
          <a:p>
            <a:r>
              <a:t>--------------------------------------------------------</a:t>
            </a:r>
          </a:p>
          <a:p>
            <a:r>
              <a:t>PIPELINE STAGES:</a:t>
            </a:r>
          </a:p>
          <a:p>
            <a:r>
              <a:t>1. COMMIT: Push triggers pipeline.</a:t>
            </a:r>
          </a:p>
          <a:p>
            <a:r>
              <a:t>2. BUILD: Compile, resolve dependencies, generate artifacts. Fails fast on compilation errors.</a:t>
            </a:r>
          </a:p>
          <a:p>
            <a:r>
              <a:t>3. UNIT TESTS: Run all unit tests (&lt; 60 seconds). Pipeline stops on failure.</a:t>
            </a:r>
          </a:p>
          <a:p>
            <a:r>
              <a:t>4. SAST SCAN: SonarQube/Snyk Code analyzes source for vulnerabilities.</a:t>
            </a:r>
          </a:p>
          <a:p>
            <a:r>
              <a:t>5. INTEGRATION TESTS: Test API endpoints, DB interactions. Use Testcontainers.</a:t>
            </a:r>
          </a:p>
          <a:p>
            <a:r>
              <a:t>6. DOCKER BUILD: Build minimal image, tag with commit SHA.</a:t>
            </a:r>
          </a:p>
          <a:p>
            <a:r>
              <a:t>7. SECURITY SCAN: Scan Docker image with Trivy/Snyk Container.</a:t>
            </a:r>
          </a:p>
          <a:p>
            <a:r>
              <a:t>8. DEPLOY STAGING: Apply K8s manifests to staging environment.</a:t>
            </a:r>
          </a:p>
          <a:p>
            <a:r>
              <a:t>9. SMOKE TESTS: Hit health endpoints, verify key flows.</a:t>
            </a:r>
          </a:p>
          <a:p>
            <a:r>
              <a:t>10. APPROVAL GATE: Manual checkpoint before production.</a:t>
            </a:r>
          </a:p>
          <a:p>
            <a:r>
              <a:t>11. DEPLOY PROD: Blue-green or canary with automatic rollback.</a:t>
            </a:r>
          </a:p>
          <a:p/>
          <a:p>
            <a:r>
              <a:t>QUALITY GATES: Non-negotiable. No manual overrides.</a:t>
            </a:r>
          </a:p>
          <a:p>
            <a:r>
              <a:t>RELEASE STRATEGY: Trunk-based development with feature branches and PRs.</a:t>
            </a:r>
          </a:p>
          <a:p/>
          <a:p>
            <a:r>
              <a:t>Ask: "Does your curriculum include CI/CD? This is critical for industry readiness."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30: CI/CD Implementation: GitHub Actions</a:t>
            </a:r>
          </a:p>
          <a:p>
            <a:r>
              <a:t>-----------------------------------------------------------------</a:t>
            </a:r>
          </a:p>
          <a:p>
            <a:r>
              <a:t>LINE-BY-LINE:</a:t>
            </a:r>
          </a:p>
          <a:p>
            <a:r>
              <a:t>- on: [push, pull_request]: Triggers on every push and PR.</a:t>
            </a:r>
          </a:p>
          <a:p>
            <a:r>
              <a:t>- actions/checkout@v4: Checks out code.</a:t>
            </a:r>
          </a:p>
          <a:p>
            <a:r>
              <a:t>- actions/setup-java@v4: Installs Java 21.</a:t>
            </a:r>
          </a:p>
          <a:p>
            <a:r>
              <a:t>- ./mvnw verify: Compiles, runs tests, packages. Fails on test failure.</a:t>
            </a:r>
          </a:p>
          <a:p>
            <a:r>
              <a:t>- ./mvnw sonar:sonar: Code quality analysis.</a:t>
            </a:r>
          </a:p>
          <a:p>
            <a:r>
              <a:t>- snyk/actions/maven@master: Dependency vulnerability scan.</a:t>
            </a:r>
          </a:p>
          <a:p>
            <a:r>
              <a:t>- docker/build-push-action@v5: Build Docker image tagged with commit SHA.</a:t>
            </a:r>
          </a:p>
          <a:p>
            <a:r>
              <a:t>- deploy-staging needs build-test-scan: Only deploys after all checks pass.</a:t>
            </a:r>
          </a:p>
          <a:p>
            <a:r>
              <a:t>- kubectl apply + smoke-test.sh: Deploy and verify.</a:t>
            </a:r>
          </a:p>
          <a:p/>
          <a:p>
            <a:r>
              <a:t>HOW AI HELPS: Prompt "Generate GitHub Actions workflow for Spring Boot with Maven, SonarQube, Snyk, Docker build, K8s deployment." AI generates 80-90%.</a:t>
            </a:r>
          </a:p>
          <a:p/>
          <a:p>
            <a:r>
              <a:t>Ask: "Does your curriculum include CI/CD? This is critical for industry readiness."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31: Containerization &amp; Deployment</a:t>
            </a:r>
          </a:p>
          <a:p>
            <a:r>
              <a:t>-----------------------------------------------------------</a:t>
            </a:r>
          </a:p>
          <a:p>
            <a:r>
              <a:t>DOCKERFILE:</a:t>
            </a:r>
          </a:p>
          <a:p>
            <a:r>
              <a:t>1. FROM eclipse-temurin:21-jre-alpine: JRE only (not JDK), Alpine for minimal size (~80MB vs ~400MB).</a:t>
            </a:r>
          </a:p>
          <a:p>
            <a:r>
              <a:t>2. WORKDIR /app: Working directory inside container.</a:t>
            </a:r>
          </a:p>
          <a:p>
            <a:r>
              <a:t>3. COPY target/task-api.jar: Copy compiled JAR.</a:t>
            </a:r>
          </a:p>
          <a:p>
            <a:r>
              <a:t>4. EXPOSE 8080: Document the port (metadata only).</a:t>
            </a:r>
          </a:p>
          <a:p>
            <a:r>
              <a:t>5. USER 1001: CRITICAL -- run as non-root. AI often generates root Dockerfiles.</a:t>
            </a:r>
          </a:p>
          <a:p>
            <a:r>
              <a:t>6. ENTRYPOINT: Exec form for proper signal handling.</a:t>
            </a:r>
          </a:p>
          <a:p/>
          <a:p>
            <a:r>
              <a:t>DEPLOYMENT ARCHITECTURE: Docker Image -&gt; Registry -&gt; K8s Cluster -&gt; Pods. Supporting: ConfigMap, Secret, Service, Ingress.</a:t>
            </a:r>
          </a:p>
          <a:p/>
          <a:p>
            <a:r>
              <a:t>DEPLOYMENT STRATEGIES:</a:t>
            </a:r>
          </a:p>
          <a:p>
            <a:r>
              <a:t>1. Rolling Update: Replace pods one at a time. Zero downtime.</a:t>
            </a:r>
          </a:p>
          <a:p>
            <a:r>
              <a:t>2. Blue-Green: Two environments, instant switch, easy rollback.</a:t>
            </a:r>
          </a:p>
          <a:p>
            <a:r>
              <a:t>3. Canary: Route small traffic %, monitor, gradually increase.</a:t>
            </a:r>
          </a:p>
          <a:p>
            <a:r>
              <a:t>4. Feature Flags: Deploy disabled, toggle for specific users.</a:t>
            </a:r>
          </a:p>
          <a:p/>
          <a:p>
            <a:r>
              <a:t>AI generates K8s manifests from specs. Always review security (non-root, resource limits, secrets).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-- Slide 32: Performance &amp; Scale Testing</a:t>
            </a:r>
          </a:p>
          <a:p>
            <a:r>
              <a:t>--------------------------------------------------------</a:t>
            </a:r>
          </a:p>
          <a:p>
            <a:r>
              <a:t>PERFORMANCE RISKS:</a:t>
            </a:r>
          </a:p>
          <a:p>
            <a:r>
              <a:t>1. N+1 QUERIES: AI loops with individual DB queries. Fix: JOIN FETCH, @EntityGraph.</a:t>
            </a:r>
          </a:p>
          <a:p>
            <a:r>
              <a:t>2. MISSING INDEXES: No @Index on queried columns. Performance: O(n) -&gt; O(log n).</a:t>
            </a:r>
          </a:p>
          <a:p>
            <a:r>
              <a:t>3. INEFFICIENT SERIALIZATION: Return entities directly, triggering lazy loads. Fix: Use DTOs.</a:t>
            </a:r>
          </a:p>
          <a:p>
            <a:r>
              <a:t>4. OVER-FETCHING: findAll() with no pagination. Fix: Pageable, projections.</a:t>
            </a:r>
          </a:p>
          <a:p>
            <a:r>
              <a:t>5. NO CACHING: Every request hits DB. Fix: @Cacheable, Redis/Caffeine.</a:t>
            </a:r>
          </a:p>
          <a:p/>
          <a:p>
            <a:r>
              <a:t>K6 LOAD TEST: 50 virtual users for 30 seconds. Output: P50/P90/P95/P99, error rate.</a:t>
            </a:r>
          </a:p>
          <a:p/>
          <a:p>
            <a:r>
              <a:t>MONITORING: OpenTelemetry for tracing, Prometheus for metrics, Grafana for dashboards.</a:t>
            </a:r>
          </a:p>
          <a:p/>
          <a:p>
            <a:r>
              <a:t>EXERCISE: Run k6 against Task API, identify slow endpoints, add indexes, measure improvement.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Testing Strategy in AI-Native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Calibri"/>
              </a:rPr>
              <a:t>Testing Pyramid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645920"/>
            <a:ext cx="2011680" cy="6400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E2E Tests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(few, high-value)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423160"/>
            <a:ext cx="3474720" cy="640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Integration Tests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(API, DB behavior)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4937760" cy="6400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Unit Tests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(business rules, fast)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36E72"/>
                </a:solidFill>
                <a:latin typeface="Calibri"/>
              </a:rPr>
              <a:t>Fewer tests              More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Calibri"/>
              </a:rPr>
              <a:t>Key Principles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Tests define whether generated code is acceptable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Generate tests FROM acceptance criteria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Unit tests cover business rules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Integration tests cover API &amp; database behavior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E2E tests cover critical user journeys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Tests are the specification's enforcement mechanism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46320"/>
            <a:ext cx="10332720" cy="502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In AI-Native Development: Tests are written BEFORE code generation -- they define 'done'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532120"/>
            <a:ext cx="2011680" cy="54864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Acceptance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7248" y="5650992"/>
            <a:ext cx="4572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0" y="5532120"/>
            <a:ext cx="2011680" cy="54864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Test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7568" y="5650992"/>
            <a:ext cx="4572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5532120"/>
            <a:ext cx="2011680" cy="5486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Code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Generation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247888" y="5650992"/>
            <a:ext cx="4572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39" y="5532120"/>
            <a:ext cx="2011680" cy="54864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AI-Assisted Test Generation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828800" cy="6400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Acceptance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2848" y="1261872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51760" y="1097280"/>
            <a:ext cx="182880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498848" y="1261872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937760" y="1097280"/>
            <a:ext cx="182880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Generated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Test Cases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84848" y="1261872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23760" y="1097280"/>
            <a:ext cx="1828800" cy="6400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Human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070848" y="1261872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1097280"/>
            <a:ext cx="1828800" cy="64008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Calibri"/>
              </a:rPr>
              <a:t>Example: Generated JUnit Tests for Task Management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286000"/>
            <a:ext cx="6858000" cy="3291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@Test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void shouldCreateTaskSuccessfully()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TaskRequest req = new TaskRequest(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  "Fix login bug", "HIGH", "user-1");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TaskResponse res = taskService.create(req);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assertNotNull(res.getId());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assertEquals("OPEN", res.getStatus());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@Test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void shouldRejectDuplicateTask()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// Given existing task with same title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assertThrows(DuplicateTaskException.class,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  () -&gt; taskService.create(duplicateReq));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Calibri"/>
              </a:rPr>
              <a:t>Test Generation Best Practices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2331720"/>
            <a:ext cx="3931920" cy="10515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Prompt Strategy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Include acceptance criteria,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edge cases, and expected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behaviors in the prompt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566160"/>
            <a:ext cx="3931920" cy="105156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Review Checklist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Verify assertions match spec,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check boundary conditions,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ensure negative tests exist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800600"/>
            <a:ext cx="3931920" cy="105156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Coverage Targets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Line coverage &gt; 80%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Branch coverage &gt; 70%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Mutation score &gt; 60%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Validation Matrix &amp; Quality Gates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334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Validation Type</a:t>
                      </a:r>
                    </a:p>
                  </a:txBody>
                  <a:tcPr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Checks</a:t>
                      </a:r>
                    </a:p>
                  </a:txBody>
                  <a:tcPr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Tools / Method</a:t>
                      </a:r>
                    </a:p>
                  </a:txBody>
                  <a:tcPr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Applied</a:t>
                      </a:r>
                    </a:p>
                  </a:txBody>
                  <a:tcPr>
                    <a:solidFill>
                      <a:srgbClr val="2F75B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Requirements Validation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Correct features built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Spec review, AI analysis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Before coding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Functional Validation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Features work correctly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Unit + integration tests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Every commit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Security Validation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Access control, vulns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SAST + DAST scans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Every commit</a:t>
                      </a:r>
                    </a:p>
                  </a:txBody>
                  <a:tcPr>
                    <a:solidFill>
                      <a:srgbClr val="FCE4D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Performance Validation</a:t>
                      </a:r>
                    </a:p>
                  </a:txBody>
                  <a:tcPr>
                    <a:solidFill>
                      <a:srgbClr val="EFE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Response times, throughput</a:t>
                      </a:r>
                    </a:p>
                  </a:txBody>
                  <a:tcPr>
                    <a:solidFill>
                      <a:srgbClr val="EFE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Load tests (k6, JMeter)</a:t>
                      </a:r>
                    </a:p>
                  </a:txBody>
                  <a:tcPr>
                    <a:solidFill>
                      <a:srgbClr val="EFE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Before release</a:t>
                      </a:r>
                    </a:p>
                  </a:txBody>
                  <a:tcPr>
                    <a:solidFill>
                      <a:srgbClr val="EFE8F9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Operational Validation</a:t>
                      </a:r>
                    </a:p>
                  </a:txBody>
                  <a:tcPr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Deploys correctly</a:t>
                      </a:r>
                    </a:p>
                  </a:txBody>
                  <a:tcPr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Smoke tests, health checks</a:t>
                      </a:r>
                    </a:p>
                  </a:txBody>
                  <a:tcPr>
                    <a:solidFill>
                      <a:srgbClr val="E0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D3436"/>
                          </a:solidFill>
                          <a:latin typeface="Calibri"/>
                        </a:rPr>
                        <a:t>After deployment</a:t>
                      </a:r>
                    </a:p>
                  </a:txBody>
                  <a:tcPr>
                    <a:solidFill>
                      <a:srgbClr val="E0F7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0AD47"/>
                </a:solidFill>
                <a:latin typeface="Calibri"/>
              </a:rPr>
              <a:t>Quality Gate Thresholds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83480"/>
            <a:ext cx="1920240" cy="7315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Code Coverage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&gt; 80%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4983480"/>
            <a:ext cx="1920240" cy="7315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Critical Vulns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=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4983480"/>
            <a:ext cx="1920240" cy="7315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P95 Response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&lt; 200ms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983480"/>
            <a:ext cx="1920240" cy="73152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Mutation Score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&gt; 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4983480"/>
            <a:ext cx="1920240" cy="7315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Lint / Style</a:t>
            </a:r>
          </a:p>
          <a:p>
            <a:pPr algn="ctr"/>
            <a:r>
              <a:rPr sz="1200" b="0">
                <a:solidFill>
                  <a:srgbClr val="2D3436"/>
                </a:solidFill>
                <a:latin typeface="Calibri"/>
              </a:rPr>
              <a:t>0 Warnings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5806440"/>
            <a:ext cx="8503920" cy="3657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All gates must PASS before code is merged or deployed -- no exceptions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Security in AI-Generated Software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392B"/>
                </a:solidFill>
                <a:latin typeface="Calibri"/>
              </a:rPr>
              <a:t>Unique 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AI may generate insecure defaults (open CORS, weak auth)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Hallucinated dependencies that don't exist or are malicious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Secrets may leak into prompts or generated code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Over-permissive authorization patterns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Missing input validation on user-facing endpoints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Outdated security patterns from training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91640"/>
            <a:ext cx="777240" cy="36576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ED7D31"/>
                </a:solidFill>
                <a:latin typeface="Calibri"/>
              </a:rPr>
              <a:t>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258568"/>
            <a:ext cx="777240" cy="36576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ED7D31"/>
                </a:solidFill>
                <a:latin typeface="Calibri"/>
              </a:rPr>
              <a:t>HIGH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825496"/>
            <a:ext cx="777240" cy="36576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392424"/>
            <a:ext cx="777240" cy="3657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ED7D31"/>
                </a:solidFill>
                <a:latin typeface="Calibri"/>
              </a:rPr>
              <a:t>MEDIUM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3959352"/>
            <a:ext cx="777240" cy="36576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ED7D31"/>
                </a:solidFill>
                <a:latin typeface="Calibri"/>
              </a:rPr>
              <a:t>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526280"/>
            <a:ext cx="777240" cy="36576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ED7D31"/>
                </a:solidFill>
                <a:latin typeface="Calibri"/>
              </a:rP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0AD47"/>
                </a:solidFill>
                <a:latin typeface="Calibri"/>
              </a:rPr>
              <a:t>Mitigation Strategies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0020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Always review auth/authz code manually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Scan dependencies automatically (Snyk, Dependabot)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Use secret managers, never hardcode credentials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Apply OWASP Top 10 checklist to generated code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Include security tests in CI pipeline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400">
                <a:solidFill>
                  <a:srgbClr val="2D3436"/>
                </a:solidFill>
                <a:latin typeface="Calibri"/>
              </a:rPr>
              <a:t>• Conduct regular security-focused code reviews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20640"/>
            <a:ext cx="10332720" cy="5029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Security Mindset:  Trust but verify -- AI-generated code requires MORE security scrutiny, not less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669280"/>
            <a:ext cx="1828800" cy="50292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Generate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578608" y="5779008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17520" y="5669280"/>
            <a:ext cx="1828800" cy="50292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SAST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64608" y="5779008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03520" y="5669280"/>
            <a:ext cx="1828800" cy="50292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Dependency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50608" y="5779008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89520" y="5669280"/>
            <a:ext cx="1828800" cy="50292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Manual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36608" y="5779008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75520" y="5669280"/>
            <a:ext cx="1828800" cy="50292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Secure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OWASP-Oriented Security Review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Top OWASP Categories Relevant to AI-Generated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01168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A01: Broken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Access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94560"/>
            <a:ext cx="2011680" cy="10972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Check: ownership validation,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role-based access, resource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isolation between users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63040"/>
            <a:ext cx="2011680" cy="6858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A03: Injection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194560"/>
            <a:ext cx="2011680" cy="10972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Check: parameterized queries,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input sanitization, ORM usage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vs raw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463040"/>
            <a:ext cx="2011680" cy="6858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A05: Security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Misconfiguration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94560"/>
            <a:ext cx="2011680" cy="10972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Check: CORS settings, debug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mode off, default credentials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removed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463040"/>
            <a:ext cx="2011680" cy="6858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A06: Vulnerable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Dependencies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194560"/>
            <a:ext cx="2011680" cy="109728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Check: dependency audit,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no hallucinated packages,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version pinning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463040"/>
            <a:ext cx="2011680" cy="68580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A02: Cryptographic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2194560"/>
            <a:ext cx="2011680" cy="109728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Check: proper hashing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(bcrypt), TLS enforced,</a:t>
            </a:r>
          </a:p>
          <a:p>
            <a:pPr algn="l"/>
            <a:r>
              <a:rPr sz="900" b="0">
                <a:solidFill>
                  <a:srgbClr val="2D3436"/>
                </a:solidFill>
                <a:latin typeface="Calibri"/>
              </a:rPr>
              <a:t>no sensitive data in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472C4"/>
                </a:solidFill>
                <a:latin typeface="Calibri"/>
              </a:rPr>
              <a:t>Threat Modeling Mini-Framework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023360"/>
            <a:ext cx="2286000" cy="128016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Asset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What are we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protecting?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(user data, API keys)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18688" y="4526280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57600" y="4023360"/>
            <a:ext cx="2286000" cy="128016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Threat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What could go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wrong?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(unauthorized access)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61888" y="4526280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4023360"/>
            <a:ext cx="2286000" cy="12801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Control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How do we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prevent it?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(auth, encryption)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05088" y="4526280"/>
            <a:ext cx="36576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0" y="4023360"/>
            <a:ext cx="2286000" cy="128016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2D3436"/>
                </a:solidFill>
                <a:latin typeface="Calibri"/>
              </a:rPr>
              <a:t>Evidence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How do we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verify?</a:t>
            </a:r>
          </a:p>
          <a:p>
            <a:pPr algn="ctr"/>
            <a:r>
              <a:rPr sz="1100" b="0">
                <a:solidFill>
                  <a:srgbClr val="2D3436"/>
                </a:solidFill>
                <a:latin typeface="Calibri"/>
              </a:rPr>
              <a:t>(tests, scans, audits)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5577840"/>
            <a:ext cx="9418320" cy="4572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Apply this framework to EVERY AI-generated endpoint: identify assets, model threats, implement controls, verify with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Secure Coding Practices &amp; DevSecOps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Calibri"/>
              </a:rPr>
              <a:t>Secure Endpoint Pattern (Spring Boot)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640080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@PreAuthorize("hasRole('USER')")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@PostMapping("/api/tasks")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public ResponseEntity&lt;TaskResponse&gt; create(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@Valid @RequestBody TaskRequest req,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@AuthenticationPrincipal UserDetails user)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// Service validates ownership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return ResponseEntity.status(201)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  .body(taskService.create(req, user.getId()));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2011680" cy="50292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@PreAuthorize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Method-level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authorization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57400"/>
            <a:ext cx="2011680" cy="50292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@Valid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Input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2697480"/>
            <a:ext cx="2011680" cy="50292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@AuthPrincipal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User context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injection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337559"/>
            <a:ext cx="2011680" cy="50292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user.getId()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Ownership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enforcement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Calibri"/>
              </a:rPr>
              <a:t>Key Secure Coding Practices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43400"/>
            <a:ext cx="2011680" cy="10058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Method-Level Auth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Use @PreAuthorize or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equivalent on every endpoint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343400"/>
            <a:ext cx="2011680" cy="100584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Input Validation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Always use @Valid, define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constraints on DTOs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343400"/>
            <a:ext cx="2011680" cy="10058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Audit Logging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Log security events: login,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access denied, data changes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4343400"/>
            <a:ext cx="2011680" cy="100584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Secret Management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Use Vault or env vars,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never hardcode secrets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4343400"/>
            <a:ext cx="2011680" cy="100584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Dependency Audit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Scan on every build,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block on critical CVEs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577840"/>
            <a:ext cx="9418320" cy="5029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D3436"/>
                </a:solidFill>
                <a:latin typeface="Calibri"/>
              </a:rPr>
              <a:t>DevSecOps: Security is not a phase -- it is embedded in every stage of the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CI/CD Pipeline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554480" cy="6400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29967" y="1353312"/>
            <a:ext cx="27432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188720"/>
            <a:ext cx="1554480" cy="6400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50208" y="1353312"/>
            <a:ext cx="27432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1554480" cy="6400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Unit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70448" y="1353312"/>
            <a:ext cx="27432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155448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SAST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0688" y="1353312"/>
            <a:ext cx="27432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1554480" cy="6400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Integration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10928" y="1353312"/>
            <a:ext cx="27432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1188720"/>
            <a:ext cx="1554480" cy="6400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Docker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1109960" y="1874519"/>
            <a:ext cx="274320" cy="320040"/>
          </a:xfrm>
          <a:prstGeom prst="down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377440"/>
            <a:ext cx="173736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Security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Scan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212848" y="2542032"/>
            <a:ext cx="4572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43200" y="2377440"/>
            <a:ext cx="173736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Deploy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498848" y="2542032"/>
            <a:ext cx="4572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0" y="2377440"/>
            <a:ext cx="1737360" cy="6400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Smoke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784848" y="2542032"/>
            <a:ext cx="4572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2377440"/>
            <a:ext cx="173736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Approval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070848" y="2542032"/>
            <a:ext cx="45720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200" y="2377440"/>
            <a:ext cx="173736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Deploy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Prod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291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Calibri"/>
              </a:rPr>
              <a:t>Stage Categories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57600"/>
            <a:ext cx="1645920" cy="3657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3657600"/>
            <a:ext cx="1645920" cy="36576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0" y="3657600"/>
            <a:ext cx="1645920" cy="3657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3657600"/>
            <a:ext cx="1645920" cy="36576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0AD47"/>
                </a:solidFill>
                <a:latin typeface="Calibri"/>
              </a:rPr>
              <a:t>Quality Gates (enforced automatically)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572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All unit &amp; integration tests pass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Code coverage &gt;= 80%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Zero critical security vulnerabilities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Docker image scanned and signed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Staging smoke tests pass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251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  <a:latin typeface="Calibri"/>
              </a:rPr>
              <a:t>Release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72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Feature branches -&gt; PR -&gt; main (trunk-based)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Automated deployment to staging on merge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Manual approval gate for production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Blue-green or canary deployment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Automatic rollback on health check failure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CI/CD Implementation: GitHub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6858000" cy="4572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name: ai-native-ci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on: [push, pull_request]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jobs: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build-test-scan: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runs-on: ubuntu-latest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steps: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uses: actions/checkout@v4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uses: actions/setup-java@v4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  with: { java-version: '21' 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run: ./mvnw verify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run: ./mvnw sonar:sonar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uses: snyk/actions/maven@master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uses: docker/build-push-action@v5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  with: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    push: true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    tags: app:${{ github.sha }}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deploy-staging: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needs: build-test-scan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runs-on: ubuntu-latest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steps: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run: kubectl apply -f k8s/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  - run: ./scripts/smoke-test.sh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097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Calibri"/>
              </a:rPr>
              <a:t>Pipeline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08760"/>
            <a:ext cx="3931920" cy="6400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Trigger: Runs on every push and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pull request to any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258568"/>
            <a:ext cx="3931920" cy="6400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Build &amp; Test: ./mvnw verify compiles,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runs unit + integration tests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008376"/>
            <a:ext cx="3931920" cy="6400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Code Quality: SonarQube scans for bugs,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code smells, vulnerabilities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758183"/>
            <a:ext cx="3931920" cy="64008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Dependency Scan: Snyk checks all Maven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dependencies for CVEs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507992"/>
            <a:ext cx="3931920" cy="64008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Docker Build: Builds and pushes image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tagged with commit SHA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5257800"/>
            <a:ext cx="3931920" cy="64008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Deploy Staging: Applies K8s manifests and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runs smoke test scripts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806440"/>
            <a:ext cx="10332720" cy="36576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00" b="1">
                <a:solidFill>
                  <a:srgbClr val="2D3436"/>
                </a:solidFill>
                <a:latin typeface="Calibri"/>
              </a:rPr>
              <a:t>Tip: AI can generate the entire pipeline YAML from your specification and architecture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Containerization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Calibri"/>
              </a:rPr>
              <a:t>Dockerfile (Production-Ready)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0292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FROM eclipse-temurin:21-jre-alpine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WORKDIR /app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COPY target/task-api.jar app.jar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EXPOSE 8080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USER 1001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ENTRYPOINT ["java", "-jar", "app.jar"]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554480" cy="68580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Alpine base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Minimal image (~80MB vs ~400MB)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3383280"/>
            <a:ext cx="1554480" cy="685800"/>
          </a:xfrm>
          <a:prstGeom prst="roundRect">
            <a:avLst/>
          </a:prstGeom>
          <a:solidFill>
            <a:srgbClr val="FC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Non-root user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Security: runs as UID 1001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383280"/>
            <a:ext cx="1554480" cy="685800"/>
          </a:xfrm>
          <a:prstGeom prst="round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Single JAR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Fat JAR includes all dependencies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515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B59B6"/>
                </a:solidFill>
                <a:latin typeface="Calibri"/>
              </a:rPr>
              <a:t>Deployment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1188720" cy="6400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Docker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Image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24927" y="1627632"/>
            <a:ext cx="18288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1463040"/>
            <a:ext cx="1188720" cy="64008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Container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Registry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887968" y="1627632"/>
            <a:ext cx="18288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1463040"/>
            <a:ext cx="1188720" cy="64008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Kubernetes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351008" y="1627632"/>
            <a:ext cx="182880" cy="274320"/>
          </a:xfrm>
          <a:prstGeom prst="rightArrow">
            <a:avLst/>
          </a:prstGeom>
          <a:solidFill>
            <a:srgbClr val="636E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07040" y="1463040"/>
            <a:ext cx="1188720" cy="640080"/>
          </a:xfrm>
          <a:prstGeom prst="round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Pod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331720"/>
            <a:ext cx="1188720" cy="8686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ConfigMap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App config,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environment vars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331720"/>
            <a:ext cx="1188720" cy="8686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Secret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DB passwords,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API keys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2331720"/>
            <a:ext cx="1188720" cy="8686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Service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Internal load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balancing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0" y="2331720"/>
            <a:ext cx="1188720" cy="86868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00" b="1">
                <a:solidFill>
                  <a:srgbClr val="2D3436"/>
                </a:solidFill>
                <a:latin typeface="Calibri"/>
              </a:rPr>
              <a:t>Ingress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External traffic</a:t>
            </a:r>
          </a:p>
          <a:p>
            <a:pPr algn="ctr"/>
            <a:r>
              <a:rPr sz="900" b="0">
                <a:solidFill>
                  <a:srgbClr val="2D3436"/>
                </a:solidFill>
                <a:latin typeface="Calibri"/>
              </a:rPr>
              <a:t>routing + TLS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D7D31"/>
                </a:solidFill>
                <a:latin typeface="Calibri"/>
              </a:rPr>
              <a:t>Deployment Strategies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63440"/>
            <a:ext cx="2560320" cy="109728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Rolling Update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Replace pods gradually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Zero-downtime deployment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Automatic rollback on failure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4663440"/>
            <a:ext cx="2560320" cy="109728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Blue-Green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Two identical environments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Switch traffic instantly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Easy rollback to old 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663440"/>
            <a:ext cx="2560320" cy="109728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Canary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Route small % to new version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Monitor error rates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Gradual traffic increase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4663440"/>
            <a:ext cx="2560320" cy="109728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Feature Flags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Deploy code, toggle features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Test in production safely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Gradual feature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2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Performance &amp; Scale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263640"/>
            <a:ext cx="4114800" cy="347472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</a:rPr>
              <a:t>AI-Native Software Development  | 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2636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636E72"/>
                </a:solidFill>
                <a:latin typeface="Calibr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8B8B"/>
                </a:solidFill>
                <a:latin typeface="Calibri"/>
              </a:rPr>
              <a:t>Performance Risks in AI-Generated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N+1 Query Patterns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000">
                <a:solidFill>
                  <a:srgbClr val="636E72"/>
                </a:solidFill>
                <a:latin typeface="Calibri"/>
              </a:rPr>
              <a:t>     - AI generates loops with individual DB queries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Missing Database Indexes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000">
                <a:solidFill>
                  <a:srgbClr val="636E72"/>
                </a:solidFill>
                <a:latin typeface="Calibri"/>
              </a:rPr>
              <a:t>     - No indexes on frequently queried columns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Inefficient Serialization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000">
                <a:solidFill>
                  <a:srgbClr val="636E72"/>
                </a:solidFill>
                <a:latin typeface="Calibri"/>
              </a:rPr>
              <a:t>     - Deep object graphs without DTOs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Over-Fetching Data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000">
                <a:solidFill>
                  <a:srgbClr val="636E72"/>
                </a:solidFill>
                <a:latin typeface="Calibri"/>
              </a:rPr>
              <a:t>     - SELECT * instead of specific columns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200">
                <a:solidFill>
                  <a:srgbClr val="2D3436"/>
                </a:solidFill>
                <a:latin typeface="Calibri"/>
              </a:rPr>
              <a:t>• No Caching Strategy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000">
                <a:solidFill>
                  <a:srgbClr val="636E72"/>
                </a:solidFill>
                <a:latin typeface="Calibri"/>
              </a:rPr>
              <a:t>     - Every request hits the database directly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0AD47"/>
                </a:solidFill>
                <a:latin typeface="Calibri"/>
              </a:rPr>
              <a:t>Performance Testing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Define measurable targets (P95 &lt; 200ms, 100 concurrent users)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Use k6 or JMeter for load testing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Monitor with OpenTelemetry / Prometheus</a:t>
            </a:r>
          </a:p>
          <a:p>
            <a:pPr>
              <a:lnSpc>
                <a:spcPct val="130000"/>
              </a:lnSpc>
              <a:spcAft>
                <a:spcPts val="800"/>
              </a:spcAft>
            </a:pPr>
            <a:r>
              <a:rPr sz="1300">
                <a:solidFill>
                  <a:srgbClr val="2D3436"/>
                </a:solidFill>
                <a:latin typeface="Calibri"/>
              </a:rPr>
              <a:t>• Profile and optimize bottlenecks iteratively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00400"/>
            <a:ext cx="1188720" cy="68580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P95 Latency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&lt; 200ms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3200400"/>
            <a:ext cx="1188720" cy="6858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Throughput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&gt; 500 req/s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3200400"/>
            <a:ext cx="1188720" cy="68580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Concurrent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100 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3200400"/>
            <a:ext cx="1188720" cy="685800"/>
          </a:xfrm>
          <a:prstGeom prst="roundRect">
            <a:avLst/>
          </a:prstGeom>
          <a:solidFill>
            <a:srgbClr val="EFE8F9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2D3436"/>
                </a:solidFill>
                <a:latin typeface="Calibri"/>
              </a:rPr>
              <a:t>Error Rate</a:t>
            </a:r>
          </a:p>
          <a:p>
            <a:pPr algn="ctr"/>
            <a:r>
              <a:rPr sz="1000" b="0">
                <a:solidFill>
                  <a:srgbClr val="2D3436"/>
                </a:solidFill>
                <a:latin typeface="Calibri"/>
              </a:rPr>
              <a:t>&lt; 0.1%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B8B"/>
                </a:solidFill>
                <a:latin typeface="Calibri"/>
              </a:rPr>
              <a:t>Load Test Example (k6)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26280"/>
            <a:ext cx="640080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import http from 'k6/http';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export default function() {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http.post('http://localhost:8080/api/tasks',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JSON.stringify({title:'Test',priority:'HIGH'}),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    {headers:{'Content-Type':'application/json'}});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100">
                <a:solidFill>
                  <a:srgbClr val="2D3436"/>
                </a:solidFill>
                <a:latin typeface="Consolas"/>
              </a:rPr>
              <a:t>export const options = { vus: 50, duration: '30s' 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1605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D7D31"/>
                </a:solidFill>
                <a:latin typeface="Calibri"/>
              </a:rPr>
              <a:t>Monitoring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526280"/>
            <a:ext cx="4389120" cy="54864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OpenTelemetry: Distributed tracing &amp;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metrics collection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5166360"/>
            <a:ext cx="4389120" cy="548640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Prometheus: Time-series metrics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storage &amp; alerting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806440"/>
            <a:ext cx="4389120" cy="548640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000" b="1">
                <a:solidFill>
                  <a:srgbClr val="2D3436"/>
                </a:solidFill>
                <a:latin typeface="Calibri"/>
              </a:rPr>
              <a:t>Grafana: Dashboards for</a:t>
            </a:r>
          </a:p>
          <a:p>
            <a:pPr algn="l"/>
            <a:r>
              <a:rPr sz="1000" b="0">
                <a:solidFill>
                  <a:srgbClr val="2D3436"/>
                </a:solidFill>
                <a:latin typeface="Calibri"/>
              </a:rPr>
              <a:t>real-time visibility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