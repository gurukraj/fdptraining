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33: Multi-Agent AI Development Architecture</a:t>
            </a:r>
          </a:p>
          <a:p>
            <a:r>
              <a:t>--------------------------------------------------------------------</a:t>
            </a:r>
          </a:p>
          <a:p>
            <a:r>
              <a:t>This slide introduces the concept of multi-agent AI development, which represents the next evolution of AI-native software engineering.</a:t>
            </a:r>
          </a:p>
          <a:p/>
          <a:p>
            <a:r>
              <a:t>WHAT IS MULTI-AGENT DEVELOPMENT?</a:t>
            </a:r>
          </a:p>
          <a:p>
            <a:r>
              <a:t>Multi-agent development uses multiple specialized AI agents, each responsible for a distinct phase of the software development lifecycle, coordinated by a central orchestrator. Think of it like a well-organized engineering team — except the team members are AI agents with specialized capabilities.</a:t>
            </a:r>
          </a:p>
          <a:p/>
          <a:p>
            <a:r>
              <a:t>WHY CAN'T A SINGLE LLM DO EVERYTHING?</a:t>
            </a:r>
          </a:p>
          <a:p>
            <a:r>
              <a:t>1. Context window limitations — a single LLM can't hold an entire codebase, all test results, security reports, and deployment configs simultaneously.</a:t>
            </a:r>
          </a:p>
          <a:p>
            <a:r>
              <a:t>2. Specialization — an agent fine-tuned or prompted for security analysis performs better than a general-purpose LLM doing security review.</a:t>
            </a:r>
          </a:p>
          <a:p>
            <a:r>
              <a:t>3. Tool access — different agents need different tools (code editor, test runner, CI/CD system, security scanner).</a:t>
            </a:r>
          </a:p>
          <a:p>
            <a:r>
              <a:t>4. Accountability — when agents have clear boundaries, it's easier to audit what happened and why.</a:t>
            </a:r>
          </a:p>
          <a:p/>
          <a:p>
            <a:r>
              <a:t>ORCHESTRATION PATTERNS:</a:t>
            </a:r>
          </a:p>
          <a:p>
            <a:r>
              <a:t>- Sequential: agents work in order (requirements -&gt; architecture -&gt; code -&gt; test -&gt; security -&gt; deploy)</a:t>
            </a:r>
          </a:p>
          <a:p>
            <a:r>
              <a:t>- Parallel: independent agents work simultaneously (security and testing run in parallel)</a:t>
            </a:r>
          </a:p>
          <a:p>
            <a:r>
              <a:t>- Iterative: agents loop until quality criteria are met (test agent sends failures back to coding agent)</a:t>
            </a:r>
          </a:p>
          <a:p>
            <a:r>
              <a:t>- Human-gated: certain transitions require human approval (architecture decisions, deployment to production)</a:t>
            </a:r>
          </a:p>
          <a:p/>
          <a:p>
            <a:r>
              <a:t>REAL-WORLD EXAMPLES:</a:t>
            </a:r>
          </a:p>
          <a:p>
            <a:r>
              <a:t>- Microsoft AutoGen: framework for building multi-agent conversations</a:t>
            </a:r>
          </a:p>
          <a:p>
            <a:r>
              <a:t>- CrewAI: role-based multi-agent orchestration with memory</a:t>
            </a:r>
          </a:p>
          <a:p>
            <a:r>
              <a:t>- LangGraph: graph-based agent orchestration</a:t>
            </a:r>
          </a:p>
          <a:p>
            <a:r>
              <a:t>- Custom solutions: many organizations build bespoke multi-agent pipelines using LLM APIs + tool calling</a:t>
            </a:r>
          </a:p>
          <a:p/>
          <a:p>
            <a:r>
              <a:t>CHALLENGES:</a:t>
            </a:r>
          </a:p>
          <a:p>
            <a:r>
              <a:t>- Coordination overhead: agents must share context without losing information</a:t>
            </a:r>
          </a:p>
          <a:p>
            <a:r>
              <a:t>- Conflict resolution: what if the coding agent and security agent disagree?</a:t>
            </a:r>
          </a:p>
          <a:p>
            <a:r>
              <a:t>- Cost management: multiple LLM calls add up quickly</a:t>
            </a:r>
          </a:p>
          <a:p>
            <a:r>
              <a:t>- Debugging: tracing issues across multiple agent interactions is complex</a:t>
            </a:r>
          </a:p>
          <a:p>
            <a:r>
              <a:t>- Determinism: ensuring reproducible results across agent runs</a:t>
            </a:r>
          </a:p>
          <a:p/>
          <a:p>
            <a:r>
              <a:t>This is the future direction of AI-native development — moving from single-prompt interactions to orchestrated multi-agent workflows.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34: Agent Roles &amp; Orchestration Workflow</a:t>
            </a:r>
          </a:p>
          <a:p>
            <a:r>
              <a:t>-----------------------------------------------------------------</a:t>
            </a:r>
          </a:p>
          <a:p>
            <a:r>
              <a:t>This slide maps each agent to its specific responsibilities and outputs. Walk through the workflow from left to right.</a:t>
            </a:r>
          </a:p>
          <a:p/>
          <a:p>
            <a:r>
              <a:t>THE FLOW:</a:t>
            </a:r>
          </a:p>
          <a:p>
            <a:r>
              <a:t>1. USER REQUEST: A human provides the initial intent — "Build a task management API" or "Add authentication to the existing service."</a:t>
            </a:r>
          </a:p>
          <a:p>
            <a:r>
              <a:t>2. REQUIREMENTS AGENT: Takes the vague request and produces a structured specification. It asks clarifying questions, identifies edge cases, writes acceptance criteria. Output: a formal requirements document and draft acceptance tests.</a:t>
            </a:r>
          </a:p>
          <a:p>
            <a:r>
              <a:t>3. ARCHITECT AGENT: Takes the requirements and proposes a system design. It evaluates trade-offs (monolith vs. microservice, SQL vs. NoSQL, REST vs. GraphQL) and documents decisions. Output: architecture diagrams, API contracts, Architecture Decision Records (ADRs).</a:t>
            </a:r>
          </a:p>
          <a:p>
            <a:r>
              <a:t>4. CODING AGENT: Takes the approved architecture and specs and generates implementation code. It follows established patterns, naming conventions, and project structure. Output: source code files and unit tests.</a:t>
            </a:r>
          </a:p>
          <a:p>
            <a:r>
              <a:t>5. TESTING AGENT: Runs the generated tests, analyzes coverage, identifies gaps. It may generate additional tests for edge cases not covered. Output: test results, coverage reports, quality metrics.</a:t>
            </a:r>
          </a:p>
          <a:p>
            <a:r>
              <a:t>6. SECURITY AGENT: Scans the code for vulnerabilities — SQL injection, XSS, insecure dependencies, exposed secrets. It proposes fixes for any issues found. Output: security analysis report and remediation code.</a:t>
            </a:r>
          </a:p>
          <a:p>
            <a:r>
              <a:t>7. DEVOPS AGENT: Creates or updates the CI/CD pipeline, Dockerfiles, Kubernetes manifests, and deployment configurations. Output: CI/CD configs, infrastructure-as-code, deployment scripts.</a:t>
            </a:r>
          </a:p>
          <a:p>
            <a:r>
              <a:t>8. DEPLOYED SYSTEM: The final output — a running, tested, secured, and deployed application.</a:t>
            </a:r>
          </a:p>
          <a:p/>
          <a:p>
            <a:r>
              <a:t>HOW THE ORCHESTRATOR COORDINATES:</a:t>
            </a:r>
          </a:p>
          <a:p>
            <a:r>
              <a:t>- Maintains a shared memory/context that all agents can read from</a:t>
            </a:r>
          </a:p>
          <a:p>
            <a:r>
              <a:t>- Decides when to hand off from one agent to the next</a:t>
            </a:r>
          </a:p>
          <a:p>
            <a:r>
              <a:t>- Implements quality gates — e.g., code can't go to security review until tests pass</a:t>
            </a:r>
          </a:p>
          <a:p>
            <a:r>
              <a:t>- Handles iteration — if the testing agent finds failures, the orchestrator routes them back to the coding agent</a:t>
            </a:r>
          </a:p>
          <a:p>
            <a:r>
              <a:t>- Logs every decision for audit trail</a:t>
            </a:r>
          </a:p>
          <a:p/>
          <a:p>
            <a:r>
              <a:t>HUMAN CHECKPOINTS:</a:t>
            </a:r>
          </a:p>
          <a:p>
            <a:r>
              <a:t>- After requirements (approve scope)</a:t>
            </a:r>
          </a:p>
          <a:p>
            <a:r>
              <a:t>- After architecture (approve design decisions)</a:t>
            </a:r>
          </a:p>
          <a:p>
            <a:r>
              <a:t>- After security review (approve deployment)</a:t>
            </a:r>
          </a:p>
          <a:p>
            <a:r>
              <a:t>These are non-negotiable in production workflows.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35: Model Context Protocol &amp; Tool Integration</a:t>
            </a:r>
          </a:p>
          <a:p>
            <a:r>
              <a:t>----------------------------------------------------------------------</a:t>
            </a:r>
          </a:p>
          <a:p>
            <a:r>
              <a:t>This slide explains the Model Context Protocol (MCP) and why it's critical for multi-agent AI development.</a:t>
            </a:r>
          </a:p>
          <a:p/>
          <a:p>
            <a:r>
              <a:t>WHAT IS MCP?</a:t>
            </a:r>
          </a:p>
          <a:p>
            <a:r>
              <a:t>MCP is a standardized protocol (pioneered by Anthropic) that defines how AI models/agents connect to external tools and data sources. Think of it as a USB-C for AI — a universal interface that allows any AI agent to connect to any compatible tool.</a:t>
            </a:r>
          </a:p>
          <a:p/>
          <a:p>
            <a:r>
              <a:t>Without MCP, every agent-tool integration is custom — you'd write separate code for each AI model to talk to each tool. MCP standardizes this with a clean client-server architecture.</a:t>
            </a:r>
          </a:p>
          <a:p/>
          <a:p>
            <a:r>
              <a:t>HOW IT WORKS:</a:t>
            </a:r>
          </a:p>
          <a:p>
            <a:r>
              <a:t>1. The AI agent (client) connects to an MCP server</a:t>
            </a:r>
          </a:p>
          <a:p>
            <a:r>
              <a:t>2. The server exposes available tools (e.g., "read_file", "create_issue", "run_tests")</a:t>
            </a:r>
          </a:p>
          <a:p>
            <a:r>
              <a:t>3. The agent discovers tools and their schemas</a:t>
            </a:r>
          </a:p>
          <a:p>
            <a:r>
              <a:t>4. The agent makes tool calls through the protocol</a:t>
            </a:r>
          </a:p>
          <a:p>
            <a:r>
              <a:t>5. The server executes actions and returns results</a:t>
            </a:r>
          </a:p>
          <a:p>
            <a:r>
              <a:t>6. All interactions are logged for audit</a:t>
            </a:r>
          </a:p>
          <a:p/>
          <a:p>
            <a:r>
              <a:t>WHY IT MATTERS FOR MULTI-AGENT WORKFLOWS:</a:t>
            </a:r>
          </a:p>
          <a:p>
            <a:r>
              <a:t>- Different agents need different tools — the Requirements Agent needs Jira access, the Coding Agent needs the code editor, the DevOps Agent needs CI/CD systems</a:t>
            </a:r>
          </a:p>
          <a:p>
            <a:r>
              <a:t>- MCP provides a uniform interface so you don't have to build custom integrations for each agent-tool pair</a:t>
            </a:r>
          </a:p>
          <a:p>
            <a:r>
              <a:t>- Permissions can be set per-agent — the Testing Agent shouldn't be able to deploy to production</a:t>
            </a:r>
          </a:p>
          <a:p>
            <a:r>
              <a:t>- Shared context servers allow agents to pass information to each other without expensive LLM-to-LLM conversations</a:t>
            </a:r>
          </a:p>
          <a:p/>
          <a:p>
            <a:r>
              <a:t>PRACTICAL SETUP:</a:t>
            </a:r>
          </a:p>
          <a:p>
            <a:r>
              <a:t>- MCP servers can be local (filesystem access, local databases) or remote (GitHub API, cloud services)</a:t>
            </a:r>
          </a:p>
          <a:p>
            <a:r>
              <a:t>- Configuration is typically done via JSON config files that map tools to servers</a:t>
            </a:r>
          </a:p>
          <a:p>
            <a:r>
              <a:t>- Popular MCP servers exist for: GitHub, GitLab, Slack, PostgreSQL, filesystem, web search</a:t>
            </a:r>
          </a:p>
          <a:p>
            <a:r>
              <a:t>- You can build custom MCP servers for your organization's internal tools</a:t>
            </a:r>
          </a:p>
          <a:p/>
          <a:p>
            <a:r>
              <a:t>ANTHROPIC'S MCP PROTOCOL:</a:t>
            </a:r>
          </a:p>
          <a:p>
            <a:r>
              <a:t>- Open-source specification (github.com/modelcontextprotocol)</a:t>
            </a:r>
          </a:p>
          <a:p>
            <a:r>
              <a:t>- Adopted by Claude, Cursor, Windsurf, and other AI development tools</a:t>
            </a:r>
          </a:p>
          <a:p>
            <a:r>
              <a:t>- Growing ecosystem of community-built MCP servers</a:t>
            </a:r>
          </a:p>
          <a:p>
            <a:r>
              <a:t>- Represents the emerging standard for agent-tool communication</a:t>
            </a:r>
          </a:p>
          <a:p/>
          <a:p>
            <a:r>
              <a:t>This is important for faculty to understand because it shows how AI agents will interact with real-world systems — not just generate text, but actually take actions in the development pipeline.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36: AI Governance Framework for Software Development</a:t>
            </a:r>
          </a:p>
          <a:p>
            <a:r>
              <a:t>------------------------------------------------------------------------------</a:t>
            </a:r>
          </a:p>
          <a:p>
            <a:r>
              <a:t>This is one of the most important slides in the entire workshop. As AI becomes embedded in software development, governance is not optional — it's a necessity.</a:t>
            </a:r>
          </a:p>
          <a:p/>
          <a:p>
            <a:r>
              <a:t>THE PYRAMID FRAMEWORK (bottom to top):</a:t>
            </a:r>
          </a:p>
          <a:p/>
          <a:p>
            <a:r>
              <a:t>1. POLICIES &amp; STANDARDS (Base Layer):</a:t>
            </a:r>
          </a:p>
          <a:p>
            <a:r>
              <a:t>- Every organization needs a clear AI usage policy: what tools are approved, what data can be shared with AI services, what review processes are required</a:t>
            </a:r>
          </a:p>
          <a:p>
            <a:r>
              <a:t>- Standards define: coding conventions for AI-generated code, documentation requirements, testing minimums, security baselines</a:t>
            </a:r>
          </a:p>
          <a:p>
            <a:r>
              <a:t>- This is the foundation — without clear policies, individual teams will make inconsistent decisions</a:t>
            </a:r>
          </a:p>
          <a:p/>
          <a:p>
            <a:r>
              <a:t>2. DATA PROTECTION &amp; PRIVACY:</a:t>
            </a:r>
          </a:p>
          <a:p>
            <a:r>
              <a:t>- What data can be included in prompts? Can you paste production data into an AI chat?</a:t>
            </a:r>
          </a:p>
          <a:p>
            <a:r>
              <a:t>- GDPR, CCPA, HIPAA implications — AI services may store prompts and outputs</a:t>
            </a:r>
          </a:p>
          <a:p>
            <a:r>
              <a:t>- Sensitive data (API keys, credentials, PII) must NEVER appear in prompts</a:t>
            </a:r>
          </a:p>
          <a:p>
            <a:r>
              <a:t>- Consider on-premises or private AI deployments for sensitive projects</a:t>
            </a:r>
          </a:p>
          <a:p/>
          <a:p>
            <a:r>
              <a:t>3. MODEL MANAGEMENT &amp; VALIDATION:</a:t>
            </a:r>
          </a:p>
          <a:p>
            <a:r>
              <a:t>- Which AI models are approved for use? (Not all models are equal in quality or safety)</a:t>
            </a:r>
          </a:p>
          <a:p>
            <a:r>
              <a:t>- How do you validate that AI outputs meet quality standards?</a:t>
            </a:r>
          </a:p>
          <a:p>
            <a:r>
              <a:t>- Version control for prompts and AI configurations</a:t>
            </a:r>
          </a:p>
          <a:p>
            <a:r>
              <a:t>- Benchmark AI performance on your specific domain/codebase</a:t>
            </a:r>
          </a:p>
          <a:p/>
          <a:p>
            <a:r>
              <a:t>4. HUMAN REVIEW &amp; OVERSIGHT:</a:t>
            </a:r>
          </a:p>
          <a:p>
            <a:r>
              <a:t>- Define which decisions require human approval (architecture, security, deployment)</a:t>
            </a:r>
          </a:p>
          <a:p>
            <a:r>
              <a:t>- Establish review workflows — who reviews AI-generated code, how is it tracked?</a:t>
            </a:r>
          </a:p>
          <a:p>
            <a:r>
              <a:t>- Set clear accountability — if AI-generated code causes a production incident, who is responsible?</a:t>
            </a:r>
          </a:p>
          <a:p>
            <a:r>
              <a:t>- Create escalation paths for when AI outputs are uncertain or conflicting</a:t>
            </a:r>
          </a:p>
          <a:p/>
          <a:p>
            <a:r>
              <a:t>5. AUDIT TRAIL &amp; ACCOUNTABILITY (Top Layer):</a:t>
            </a:r>
          </a:p>
          <a:p>
            <a:r>
              <a:t>- Every AI interaction should be logged: what was asked, what was generated, who approved it</a:t>
            </a:r>
          </a:p>
          <a:p>
            <a:r>
              <a:t>- Audit trails enable: post-incident analysis, compliance reporting, continuous improvement</a:t>
            </a:r>
          </a:p>
          <a:p>
            <a:r>
              <a:t>- Traceability from requirement to spec to code to test to deployment</a:t>
            </a:r>
          </a:p>
          <a:p/>
          <a:p>
            <a:r>
              <a:t>REGULATORY CONSIDERATIONS:</a:t>
            </a:r>
          </a:p>
          <a:p>
            <a:r>
              <a:t>- EU AI Act — classifies AI systems by risk level; development tools may fall under various categories</a:t>
            </a:r>
          </a:p>
          <a:p>
            <a:r>
              <a:t>- Industry-specific regulations (healthcare, finance, government) may impose additional requirements</a:t>
            </a:r>
          </a:p>
          <a:p>
            <a:r>
              <a:t>- Export controls and data residency requirements affect which AI services you can use</a:t>
            </a:r>
          </a:p>
          <a:p>
            <a:r>
              <a:t>- Intellectual property questions: who owns AI-generated code? (Currently a legal gray area)</a:t>
            </a:r>
          </a:p>
          <a:p/>
          <a:p>
            <a:r>
              <a:t>ORGANIZATIONAL POLICIES:</a:t>
            </a:r>
          </a:p>
          <a:p>
            <a:r>
              <a:t>- Start small: begin with a pilot team, iterate on governance processes, then expand</a:t>
            </a:r>
          </a:p>
          <a:p>
            <a:r>
              <a:t>- Appoint an AI governance champion or committee</a:t>
            </a:r>
          </a:p>
          <a:p>
            <a:r>
              <a:t>- Regular training and awareness programs</a:t>
            </a:r>
          </a:p>
          <a:p>
            <a:r>
              <a:t>- Quarterly reviews of governance effectiveness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37: Responsible AI Principles in Practice</a:t>
            </a:r>
          </a:p>
          <a:p>
            <a:r>
              <a:t>------------------------------------------------------------------</a:t>
            </a:r>
          </a:p>
          <a:p>
            <a:r>
              <a:t>Walk through each principle and connect it specifically to software engineering practice:</a:t>
            </a:r>
          </a:p>
          <a:p/>
          <a:p>
            <a:r>
              <a:t>1. FAIRNESS:</a:t>
            </a:r>
          </a:p>
          <a:p>
            <a:r>
              <a:t>- AI models can embed biases from training data. Generated code may make assumptions about user demographics, language, accessibility needs.</a:t>
            </a:r>
          </a:p>
          <a:p>
            <a:r>
              <a:t>- Example: An AI-generated user registration form might default to "Mr/Mrs" titles — excluding non-binary options.</a:t>
            </a:r>
          </a:p>
          <a:p>
            <a:r>
              <a:t>- Mitigation: Include diversity and accessibility requirements in your specifications. Review generated UIs for inclusive design.</a:t>
            </a:r>
          </a:p>
          <a:p>
            <a:r>
              <a:t>- In teaching: Use biased AI outputs as teaching moments. Have students analyze AI-generated code for implicit assumptions.</a:t>
            </a:r>
          </a:p>
          <a:p/>
          <a:p>
            <a:r>
              <a:t>2. RELIABILITY:</a:t>
            </a:r>
          </a:p>
          <a:p>
            <a:r>
              <a:t>- AI-generated code can look correct but contain subtle logic errors, edge case failures, or hallucinated API calls.</a:t>
            </a:r>
          </a:p>
          <a:p>
            <a:r>
              <a:t>- Every AI output must be validated through testing — unit tests, integration tests, property-based tests.</a:t>
            </a:r>
          </a:p>
          <a:p>
            <a:r>
              <a:t>- Example: AI might generate a function that works for typical inputs but fails for empty arrays, negative numbers, or unicode strings.</a:t>
            </a:r>
          </a:p>
          <a:p>
            <a:r>
              <a:t>- In teaching: Emphasize that "AI generated it" is never a valid acceptance criterion. Tests and evidence are the standard.</a:t>
            </a:r>
          </a:p>
          <a:p/>
          <a:p>
            <a:r>
              <a:t>3. PRIVACY:</a:t>
            </a:r>
          </a:p>
          <a:p>
            <a:r>
              <a:t>- Developers often paste code snippets, error messages, and data samples into AI prompts. This can inadvertently expose sensitive information.</a:t>
            </a:r>
          </a:p>
          <a:p>
            <a:r>
              <a:t>- Production database queries, API keys, customer data, and proprietary algorithms should NEVER appear in AI prompts.</a:t>
            </a:r>
          </a:p>
          <a:p>
            <a:r>
              <a:t>- Use sanitized examples and mock data when working with AI.</a:t>
            </a:r>
          </a:p>
          <a:p>
            <a:r>
              <a:t>- In teaching: Establish classroom rules about what data can be shared with AI tools.</a:t>
            </a:r>
          </a:p>
          <a:p/>
          <a:p>
            <a:r>
              <a:t>4. TRANSPARENCY:</a:t>
            </a:r>
          </a:p>
          <a:p>
            <a:r>
              <a:t>- Document when and how AI was used in development. Include AI attribution in code comments, PR descriptions, and documentation.</a:t>
            </a:r>
          </a:p>
          <a:p>
            <a:r>
              <a:t>- Be transparent about AI limitations — generated code may not handle all edge cases, may not be optimized for performance.</a:t>
            </a:r>
          </a:p>
          <a:p>
            <a:r>
              <a:t>- In teaching: Require students to document their AI interactions — what they asked, what they got, what they changed and why.</a:t>
            </a:r>
          </a:p>
          <a:p/>
          <a:p>
            <a:r>
              <a:t>5. ACCOUNTABILITY:</a:t>
            </a:r>
          </a:p>
          <a:p>
            <a:r>
              <a:t>- When AI-generated code causes a production incident, someone must be accountable.</a:t>
            </a:r>
          </a:p>
          <a:p>
            <a:r>
              <a:t>- Audit trails track: who requested the generation, what prompt was used, who reviewed and approved the output.</a:t>
            </a:r>
          </a:p>
          <a:p>
            <a:r>
              <a:t>- In organizations: establish clear ownership — the developer who approves AI-generated code owns its behavior.</a:t>
            </a:r>
          </a:p>
          <a:p>
            <a:r>
              <a:t>- In teaching: Teach students that using AI doesn't absolve them of responsibility for their code.</a:t>
            </a:r>
          </a:p>
          <a:p/>
          <a:p>
            <a:r>
              <a:t>6. SAFETY:</a:t>
            </a:r>
          </a:p>
          <a:p>
            <a:r>
              <a:t>- Implement guardrails: code review requirements, automated security scanning, deployment approval gates.</a:t>
            </a:r>
          </a:p>
          <a:p>
            <a:r>
              <a:t>- Have rollback plans — if AI-generated code causes issues in production, can you quickly revert?</a:t>
            </a:r>
          </a:p>
          <a:p>
            <a:r>
              <a:t>- In teaching: Discuss real-world AI failures and their consequences. Safety is not theoretical.</a:t>
            </a:r>
          </a:p>
          <a:p/>
          <a:p>
            <a:r>
              <a:t>ACADEMIC INTEGRITY SECTION:</a:t>
            </a:r>
          </a:p>
          <a:p>
            <a:r>
              <a:t>This is critical for faculty. Discussion points:</a:t>
            </a:r>
          </a:p>
          <a:p>
            <a:r>
              <a:t>- How do you assess student work when AI can generate most of it?</a:t>
            </a:r>
          </a:p>
          <a:p>
            <a:r>
              <a:t>- Strategy 1: Assess understanding through oral explanations, code walkthroughs, and modification exercises</a:t>
            </a:r>
          </a:p>
          <a:p>
            <a:r>
              <a:t>- Strategy 2: Focus on specification quality, not just code output</a:t>
            </a:r>
          </a:p>
          <a:p>
            <a:r>
              <a:t>- Strategy 3: Require process documentation — the AI conversation log, revision history, decision rationale</a:t>
            </a:r>
          </a:p>
          <a:p>
            <a:r>
              <a:t>- Strategy 4: Design assessments that require contextual judgment AI cannot provide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38: AI-Native Adoption Maturity Model</a:t>
            </a:r>
          </a:p>
          <a:p>
            <a:r>
              <a:t>--------------------------------------------------------------</a:t>
            </a:r>
          </a:p>
          <a:p>
            <a:r>
              <a:t>This maturity model helps organizations (and academic institutions) assess where they are and plan their AI-native adoption journey.</a:t>
            </a:r>
          </a:p>
          <a:p/>
          <a:p>
            <a:r>
              <a:t>LEVEL 1 - AD-HOC:</a:t>
            </a:r>
          </a:p>
          <a:p>
            <a:r>
              <a:t>- Individual developers use ChatGPT, Copilot, or similar tools on their own initiative</a:t>
            </a:r>
          </a:p>
          <a:p>
            <a:r>
              <a:t>- No organizational policy or standardization</a:t>
            </a:r>
          </a:p>
          <a:p>
            <a:r>
              <a:t>- Benefits are inconsistent — some developers see productivity gains, others don't</a:t>
            </a:r>
          </a:p>
          <a:p>
            <a:r>
              <a:t>- Risks: no governance, potential data leaks, inconsistent code quality</a:t>
            </a:r>
          </a:p>
          <a:p>
            <a:r>
              <a:t>- What's needed to advance: awareness training, initial tool evaluation</a:t>
            </a:r>
          </a:p>
          <a:p/>
          <a:p>
            <a:r>
              <a:t>LEVEL 2 - EXPERIMENTATION:</a:t>
            </a:r>
          </a:p>
          <a:p>
            <a:r>
              <a:t>- Teams formally pilot AI tools on selected projects</a:t>
            </a:r>
          </a:p>
          <a:p>
            <a:r>
              <a:t>- Some measurement of benefits (productivity, quality, speed)</a:t>
            </a:r>
          </a:p>
          <a:p>
            <a:r>
              <a:t>- Initial guidelines emerging (which tools are approved, basic data handling rules)</a:t>
            </a:r>
          </a:p>
          <a:p>
            <a:r>
              <a:t>- Risks: pilots may not represent broader use; success metrics may be biased</a:t>
            </a:r>
          </a:p>
          <a:p>
            <a:r>
              <a:t>- What's needed: formal evaluation framework, pilot results documentation, initial policies</a:t>
            </a:r>
          </a:p>
          <a:p/>
          <a:p>
            <a:r>
              <a:t>LEVEL 3 - STANDARDIZED:</a:t>
            </a:r>
          </a:p>
          <a:p>
            <a:r>
              <a:t>- AI-native practices are documented and formalized across the organization</a:t>
            </a:r>
          </a:p>
          <a:p>
            <a:r>
              <a:t>- Governance framework in place: approved tools, data policies, review requirements</a:t>
            </a:r>
          </a:p>
          <a:p>
            <a:r>
              <a:t>- Training programs for all developers</a:t>
            </a:r>
          </a:p>
          <a:p>
            <a:r>
              <a:t>- Consistent workflows: spec-driven development, automated testing, CI/CD integration</a:t>
            </a:r>
          </a:p>
          <a:p>
            <a:r>
              <a:t>- What's needed: measurement systems, feedback loops, governance reviews</a:t>
            </a:r>
          </a:p>
          <a:p/>
          <a:p>
            <a:r>
              <a:t>LEVEL 4 - OPTIMIZED:</a:t>
            </a:r>
          </a:p>
          <a:p>
            <a:r>
              <a:t>- AI is deeply embedded in every phase of development</a:t>
            </a:r>
          </a:p>
          <a:p>
            <a:r>
              <a:t>- Multi-agent workflows are in production</a:t>
            </a:r>
          </a:p>
          <a:p>
            <a:r>
              <a:t>- Continuous measurement and optimization of AI impact</a:t>
            </a:r>
          </a:p>
          <a:p>
            <a:r>
              <a:t>- Advanced governance: automated compliance checks, AI-assisted code review</a:t>
            </a:r>
          </a:p>
          <a:p>
            <a:r>
              <a:t>- What's needed: cultural change, organizational restructuring, advanced tooling</a:t>
            </a:r>
          </a:p>
          <a:p/>
          <a:p>
            <a:r>
              <a:t>LEVEL 5 - TRANSFORMATIONAL:</a:t>
            </a:r>
          </a:p>
          <a:p>
            <a:r>
              <a:t>- AI-native is the default development paradigm</a:t>
            </a:r>
          </a:p>
          <a:p>
            <a:r>
              <a:t>- Organization culture has shifted — "specification-first" is how everyone thinks</a:t>
            </a:r>
          </a:p>
          <a:p>
            <a:r>
              <a:t>- Innovation-driven: using AI to explore new architectures, products, and approaches</a:t>
            </a:r>
          </a:p>
          <a:p>
            <a:r>
              <a:t>- Continuous learning: AI models are fine-tuned on organizational context</a:t>
            </a:r>
          </a:p>
          <a:p>
            <a:r>
              <a:t>- Faculty role: training the next generation of developers who think AI-natively</a:t>
            </a:r>
          </a:p>
          <a:p/>
          <a:p>
            <a:r>
              <a:t>FACULTY'S ROLE IN THIS PROGRESSION:</a:t>
            </a:r>
          </a:p>
          <a:p>
            <a:r>
              <a:t>- Faculty train the developers who will drive Levels 1-5 in their organizations</a:t>
            </a:r>
          </a:p>
          <a:p>
            <a:r>
              <a:t>- Curriculum that teaches AI-native practices prepares students for the modern workplace</a:t>
            </a:r>
          </a:p>
          <a:p>
            <a:r>
              <a:t>- Research opportunities exist at every level — measuring effectiveness, developing new methods, studying human-AI collaboration patterns</a:t>
            </a:r>
          </a:p>
          <a:p>
            <a:r>
              <a:t>- Academic institutions themselves can progress through these maturity levels in their own development practices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39: Hands-On Practical Examples</a:t>
            </a:r>
          </a:p>
          <a:p>
            <a:r>
              <a:t>-------------------------------------------------------</a:t>
            </a:r>
          </a:p>
          <a:p>
            <a:r>
              <a:t>This slide summarizes the practical exercises available in the workshop and provides guidance for facilitation.</a:t>
            </a:r>
          </a:p>
          <a:p/>
          <a:p>
            <a:r>
              <a:t>EXAMPLE 1 — TASK MANAGEMENT REST API (Primary, 1-2 hours):</a:t>
            </a:r>
          </a:p>
          <a:p>
            <a:r>
              <a:t>This is the main hands-on exercise. Walk participants through:</a:t>
            </a:r>
          </a:p>
          <a:p>
            <a:r>
              <a:t>1. Writing the specification: functional requirements (CRUD for tasks), non-functional requirements (response time, data validation), API contract (endpoints, request/response schemas)</a:t>
            </a:r>
          </a:p>
          <a:p>
            <a:r>
              <a:t>2. Generating architecture: project structure, database schema, service layer design</a:t>
            </a:r>
          </a:p>
          <a:p>
            <a:r>
              <a:t>3. Code generation: controllers, services, repositories using AI tools</a:t>
            </a:r>
          </a:p>
          <a:p>
            <a:r>
              <a:t>4. Testing: unit tests for business logic, integration tests for API endpoints</a:t>
            </a:r>
          </a:p>
          <a:p>
            <a:r>
              <a:t>5. CI/CD: GitHub Actions workflow with build, test, lint, security scan stages</a:t>
            </a:r>
          </a:p>
          <a:p/>
          <a:p>
            <a:r>
              <a:t>Time allocation:</a:t>
            </a:r>
          </a:p>
          <a:p>
            <a:r>
              <a:t>- Spec writing: 20 minutes</a:t>
            </a:r>
          </a:p>
          <a:p>
            <a:r>
              <a:t>- Architecture review: 15 minutes</a:t>
            </a:r>
          </a:p>
          <a:p>
            <a:r>
              <a:t>- Code generation &amp; review: 30 minutes</a:t>
            </a:r>
          </a:p>
          <a:p>
            <a:r>
              <a:t>- Test generation &amp; execution: 20 minutes</a:t>
            </a:r>
          </a:p>
          <a:p>
            <a:r>
              <a:t>- CI/CD setup: 15 minutes</a:t>
            </a:r>
          </a:p>
          <a:p/>
          <a:p>
            <a:r>
              <a:t>EXAMPLE 2 — STUDENT GRADE CALCULATOR (Secondary, 1 hour):</a:t>
            </a:r>
          </a:p>
          <a:p>
            <a:r>
              <a:t>A simpler exercise for shorter sessions or as a warm-up:</a:t>
            </a:r>
          </a:p>
          <a:p>
            <a:r>
              <a:t>- Calculate weighted grades from multiple assignments</a:t>
            </a:r>
          </a:p>
          <a:p>
            <a:r>
              <a:t>- Generate grade reports with statistics</a:t>
            </a:r>
          </a:p>
          <a:p>
            <a:r>
              <a:t>- Focus on business logic correctness and comprehensive testing</a:t>
            </a:r>
          </a:p>
          <a:p>
            <a:r>
              <a:t>- Good for participants new to AI-native practices</a:t>
            </a:r>
          </a:p>
          <a:p/>
          <a:p>
            <a:r>
              <a:t>HOMEWORK EXERCISES:</a:t>
            </a:r>
          </a:p>
          <a:p>
            <a:r>
              <a:t>These are designed for participants to practice independently after the workshop:</a:t>
            </a:r>
          </a:p>
          <a:p>
            <a:r>
              <a:t>1. Book Library System: Full CRUD with relationships (books-authors-categories), search functionality, pagination. This exercises the complete spec-driven workflow.</a:t>
            </a:r>
          </a:p>
          <a:p>
            <a:r>
              <a:t>2. Event Registration Platform: More complex — includes business rules (capacity limits, registration deadlines), notifications, and multi-tier architecture.</a:t>
            </a:r>
          </a:p>
          <a:p/>
          <a:p>
            <a:r>
              <a:t>FACILITATION TIPS:</a:t>
            </a:r>
          </a:p>
          <a:p>
            <a:r>
              <a:t>- Have pre-written partial specs available for participants who struggle to start from scratch</a:t>
            </a:r>
          </a:p>
          <a:p>
            <a:r>
              <a:t>- Pair experienced and novice participants for pair-programming exercises</a:t>
            </a:r>
          </a:p>
          <a:p>
            <a:r>
              <a:t>- Use screen sharing to demonstrate each step before participants try it themselves</a:t>
            </a:r>
          </a:p>
          <a:p>
            <a:r>
              <a:t>- Common issue: participants want to jump straight to code — gently redirect to spec-first</a:t>
            </a:r>
          </a:p>
          <a:p>
            <a:r>
              <a:t>- Have backup solutions ready in case of tool/network issues</a:t>
            </a:r>
          </a:p>
          <a:p>
            <a:r>
              <a:t>- Allow time for discussion after each exercise — "What surprised you?" "What was harder/easier than expected?"</a:t>
            </a:r>
          </a:p>
          <a:p>
            <a:r>
              <a:t>- Encourage experimentation — there's no single "right" way to prompt AI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40: Key Takeaways &amp; Next Steps</a:t>
            </a:r>
          </a:p>
          <a:p>
            <a:r>
              <a:t>------------------------------------------------------</a:t>
            </a:r>
          </a:p>
          <a:p>
            <a:r>
              <a:t>This is your closing slide for the main content. Make it impactful and action-oriented.</a:t>
            </a:r>
          </a:p>
          <a:p/>
          <a:p>
            <a:r>
              <a:t>WALK THROUGH EACH TAKEAWAY — connect it back to what they experienced:</a:t>
            </a:r>
          </a:p>
          <a:p/>
          <a:p>
            <a:r>
              <a:t>1. SPECS, NOT CODE: "Remember how we started every exercise with a specification? That's the foundation. When you teach your students, start with 'What are we building and why?' before 'How do we code it?'"</a:t>
            </a:r>
          </a:p>
          <a:p/>
          <a:p>
            <a:r>
              <a:t>2. HUMAN OVERSIGHT: "AI is powerful but not infallible. Every piece of generated code we reviewed today had at least something that needed human judgment — an edge case, a naming convention, a security consideration. Teach your students to be critical reviewers, not passive acceptors of AI output."</a:t>
            </a:r>
          </a:p>
          <a:p/>
          <a:p>
            <a:r>
              <a:t>3. TESTING &amp; SECURITY: "The test suite is your contract. If you have comprehensive tests, you can regenerate code with confidence. If you skip tests, you're building on sand. Security scanning isn't optional — it's a hygiene practice like testing."</a:t>
            </a:r>
          </a:p>
          <a:p/>
          <a:p>
            <a:r>
              <a:t>4. CI/CD: "Automation isn't about convenience — it's about consistency. Every commit gets the same rigorous checks. No human can maintain that consistency manually across hundreds of commits."</a:t>
            </a:r>
          </a:p>
          <a:p/>
          <a:p>
            <a:r>
              <a:t>5. MULTI-AGENT FUTURE: "Today we saw the foundations of multi-agent development. Within 2-3 years, most professional development environments will use orchestrated AI agents for different phases of the SDLC. Your students need to understand this paradigm."</a:t>
            </a:r>
          </a:p>
          <a:p/>
          <a:p>
            <a:r>
              <a:t>6. GOVERNANCE: "As AI becomes more powerful, governance becomes more important. Teach your students not just how to USE AI, but how to use it RESPONSIBLY — with policies, audit trails, and ethical consideration."</a:t>
            </a:r>
          </a:p>
          <a:p/>
          <a:p>
            <a:r>
              <a:t>NEXT STEPS — Make these concrete and actionable:</a:t>
            </a:r>
          </a:p>
          <a:p>
            <a:r>
              <a:t>1. Complete the homework exercises within the next 2 weeks</a:t>
            </a:r>
          </a:p>
          <a:p>
            <a:r>
              <a:t>2. Try using AI tools in your own development work before introducing them to students</a:t>
            </a:r>
          </a:p>
          <a:p>
            <a:r>
              <a:t>3. Start adapting one course to include spec-driven development concepts</a:t>
            </a:r>
          </a:p>
          <a:p>
            <a:r>
              <a:t>4. Share your experience with other faculty — be an advocate for AI-native practices</a:t>
            </a:r>
          </a:p>
          <a:p>
            <a:r>
              <a:t>5. Consider research opportunities — measuring AI impact on student learning, developing new assessment methods</a:t>
            </a:r>
          </a:p>
          <a:p/>
          <a:p>
            <a:r>
              <a:t>CALL TO ACTION: "You are the bridge between the AI revolution and the next generation of software engineers. How you teach will shape how they build. Thank you for investing this time in your professional development."</a:t>
            </a:r>
          </a:p>
          <a:p/>
          <a:p>
            <a:r>
              <a:t>RESOURCES:</a:t>
            </a:r>
          </a:p>
          <a:p>
            <a:r>
              <a:t>- Workshop materials will be shared via the course repository</a:t>
            </a:r>
          </a:p>
          <a:p>
            <a:r>
              <a:t>- Follow-up office hours available for implementation questions</a:t>
            </a:r>
          </a:p>
          <a:p>
            <a:r>
              <a:t>- Community of practice Slack/Discord channel for ongoing discussion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41 (BACKUP): Prompt Engineering Templates</a:t>
            </a:r>
          </a:p>
          <a:p>
            <a:r>
              <a:t>-----------------------------------------------------------------</a:t>
            </a:r>
          </a:p>
          <a:p>
            <a:r>
              <a:t>This backup slide provides ready-to-use prompt templates for common software development tasks. Use this when participants need concrete examples.</a:t>
            </a:r>
          </a:p>
          <a:p/>
          <a:p>
            <a:r>
              <a:t>TEMPLATE 1 — REQUIREMENTS GATHERING:</a:t>
            </a:r>
          </a:p>
          <a:p>
            <a:r>
              <a:t>This template transforms a vague feature request into a structured specification. Key elements:</a:t>
            </a:r>
          </a:p>
          <a:p>
            <a:r>
              <a:t>- Role assignment: "You are a requirements analyst" — this primes the AI to think in terms of requirements, not code</a:t>
            </a:r>
          </a:p>
          <a:p>
            <a:r>
              <a:t>- Structured output: numbered functional requirements, non-functional requirements, acceptance criteria in Given/When/Then format</a:t>
            </a:r>
          </a:p>
          <a:p>
            <a:r>
              <a:t>- Edge cases: explicitly asking for edge cases catches scenarios humans often miss</a:t>
            </a:r>
          </a:p>
          <a:p>
            <a:r>
              <a:t>- Customization: replace {feature_description} with the actual feature. Be as detailed as possible.</a:t>
            </a:r>
          </a:p>
          <a:p/>
          <a:p>
            <a:r>
              <a:t>TEMPLATE 2 — CODE GENERATION:</a:t>
            </a:r>
          </a:p>
          <a:p>
            <a:r>
              <a:t>This template generates implementation code from an approved specification. Key elements:</a:t>
            </a:r>
          </a:p>
          <a:p>
            <a:r>
              <a:t>- Role: "senior backend developer" — encourages production-quality patterns</a:t>
            </a:r>
          </a:p>
          <a:p>
            <a:r>
              <a:t>- Input: the full specification, not just a one-line description</a:t>
            </a:r>
          </a:p>
          <a:p>
            <a:r>
              <a:t>- Constraints: specific language, framework, and patterns to follow</a:t>
            </a:r>
          </a:p>
          <a:p>
            <a:r>
              <a:t>- Quality requirements: validation, error handling, docstrings, type hints</a:t>
            </a:r>
          </a:p>
          <a:p>
            <a:r>
              <a:t>- Customization: adjust language/framework as needed, add project-specific conventions</a:t>
            </a:r>
          </a:p>
          <a:p/>
          <a:p>
            <a:r>
              <a:t>TEMPLATE 3 — TEST GENERATION:</a:t>
            </a:r>
          </a:p>
          <a:p>
            <a:r>
              <a:t>This template generates comprehensive tests. Key elements:</a:t>
            </a:r>
          </a:p>
          <a:p>
            <a:r>
              <a:t>- Dual input: both the code and the acceptance criteria — this ensures tests validate business requirements, not just code coverage</a:t>
            </a:r>
          </a:p>
          <a:p>
            <a:r>
              <a:t>- Multiple test types: unit, edge case, and integration</a:t>
            </a:r>
          </a:p>
          <a:p>
            <a:r>
              <a:t>- Customization: add specific testing framework preferences, mocking strategies</a:t>
            </a:r>
          </a:p>
          <a:p/>
          <a:p>
            <a:r>
              <a:t>GENERAL TIPS:</a:t>
            </a:r>
          </a:p>
          <a:p>
            <a:r>
              <a:t>- The "tips" column on the right provides meta-guidance for effective prompting</a:t>
            </a:r>
          </a:p>
          <a:p>
            <a:r>
              <a:t>- Chain-of-thought prompting is especially useful for architecture decisions</a:t>
            </a:r>
          </a:p>
          <a:p>
            <a:r>
              <a:t>- Iterative refinement is normal — first prompt rarely produces perfect output</a:t>
            </a:r>
          </a:p>
          <a:p>
            <a:r>
              <a:t>- Templates should be version-controlled alongside code</a:t>
            </a:r>
          </a:p>
          <a:p>
            <a:r>
              <a:t>- Encourage participants to build their own template library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42 (BACKUP): Kubernetes Deployment Architecture</a:t>
            </a:r>
          </a:p>
          <a:p>
            <a:r>
              <a:t>----------------------------------------------------------------------</a:t>
            </a:r>
          </a:p>
          <a:p>
            <a:r>
              <a:t>Use this slide when participants ask about container orchestration or production deployment.</a:t>
            </a:r>
          </a:p>
          <a:p/>
          <a:p>
            <a:r>
              <a:t>KUBERNETES CONCEPTS FOR FACULTY:</a:t>
            </a:r>
          </a:p>
          <a:p>
            <a:r>
              <a:t>- Kubernetes (K8s) is the industry standard for container orchestration</a:t>
            </a:r>
          </a:p>
          <a:p>
            <a:r>
              <a:t>- It automates deployment, scaling, and management of containerized applications</a:t>
            </a:r>
          </a:p>
          <a:p>
            <a:r>
              <a:t>- Even if students don't use K8s directly, understanding the concepts is valuable</a:t>
            </a:r>
          </a:p>
          <a:p/>
          <a:p>
            <a:r>
              <a:t>DEPLOYMENT YAML EXPLAINED:</a:t>
            </a:r>
          </a:p>
          <a:p>
            <a:r>
              <a:t>- apiVersion/kind: declares this is a Deployment resource</a:t>
            </a:r>
          </a:p>
          <a:p>
            <a:r>
              <a:t>- replicas: 3: runs three identical copies for availability</a:t>
            </a:r>
          </a:p>
          <a:p>
            <a:r>
              <a:t>- selector: tells K8s which pods belong to this deployment</a:t>
            </a:r>
          </a:p>
          <a:p>
            <a:r>
              <a:t>- container spec: which image to run, which ports to expose</a:t>
            </a:r>
          </a:p>
          <a:p>
            <a:r>
              <a:t>- resources: CPU and memory limits prevent runaway consumption</a:t>
            </a:r>
          </a:p>
          <a:p/>
          <a:p>
            <a:r>
              <a:t>ARCHITECTURE COMPONENTS:</a:t>
            </a:r>
          </a:p>
          <a:p>
            <a:r>
              <a:t>- Ingress Controller: routes external traffic to internal services (like a reverse proxy)</a:t>
            </a:r>
          </a:p>
          <a:p>
            <a:r>
              <a:t>- Service: provides a stable internal DNS name and load-balances across pods</a:t>
            </a:r>
          </a:p>
          <a:p>
            <a:r>
              <a:t>- Pods: the actual running containers — if one crashes, K8s restarts it automatically</a:t>
            </a:r>
          </a:p>
          <a:p>
            <a:r>
              <a:t>- PersistentVolume: durable storage that survives pod restarts (for databases)</a:t>
            </a:r>
          </a:p>
          <a:p/>
          <a:p>
            <a:r>
              <a:t>WHEN TO INTRODUCE TO STUDENTS:</a:t>
            </a:r>
          </a:p>
          <a:p>
            <a:r>
              <a:t>- After they understand Docker basics (containerization)</a:t>
            </a:r>
          </a:p>
          <a:p>
            <a:r>
              <a:t>- When discussing production deployment and scaling</a:t>
            </a:r>
          </a:p>
          <a:p>
            <a:r>
              <a:t>- In advanced courses on cloud computing or DevOps</a:t>
            </a:r>
          </a:p>
          <a:p>
            <a:r>
              <a:t>- Not necessary for introductory courses — Docker Compose is a simpler alternative</a:t>
            </a:r>
          </a:p>
          <a:p/>
          <a:p>
            <a:r>
              <a:t>AI-NATIVE CONNECTION:</a:t>
            </a:r>
          </a:p>
          <a:p>
            <a:r>
              <a:t>- AI can generate K8s YAML from high-level descriptions</a:t>
            </a:r>
          </a:p>
          <a:p>
            <a:r>
              <a:t>- "Deploy a Python API with 3 replicas, 256MB memory limit, and a PostgreSQL database"</a:t>
            </a:r>
          </a:p>
          <a:p>
            <a:r>
              <a:t>- AI can also generate Helm charts, Kustomize overlays, and ArgoCD configurations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43 (BACKUP): Observability with OpenTelemetry</a:t>
            </a:r>
          </a:p>
          <a:p>
            <a:r>
              <a:t>---------------------------------------------------------------------</a:t>
            </a:r>
          </a:p>
          <a:p>
            <a:r>
              <a:t>Use this slide when discussing production monitoring or when participants ask about how to know if AI-generated code performs well in production.</a:t>
            </a:r>
          </a:p>
          <a:p/>
          <a:p>
            <a:r>
              <a:t>WHAT IS OBSERVABILITY?</a:t>
            </a:r>
          </a:p>
          <a:p>
            <a:r>
              <a:t>Observability is the ability to understand a system's internal state by examining its external outputs. The three pillars are:</a:t>
            </a:r>
          </a:p>
          <a:p>
            <a:r>
              <a:t>1. Metrics: numerical measurements over time (latency, throughput, error rates)</a:t>
            </a:r>
          </a:p>
          <a:p>
            <a:r>
              <a:t>2. Traces: end-to-end request journeys through distributed systems</a:t>
            </a:r>
          </a:p>
          <a:p>
            <a:r>
              <a:t>3. Logs: discrete events with context (error messages, audit records)</a:t>
            </a:r>
          </a:p>
          <a:p/>
          <a:p>
            <a:r>
              <a:t>OPENTELEMETRY (OTel):</a:t>
            </a:r>
          </a:p>
          <a:p>
            <a:r>
              <a:t>- Vendor-neutral, open-source observability framework</a:t>
            </a:r>
          </a:p>
          <a:p>
            <a:r>
              <a:t>- Provides APIs and SDKs for instrumenting applications</a:t>
            </a:r>
          </a:p>
          <a:p>
            <a:r>
              <a:t>- Supports all three pillars: metrics, traces, and logs</a:t>
            </a:r>
          </a:p>
          <a:p>
            <a:r>
              <a:t>- Works with most programming languages (Python, Java, Go, Node.js, etc.)</a:t>
            </a:r>
          </a:p>
          <a:p>
            <a:r>
              <a:t>- The OTel Collector receives, processes, and exports telemetry data</a:t>
            </a:r>
          </a:p>
          <a:p/>
          <a:p>
            <a:r>
              <a:t>ARCHITECTURE EXPLAINED:</a:t>
            </a:r>
          </a:p>
          <a:p>
            <a:r>
              <a:t>1. Application is instrumented with OTel SDK — adds automatic and custom telemetry</a:t>
            </a:r>
          </a:p>
          <a:p>
            <a:r>
              <a:t>2. OTel Collector aggregates data — acts as a pipeline for processing and routing</a:t>
            </a:r>
          </a:p>
          <a:p>
            <a:r>
              <a:t>3. Prometheus stores metrics — time-series database optimized for monitoring</a:t>
            </a:r>
          </a:p>
          <a:p>
            <a:r>
              <a:t>4. Jaeger stores traces — distributed tracing backend for request flow analysis</a:t>
            </a:r>
          </a:p>
          <a:p>
            <a:r>
              <a:t>5. Grafana visualizes everything — dashboards, alerts, and exploration</a:t>
            </a:r>
          </a:p>
          <a:p/>
          <a:p>
            <a:r>
              <a:t>WHY IT MATTERS FOR AI-NATIVE DEVELOPMENT:</a:t>
            </a:r>
          </a:p>
          <a:p>
            <a:r>
              <a:t>- AI-generated code may have performance characteristics you didn't expect</a:t>
            </a:r>
          </a:p>
          <a:p>
            <a:r>
              <a:t>- Monitoring helps you identify issues before users are affected</a:t>
            </a:r>
          </a:p>
          <a:p>
            <a:r>
              <a:t>- Feedback from production metrics feeds back into the AI-native cycle</a:t>
            </a:r>
          </a:p>
          <a:p>
            <a:r>
              <a:t>- Automated alerts can trigger re-generation or rollback of problematic code</a:t>
            </a:r>
          </a:p>
          <a:p/>
          <a:p>
            <a:r>
              <a:t>SETUP GUIDANCE:</a:t>
            </a:r>
          </a:p>
          <a:p>
            <a:r>
              <a:t>- Start simple: just metrics (Prometheus + Grafana)</a:t>
            </a:r>
          </a:p>
          <a:p>
            <a:r>
              <a:t>- Add traces when debugging distributed systems</a:t>
            </a:r>
          </a:p>
          <a:p>
            <a:r>
              <a:t>- OpenTelemetry auto-instrumentation requires minimal code changes</a:t>
            </a:r>
          </a:p>
          <a:p>
            <a:r>
              <a:t>- Docker Compose setups available for local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44 (BACKUP): Load Testing with k6</a:t>
            </a:r>
          </a:p>
          <a:p>
            <a:r>
              <a:t>---------------------------------------------------------</a:t>
            </a:r>
          </a:p>
          <a:p>
            <a:r>
              <a:t>Use this slide to demonstrate performance testing concepts and practices.</a:t>
            </a:r>
          </a:p>
          <a:p/>
          <a:p>
            <a:r>
              <a:t>WHAT IS K6?</a:t>
            </a:r>
          </a:p>
          <a:p>
            <a:r>
              <a:t>- Open-source load testing tool by Grafana Labs</a:t>
            </a:r>
          </a:p>
          <a:p>
            <a:r>
              <a:t>- Written in Go but tests are scripted in JavaScript</a:t>
            </a:r>
          </a:p>
          <a:p>
            <a:r>
              <a:t>- Designed for developer experience — tests are code, not GUI configurations</a:t>
            </a:r>
          </a:p>
          <a:p>
            <a:r>
              <a:t>- Integrates with CI/CD pipelines, Grafana dashboards, and cloud execution</a:t>
            </a:r>
          </a:p>
          <a:p/>
          <a:p>
            <a:r>
              <a:t>SCRIPT WALKTHROUGH:</a:t>
            </a:r>
          </a:p>
          <a:p>
            <a:r>
              <a:t>1. Import statements: http for making requests, check for assertions, sleep for pacing</a:t>
            </a:r>
          </a:p>
          <a:p>
            <a:r>
              <a:t>2. Options block defines the test profile:</a:t>
            </a:r>
          </a:p>
          <a:p>
            <a:r>
              <a:t>   - stages: ramp up to 20 virtual users over 30s, then to 50 users for 1 minute, then ramp down</a:t>
            </a:r>
          </a:p>
          <a:p>
            <a:r>
              <a:t>   - thresholds: the test FAILS if 95th percentile latency exceeds 500ms or if more than 1% of requests fail</a:t>
            </a:r>
          </a:p>
          <a:p>
            <a:r>
              <a:t>3. Default function: what each virtual user does per iteration</a:t>
            </a:r>
          </a:p>
          <a:p>
            <a:r>
              <a:t>   - Makes a GET request to the tasks API</a:t>
            </a:r>
          </a:p>
          <a:p>
            <a:r>
              <a:t>   - Checks the response status and timing</a:t>
            </a:r>
          </a:p>
          <a:p>
            <a:r>
              <a:t>   - Sleeps 1 second (simulates user think time)</a:t>
            </a:r>
          </a:p>
          <a:p/>
          <a:p>
            <a:r>
              <a:t>INTERPRETING RESULTS:</a:t>
            </a:r>
          </a:p>
          <a:p>
            <a:r>
              <a:t>- http_req_duration: how long requests take (look at p50, p90, p95, p99)</a:t>
            </a:r>
          </a:p>
          <a:p>
            <a:r>
              <a:t>- http_req_failed: percentage of failed requests</a:t>
            </a:r>
          </a:p>
          <a:p>
            <a:r>
              <a:t>- iterations: total number of complete test iterations</a:t>
            </a:r>
          </a:p>
          <a:p>
            <a:r>
              <a:t>- vus: number of active virtual users at any point</a:t>
            </a:r>
          </a:p>
          <a:p>
            <a:r>
              <a:t>- data_received/sent: network throughput</a:t>
            </a:r>
          </a:p>
          <a:p/>
          <a:p>
            <a:r>
              <a:t>COMMON BOTTLENECKS k6 HELPS IDENTIFY:</a:t>
            </a:r>
          </a:p>
          <a:p>
            <a:r>
              <a:t>- Database connection pool exhaustion</a:t>
            </a:r>
          </a:p>
          <a:p>
            <a:r>
              <a:t>- Memory leaks under sustained load</a:t>
            </a:r>
          </a:p>
          <a:p>
            <a:r>
              <a:t>- CPU-bound operations that don't scale</a:t>
            </a:r>
          </a:p>
          <a:p>
            <a:r>
              <a:t>- Network timeouts and connection limits</a:t>
            </a:r>
          </a:p>
          <a:p>
            <a:r>
              <a:t>- Thread/process starvation</a:t>
            </a:r>
          </a:p>
          <a:p/>
          <a:p>
            <a:r>
              <a:t>AI-NATIVE CONNECTION:</a:t>
            </a:r>
          </a:p>
          <a:p>
            <a:r>
              <a:t>- AI can generate k6 scripts from API specs</a:t>
            </a:r>
          </a:p>
          <a:p>
            <a:r>
              <a:t>- "Generate a k6 load test for the Task Management API that tests all CRUD endpoints with realistic data"</a:t>
            </a:r>
          </a:p>
          <a:p>
            <a:r>
              <a:t>- AI can also help interpret results and suggest optimizations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45 (BACKUP): End-to-End Testing with Playwright</a:t>
            </a:r>
          </a:p>
          <a:p>
            <a:r>
              <a:t>----------------------------------------------------------------------</a:t>
            </a:r>
          </a:p>
          <a:p>
            <a:r>
              <a:t>Use this slide when discussing comprehensive testing strategies or when participants ask about UI testing.</a:t>
            </a:r>
          </a:p>
          <a:p/>
          <a:p>
            <a:r>
              <a:t>WHAT IS PLAYWRIGHT?</a:t>
            </a:r>
          </a:p>
          <a:p>
            <a:r>
              <a:t>- Modern end-to-end testing framework by Microsoft</a:t>
            </a:r>
          </a:p>
          <a:p>
            <a:r>
              <a:t>- Supports Chromium, Firefox, and WebKit browsers</a:t>
            </a:r>
          </a:p>
          <a:p>
            <a:r>
              <a:t>- Auto-waits for elements — no manual sleep/wait statements needed</a:t>
            </a:r>
          </a:p>
          <a:p>
            <a:r>
              <a:t>- Supports multiple programming languages (JavaScript, Python, Java, C#)</a:t>
            </a:r>
          </a:p>
          <a:p>
            <a:r>
              <a:t>- Built-in test runner with parallel execution and reporting</a:t>
            </a:r>
          </a:p>
          <a:p/>
          <a:p>
            <a:r>
              <a:t>SCRIPT WALKTHROUGH:</a:t>
            </a:r>
          </a:p>
          <a:p>
            <a:r>
              <a:t>1. Import test and expect from Playwright's test library</a:t>
            </a:r>
          </a:p>
          <a:p>
            <a:r>
              <a:t>2. Define a test case: "create a new task"</a:t>
            </a:r>
          </a:p>
          <a:p>
            <a:r>
              <a:t>3. Navigate to the application URL</a:t>
            </a:r>
          </a:p>
          <a:p>
            <a:r>
              <a:t>4. Interact with UI elements: click buttons, fill inputs</a:t>
            </a:r>
          </a:p>
          <a:p>
            <a:r>
              <a:t>5. Submit the form</a:t>
            </a:r>
          </a:p>
          <a:p>
            <a:r>
              <a:t>6. Assert that the expected result appears on the page</a:t>
            </a:r>
          </a:p>
          <a:p/>
          <a:p>
            <a:r>
              <a:t>KEY PLAYWRIGHT FEATURES:</a:t>
            </a:r>
          </a:p>
          <a:p>
            <a:r>
              <a:t>- Auto-waiting: Playwright waits for elements to be ready before interacting</a:t>
            </a:r>
          </a:p>
          <a:p>
            <a:r>
              <a:t>- Locator strategies: text, CSS selectors, role-based selectors, XPath</a:t>
            </a:r>
          </a:p>
          <a:p>
            <a:r>
              <a:t>- Network interception: mock API responses for isolated testing</a:t>
            </a:r>
          </a:p>
          <a:p>
            <a:r>
              <a:t>- Screenshot and video recording for debugging</a:t>
            </a:r>
          </a:p>
          <a:p>
            <a:r>
              <a:t>- Parallel execution across browsers for faster CI/CD</a:t>
            </a:r>
          </a:p>
          <a:p/>
          <a:p>
            <a:r>
              <a:t>TESTING PYRAMID CONCEPT:</a:t>
            </a:r>
          </a:p>
          <a:p>
            <a:r>
              <a:t>- Unit Tests (base, most numerous): fast, isolated, test individual functions</a:t>
            </a:r>
          </a:p>
          <a:p>
            <a:r>
              <a:t>- Integration Tests (middle): test how components work together, API contracts</a:t>
            </a:r>
          </a:p>
          <a:p>
            <a:r>
              <a:t>- E2E Tests (top, fewest): test full user workflows through the actual UI</a:t>
            </a:r>
          </a:p>
          <a:p>
            <a:r>
              <a:t>- Rule of thumb: 70% unit, 20% integration, 10% E2E</a:t>
            </a:r>
          </a:p>
          <a:p>
            <a:r>
              <a:t>- E2E tests are expensive to write and maintain — use them for critical user journeys only</a:t>
            </a:r>
          </a:p>
          <a:p/>
          <a:p>
            <a:r>
              <a:t>AI-NATIVE CONNECTION:</a:t>
            </a:r>
          </a:p>
          <a:p>
            <a:r>
              <a:t>- AI can generate Playwright tests from user stories or UI mockups</a:t>
            </a:r>
          </a:p>
          <a:p>
            <a:r>
              <a:t>- "Given this user story: 'As a user, I can create a task with a title and description', generate a Playwright E2E test"</a:t>
            </a:r>
          </a:p>
          <a:p>
            <a:r>
              <a:t>- AI can also generate Page Object Models from HTML structure</a:t>
            </a:r>
          </a:p>
          <a:p>
            <a:r>
              <a:t>- Combine with visual regression testing for comprehensive coverage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46 (BACKUP): Research Opportunities for Faculty</a:t>
            </a:r>
          </a:p>
          <a:p>
            <a:r>
              <a:t>----------------------------------------------------------------------</a:t>
            </a:r>
          </a:p>
          <a:p>
            <a:r>
              <a:t>This slide is specifically for faculty who are interested in conducting research in AI-native software engineering. Use it to spark research conversations.</a:t>
            </a:r>
          </a:p>
          <a:p/>
          <a:p>
            <a:r>
              <a:t>RESEARCH AREA 1 — AI-ASSISTED SE EDUCATION:</a:t>
            </a:r>
          </a:p>
          <a:p>
            <a:r>
              <a:t>- Research questions: Does AI-native methodology improve student learning outcomes? Does it help or hinder conceptual understanding? How do students' problem-solving strategies change?</a:t>
            </a:r>
          </a:p>
          <a:p>
            <a:r>
              <a:t>- Methods: controlled studies comparing AI-native vs. traditional teaching, surveys, code quality analysis</a:t>
            </a:r>
          </a:p>
          <a:p>
            <a:r>
              <a:t>- Potential venues: SIGCSE, ITiCSE, ICSE-SEET, ACM TOCE</a:t>
            </a:r>
          </a:p>
          <a:p/>
          <a:p>
            <a:r>
              <a:t>RESEARCH AREA 2 — SPEC-TO-CODE TRACEABILITY:</a:t>
            </a:r>
          </a:p>
          <a:p>
            <a:r>
              <a:t>- Research questions: Can formal traceability be maintained when AI generates code from specs? How do we verify that generated code satisfies the original requirements?</a:t>
            </a:r>
          </a:p>
          <a:p>
            <a:r>
              <a:t>- Methods: static analysis, formal verification, mutation testing of generated code</a:t>
            </a:r>
          </a:p>
          <a:p>
            <a:r>
              <a:t>- Potential venues: ICSE, FSE, ASE, TOSEM</a:t>
            </a:r>
          </a:p>
          <a:p/>
          <a:p>
            <a:r>
              <a:t>RESEARCH AREA 3 — AGENTIC SDLC EFFECTIVENESS:</a:t>
            </a:r>
          </a:p>
          <a:p>
            <a:r>
              <a:t>- Research questions: Are multi-agent workflows more effective than single LLM approaches? What orchestration patterns yield the best results? How does agent specialization affect output quality?</a:t>
            </a:r>
          </a:p>
          <a:p>
            <a:r>
              <a:t>- Methods: empirical studies, case studies, benchmarking frameworks</a:t>
            </a:r>
          </a:p>
          <a:p>
            <a:r>
              <a:t>- Potential venues: ICSE, FSE, AAAI, NeurIPS (AI agent tracks)</a:t>
            </a:r>
          </a:p>
          <a:p/>
          <a:p>
            <a:r>
              <a:t>RESEARCH AREA 4 — SECURITY OF GENERATED CODE:</a:t>
            </a:r>
          </a:p>
          <a:p>
            <a:r>
              <a:t>- Research questions: What vulnerability patterns are common in AI-generated code? Are they different from human-introduced vulnerabilities? Can AI-based security tools catch AI-introduced bugs?</a:t>
            </a:r>
          </a:p>
          <a:p>
            <a:r>
              <a:t>- Methods: static analysis of generated codebases, vulnerability benchmarks, red-team exercises</a:t>
            </a:r>
          </a:p>
          <a:p>
            <a:r>
              <a:t>- Potential venues: USENIX Security, CCS, S&amp;P, NDSS</a:t>
            </a:r>
          </a:p>
          <a:p/>
          <a:p>
            <a:r>
              <a:t>RESEARCH AREA 5 — HUMAN-AI COLLABORATION:</a:t>
            </a:r>
          </a:p>
          <a:p>
            <a:r>
              <a:t>- Research questions: How do developers' roles evolve? What skills become more important? How does team dynamics change?</a:t>
            </a:r>
          </a:p>
          <a:p>
            <a:r>
              <a:t>- Methods: ethnographic studies, longitudinal observations, interview studies</a:t>
            </a:r>
          </a:p>
          <a:p/>
          <a:p>
            <a:r>
              <a:t>RESEARCH AREA 6 — COST-BENEFIT ANALYSIS:</a:t>
            </a:r>
          </a:p>
          <a:p>
            <a:r>
              <a:t>- Research questions: What is the true ROI? How do we measure it? What are the hidden costs?</a:t>
            </a:r>
          </a:p>
          <a:p>
            <a:r>
              <a:t>- Methods: case studies, time-motion studies, productivity metrics analysis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47 (BACKUP): Instructor Guide &amp; Pitfalls</a:t>
            </a:r>
          </a:p>
          <a:p>
            <a:r>
              <a:t>----------------------------------------------------------------</a:t>
            </a:r>
          </a:p>
          <a:p>
            <a:r>
              <a:t>This slide is a practical guide for facilitators delivering this workshop or teaching AI-native practices in their own courses.</a:t>
            </a:r>
          </a:p>
          <a:p/>
          <a:p>
            <a:r>
              <a:t>COMMON PITFALLS IN DETAIL:</a:t>
            </a:r>
          </a:p>
          <a:p/>
          <a:p>
            <a:r>
              <a:t>1. SKIPPING THE SPEC: The most common issue. Students (and professionals!) want to immediately start generating code. Mitigation: make spec submission a prerequisite for the next stage. Grade the spec independently. Show examples of how bad specs produce bad code.</a:t>
            </a:r>
          </a:p>
          <a:p/>
          <a:p>
            <a:r>
              <a:t>2. OVER-RELIANCE WITHOUT UNDERSTANDING: Students may produce working code without understanding how it works. This is dangerous in professional settings. Mitigation: require oral defenses, code modification exercises ("change the data model from X to Y and explain what else needs to change"), and design justification documentation.</a:t>
            </a:r>
          </a:p>
          <a:p/>
          <a:p>
            <a:r>
              <a:t>3. COPY-PASTE WITHOUT REVIEW: AI output is treated as gospel. Mitigation: implement mandatory code review checklists, require students to annotate generated code with comments explaining what each section does, mandate minimum test coverage.</a:t>
            </a:r>
          </a:p>
          <a:p/>
          <a:p>
            <a:r>
              <a:t>4. IGNORING SECURITY: AI-generated code may include vulnerabilities that students don't recognize. Mitigation: integrate automated security scanning (Snyk, Bandit, etc.) into the CI/CD pipeline, make security findings a graded component.</a:t>
            </a:r>
          </a:p>
          <a:p/>
          <a:p>
            <a:r>
              <a:t>5. PROMPT FRUSTRATION: Students may struggle to get useful outputs from AI. Mitigation: provide starter prompt templates, teach the iterative refinement process (prompt -&gt; review -&gt; refine -&gt; repeat), share examples of effective vs. ineffective prompts.</a:t>
            </a:r>
          </a:p>
          <a:p/>
          <a:p>
            <a:r>
              <a:t>6. TOOL ACCESS: Not all students have access to paid AI tools. Mitigation: use free tiers (GitHub Copilot for students, free ChatGPT), have offline exercises as backup, consider institutional licenses.</a:t>
            </a:r>
          </a:p>
          <a:p/>
          <a:p>
            <a:r>
              <a:t>FACILITATION BEST PRACTICES:</a:t>
            </a:r>
          </a:p>
          <a:p>
            <a:r>
              <a:t>- Read the room: if participants are experienced, go faster through basics; if novice, spend more time on fundamentals</a:t>
            </a:r>
          </a:p>
          <a:p>
            <a:r>
              <a:t>- Use the "I do, we do, you do" progression for each exercise</a:t>
            </a:r>
          </a:p>
          <a:p>
            <a:r>
              <a:t>- Keep energy high: alternate between presentation, discussion, and hands-on every 20-30 minutes</a:t>
            </a:r>
          </a:p>
          <a:p>
            <a:r>
              <a:t>- Collect feedback: end-of-session survey to improve future deliveries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48 (BACKUP): Assessment Rubric for AI-Native Projects</a:t>
            </a:r>
          </a:p>
          <a:p>
            <a:r>
              <a:t>---------------------------------------------------------------------------</a:t>
            </a:r>
          </a:p>
          <a:p>
            <a:r>
              <a:t>This rubric provides a framework for fairly assessing student work in AI-native development courses.</a:t>
            </a:r>
          </a:p>
          <a:p/>
          <a:p>
            <a:r>
              <a:t>THE CHALLENGE: When AI can generate most of the code, how do you assess student learning?</a:t>
            </a:r>
          </a:p>
          <a:p/>
          <a:p>
            <a:r>
              <a:t>RUBRIC WALKTHROUGH:</a:t>
            </a:r>
          </a:p>
          <a:p/>
          <a:p>
            <a:r>
              <a:t>1. SPECIFICATION QUALITY (Most Important):</a:t>
            </a:r>
          </a:p>
          <a:p>
            <a:r>
              <a:t>- Excellent: Complete functional and non-functional requirements, structured format, clear acceptance criteria in Given/When/Then, edge cases identified</a:t>
            </a:r>
          </a:p>
          <a:p>
            <a:r>
              <a:t>- This is the primary indicator of student understanding — writing a good spec requires deep domain knowledge</a:t>
            </a:r>
          </a:p>
          <a:p>
            <a:r>
              <a:t>- Tip: Weight this criterion heavily (25-30% of total grade)</a:t>
            </a:r>
          </a:p>
          <a:p/>
          <a:p>
            <a:r>
              <a:t>2. ARCHITECTURE DECISION:</a:t>
            </a:r>
          </a:p>
          <a:p>
            <a:r>
              <a:t>- Excellent: Clear architecture choice with documented trade-offs, Architecture Decision Records (ADRs), consideration of alternatives</a:t>
            </a:r>
          </a:p>
          <a:p>
            <a:r>
              <a:t>- This tests critical thinking — can the student evaluate options and justify choices?</a:t>
            </a:r>
          </a:p>
          <a:p>
            <a:r>
              <a:t>- Tip: Require oral defense of architecture decisions</a:t>
            </a:r>
          </a:p>
          <a:p/>
          <a:p>
            <a:r>
              <a:t>3. CODE QUALITY &amp; REVIEW:</a:t>
            </a:r>
          </a:p>
          <a:p>
            <a:r>
              <a:t>- Excellent: Evidence of human review — meaningful modifications to AI output, comments explaining changes, consistent style</a:t>
            </a:r>
          </a:p>
          <a:p>
            <a:r>
              <a:t>- Red flag: code that looks 100% AI-generated with no human fingerprint</a:t>
            </a:r>
          </a:p>
          <a:p>
            <a:r>
              <a:t>- Tip: Use diff tools to compare AI-generated code with submitted version</a:t>
            </a:r>
          </a:p>
          <a:p/>
          <a:p>
            <a:r>
              <a:t>4. TESTING COVERAGE:</a:t>
            </a:r>
          </a:p>
          <a:p>
            <a:r>
              <a:t>- Excellent: Multiple test types, edge cases covered, meaningful assertions (not just "test passes")</a:t>
            </a:r>
          </a:p>
          <a:p>
            <a:r>
              <a:t>- Tests should validate spec requirements, not just code paths</a:t>
            </a:r>
          </a:p>
          <a:p>
            <a:r>
              <a:t>- Tip: Review test quality, not just coverage percentage</a:t>
            </a:r>
          </a:p>
          <a:p/>
          <a:p>
            <a:r>
              <a:t>5. SECURITY PRACTICE:</a:t>
            </a:r>
          </a:p>
          <a:p>
            <a:r>
              <a:t>- Excellent: Automated security scanning in CI/CD, vulnerabilities identified and addressed, security considerations documented</a:t>
            </a:r>
          </a:p>
          <a:p>
            <a:r>
              <a:t>- This teaches professional practice — security is not optional</a:t>
            </a:r>
          </a:p>
          <a:p/>
          <a:p>
            <a:r>
              <a:t>6. PROCESS DOCUMENTATION:</a:t>
            </a:r>
          </a:p>
          <a:p>
            <a:r>
              <a:t>- Excellent: Full log of AI interactions (what prompts were used, what was generated, what was changed and why)</a:t>
            </a:r>
          </a:p>
          <a:p>
            <a:r>
              <a:t>- This is unique to AI-native assessment — it shows the student's thinking process</a:t>
            </a:r>
          </a:p>
          <a:p>
            <a:r>
              <a:t>- Tip: Use this as the primary evidence of learning when code quality alone is ambiguous</a:t>
            </a:r>
          </a:p>
          <a:p/>
          <a:p>
            <a:r>
              <a:t>RECOMMENDED GRADE WEIGHTS:</a:t>
            </a:r>
          </a:p>
          <a:p>
            <a:r>
              <a:t>- Specification: 25%</a:t>
            </a:r>
          </a:p>
          <a:p>
            <a:r>
              <a:t>- Architecture: 15%</a:t>
            </a:r>
          </a:p>
          <a:p>
            <a:r>
              <a:t>- Code Quality: 15%</a:t>
            </a:r>
          </a:p>
          <a:p>
            <a:r>
              <a:t>- Testing: 20%</a:t>
            </a:r>
          </a:p>
          <a:p>
            <a:r>
              <a:t>- Security: 10%</a:t>
            </a:r>
          </a:p>
          <a:p>
            <a:r>
              <a:t>- Documentation: 15%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49 (BACKUP): AI Development Tool Comparison</a:t>
            </a:r>
          </a:p>
          <a:p>
            <a:r>
              <a:t>-------------------------------------------------------------------</a:t>
            </a:r>
          </a:p>
          <a:p>
            <a:r>
              <a:t>This comparison helps participants choose the right tools for their teaching context.</a:t>
            </a:r>
          </a:p>
          <a:p/>
          <a:p>
            <a:r>
              <a:t>TOOL DETAILS:</a:t>
            </a:r>
          </a:p>
          <a:p/>
          <a:p>
            <a:r>
              <a:t>GITHUB COPILOT:</a:t>
            </a:r>
          </a:p>
          <a:p>
            <a:r>
              <a:t>- Best for: inline code completion, test generation, code explanation</a:t>
            </a:r>
          </a:p>
          <a:p>
            <a:r>
              <a:t>- Integration: VS Code, JetBrains, Neovim</a:t>
            </a:r>
          </a:p>
          <a:p>
            <a:r>
              <a:t>- Free for verified students and teachers through GitHub Education</a:t>
            </a:r>
          </a:p>
          <a:p>
            <a:r>
              <a:t>- Strengths: seamless IDE integration, learns from your codebase context</a:t>
            </a:r>
          </a:p>
          <a:p>
            <a:r>
              <a:t>- Limitations: less effective for architectural decisions, doesn't do full-file edits</a:t>
            </a:r>
          </a:p>
          <a:p/>
          <a:p>
            <a:r>
              <a:t>CURSOR:</a:t>
            </a:r>
          </a:p>
          <a:p>
            <a:r>
              <a:t>- Best for: agentic coding workflows, full-file editing, multi-file changes</a:t>
            </a:r>
          </a:p>
          <a:p>
            <a:r>
              <a:t>- Built on VS Code — familiar interface with AI superpowers</a:t>
            </a:r>
          </a:p>
          <a:p>
            <a:r>
              <a:t>- Composer mode for multi-file generation, chat for Q&amp;A, agent mode for autonomous tasks</a:t>
            </a:r>
          </a:p>
          <a:p>
            <a:r>
              <a:t>- Strengths: context-aware across entire projects, supports multiple AI models</a:t>
            </a:r>
          </a:p>
          <a:p>
            <a:r>
              <a:t>- Cost consideration: $20/month may be a barrier for students</a:t>
            </a:r>
          </a:p>
          <a:p/>
          <a:p>
            <a:r>
              <a:t>CLAUDE (ANTHROPIC):</a:t>
            </a:r>
          </a:p>
          <a:p>
            <a:r>
              <a:t>- Best for: long-context analysis, architecture discussions, specification writing</a:t>
            </a:r>
          </a:p>
          <a:p>
            <a:r>
              <a:t>- 200K token context window — can analyze large codebases</a:t>
            </a:r>
          </a:p>
          <a:p>
            <a:r>
              <a:t>- Strong reasoning capabilities for complex design decisions</a:t>
            </a:r>
          </a:p>
          <a:p>
            <a:r>
              <a:t>- Artifacts feature for generating structured documents</a:t>
            </a:r>
          </a:p>
          <a:p>
            <a:r>
              <a:t>- MCP integration for tool connectivity</a:t>
            </a:r>
          </a:p>
          <a:p/>
          <a:p>
            <a:r>
              <a:t>CHATGPT (OPENAI):</a:t>
            </a:r>
          </a:p>
          <a:p>
            <a:r>
              <a:t>- Best for: general-purpose coding assistance, explaining concepts, brainstorming</a:t>
            </a:r>
          </a:p>
          <a:p>
            <a:r>
              <a:t>- Broad training data covers many languages and frameworks</a:t>
            </a:r>
          </a:p>
          <a:p>
            <a:r>
              <a:t>- Code Interpreter for running Python code directly</a:t>
            </a:r>
          </a:p>
          <a:p>
            <a:r>
              <a:t>- Plugin ecosystem for extended capabilities</a:t>
            </a:r>
          </a:p>
          <a:p/>
          <a:p>
            <a:r>
              <a:t>WINDSURF:</a:t>
            </a:r>
          </a:p>
          <a:p>
            <a:r>
              <a:t>- Best for: end-to-end AI-native development with Cascade flows</a:t>
            </a:r>
          </a:p>
          <a:p>
            <a:r>
              <a:t>- Unique approach: multi-step workflows that chain AI actions</a:t>
            </a:r>
          </a:p>
          <a:p>
            <a:r>
              <a:t>- Good for demonstrating AI-native SDLC in practice</a:t>
            </a:r>
          </a:p>
          <a:p/>
          <a:p>
            <a:r>
              <a:t>COST CONSIDERATIONS FOR ACADEMIC USE:</a:t>
            </a:r>
          </a:p>
          <a:p>
            <a:r>
              <a:t>- Start with free tiers to evaluate</a:t>
            </a:r>
          </a:p>
          <a:p>
            <a:r>
              <a:t>- Apply for educational discounts where available</a:t>
            </a:r>
          </a:p>
          <a:p>
            <a:r>
              <a:t>- Consider institutional licenses for class-wide access</a:t>
            </a:r>
          </a:p>
          <a:p>
            <a:r>
              <a:t>- Have offline alternatives ready for students without access</a:t>
            </a:r>
          </a:p>
          <a:p>
            <a:r>
              <a:t>- Mix of tools often works best — different tools for different tasks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50 (BACKUP): Architecture Patterns for AI-Native Systems</a:t>
            </a:r>
          </a:p>
          <a:p>
            <a:r>
              <a:t>--------------------------------------------------------------------------------</a:t>
            </a:r>
          </a:p>
          <a:p>
            <a:r>
              <a:t>Use this slide when discussing advanced architecture topics or when participants ask about more complex system designs.</a:t>
            </a:r>
          </a:p>
          <a:p/>
          <a:p>
            <a:r>
              <a:t>EVENT-DRIVEN ARCHITECTURE:</a:t>
            </a:r>
          </a:p>
          <a:p>
            <a:r>
              <a:t>- Components communicate by producing and consuming events through an event bus (Kafka, RabbitMQ, AWS SNS/SQS)</a:t>
            </a:r>
          </a:p>
          <a:p>
            <a:r>
              <a:t>- Producers don't know about consumers — loose coupling</a:t>
            </a:r>
          </a:p>
          <a:p>
            <a:r>
              <a:t>- Events are immutable facts: "TaskCreated", "UserRegistered", "PaymentProcessed"</a:t>
            </a:r>
          </a:p>
          <a:p>
            <a:r>
              <a:t>- Benefits for AI-native: AI can generate event schemas, producers, and consumers independently</a:t>
            </a:r>
          </a:p>
          <a:p>
            <a:r>
              <a:t>- When to use: microservices that need to communicate asynchronously, systems with complex workflows, real-time data processing</a:t>
            </a:r>
          </a:p>
          <a:p>
            <a:r>
              <a:t>- Example prompt: "Design an event-driven architecture for a task management system where task creation triggers notification and audit logging"</a:t>
            </a:r>
          </a:p>
          <a:p/>
          <a:p>
            <a:r>
              <a:t>CQRS (COMMAND QUERY RESPONSIBILITY SEGREGATION):</a:t>
            </a:r>
          </a:p>
          <a:p>
            <a:r>
              <a:t>- Separate the read model (optimized for queries) from the write model (optimized for commands)</a:t>
            </a:r>
          </a:p>
          <a:p>
            <a:r>
              <a:t>- Commands change state: CreateTask, UpdateTask, DeleteTask</a:t>
            </a:r>
          </a:p>
          <a:p>
            <a:r>
              <a:t>- Queries read state: GetTasks, GetTaskById, SearchTasks</a:t>
            </a:r>
          </a:p>
          <a:p>
            <a:r>
              <a:t>- Often combined with Event Sourcing — store events instead of current state</a:t>
            </a:r>
          </a:p>
          <a:p>
            <a:r>
              <a:t>- Benefits for AI-native: clear separation makes it easier for AI to generate each side independently</a:t>
            </a:r>
          </a:p>
          <a:p>
            <a:r>
              <a:t>- When to use: systems with very different read and write patterns, complex domains, audit requirements</a:t>
            </a:r>
          </a:p>
          <a:p>
            <a:r>
              <a:t>- Example prompt: "Generate a CQRS implementation for task management with separate command and query handlers"</a:t>
            </a:r>
          </a:p>
          <a:p/>
          <a:p>
            <a:r>
              <a:t>HEXAGONAL ARCHITECTURE (PORTS &amp; ADAPTERS):</a:t>
            </a:r>
          </a:p>
          <a:p>
            <a:r>
              <a:t>- Core business logic is isolated in the center with no external dependencies</a:t>
            </a:r>
          </a:p>
          <a:p>
            <a:r>
              <a:t>- Ports: interfaces that define how the core communicates with the outside world</a:t>
            </a:r>
          </a:p>
          <a:p>
            <a:r>
              <a:t>- Adapters: implementations of ports for specific technologies (REST adapter, database adapter, message queue adapter)</a:t>
            </a:r>
          </a:p>
          <a:p>
            <a:r>
              <a:t>- Benefits for AI-native: the core logic is testable without infrastructure, AI can generate adapters for different technologies without touching business logic</a:t>
            </a:r>
          </a:p>
          <a:p>
            <a:r>
              <a:t>- When to use: any system where you want maintainability, testability, and flexibility</a:t>
            </a:r>
          </a:p>
          <a:p>
            <a:r>
              <a:t>- Example prompt: "Generate a hexagonal architecture for a grade calculator with ports for input (REST API) and output (database, PDF report)"</a:t>
            </a:r>
          </a:p>
          <a:p/>
          <a:p>
            <a:r>
              <a:t>AI-NATIVE CONNECTION:</a:t>
            </a:r>
          </a:p>
          <a:p>
            <a:r>
              <a:t>- These patterns make AI-generated code more maintainable because they enforce clear boundaries</a:t>
            </a:r>
          </a:p>
          <a:p>
            <a:r>
              <a:t>- AI excels at generating adapter code (boilerplate) while humans focus on core business rules</a:t>
            </a:r>
          </a:p>
          <a:p>
            <a:r>
              <a:t>- Pattern selection itself can be AI-assisted: describe your requirements and ask AI to recommend and justify a pattern choice</a:t>
            </a:r>
          </a:p>
          <a:p>
            <a:r>
              <a:t>- Each pattern has well-documented templates that AI can follow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Multi-Agent AI Development: Architecture</a:t>
            </a:r>
          </a:p>
        </p:txBody>
      </p:sp>
      <p:sp>
        <p:nvSpPr>
          <p:cNvPr id="3" name="Rounded Rectangle 2"/>
          <p:cNvSpPr/>
          <p:nvPr/>
        </p:nvSpPr>
        <p:spPr>
          <a:xfrm>
            <a:off x="365760" y="6263640"/>
            <a:ext cx="4114800" cy="347472"/>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Multi-Agent</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33</a:t>
            </a:r>
          </a:p>
        </p:txBody>
      </p:sp>
      <p:sp>
        <p:nvSpPr>
          <p:cNvPr id="5" name="Rounded Rectangle 4"/>
          <p:cNvSpPr/>
          <p:nvPr/>
        </p:nvSpPr>
        <p:spPr>
          <a:xfrm>
            <a:off x="3200400" y="2788920"/>
            <a:ext cx="1828800" cy="822960"/>
          </a:xfrm>
          <a:prstGeom prst="round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FFFFFF"/>
                </a:solidFill>
                <a:latin typeface="Calibri"/>
              </a:rPr>
              <a:t>Orchestrator</a:t>
            </a:r>
          </a:p>
          <a:p>
            <a:pPr algn="ctr"/>
            <a:r>
              <a:rPr sz="1200" b="0">
                <a:solidFill>
                  <a:srgbClr val="FFFFFF"/>
                </a:solidFill>
                <a:latin typeface="Calibri"/>
              </a:rPr>
              <a:t>(Planner + Memory)</a:t>
            </a:r>
          </a:p>
        </p:txBody>
      </p:sp>
      <p:sp>
        <p:nvSpPr>
          <p:cNvPr id="6" name="Rounded Rectangle 5"/>
          <p:cNvSpPr/>
          <p:nvPr/>
        </p:nvSpPr>
        <p:spPr>
          <a:xfrm>
            <a:off x="685800" y="1463040"/>
            <a:ext cx="1371600" cy="68580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Requirements</a:t>
            </a:r>
          </a:p>
          <a:p>
            <a:pPr algn="ctr"/>
            <a:r>
              <a:rPr sz="1000" b="0">
                <a:solidFill>
                  <a:srgbClr val="2D3436"/>
                </a:solidFill>
                <a:latin typeface="Calibri"/>
              </a:rPr>
              <a:t>Agent</a:t>
            </a:r>
          </a:p>
        </p:txBody>
      </p:sp>
      <p:cxnSp>
        <p:nvCxnSpPr>
          <p:cNvPr id="7" name="Connector 6"/>
          <p:cNvCxnSpPr/>
          <p:nvPr/>
        </p:nvCxnSpPr>
        <p:spPr>
          <a:xfrm>
            <a:off x="1371600" y="1805940"/>
            <a:ext cx="2743200" cy="139446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29000" y="1188720"/>
            <a:ext cx="1371600" cy="68580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Architect</a:t>
            </a:r>
          </a:p>
          <a:p>
            <a:pPr algn="ctr"/>
            <a:r>
              <a:rPr sz="1000" b="0">
                <a:solidFill>
                  <a:srgbClr val="2D3436"/>
                </a:solidFill>
                <a:latin typeface="Calibri"/>
              </a:rPr>
              <a:t>Agent</a:t>
            </a:r>
          </a:p>
        </p:txBody>
      </p:sp>
      <p:cxnSp>
        <p:nvCxnSpPr>
          <p:cNvPr id="9" name="Connector 8"/>
          <p:cNvCxnSpPr/>
          <p:nvPr/>
        </p:nvCxnSpPr>
        <p:spPr>
          <a:xfrm>
            <a:off x="4114800" y="1531620"/>
            <a:ext cx="0" cy="166878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989320" y="1463040"/>
            <a:ext cx="1371600" cy="685800"/>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Coding</a:t>
            </a:r>
          </a:p>
          <a:p>
            <a:pPr algn="ctr"/>
            <a:r>
              <a:rPr sz="1000" b="0">
                <a:solidFill>
                  <a:srgbClr val="2D3436"/>
                </a:solidFill>
                <a:latin typeface="Calibri"/>
              </a:rPr>
              <a:t>Agent</a:t>
            </a:r>
          </a:p>
        </p:txBody>
      </p:sp>
      <p:cxnSp>
        <p:nvCxnSpPr>
          <p:cNvPr id="11" name="Connector 10"/>
          <p:cNvCxnSpPr/>
          <p:nvPr/>
        </p:nvCxnSpPr>
        <p:spPr>
          <a:xfrm flipH="1">
            <a:off x="4114800" y="1805940"/>
            <a:ext cx="2560320" cy="139446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989320" y="4389120"/>
            <a:ext cx="1371600" cy="685800"/>
          </a:xfrm>
          <a:prstGeom prst="roundRect">
            <a:avLst/>
          </a:prstGeom>
          <a:solidFill>
            <a:srgbClr val="FFF2C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Testing</a:t>
            </a:r>
          </a:p>
          <a:p>
            <a:pPr algn="ctr"/>
            <a:r>
              <a:rPr sz="1000" b="0">
                <a:solidFill>
                  <a:srgbClr val="2D3436"/>
                </a:solidFill>
                <a:latin typeface="Calibri"/>
              </a:rPr>
              <a:t>Agent</a:t>
            </a:r>
          </a:p>
        </p:txBody>
      </p:sp>
      <p:cxnSp>
        <p:nvCxnSpPr>
          <p:cNvPr id="13" name="Connector 12"/>
          <p:cNvCxnSpPr/>
          <p:nvPr/>
        </p:nvCxnSpPr>
        <p:spPr>
          <a:xfrm flipH="1" flipV="1">
            <a:off x="4114800" y="3200400"/>
            <a:ext cx="2560320" cy="153162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429000" y="4846320"/>
            <a:ext cx="1371600" cy="685800"/>
          </a:xfrm>
          <a:prstGeom prst="roundRect">
            <a:avLst/>
          </a:prstGeom>
          <a:solidFill>
            <a:srgbClr val="EFE8F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Security</a:t>
            </a:r>
          </a:p>
          <a:p>
            <a:pPr algn="ctr"/>
            <a:r>
              <a:rPr sz="1000" b="0">
                <a:solidFill>
                  <a:srgbClr val="2D3436"/>
                </a:solidFill>
                <a:latin typeface="Calibri"/>
              </a:rPr>
              <a:t>Agent</a:t>
            </a:r>
          </a:p>
        </p:txBody>
      </p:sp>
      <p:cxnSp>
        <p:nvCxnSpPr>
          <p:cNvPr id="15" name="Connector 14"/>
          <p:cNvCxnSpPr/>
          <p:nvPr/>
        </p:nvCxnSpPr>
        <p:spPr>
          <a:xfrm flipV="1">
            <a:off x="4114800" y="3200400"/>
            <a:ext cx="0" cy="198882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85800" y="4389120"/>
            <a:ext cx="1371600" cy="685800"/>
          </a:xfrm>
          <a:prstGeom prst="roundRect">
            <a:avLst/>
          </a:prstGeom>
          <a:solidFill>
            <a:srgbClr val="E0F7F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DevOps</a:t>
            </a:r>
          </a:p>
          <a:p>
            <a:pPr algn="ctr"/>
            <a:r>
              <a:rPr sz="1000" b="0">
                <a:solidFill>
                  <a:srgbClr val="2D3436"/>
                </a:solidFill>
                <a:latin typeface="Calibri"/>
              </a:rPr>
              <a:t>Agent</a:t>
            </a:r>
          </a:p>
        </p:txBody>
      </p:sp>
      <p:cxnSp>
        <p:nvCxnSpPr>
          <p:cNvPr id="17" name="Connector 16"/>
          <p:cNvCxnSpPr/>
          <p:nvPr/>
        </p:nvCxnSpPr>
        <p:spPr>
          <a:xfrm flipV="1">
            <a:off x="1371600" y="3200400"/>
            <a:ext cx="2743200" cy="1531620"/>
          </a:xfrm>
          <a:prstGeom prst="line">
            <a:avLst/>
          </a:prstGeom>
          <a:ln w="19050">
            <a:solidFill>
              <a:srgbClr val="4472C4"/>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046720" y="1188720"/>
            <a:ext cx="3840480" cy="365760"/>
          </a:xfrm>
          <a:prstGeom prst="rect">
            <a:avLst/>
          </a:prstGeom>
          <a:noFill/>
        </p:spPr>
        <p:txBody>
          <a:bodyPr wrap="square">
            <a:spAutoFit/>
          </a:bodyPr>
          <a:lstStyle/>
          <a:p>
            <a:pPr algn="l"/>
            <a:r>
              <a:rPr sz="1600" b="1">
                <a:solidFill>
                  <a:srgbClr val="9B59B6"/>
                </a:solidFill>
                <a:latin typeface="Calibri"/>
              </a:rPr>
              <a:t>Why Multi-Agent?</a:t>
            </a:r>
          </a:p>
        </p:txBody>
      </p:sp>
      <p:sp>
        <p:nvSpPr>
          <p:cNvPr id="19" name="TextBox 18"/>
          <p:cNvSpPr txBox="1"/>
          <p:nvPr/>
        </p:nvSpPr>
        <p:spPr>
          <a:xfrm>
            <a:off x="8046720" y="1645920"/>
            <a:ext cx="3840480" cy="4114800"/>
          </a:xfrm>
          <a:prstGeom prst="rect">
            <a:avLst/>
          </a:prstGeom>
          <a:noFill/>
        </p:spPr>
        <p:txBody>
          <a:bodyPr wrap="square">
            <a:spAutoFit/>
          </a:bodyPr>
          <a:lstStyle/>
          <a:p>
            <a:pPr>
              <a:lnSpc>
                <a:spcPct val="130000"/>
              </a:lnSpc>
              <a:spcAft>
                <a:spcPts val="800"/>
              </a:spcAft>
            </a:pPr>
            <a:r>
              <a:rPr sz="1300">
                <a:solidFill>
                  <a:srgbClr val="2D3436"/>
                </a:solidFill>
                <a:latin typeface="Calibri"/>
              </a:rPr>
              <a:t>• Specialized agents excel at focused tasks</a:t>
            </a:r>
          </a:p>
          <a:p>
            <a:pPr>
              <a:lnSpc>
                <a:spcPct val="130000"/>
              </a:lnSpc>
              <a:spcAft>
                <a:spcPts val="800"/>
              </a:spcAft>
            </a:pPr>
            <a:r>
              <a:rPr sz="1300">
                <a:solidFill>
                  <a:srgbClr val="2D3436"/>
                </a:solidFill>
                <a:latin typeface="Calibri"/>
              </a:rPr>
              <a:t>• Orchestrator coordinates workflow &amp; resolves conflicts</a:t>
            </a:r>
          </a:p>
          <a:p>
            <a:pPr>
              <a:lnSpc>
                <a:spcPct val="130000"/>
              </a:lnSpc>
              <a:spcAft>
                <a:spcPts val="800"/>
              </a:spcAft>
            </a:pPr>
            <a:r>
              <a:rPr sz="1300">
                <a:solidFill>
                  <a:srgbClr val="2D3436"/>
                </a:solidFill>
                <a:latin typeface="Calibri"/>
              </a:rPr>
              <a:t>• Shared memory enables context across agents</a:t>
            </a:r>
          </a:p>
          <a:p>
            <a:pPr>
              <a:lnSpc>
                <a:spcPct val="130000"/>
              </a:lnSpc>
              <a:spcAft>
                <a:spcPts val="800"/>
              </a:spcAft>
            </a:pPr>
            <a:r>
              <a:rPr sz="1300">
                <a:solidFill>
                  <a:srgbClr val="2D3436"/>
                </a:solidFill>
                <a:latin typeface="Calibri"/>
              </a:rPr>
              <a:t>• Parallel execution accelerates the SDLC</a:t>
            </a:r>
          </a:p>
          <a:p>
            <a:pPr>
              <a:lnSpc>
                <a:spcPct val="130000"/>
              </a:lnSpc>
              <a:spcAft>
                <a:spcPts val="800"/>
              </a:spcAft>
            </a:pPr>
            <a:r>
              <a:rPr sz="1300">
                <a:solidFill>
                  <a:srgbClr val="2D3436"/>
                </a:solidFill>
                <a:latin typeface="Calibri"/>
              </a:rPr>
              <a:t>• Human checkpoints at critical decision points</a:t>
            </a:r>
          </a:p>
          <a:p>
            <a:pPr>
              <a:lnSpc>
                <a:spcPct val="130000"/>
              </a:lnSpc>
              <a:spcAft>
                <a:spcPts val="800"/>
              </a:spcAft>
            </a:pPr>
            <a:r>
              <a:rPr sz="1300">
                <a:solidFill>
                  <a:srgbClr val="2D3436"/>
                </a:solidFill>
                <a:latin typeface="Calibri"/>
              </a:rPr>
              <a:t>• Each agent has its own tools &amp; permissions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Agent Roles &amp; Orchestration Workflow</a:t>
            </a:r>
          </a:p>
        </p:txBody>
      </p:sp>
      <p:sp>
        <p:nvSpPr>
          <p:cNvPr id="3" name="Rounded Rectangle 2"/>
          <p:cNvSpPr/>
          <p:nvPr/>
        </p:nvSpPr>
        <p:spPr>
          <a:xfrm>
            <a:off x="365760" y="6263640"/>
            <a:ext cx="4114800" cy="347472"/>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Multi-Agent</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34</a:t>
            </a:r>
          </a:p>
        </p:txBody>
      </p:sp>
      <p:sp>
        <p:nvSpPr>
          <p:cNvPr id="5" name="Rounded Rectangle 4"/>
          <p:cNvSpPr/>
          <p:nvPr/>
        </p:nvSpPr>
        <p:spPr>
          <a:xfrm>
            <a:off x="320040" y="1143000"/>
            <a:ext cx="123444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User</a:t>
            </a:r>
          </a:p>
          <a:p>
            <a:pPr algn="ctr"/>
            <a:r>
              <a:rPr sz="900" b="0">
                <a:solidFill>
                  <a:srgbClr val="FFFFFF"/>
                </a:solidFill>
                <a:latin typeface="Calibri"/>
              </a:rPr>
              <a:t>Request</a:t>
            </a:r>
          </a:p>
        </p:txBody>
      </p:sp>
      <p:sp>
        <p:nvSpPr>
          <p:cNvPr id="6" name="Right Arrow 5"/>
          <p:cNvSpPr/>
          <p:nvPr/>
        </p:nvSpPr>
        <p:spPr>
          <a:xfrm>
            <a:off x="1572768" y="129844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55648" y="1143000"/>
            <a:ext cx="123444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Requirements</a:t>
            </a:r>
          </a:p>
          <a:p>
            <a:pPr algn="ctr"/>
            <a:r>
              <a:rPr sz="900" b="0">
                <a:solidFill>
                  <a:srgbClr val="FFFFFF"/>
                </a:solidFill>
                <a:latin typeface="Calibri"/>
              </a:rPr>
              <a:t>Agent</a:t>
            </a:r>
          </a:p>
        </p:txBody>
      </p:sp>
      <p:sp>
        <p:nvSpPr>
          <p:cNvPr id="8" name="Right Arrow 7"/>
          <p:cNvSpPr/>
          <p:nvPr/>
        </p:nvSpPr>
        <p:spPr>
          <a:xfrm>
            <a:off x="3008376" y="129844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191256" y="1143000"/>
            <a:ext cx="123444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Architect</a:t>
            </a:r>
          </a:p>
          <a:p>
            <a:pPr algn="ctr"/>
            <a:r>
              <a:rPr sz="900" b="0">
                <a:solidFill>
                  <a:srgbClr val="FFFFFF"/>
                </a:solidFill>
                <a:latin typeface="Calibri"/>
              </a:rPr>
              <a:t>Agent</a:t>
            </a:r>
          </a:p>
        </p:txBody>
      </p:sp>
      <p:sp>
        <p:nvSpPr>
          <p:cNvPr id="10" name="Right Arrow 9"/>
          <p:cNvSpPr/>
          <p:nvPr/>
        </p:nvSpPr>
        <p:spPr>
          <a:xfrm>
            <a:off x="4443984" y="129844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626864" y="1143000"/>
            <a:ext cx="1234440" cy="6400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Coding</a:t>
            </a:r>
          </a:p>
          <a:p>
            <a:pPr algn="ctr"/>
            <a:r>
              <a:rPr sz="900" b="0">
                <a:solidFill>
                  <a:srgbClr val="FFFFFF"/>
                </a:solidFill>
                <a:latin typeface="Calibri"/>
              </a:rPr>
              <a:t>Agent</a:t>
            </a:r>
          </a:p>
        </p:txBody>
      </p:sp>
      <p:sp>
        <p:nvSpPr>
          <p:cNvPr id="12" name="Right Arrow 11"/>
          <p:cNvSpPr/>
          <p:nvPr/>
        </p:nvSpPr>
        <p:spPr>
          <a:xfrm>
            <a:off x="5879592" y="129844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062472" y="1143000"/>
            <a:ext cx="123444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Testing</a:t>
            </a:r>
          </a:p>
          <a:p>
            <a:pPr algn="ctr"/>
            <a:r>
              <a:rPr sz="900" b="0">
                <a:solidFill>
                  <a:srgbClr val="FFFFFF"/>
                </a:solidFill>
                <a:latin typeface="Calibri"/>
              </a:rPr>
              <a:t>Agent</a:t>
            </a:r>
          </a:p>
        </p:txBody>
      </p:sp>
      <p:sp>
        <p:nvSpPr>
          <p:cNvPr id="14" name="Right Arrow 13"/>
          <p:cNvSpPr/>
          <p:nvPr/>
        </p:nvSpPr>
        <p:spPr>
          <a:xfrm>
            <a:off x="7315200" y="129844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98080" y="1143000"/>
            <a:ext cx="1234440" cy="64008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Security</a:t>
            </a:r>
          </a:p>
          <a:p>
            <a:pPr algn="ctr"/>
            <a:r>
              <a:rPr sz="900" b="0">
                <a:solidFill>
                  <a:srgbClr val="FFFFFF"/>
                </a:solidFill>
                <a:latin typeface="Calibri"/>
              </a:rPr>
              <a:t>Agent</a:t>
            </a:r>
          </a:p>
        </p:txBody>
      </p:sp>
      <p:sp>
        <p:nvSpPr>
          <p:cNvPr id="16" name="Right Arrow 15"/>
          <p:cNvSpPr/>
          <p:nvPr/>
        </p:nvSpPr>
        <p:spPr>
          <a:xfrm>
            <a:off x="8750808" y="129844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933688" y="1143000"/>
            <a:ext cx="123444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DevOps</a:t>
            </a:r>
          </a:p>
          <a:p>
            <a:pPr algn="ctr"/>
            <a:r>
              <a:rPr sz="900" b="0">
                <a:solidFill>
                  <a:srgbClr val="FFFFFF"/>
                </a:solidFill>
                <a:latin typeface="Calibri"/>
              </a:rPr>
              <a:t>Agent</a:t>
            </a:r>
          </a:p>
        </p:txBody>
      </p:sp>
      <p:sp>
        <p:nvSpPr>
          <p:cNvPr id="18" name="Right Arrow 17"/>
          <p:cNvSpPr/>
          <p:nvPr/>
        </p:nvSpPr>
        <p:spPr>
          <a:xfrm>
            <a:off x="10186416" y="129844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369296" y="1143000"/>
            <a:ext cx="123444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Deployed</a:t>
            </a:r>
          </a:p>
          <a:p>
            <a:pPr algn="ctr"/>
            <a:r>
              <a:rPr sz="900" b="0">
                <a:solidFill>
                  <a:srgbClr val="FFFFFF"/>
                </a:solidFill>
                <a:latin typeface="Calibri"/>
              </a:rPr>
              <a:t>System</a:t>
            </a:r>
          </a:p>
        </p:txBody>
      </p:sp>
      <p:graphicFrame>
        <p:nvGraphicFramePr>
          <p:cNvPr id="20" name="Table 19"/>
          <p:cNvGraphicFramePr>
            <a:graphicFrameLocks noGrp="1"/>
          </p:cNvGraphicFramePr>
          <p:nvPr/>
        </p:nvGraphicFramePr>
        <p:xfrm>
          <a:off x="365760" y="2103120"/>
          <a:ext cx="11430000" cy="3840480"/>
        </p:xfrm>
        <a:graphic>
          <a:graphicData uri="http://schemas.openxmlformats.org/drawingml/2006/table">
            <a:tbl>
              <a:tblPr firstRow="1" bandRow="1">
                <a:tableStyleId>{5C22544A-7EE6-4342-B048-85BDC9FD1C3A}</a:tableStyleId>
              </a:tblPr>
              <a:tblGrid>
                <a:gridCol w="3810000"/>
                <a:gridCol w="3810000"/>
                <a:gridCol w="3810000"/>
              </a:tblGrid>
              <a:tr h="548640">
                <a:tc>
                  <a:txBody>
                    <a:bodyPr/>
                    <a:lstStyle/>
                    <a:p>
                      <a:r>
                        <a:rPr sz="1200" b="1">
                          <a:solidFill>
                            <a:srgbClr val="FFFFFF"/>
                          </a:solidFill>
                          <a:latin typeface="Calibri"/>
                        </a:rPr>
                        <a:t>Agent</a:t>
                      </a:r>
                    </a:p>
                  </a:txBody>
                  <a:tcPr>
                    <a:solidFill>
                      <a:srgbClr val="2F75B5"/>
                    </a:solidFill>
                  </a:tcPr>
                </a:tc>
                <a:tc>
                  <a:txBody>
                    <a:bodyPr/>
                    <a:lstStyle/>
                    <a:p>
                      <a:r>
                        <a:rPr sz="1200" b="1">
                          <a:solidFill>
                            <a:srgbClr val="FFFFFF"/>
                          </a:solidFill>
                          <a:latin typeface="Calibri"/>
                        </a:rPr>
                        <a:t>Responsibility</a:t>
                      </a:r>
                    </a:p>
                  </a:txBody>
                  <a:tcPr>
                    <a:solidFill>
                      <a:srgbClr val="2F75B5"/>
                    </a:solidFill>
                  </a:tcPr>
                </a:tc>
                <a:tc>
                  <a:txBody>
                    <a:bodyPr/>
                    <a:lstStyle/>
                    <a:p>
                      <a:r>
                        <a:rPr sz="1200" b="1">
                          <a:solidFill>
                            <a:srgbClr val="FFFFFF"/>
                          </a:solidFill>
                          <a:latin typeface="Calibri"/>
                        </a:rPr>
                        <a:t>Output Artifacts</a:t>
                      </a:r>
                    </a:p>
                  </a:txBody>
                  <a:tcPr>
                    <a:solidFill>
                      <a:srgbClr val="2F75B5"/>
                    </a:solidFill>
                  </a:tcPr>
                </a:tc>
              </a:tr>
              <a:tr h="548640">
                <a:tc>
                  <a:txBody>
                    <a:bodyPr/>
                    <a:lstStyle/>
                    <a:p>
                      <a:r>
                        <a:rPr sz="1200">
                          <a:solidFill>
                            <a:srgbClr val="2D3436"/>
                          </a:solidFill>
                          <a:latin typeface="Calibri"/>
                        </a:rPr>
                        <a:t>Requirements Agent</a:t>
                      </a:r>
                    </a:p>
                  </a:txBody>
                  <a:tcPr>
                    <a:solidFill>
                      <a:srgbClr val="DDEBF7"/>
                    </a:solidFill>
                  </a:tcPr>
                </a:tc>
                <a:tc>
                  <a:txBody>
                    <a:bodyPr/>
                    <a:lstStyle/>
                    <a:p>
                      <a:r>
                        <a:rPr sz="1200">
                          <a:solidFill>
                            <a:srgbClr val="2D3436"/>
                          </a:solidFill>
                          <a:latin typeface="Calibri"/>
                        </a:rPr>
                        <a:t>Clarifies scope, acceptance criteria</a:t>
                      </a:r>
                    </a:p>
                  </a:txBody>
                  <a:tcPr>
                    <a:solidFill>
                      <a:srgbClr val="DDEBF7"/>
                    </a:solidFill>
                  </a:tcPr>
                </a:tc>
                <a:tc>
                  <a:txBody>
                    <a:bodyPr/>
                    <a:lstStyle/>
                    <a:p>
                      <a:r>
                        <a:rPr sz="1200">
                          <a:solidFill>
                            <a:srgbClr val="2D3436"/>
                          </a:solidFill>
                          <a:latin typeface="Calibri"/>
                        </a:rPr>
                        <a:t>Requirement doc, acceptance tests</a:t>
                      </a:r>
                    </a:p>
                  </a:txBody>
                  <a:tcPr>
                    <a:solidFill>
                      <a:srgbClr val="DDEBF7"/>
                    </a:solidFill>
                  </a:tcPr>
                </a:tc>
              </a:tr>
              <a:tr h="548640">
                <a:tc>
                  <a:txBody>
                    <a:bodyPr/>
                    <a:lstStyle/>
                    <a:p>
                      <a:r>
                        <a:rPr sz="1200">
                          <a:solidFill>
                            <a:srgbClr val="2D3436"/>
                          </a:solidFill>
                          <a:latin typeface="Calibri"/>
                        </a:rPr>
                        <a:t>Architect Agent</a:t>
                      </a:r>
                    </a:p>
                  </a:txBody>
                  <a:tcPr>
                    <a:solidFill>
                      <a:srgbClr val="E2EFDA"/>
                    </a:solidFill>
                  </a:tcPr>
                </a:tc>
                <a:tc>
                  <a:txBody>
                    <a:bodyPr/>
                    <a:lstStyle/>
                    <a:p>
                      <a:r>
                        <a:rPr sz="1200">
                          <a:solidFill>
                            <a:srgbClr val="2D3436"/>
                          </a:solidFill>
                          <a:latin typeface="Calibri"/>
                        </a:rPr>
                        <a:t>Proposes design, evaluates trade-offs</a:t>
                      </a:r>
                    </a:p>
                  </a:txBody>
                  <a:tcPr>
                    <a:solidFill>
                      <a:srgbClr val="E2EFDA"/>
                    </a:solidFill>
                  </a:tcPr>
                </a:tc>
                <a:tc>
                  <a:txBody>
                    <a:bodyPr/>
                    <a:lstStyle/>
                    <a:p>
                      <a:r>
                        <a:rPr sz="1200">
                          <a:solidFill>
                            <a:srgbClr val="2D3436"/>
                          </a:solidFill>
                          <a:latin typeface="Calibri"/>
                        </a:rPr>
                        <a:t>Architecture diagrams, ADRs</a:t>
                      </a:r>
                    </a:p>
                  </a:txBody>
                  <a:tcPr>
                    <a:solidFill>
                      <a:srgbClr val="E2EFDA"/>
                    </a:solidFill>
                  </a:tcPr>
                </a:tc>
              </a:tr>
              <a:tr h="548640">
                <a:tc>
                  <a:txBody>
                    <a:bodyPr/>
                    <a:lstStyle/>
                    <a:p>
                      <a:r>
                        <a:rPr sz="1200">
                          <a:solidFill>
                            <a:srgbClr val="2D3436"/>
                          </a:solidFill>
                          <a:latin typeface="Calibri"/>
                        </a:rPr>
                        <a:t>Coding Agent</a:t>
                      </a:r>
                    </a:p>
                  </a:txBody>
                  <a:tcPr>
                    <a:solidFill>
                      <a:srgbClr val="FCE4D6"/>
                    </a:solidFill>
                  </a:tcPr>
                </a:tc>
                <a:tc>
                  <a:txBody>
                    <a:bodyPr/>
                    <a:lstStyle/>
                    <a:p>
                      <a:r>
                        <a:rPr sz="1200">
                          <a:solidFill>
                            <a:srgbClr val="2D3436"/>
                          </a:solidFill>
                          <a:latin typeface="Calibri"/>
                        </a:rPr>
                        <a:t>Implements features from specs</a:t>
                      </a:r>
                    </a:p>
                  </a:txBody>
                  <a:tcPr>
                    <a:solidFill>
                      <a:srgbClr val="FCE4D6"/>
                    </a:solidFill>
                  </a:tcPr>
                </a:tc>
                <a:tc>
                  <a:txBody>
                    <a:bodyPr/>
                    <a:lstStyle/>
                    <a:p>
                      <a:r>
                        <a:rPr sz="1200">
                          <a:solidFill>
                            <a:srgbClr val="2D3436"/>
                          </a:solidFill>
                          <a:latin typeface="Calibri"/>
                        </a:rPr>
                        <a:t>Source code, unit tests</a:t>
                      </a:r>
                    </a:p>
                  </a:txBody>
                  <a:tcPr>
                    <a:solidFill>
                      <a:srgbClr val="FCE4D6"/>
                    </a:solidFill>
                  </a:tcPr>
                </a:tc>
              </a:tr>
              <a:tr h="548640">
                <a:tc>
                  <a:txBody>
                    <a:bodyPr/>
                    <a:lstStyle/>
                    <a:p>
                      <a:r>
                        <a:rPr sz="1200">
                          <a:solidFill>
                            <a:srgbClr val="2D3436"/>
                          </a:solidFill>
                          <a:latin typeface="Calibri"/>
                        </a:rPr>
                        <a:t>Testing Agent</a:t>
                      </a:r>
                    </a:p>
                  </a:txBody>
                  <a:tcPr>
                    <a:solidFill>
                      <a:srgbClr val="FFF2CC"/>
                    </a:solidFill>
                  </a:tcPr>
                </a:tc>
                <a:tc>
                  <a:txBody>
                    <a:bodyPr/>
                    <a:lstStyle/>
                    <a:p>
                      <a:r>
                        <a:rPr sz="1200">
                          <a:solidFill>
                            <a:srgbClr val="2D3436"/>
                          </a:solidFill>
                          <a:latin typeface="Calibri"/>
                        </a:rPr>
                        <a:t>Validates correctness &amp; coverage</a:t>
                      </a:r>
                    </a:p>
                  </a:txBody>
                  <a:tcPr>
                    <a:solidFill>
                      <a:srgbClr val="FFF2CC"/>
                    </a:solidFill>
                  </a:tcPr>
                </a:tc>
                <a:tc>
                  <a:txBody>
                    <a:bodyPr/>
                    <a:lstStyle/>
                    <a:p>
                      <a:r>
                        <a:rPr sz="1200">
                          <a:solidFill>
                            <a:srgbClr val="2D3436"/>
                          </a:solidFill>
                          <a:latin typeface="Calibri"/>
                        </a:rPr>
                        <a:t>Test results, coverage report</a:t>
                      </a:r>
                    </a:p>
                  </a:txBody>
                  <a:tcPr>
                    <a:solidFill>
                      <a:srgbClr val="FFF2CC"/>
                    </a:solidFill>
                  </a:tcPr>
                </a:tc>
              </a:tr>
              <a:tr h="548640">
                <a:tc>
                  <a:txBody>
                    <a:bodyPr/>
                    <a:lstStyle/>
                    <a:p>
                      <a:r>
                        <a:rPr sz="1200">
                          <a:solidFill>
                            <a:srgbClr val="2D3436"/>
                          </a:solidFill>
                          <a:latin typeface="Calibri"/>
                        </a:rPr>
                        <a:t>Security Agent</a:t>
                      </a:r>
                    </a:p>
                  </a:txBody>
                  <a:tcPr>
                    <a:solidFill>
                      <a:srgbClr val="EFE8F9"/>
                    </a:solidFill>
                  </a:tcPr>
                </a:tc>
                <a:tc>
                  <a:txBody>
                    <a:bodyPr/>
                    <a:lstStyle/>
                    <a:p>
                      <a:r>
                        <a:rPr sz="1200">
                          <a:solidFill>
                            <a:srgbClr val="2D3436"/>
                          </a:solidFill>
                          <a:latin typeface="Calibri"/>
                        </a:rPr>
                        <a:t>Reviews for vulnerabilities</a:t>
                      </a:r>
                    </a:p>
                  </a:txBody>
                  <a:tcPr>
                    <a:solidFill>
                      <a:srgbClr val="EFE8F9"/>
                    </a:solidFill>
                  </a:tcPr>
                </a:tc>
                <a:tc>
                  <a:txBody>
                    <a:bodyPr/>
                    <a:lstStyle/>
                    <a:p>
                      <a:r>
                        <a:rPr sz="1200">
                          <a:solidFill>
                            <a:srgbClr val="2D3436"/>
                          </a:solidFill>
                          <a:latin typeface="Calibri"/>
                        </a:rPr>
                        <a:t>Security report, fixes</a:t>
                      </a:r>
                    </a:p>
                  </a:txBody>
                  <a:tcPr>
                    <a:solidFill>
                      <a:srgbClr val="EFE8F9"/>
                    </a:solidFill>
                  </a:tcPr>
                </a:tc>
              </a:tr>
              <a:tr h="548640">
                <a:tc>
                  <a:txBody>
                    <a:bodyPr/>
                    <a:lstStyle/>
                    <a:p>
                      <a:r>
                        <a:rPr sz="1200">
                          <a:solidFill>
                            <a:srgbClr val="2D3436"/>
                          </a:solidFill>
                          <a:latin typeface="Calibri"/>
                        </a:rPr>
                        <a:t>DevOps Agent</a:t>
                      </a:r>
                    </a:p>
                  </a:txBody>
                  <a:tcPr>
                    <a:solidFill>
                      <a:srgbClr val="E0F7FA"/>
                    </a:solidFill>
                  </a:tcPr>
                </a:tc>
                <a:tc>
                  <a:txBody>
                    <a:bodyPr/>
                    <a:lstStyle/>
                    <a:p>
                      <a:r>
                        <a:rPr sz="1200">
                          <a:solidFill>
                            <a:srgbClr val="2D3436"/>
                          </a:solidFill>
                          <a:latin typeface="Calibri"/>
                        </a:rPr>
                        <a:t>Automates build &amp; deployment</a:t>
                      </a:r>
                    </a:p>
                  </a:txBody>
                  <a:tcPr>
                    <a:solidFill>
                      <a:srgbClr val="E0F7FA"/>
                    </a:solidFill>
                  </a:tcPr>
                </a:tc>
                <a:tc>
                  <a:txBody>
                    <a:bodyPr/>
                    <a:lstStyle/>
                    <a:p>
                      <a:r>
                        <a:rPr sz="1200">
                          <a:solidFill>
                            <a:srgbClr val="2D3436"/>
                          </a:solidFill>
                          <a:latin typeface="Calibri"/>
                        </a:rPr>
                        <a:t>CI/CD pipeline, deploy config</a:t>
                      </a:r>
                    </a:p>
                  </a:txBody>
                  <a:tcPr>
                    <a:solidFill>
                      <a:srgbClr val="E0F7FA"/>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Model Context Protocol &amp; Tool Integration</a:t>
            </a:r>
          </a:p>
        </p:txBody>
      </p:sp>
      <p:sp>
        <p:nvSpPr>
          <p:cNvPr id="3" name="Rounded Rectangle 2"/>
          <p:cNvSpPr/>
          <p:nvPr/>
        </p:nvSpPr>
        <p:spPr>
          <a:xfrm>
            <a:off x="365760" y="6263640"/>
            <a:ext cx="4114800" cy="347472"/>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Multi-Agent</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35</a:t>
            </a:r>
          </a:p>
        </p:txBody>
      </p:sp>
      <p:sp>
        <p:nvSpPr>
          <p:cNvPr id="5" name="TextBox 4"/>
          <p:cNvSpPr txBox="1"/>
          <p:nvPr/>
        </p:nvSpPr>
        <p:spPr>
          <a:xfrm>
            <a:off x="548640" y="1188720"/>
            <a:ext cx="5029200" cy="365760"/>
          </a:xfrm>
          <a:prstGeom prst="rect">
            <a:avLst/>
          </a:prstGeom>
          <a:noFill/>
        </p:spPr>
        <p:txBody>
          <a:bodyPr wrap="square">
            <a:spAutoFit/>
          </a:bodyPr>
          <a:lstStyle/>
          <a:p>
            <a:pPr algn="l"/>
            <a:r>
              <a:rPr sz="1800" b="1">
                <a:solidFill>
                  <a:srgbClr val="9B59B6"/>
                </a:solidFill>
                <a:latin typeface="Calibri"/>
              </a:rPr>
              <a:t>What is MCP?</a:t>
            </a:r>
          </a:p>
        </p:txBody>
      </p:sp>
      <p:sp>
        <p:nvSpPr>
          <p:cNvPr id="6" name="TextBox 5"/>
          <p:cNvSpPr txBox="1"/>
          <p:nvPr/>
        </p:nvSpPr>
        <p:spPr>
          <a:xfrm>
            <a:off x="548640" y="1645920"/>
            <a:ext cx="5029200" cy="2286000"/>
          </a:xfrm>
          <a:prstGeom prst="rect">
            <a:avLst/>
          </a:prstGeom>
          <a:noFill/>
        </p:spPr>
        <p:txBody>
          <a:bodyPr wrap="square">
            <a:spAutoFit/>
          </a:bodyPr>
          <a:lstStyle/>
          <a:p>
            <a:pPr>
              <a:lnSpc>
                <a:spcPct val="130000"/>
              </a:lnSpc>
              <a:spcAft>
                <a:spcPts val="800"/>
              </a:spcAft>
            </a:pPr>
            <a:r>
              <a:rPr sz="1400">
                <a:solidFill>
                  <a:srgbClr val="2D3436"/>
                </a:solidFill>
                <a:latin typeface="Calibri"/>
              </a:rPr>
              <a:t>• Standardized protocol for agent-tool communication</a:t>
            </a:r>
          </a:p>
          <a:p>
            <a:pPr>
              <a:lnSpc>
                <a:spcPct val="130000"/>
              </a:lnSpc>
              <a:spcAft>
                <a:spcPts val="800"/>
              </a:spcAft>
            </a:pPr>
            <a:r>
              <a:rPr sz="1400">
                <a:solidFill>
                  <a:srgbClr val="2D3436"/>
                </a:solidFill>
                <a:latin typeface="Calibri"/>
              </a:rPr>
              <a:t>• Agents request controlled access to external tools</a:t>
            </a:r>
          </a:p>
          <a:p>
            <a:pPr>
              <a:lnSpc>
                <a:spcPct val="130000"/>
              </a:lnSpc>
              <a:spcAft>
                <a:spcPts val="800"/>
              </a:spcAft>
            </a:pPr>
            <a:r>
              <a:rPr sz="1400">
                <a:solidFill>
                  <a:srgbClr val="2D3436"/>
                </a:solidFill>
                <a:latin typeface="Calibri"/>
              </a:rPr>
              <a:t>• Permissioned, auditable actions on real systems</a:t>
            </a:r>
          </a:p>
          <a:p>
            <a:pPr>
              <a:lnSpc>
                <a:spcPct val="130000"/>
              </a:lnSpc>
              <a:spcAft>
                <a:spcPts val="800"/>
              </a:spcAft>
            </a:pPr>
            <a:r>
              <a:rPr sz="1400">
                <a:solidFill>
                  <a:srgbClr val="2D3436"/>
                </a:solidFill>
                <a:latin typeface="Calibri"/>
              </a:rPr>
              <a:t>• Context optimization — agents get only relevant data</a:t>
            </a:r>
          </a:p>
          <a:p>
            <a:pPr>
              <a:lnSpc>
                <a:spcPct val="130000"/>
              </a:lnSpc>
              <a:spcAft>
                <a:spcPts val="800"/>
              </a:spcAft>
            </a:pPr>
            <a:r>
              <a:rPr sz="1400">
                <a:solidFill>
                  <a:srgbClr val="2D3436"/>
                </a:solidFill>
                <a:latin typeface="Calibri"/>
              </a:rPr>
              <a:t>• Enables multi-agent collaboration via shared context</a:t>
            </a:r>
          </a:p>
        </p:txBody>
      </p:sp>
      <p:sp>
        <p:nvSpPr>
          <p:cNvPr id="7" name="Rounded Rectangle 6"/>
          <p:cNvSpPr/>
          <p:nvPr/>
        </p:nvSpPr>
        <p:spPr>
          <a:xfrm>
            <a:off x="731520" y="4206240"/>
            <a:ext cx="1645920" cy="73152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AI Agent</a:t>
            </a:r>
          </a:p>
          <a:p>
            <a:pPr algn="ctr"/>
            <a:r>
              <a:rPr sz="1100" b="0">
                <a:solidFill>
                  <a:srgbClr val="FFFFFF"/>
                </a:solidFill>
                <a:latin typeface="Calibri"/>
              </a:rPr>
              <a:t>(LLM + Prompt)</a:t>
            </a:r>
          </a:p>
        </p:txBody>
      </p:sp>
      <p:sp>
        <p:nvSpPr>
          <p:cNvPr id="8" name="Right Arrow 7"/>
          <p:cNvSpPr/>
          <p:nvPr/>
        </p:nvSpPr>
        <p:spPr>
          <a:xfrm>
            <a:off x="2423160" y="4389120"/>
            <a:ext cx="457200" cy="274320"/>
          </a:xfrm>
          <a:prstGeom prst="rightArrow">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26080" y="4023360"/>
            <a:ext cx="2011680" cy="10972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FFFFFF"/>
                </a:solidFill>
                <a:latin typeface="Calibri"/>
              </a:rPr>
              <a:t>MCP Server</a:t>
            </a:r>
          </a:p>
          <a:p>
            <a:pPr algn="ctr"/>
            <a:r>
              <a:rPr sz="1100" b="0">
                <a:solidFill>
                  <a:srgbClr val="FFFFFF"/>
                </a:solidFill>
                <a:latin typeface="Calibri"/>
              </a:rPr>
              <a:t>(Protocol Layer)</a:t>
            </a:r>
          </a:p>
          <a:p>
            <a:pPr algn="ctr"/>
            <a:r>
              <a:rPr sz="1100" b="0">
                <a:solidFill>
                  <a:srgbClr val="FFFFFF"/>
                </a:solidFill>
                <a:latin typeface="Calibri"/>
              </a:rPr>
              <a:t>Auth + Routing</a:t>
            </a:r>
          </a:p>
        </p:txBody>
      </p:sp>
      <p:sp>
        <p:nvSpPr>
          <p:cNvPr id="10" name="Right Arrow 9"/>
          <p:cNvSpPr/>
          <p:nvPr/>
        </p:nvSpPr>
        <p:spPr>
          <a:xfrm>
            <a:off x="4983480" y="4389120"/>
            <a:ext cx="457200" cy="274320"/>
          </a:xfrm>
          <a:prstGeom prst="rightArrow">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577840" y="3794760"/>
            <a:ext cx="1463040" cy="347472"/>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Git / GitHub</a:t>
            </a:r>
          </a:p>
        </p:txBody>
      </p:sp>
      <p:sp>
        <p:nvSpPr>
          <p:cNvPr id="12" name="Rounded Rectangle 11"/>
          <p:cNvSpPr/>
          <p:nvPr/>
        </p:nvSpPr>
        <p:spPr>
          <a:xfrm>
            <a:off x="5577840" y="4206240"/>
            <a:ext cx="1463040" cy="347472"/>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Jira / Linear</a:t>
            </a:r>
          </a:p>
        </p:txBody>
      </p:sp>
      <p:sp>
        <p:nvSpPr>
          <p:cNvPr id="13" name="Rounded Rectangle 12"/>
          <p:cNvSpPr/>
          <p:nvPr/>
        </p:nvSpPr>
        <p:spPr>
          <a:xfrm>
            <a:off x="5577840" y="4617720"/>
            <a:ext cx="1463040" cy="347472"/>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Jenkins / CI</a:t>
            </a:r>
          </a:p>
        </p:txBody>
      </p:sp>
      <p:sp>
        <p:nvSpPr>
          <p:cNvPr id="14" name="Rounded Rectangle 13"/>
          <p:cNvSpPr/>
          <p:nvPr/>
        </p:nvSpPr>
        <p:spPr>
          <a:xfrm>
            <a:off x="5577840" y="5029200"/>
            <a:ext cx="1463040" cy="347472"/>
          </a:xfrm>
          <a:prstGeom prst="roundRect">
            <a:avLst/>
          </a:prstGeom>
          <a:solidFill>
            <a:srgbClr val="FFF2C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2D3436"/>
                </a:solidFill>
                <a:latin typeface="Calibri"/>
              </a:rPr>
              <a:t>Database</a:t>
            </a:r>
          </a:p>
        </p:txBody>
      </p:sp>
      <p:sp>
        <p:nvSpPr>
          <p:cNvPr id="15" name="TextBox 14"/>
          <p:cNvSpPr txBox="1"/>
          <p:nvPr/>
        </p:nvSpPr>
        <p:spPr>
          <a:xfrm>
            <a:off x="7498079" y="1188720"/>
            <a:ext cx="4389120" cy="365760"/>
          </a:xfrm>
          <a:prstGeom prst="rect">
            <a:avLst/>
          </a:prstGeom>
          <a:noFill/>
        </p:spPr>
        <p:txBody>
          <a:bodyPr wrap="square">
            <a:spAutoFit/>
          </a:bodyPr>
          <a:lstStyle/>
          <a:p>
            <a:pPr algn="l"/>
            <a:r>
              <a:rPr sz="1600" b="1">
                <a:solidFill>
                  <a:srgbClr val="9B59B6"/>
                </a:solidFill>
                <a:latin typeface="Calibri"/>
              </a:rPr>
              <a:t>Key MCP Principles</a:t>
            </a:r>
          </a:p>
        </p:txBody>
      </p:sp>
      <p:sp>
        <p:nvSpPr>
          <p:cNvPr id="16" name="Rounded Rectangle 15"/>
          <p:cNvSpPr/>
          <p:nvPr/>
        </p:nvSpPr>
        <p:spPr>
          <a:xfrm>
            <a:off x="7498079" y="1645920"/>
            <a:ext cx="4389120" cy="91440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Permissioned Access</a:t>
            </a:r>
          </a:p>
          <a:p>
            <a:pPr algn="ctr"/>
            <a:r>
              <a:rPr sz="1100" b="0">
                <a:solidFill>
                  <a:srgbClr val="2D3436"/>
                </a:solidFill>
                <a:latin typeface="Calibri"/>
              </a:rPr>
              <a:t>Each agent gets only the tools</a:t>
            </a:r>
          </a:p>
          <a:p>
            <a:pPr algn="ctr"/>
            <a:r>
              <a:rPr sz="1100" b="0">
                <a:solidFill>
                  <a:srgbClr val="2D3436"/>
                </a:solidFill>
                <a:latin typeface="Calibri"/>
              </a:rPr>
              <a:t>it needs — principle of least privilege</a:t>
            </a:r>
          </a:p>
        </p:txBody>
      </p:sp>
      <p:sp>
        <p:nvSpPr>
          <p:cNvPr id="17" name="Rounded Rectangle 16"/>
          <p:cNvSpPr/>
          <p:nvPr/>
        </p:nvSpPr>
        <p:spPr>
          <a:xfrm>
            <a:off x="7498079" y="2743200"/>
            <a:ext cx="4389120" cy="91440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Auditable Actions</a:t>
            </a:r>
          </a:p>
          <a:p>
            <a:pPr algn="ctr"/>
            <a:r>
              <a:rPr sz="1100" b="0">
                <a:solidFill>
                  <a:srgbClr val="2D3436"/>
                </a:solidFill>
                <a:latin typeface="Calibri"/>
              </a:rPr>
              <a:t>Every tool call is logged with</a:t>
            </a:r>
          </a:p>
          <a:p>
            <a:pPr algn="ctr"/>
            <a:r>
              <a:rPr sz="1100" b="0">
                <a:solidFill>
                  <a:srgbClr val="2D3436"/>
                </a:solidFill>
                <a:latin typeface="Calibri"/>
              </a:rPr>
              <a:t>agent identity, timestamp, and result</a:t>
            </a:r>
          </a:p>
        </p:txBody>
      </p:sp>
      <p:sp>
        <p:nvSpPr>
          <p:cNvPr id="18" name="Rounded Rectangle 17"/>
          <p:cNvSpPr/>
          <p:nvPr/>
        </p:nvSpPr>
        <p:spPr>
          <a:xfrm>
            <a:off x="7498079" y="3840480"/>
            <a:ext cx="4389120" cy="91440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Context Optimization</a:t>
            </a:r>
          </a:p>
          <a:p>
            <a:pPr algn="ctr"/>
            <a:r>
              <a:rPr sz="1100" b="0">
                <a:solidFill>
                  <a:srgbClr val="2D3436"/>
                </a:solidFill>
                <a:latin typeface="Calibri"/>
              </a:rPr>
              <a:t>Agents receive curated context</a:t>
            </a:r>
          </a:p>
          <a:p>
            <a:pPr algn="ctr"/>
            <a:r>
              <a:rPr sz="1100" b="0">
                <a:solidFill>
                  <a:srgbClr val="2D3436"/>
                </a:solidFill>
                <a:latin typeface="Calibri"/>
              </a:rPr>
              <a:t>not entire codebases — reduces cost</a:t>
            </a:r>
          </a:p>
        </p:txBody>
      </p:sp>
      <p:sp>
        <p:nvSpPr>
          <p:cNvPr id="19" name="Rounded Rectangle 18"/>
          <p:cNvSpPr/>
          <p:nvPr/>
        </p:nvSpPr>
        <p:spPr>
          <a:xfrm>
            <a:off x="7498079" y="4937759"/>
            <a:ext cx="4389120" cy="91440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Tool Discovery</a:t>
            </a:r>
          </a:p>
          <a:p>
            <a:pPr algn="ctr"/>
            <a:r>
              <a:rPr sz="1100" b="0">
                <a:solidFill>
                  <a:srgbClr val="2D3436"/>
                </a:solidFill>
                <a:latin typeface="Calibri"/>
              </a:rPr>
              <a:t>Agents can discover available</a:t>
            </a:r>
          </a:p>
          <a:p>
            <a:pPr algn="ctr"/>
            <a:r>
              <a:rPr sz="1100" b="0">
                <a:solidFill>
                  <a:srgbClr val="2D3436"/>
                </a:solidFill>
                <a:latin typeface="Calibri"/>
              </a:rPr>
              <a:t>tools and their capabilities at runtime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AI Governance Framework for Software Development</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Governance</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36</a:t>
            </a:r>
          </a:p>
        </p:txBody>
      </p:sp>
      <p:sp>
        <p:nvSpPr>
          <p:cNvPr id="5" name="Rounded Rectangle 4"/>
          <p:cNvSpPr/>
          <p:nvPr/>
        </p:nvSpPr>
        <p:spPr>
          <a:xfrm>
            <a:off x="731520" y="4937760"/>
            <a:ext cx="5303520" cy="64008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Policies &amp; Standards</a:t>
            </a:r>
          </a:p>
        </p:txBody>
      </p:sp>
      <p:sp>
        <p:nvSpPr>
          <p:cNvPr id="6" name="Rounded Rectangle 5"/>
          <p:cNvSpPr/>
          <p:nvPr/>
        </p:nvSpPr>
        <p:spPr>
          <a:xfrm>
            <a:off x="1280160" y="4206240"/>
            <a:ext cx="4206240" cy="64008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Data Protection &amp; Privacy</a:t>
            </a:r>
          </a:p>
        </p:txBody>
      </p:sp>
      <p:sp>
        <p:nvSpPr>
          <p:cNvPr id="7" name="Rounded Rectangle 6"/>
          <p:cNvSpPr/>
          <p:nvPr/>
        </p:nvSpPr>
        <p:spPr>
          <a:xfrm>
            <a:off x="1828800" y="3474720"/>
            <a:ext cx="3108960" cy="640080"/>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Model Management &amp; Validation</a:t>
            </a:r>
          </a:p>
        </p:txBody>
      </p:sp>
      <p:sp>
        <p:nvSpPr>
          <p:cNvPr id="8" name="Rounded Rectangle 7"/>
          <p:cNvSpPr/>
          <p:nvPr/>
        </p:nvSpPr>
        <p:spPr>
          <a:xfrm>
            <a:off x="2377440" y="2743200"/>
            <a:ext cx="2011680" cy="640080"/>
          </a:xfrm>
          <a:prstGeom prst="roundRect">
            <a:avLst/>
          </a:prstGeom>
          <a:solidFill>
            <a:srgbClr val="EFE8F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Human Review &amp; Oversight</a:t>
            </a:r>
          </a:p>
        </p:txBody>
      </p:sp>
      <p:sp>
        <p:nvSpPr>
          <p:cNvPr id="9" name="Rounded Rectangle 8"/>
          <p:cNvSpPr/>
          <p:nvPr/>
        </p:nvSpPr>
        <p:spPr>
          <a:xfrm>
            <a:off x="2834640" y="2011680"/>
            <a:ext cx="1097280" cy="640080"/>
          </a:xfrm>
          <a:prstGeom prst="roundRect">
            <a:avLst/>
          </a:prstGeom>
          <a:solidFill>
            <a:srgbClr val="FFF2CC"/>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Audit Trail &amp;</a:t>
            </a:r>
          </a:p>
          <a:p>
            <a:pPr algn="ctr"/>
            <a:r>
              <a:rPr sz="1100" b="0">
                <a:solidFill>
                  <a:srgbClr val="2D3436"/>
                </a:solidFill>
                <a:latin typeface="Calibri"/>
              </a:rPr>
              <a:t>Accountability</a:t>
            </a:r>
          </a:p>
        </p:txBody>
      </p:sp>
      <p:sp>
        <p:nvSpPr>
          <p:cNvPr id="10" name="TextBox 9"/>
          <p:cNvSpPr txBox="1"/>
          <p:nvPr/>
        </p:nvSpPr>
        <p:spPr>
          <a:xfrm>
            <a:off x="6858000" y="1188720"/>
            <a:ext cx="4846320" cy="365760"/>
          </a:xfrm>
          <a:prstGeom prst="rect">
            <a:avLst/>
          </a:prstGeom>
          <a:noFill/>
        </p:spPr>
        <p:txBody>
          <a:bodyPr wrap="square">
            <a:spAutoFit/>
          </a:bodyPr>
          <a:lstStyle/>
          <a:p>
            <a:pPr algn="l"/>
            <a:r>
              <a:rPr sz="1600" b="1">
                <a:solidFill>
                  <a:srgbClr val="4472C4"/>
                </a:solidFill>
                <a:latin typeface="Calibri"/>
              </a:rPr>
              <a:t>Governance Checklist</a:t>
            </a:r>
          </a:p>
        </p:txBody>
      </p:sp>
      <p:sp>
        <p:nvSpPr>
          <p:cNvPr id="11" name="TextBox 10"/>
          <p:cNvSpPr txBox="1"/>
          <p:nvPr/>
        </p:nvSpPr>
        <p:spPr>
          <a:xfrm>
            <a:off x="6858000" y="1645920"/>
            <a:ext cx="4846320" cy="4389120"/>
          </a:xfrm>
          <a:prstGeom prst="rect">
            <a:avLst/>
          </a:prstGeom>
          <a:noFill/>
        </p:spPr>
        <p:txBody>
          <a:bodyPr wrap="square">
            <a:spAutoFit/>
          </a:bodyPr>
          <a:lstStyle/>
          <a:p>
            <a:pPr>
              <a:lnSpc>
                <a:spcPct val="130000"/>
              </a:lnSpc>
              <a:spcAft>
                <a:spcPts val="800"/>
              </a:spcAft>
            </a:pPr>
            <a:r>
              <a:rPr sz="1200">
                <a:solidFill>
                  <a:srgbClr val="2D3436"/>
                </a:solidFill>
                <a:latin typeface="Calibri"/>
              </a:rPr>
              <a:t>• Establish AI usage policies for development teams</a:t>
            </a:r>
          </a:p>
          <a:p>
            <a:pPr>
              <a:lnSpc>
                <a:spcPct val="130000"/>
              </a:lnSpc>
              <a:spcAft>
                <a:spcPts val="800"/>
              </a:spcAft>
            </a:pPr>
            <a:r>
              <a:rPr sz="1200">
                <a:solidFill>
                  <a:srgbClr val="2D3436"/>
                </a:solidFill>
                <a:latin typeface="Calibri"/>
              </a:rPr>
              <a:t>• Define data handling rules for prompts &amp; outputs</a:t>
            </a:r>
          </a:p>
          <a:p>
            <a:pPr>
              <a:lnSpc>
                <a:spcPct val="130000"/>
              </a:lnSpc>
              <a:spcAft>
                <a:spcPts val="800"/>
              </a:spcAft>
            </a:pPr>
            <a:r>
              <a:rPr sz="1200">
                <a:solidFill>
                  <a:srgbClr val="2D3436"/>
                </a:solidFill>
                <a:latin typeface="Calibri"/>
              </a:rPr>
              <a:t>• Validate AI models against bias &amp; accuracy benchmarks</a:t>
            </a:r>
          </a:p>
          <a:p>
            <a:pPr>
              <a:lnSpc>
                <a:spcPct val="130000"/>
              </a:lnSpc>
              <a:spcAft>
                <a:spcPts val="800"/>
              </a:spcAft>
            </a:pPr>
            <a:r>
              <a:rPr sz="1200">
                <a:solidFill>
                  <a:srgbClr val="2D3436"/>
                </a:solidFill>
                <a:latin typeface="Calibri"/>
              </a:rPr>
              <a:t>• Require human review at architectural decisions</a:t>
            </a:r>
          </a:p>
          <a:p>
            <a:pPr>
              <a:lnSpc>
                <a:spcPct val="130000"/>
              </a:lnSpc>
              <a:spcAft>
                <a:spcPts val="800"/>
              </a:spcAft>
            </a:pPr>
            <a:r>
              <a:rPr sz="1200">
                <a:solidFill>
                  <a:srgbClr val="2D3436"/>
                </a:solidFill>
                <a:latin typeface="Calibri"/>
              </a:rPr>
              <a:t>• Log all AI interactions for audit &amp; compliance</a:t>
            </a:r>
          </a:p>
          <a:p>
            <a:pPr>
              <a:lnSpc>
                <a:spcPct val="130000"/>
              </a:lnSpc>
              <a:spcAft>
                <a:spcPts val="800"/>
              </a:spcAft>
            </a:pPr>
            <a:r>
              <a:rPr sz="1200">
                <a:solidFill>
                  <a:srgbClr val="2D3436"/>
                </a:solidFill>
                <a:latin typeface="Calibri"/>
              </a:rPr>
              <a:t>• Set up feedback loops for continuous improvement</a:t>
            </a:r>
          </a:p>
          <a:p>
            <a:pPr>
              <a:lnSpc>
                <a:spcPct val="130000"/>
              </a:lnSpc>
              <a:spcAft>
                <a:spcPts val="800"/>
              </a:spcAft>
            </a:pPr>
            <a:r>
              <a:rPr sz="1200">
                <a:solidFill>
                  <a:srgbClr val="2D3436"/>
                </a:solidFill>
                <a:latin typeface="Calibri"/>
              </a:rPr>
              <a:t>• Train teams on responsible AI practices</a:t>
            </a:r>
          </a:p>
          <a:p>
            <a:pPr>
              <a:lnSpc>
                <a:spcPct val="130000"/>
              </a:lnSpc>
              <a:spcAft>
                <a:spcPts val="800"/>
              </a:spcAft>
            </a:pPr>
            <a:r>
              <a:rPr sz="1200">
                <a:solidFill>
                  <a:srgbClr val="2D3436"/>
                </a:solidFill>
                <a:latin typeface="Calibri"/>
              </a:rPr>
              <a:t>• Define escalation procedures for AI failures</a:t>
            </a:r>
          </a:p>
          <a:p>
            <a:pPr>
              <a:lnSpc>
                <a:spcPct val="130000"/>
              </a:lnSpc>
              <a:spcAft>
                <a:spcPts val="800"/>
              </a:spcAft>
            </a:pPr>
            <a:r>
              <a:rPr sz="1200">
                <a:solidFill>
                  <a:srgbClr val="2D3436"/>
                </a:solidFill>
                <a:latin typeface="Calibri"/>
              </a:rPr>
              <a:t>• Review AI tools for license &amp; IP compliance</a:t>
            </a:r>
          </a:p>
          <a:p>
            <a:pPr>
              <a:lnSpc>
                <a:spcPct val="130000"/>
              </a:lnSpc>
              <a:spcAft>
                <a:spcPts val="800"/>
              </a:spcAft>
            </a:pPr>
            <a:r>
              <a:rPr sz="1200">
                <a:solidFill>
                  <a:srgbClr val="2D3436"/>
                </a:solidFill>
                <a:latin typeface="Calibri"/>
              </a:rPr>
              <a:t>• Conduct regular governance framework reviews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Responsible AI Principles in Practice</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Governance</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37</a:t>
            </a:r>
          </a:p>
        </p:txBody>
      </p:sp>
      <p:sp>
        <p:nvSpPr>
          <p:cNvPr id="5" name="Rounded Rectangle 4"/>
          <p:cNvSpPr/>
          <p:nvPr/>
        </p:nvSpPr>
        <p:spPr>
          <a:xfrm>
            <a:off x="548640" y="1188720"/>
            <a:ext cx="3474720" cy="146304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Fairness</a:t>
            </a:r>
          </a:p>
          <a:p>
            <a:pPr algn="ctr"/>
            <a:r>
              <a:rPr sz="1300" b="0">
                <a:solidFill>
                  <a:srgbClr val="2D3436"/>
                </a:solidFill>
                <a:latin typeface="Calibri"/>
              </a:rPr>
              <a:t/>
            </a:r>
          </a:p>
          <a:p>
            <a:pPr algn="ctr"/>
            <a:r>
              <a:rPr sz="1300" b="0">
                <a:solidFill>
                  <a:srgbClr val="2D3436"/>
                </a:solidFill>
                <a:latin typeface="Calibri"/>
              </a:rPr>
              <a:t>Avoid biased assumptions</a:t>
            </a:r>
          </a:p>
          <a:p>
            <a:pPr algn="ctr"/>
            <a:r>
              <a:rPr sz="1300" b="0">
                <a:solidFill>
                  <a:srgbClr val="2D3436"/>
                </a:solidFill>
                <a:latin typeface="Calibri"/>
              </a:rPr>
              <a:t>in generated systems</a:t>
            </a:r>
          </a:p>
        </p:txBody>
      </p:sp>
      <p:sp>
        <p:nvSpPr>
          <p:cNvPr id="6" name="Rounded Rectangle 5"/>
          <p:cNvSpPr/>
          <p:nvPr/>
        </p:nvSpPr>
        <p:spPr>
          <a:xfrm>
            <a:off x="4343400" y="1188720"/>
            <a:ext cx="3474720" cy="146304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Reliability</a:t>
            </a:r>
          </a:p>
          <a:p>
            <a:pPr algn="ctr"/>
            <a:r>
              <a:rPr sz="1300" b="0">
                <a:solidFill>
                  <a:srgbClr val="2D3436"/>
                </a:solidFill>
                <a:latin typeface="Calibri"/>
              </a:rPr>
              <a:t/>
            </a:r>
          </a:p>
          <a:p>
            <a:pPr algn="ctr"/>
            <a:r>
              <a:rPr sz="1300" b="0">
                <a:solidFill>
                  <a:srgbClr val="2D3436"/>
                </a:solidFill>
                <a:latin typeface="Calibri"/>
              </a:rPr>
              <a:t>Validate outputs with</a:t>
            </a:r>
          </a:p>
          <a:p>
            <a:pPr algn="ctr"/>
            <a:r>
              <a:rPr sz="1300" b="0">
                <a:solidFill>
                  <a:srgbClr val="2D3436"/>
                </a:solidFill>
                <a:latin typeface="Calibri"/>
              </a:rPr>
              <a:t>tests and evidence</a:t>
            </a:r>
          </a:p>
        </p:txBody>
      </p:sp>
      <p:sp>
        <p:nvSpPr>
          <p:cNvPr id="7" name="Rounded Rectangle 6"/>
          <p:cNvSpPr/>
          <p:nvPr/>
        </p:nvSpPr>
        <p:spPr>
          <a:xfrm>
            <a:off x="8138160" y="1188720"/>
            <a:ext cx="3474720" cy="146304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Privacy</a:t>
            </a:r>
          </a:p>
          <a:p>
            <a:pPr algn="ctr"/>
            <a:r>
              <a:rPr sz="1300" b="0">
                <a:solidFill>
                  <a:srgbClr val="2D3436"/>
                </a:solidFill>
                <a:latin typeface="Calibri"/>
              </a:rPr>
              <a:t/>
            </a:r>
          </a:p>
          <a:p>
            <a:pPr algn="ctr"/>
            <a:r>
              <a:rPr sz="1300" b="0">
                <a:solidFill>
                  <a:srgbClr val="2D3436"/>
                </a:solidFill>
                <a:latin typeface="Calibri"/>
              </a:rPr>
              <a:t>Minimize sensitive data</a:t>
            </a:r>
          </a:p>
          <a:p>
            <a:pPr algn="ctr"/>
            <a:r>
              <a:rPr sz="1300" b="0">
                <a:solidFill>
                  <a:srgbClr val="2D3436"/>
                </a:solidFill>
                <a:latin typeface="Calibri"/>
              </a:rPr>
              <a:t>exposure in prompts</a:t>
            </a:r>
          </a:p>
        </p:txBody>
      </p:sp>
      <p:sp>
        <p:nvSpPr>
          <p:cNvPr id="8" name="Rounded Rectangle 7"/>
          <p:cNvSpPr/>
          <p:nvPr/>
        </p:nvSpPr>
        <p:spPr>
          <a:xfrm>
            <a:off x="548640" y="3017520"/>
            <a:ext cx="3474720" cy="146304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Transparency</a:t>
            </a:r>
          </a:p>
          <a:p>
            <a:pPr algn="ctr"/>
            <a:r>
              <a:rPr sz="1300" b="0">
                <a:solidFill>
                  <a:srgbClr val="2D3436"/>
                </a:solidFill>
                <a:latin typeface="Calibri"/>
              </a:rPr>
              <a:t/>
            </a:r>
          </a:p>
          <a:p>
            <a:pPr algn="ctr"/>
            <a:r>
              <a:rPr sz="1300" b="0">
                <a:solidFill>
                  <a:srgbClr val="2D3436"/>
                </a:solidFill>
                <a:latin typeface="Calibri"/>
              </a:rPr>
              <a:t>Document AI usage,</a:t>
            </a:r>
          </a:p>
          <a:p>
            <a:pPr algn="ctr"/>
            <a:r>
              <a:rPr sz="1300" b="0">
                <a:solidFill>
                  <a:srgbClr val="2D3436"/>
                </a:solidFill>
                <a:latin typeface="Calibri"/>
              </a:rPr>
              <a:t>limitations &amp; decisions</a:t>
            </a:r>
          </a:p>
        </p:txBody>
      </p:sp>
      <p:sp>
        <p:nvSpPr>
          <p:cNvPr id="9" name="Rounded Rectangle 8"/>
          <p:cNvSpPr/>
          <p:nvPr/>
        </p:nvSpPr>
        <p:spPr>
          <a:xfrm>
            <a:off x="4343400" y="3017520"/>
            <a:ext cx="3474720" cy="146304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Accountability</a:t>
            </a:r>
          </a:p>
          <a:p>
            <a:pPr algn="ctr"/>
            <a:r>
              <a:rPr sz="1300" b="0">
                <a:solidFill>
                  <a:srgbClr val="2D3436"/>
                </a:solidFill>
                <a:latin typeface="Calibri"/>
              </a:rPr>
              <a:t/>
            </a:r>
          </a:p>
          <a:p>
            <a:pPr algn="ctr"/>
            <a:r>
              <a:rPr sz="1300" b="0">
                <a:solidFill>
                  <a:srgbClr val="2D3436"/>
                </a:solidFill>
                <a:latin typeface="Calibri"/>
              </a:rPr>
              <a:t>Maintain audit trails,</a:t>
            </a:r>
          </a:p>
          <a:p>
            <a:pPr algn="ctr"/>
            <a:r>
              <a:rPr sz="1300" b="0">
                <a:solidFill>
                  <a:srgbClr val="2D3436"/>
                </a:solidFill>
                <a:latin typeface="Calibri"/>
              </a:rPr>
              <a:t>assign ownership</a:t>
            </a:r>
          </a:p>
        </p:txBody>
      </p:sp>
      <p:sp>
        <p:nvSpPr>
          <p:cNvPr id="10" name="Rounded Rectangle 9"/>
          <p:cNvSpPr/>
          <p:nvPr/>
        </p:nvSpPr>
        <p:spPr>
          <a:xfrm>
            <a:off x="8138160" y="3017520"/>
            <a:ext cx="3474720" cy="146304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Safety</a:t>
            </a:r>
          </a:p>
          <a:p>
            <a:pPr algn="ctr"/>
            <a:r>
              <a:rPr sz="1300" b="0">
                <a:solidFill>
                  <a:srgbClr val="2D3436"/>
                </a:solidFill>
                <a:latin typeface="Calibri"/>
              </a:rPr>
              <a:t/>
            </a:r>
          </a:p>
          <a:p>
            <a:pPr algn="ctr"/>
            <a:r>
              <a:rPr sz="1300" b="0">
                <a:solidFill>
                  <a:srgbClr val="2D3436"/>
                </a:solidFill>
                <a:latin typeface="Calibri"/>
              </a:rPr>
              <a:t>Implement guardrails,</a:t>
            </a:r>
          </a:p>
          <a:p>
            <a:pPr algn="ctr"/>
            <a:r>
              <a:rPr sz="1300" b="0">
                <a:solidFill>
                  <a:srgbClr val="2D3436"/>
                </a:solidFill>
                <a:latin typeface="Calibri"/>
              </a:rPr>
              <a:t>human oversight, rollback</a:t>
            </a:r>
          </a:p>
        </p:txBody>
      </p:sp>
      <p:sp>
        <p:nvSpPr>
          <p:cNvPr id="11" name="Rounded Rectangle 10"/>
          <p:cNvSpPr/>
          <p:nvPr/>
        </p:nvSpPr>
        <p:spPr>
          <a:xfrm>
            <a:off x="548640" y="5120640"/>
            <a:ext cx="11064240" cy="82296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Academic Integrity:  Define clear policies on AI use in assignments  |  Teach students WHEN and HOW to use AI responsibly  |  Assess understanding, not just output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AI-Native Adoption Maturity Model</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Governance</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38</a:t>
            </a:r>
          </a:p>
        </p:txBody>
      </p:sp>
      <p:sp>
        <p:nvSpPr>
          <p:cNvPr id="5" name="Rounded Rectangle 4"/>
          <p:cNvSpPr/>
          <p:nvPr/>
        </p:nvSpPr>
        <p:spPr>
          <a:xfrm>
            <a:off x="548640" y="4663440"/>
            <a:ext cx="2011680" cy="91440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Level 1: Ad-hoc</a:t>
            </a:r>
          </a:p>
          <a:p>
            <a:pPr algn="ctr"/>
            <a:r>
              <a:rPr sz="1000" b="0">
                <a:solidFill>
                  <a:srgbClr val="2D3436"/>
                </a:solidFill>
                <a:latin typeface="Calibri"/>
              </a:rPr>
              <a:t>Individual developers</a:t>
            </a:r>
          </a:p>
          <a:p>
            <a:pPr algn="ctr"/>
            <a:r>
              <a:rPr sz="1000" b="0">
                <a:solidFill>
                  <a:srgbClr val="2D3436"/>
                </a:solidFill>
                <a:latin typeface="Calibri"/>
              </a:rPr>
              <a:t>use AI informally</a:t>
            </a:r>
          </a:p>
        </p:txBody>
      </p:sp>
      <p:sp>
        <p:nvSpPr>
          <p:cNvPr id="6" name="Rounded Rectangle 5"/>
          <p:cNvSpPr/>
          <p:nvPr/>
        </p:nvSpPr>
        <p:spPr>
          <a:xfrm>
            <a:off x="2651760" y="3931920"/>
            <a:ext cx="2011680" cy="91440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Level 2: Experimentation</a:t>
            </a:r>
          </a:p>
          <a:p>
            <a:pPr algn="ctr"/>
            <a:r>
              <a:rPr sz="1000" b="0">
                <a:solidFill>
                  <a:srgbClr val="2D3436"/>
                </a:solidFill>
                <a:latin typeface="Calibri"/>
              </a:rPr>
              <a:t>Teams pilot AI tools</a:t>
            </a:r>
          </a:p>
          <a:p>
            <a:pPr algn="ctr"/>
            <a:r>
              <a:rPr sz="1000" b="0">
                <a:solidFill>
                  <a:srgbClr val="2D3436"/>
                </a:solidFill>
                <a:latin typeface="Calibri"/>
              </a:rPr>
              <a:t>on selected projects</a:t>
            </a:r>
          </a:p>
        </p:txBody>
      </p:sp>
      <p:sp>
        <p:nvSpPr>
          <p:cNvPr id="7" name="Rounded Rectangle 6"/>
          <p:cNvSpPr/>
          <p:nvPr/>
        </p:nvSpPr>
        <p:spPr>
          <a:xfrm>
            <a:off x="4754880" y="3200400"/>
            <a:ext cx="2011680" cy="91440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Level 3: Standardized</a:t>
            </a:r>
          </a:p>
          <a:p>
            <a:pPr algn="ctr"/>
            <a:r>
              <a:rPr sz="1000" b="0">
                <a:solidFill>
                  <a:srgbClr val="2D3436"/>
                </a:solidFill>
                <a:latin typeface="Calibri"/>
              </a:rPr>
              <a:t>AI practices formalized,</a:t>
            </a:r>
          </a:p>
          <a:p>
            <a:pPr algn="ctr"/>
            <a:r>
              <a:rPr sz="1000" b="0">
                <a:solidFill>
                  <a:srgbClr val="2D3436"/>
                </a:solidFill>
                <a:latin typeface="Calibri"/>
              </a:rPr>
              <a:t>governance in place</a:t>
            </a:r>
          </a:p>
        </p:txBody>
      </p:sp>
      <p:sp>
        <p:nvSpPr>
          <p:cNvPr id="8" name="Rounded Rectangle 7"/>
          <p:cNvSpPr/>
          <p:nvPr/>
        </p:nvSpPr>
        <p:spPr>
          <a:xfrm>
            <a:off x="6858000" y="2468880"/>
            <a:ext cx="2011680" cy="91440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Level 4: Optimized</a:t>
            </a:r>
          </a:p>
          <a:p>
            <a:pPr algn="ctr"/>
            <a:r>
              <a:rPr sz="1000" b="0">
                <a:solidFill>
                  <a:srgbClr val="2D3436"/>
                </a:solidFill>
                <a:latin typeface="Calibri"/>
              </a:rPr>
              <a:t>AI deeply embedded,</a:t>
            </a:r>
          </a:p>
          <a:p>
            <a:pPr algn="ctr"/>
            <a:r>
              <a:rPr sz="1000" b="0">
                <a:solidFill>
                  <a:srgbClr val="2D3436"/>
                </a:solidFill>
                <a:latin typeface="Calibri"/>
              </a:rPr>
              <a:t>multi-agent workflows</a:t>
            </a:r>
          </a:p>
        </p:txBody>
      </p:sp>
      <p:sp>
        <p:nvSpPr>
          <p:cNvPr id="9" name="Rounded Rectangle 8"/>
          <p:cNvSpPr/>
          <p:nvPr/>
        </p:nvSpPr>
        <p:spPr>
          <a:xfrm>
            <a:off x="8961120" y="1737360"/>
            <a:ext cx="2011680" cy="91440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D3436"/>
                </a:solidFill>
                <a:latin typeface="Calibri"/>
              </a:rPr>
              <a:t>Level 5: Transformational</a:t>
            </a:r>
          </a:p>
          <a:p>
            <a:pPr algn="ctr"/>
            <a:r>
              <a:rPr sz="1000" b="0">
                <a:solidFill>
                  <a:srgbClr val="2D3436"/>
                </a:solidFill>
                <a:latin typeface="Calibri"/>
              </a:rPr>
              <a:t>AI-native is default,</a:t>
            </a:r>
          </a:p>
          <a:p>
            <a:pPr algn="ctr"/>
            <a:r>
              <a:rPr sz="1000" b="0">
                <a:solidFill>
                  <a:srgbClr val="2D3436"/>
                </a:solidFill>
                <a:latin typeface="Calibri"/>
              </a:rPr>
              <a:t>culture shift &amp; innovation</a:t>
            </a:r>
          </a:p>
        </p:txBody>
      </p:sp>
      <p:sp>
        <p:nvSpPr>
          <p:cNvPr id="10" name="Right Arrow 9"/>
          <p:cNvSpPr/>
          <p:nvPr/>
        </p:nvSpPr>
        <p:spPr>
          <a:xfrm>
            <a:off x="2578608" y="4846320"/>
            <a:ext cx="50292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4681727" y="4114800"/>
            <a:ext cx="50292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6784848" y="3383280"/>
            <a:ext cx="50292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8887967" y="2651760"/>
            <a:ext cx="50292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48640" y="5669280"/>
            <a:ext cx="10698480" cy="45720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Progression requires:  Training &amp; Skills  &gt;&gt;  Tool Adoption  &gt;&gt;  Policy &amp; Governance  &gt;&gt;  Culture Shift  &gt;&gt;  Organizational Transformation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Hands-On Practical Examples</a:t>
            </a:r>
          </a:p>
        </p:txBody>
      </p:sp>
      <p:sp>
        <p:nvSpPr>
          <p:cNvPr id="3" name="Rounded Rectangle 2"/>
          <p:cNvSpPr/>
          <p:nvPr/>
        </p:nvSpPr>
        <p:spPr>
          <a:xfrm>
            <a:off x="365760" y="6263640"/>
            <a:ext cx="4114800" cy="347472"/>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Practical</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39</a:t>
            </a:r>
          </a:p>
        </p:txBody>
      </p:sp>
      <p:sp>
        <p:nvSpPr>
          <p:cNvPr id="5" name="TextBox 4"/>
          <p:cNvSpPr txBox="1"/>
          <p:nvPr/>
        </p:nvSpPr>
        <p:spPr>
          <a:xfrm>
            <a:off x="548640" y="1143000"/>
            <a:ext cx="5486400" cy="365760"/>
          </a:xfrm>
          <a:prstGeom prst="rect">
            <a:avLst/>
          </a:prstGeom>
          <a:noFill/>
        </p:spPr>
        <p:txBody>
          <a:bodyPr wrap="square">
            <a:spAutoFit/>
          </a:bodyPr>
          <a:lstStyle/>
          <a:p>
            <a:pPr algn="l"/>
            <a:r>
              <a:rPr sz="1600" b="1">
                <a:solidFill>
                  <a:srgbClr val="70AD47"/>
                </a:solidFill>
                <a:latin typeface="Calibri"/>
              </a:rPr>
              <a:t>Primary Lab Exercise</a:t>
            </a:r>
          </a:p>
        </p:txBody>
      </p:sp>
      <p:sp>
        <p:nvSpPr>
          <p:cNvPr id="6" name="Rounded Rectangle 5"/>
          <p:cNvSpPr/>
          <p:nvPr/>
        </p:nvSpPr>
        <p:spPr>
          <a:xfrm>
            <a:off x="548640" y="1554480"/>
            <a:ext cx="5486400" cy="201168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Example 1: Task Management REST API</a:t>
            </a:r>
          </a:p>
          <a:p>
            <a:pPr algn="l"/>
            <a:r>
              <a:rPr sz="1200" b="0">
                <a:solidFill>
                  <a:srgbClr val="2D3436"/>
                </a:solidFill>
                <a:latin typeface="Calibri"/>
              </a:rPr>
              <a:t>Duration: 1-2 hours</a:t>
            </a:r>
          </a:p>
          <a:p>
            <a:pPr algn="l"/>
            <a:r>
              <a:rPr sz="1200" b="0">
                <a:solidFill>
                  <a:srgbClr val="2D3436"/>
                </a:solidFill>
                <a:latin typeface="Calibri"/>
              </a:rPr>
              <a:t/>
            </a:r>
          </a:p>
          <a:p>
            <a:pPr algn="l"/>
            <a:r>
              <a:rPr sz="1200" b="0">
                <a:solidFill>
                  <a:srgbClr val="2D3436"/>
                </a:solidFill>
                <a:latin typeface="Calibri"/>
              </a:rPr>
              <a:t>Build a REST API with full CRUD operations</a:t>
            </a:r>
          </a:p>
          <a:p>
            <a:pPr algn="l"/>
            <a:r>
              <a:rPr sz="1200" b="0">
                <a:solidFill>
                  <a:srgbClr val="2D3436"/>
                </a:solidFill>
                <a:latin typeface="Calibri"/>
              </a:rPr>
              <a:t>Apply spec-driven development methodology</a:t>
            </a:r>
          </a:p>
          <a:p>
            <a:pPr algn="l"/>
            <a:r>
              <a:rPr sz="1200" b="0">
                <a:solidFill>
                  <a:srgbClr val="2D3436"/>
                </a:solidFill>
                <a:latin typeface="Calibri"/>
              </a:rPr>
              <a:t>Generate tests (unit + integration)</a:t>
            </a:r>
          </a:p>
          <a:p>
            <a:pPr algn="l"/>
            <a:r>
              <a:rPr sz="1200" b="0">
                <a:solidFill>
                  <a:srgbClr val="2D3436"/>
                </a:solidFill>
                <a:latin typeface="Calibri"/>
              </a:rPr>
              <a:t>Set up CI/CD pipeline with quality gates</a:t>
            </a:r>
          </a:p>
        </p:txBody>
      </p:sp>
      <p:sp>
        <p:nvSpPr>
          <p:cNvPr id="7" name="Rounded Rectangle 6"/>
          <p:cNvSpPr/>
          <p:nvPr/>
        </p:nvSpPr>
        <p:spPr>
          <a:xfrm>
            <a:off x="548640" y="3794760"/>
            <a:ext cx="5486400" cy="146304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Example 2: Student Grade Calculator</a:t>
            </a:r>
          </a:p>
          <a:p>
            <a:pPr algn="l"/>
            <a:r>
              <a:rPr sz="1200" b="0">
                <a:solidFill>
                  <a:srgbClr val="2D3436"/>
                </a:solidFill>
                <a:latin typeface="Calibri"/>
              </a:rPr>
              <a:t>Duration: 1 hour</a:t>
            </a:r>
          </a:p>
          <a:p>
            <a:pPr algn="l"/>
            <a:r>
              <a:rPr sz="1200" b="0">
                <a:solidFill>
                  <a:srgbClr val="2D3436"/>
                </a:solidFill>
                <a:latin typeface="Calibri"/>
              </a:rPr>
              <a:t/>
            </a:r>
          </a:p>
          <a:p>
            <a:pPr algn="l"/>
            <a:r>
              <a:rPr sz="1200" b="0">
                <a:solidFill>
                  <a:srgbClr val="2D3436"/>
                </a:solidFill>
                <a:latin typeface="Calibri"/>
              </a:rPr>
              <a:t>Calculate and report student grades</a:t>
            </a:r>
          </a:p>
          <a:p>
            <a:pPr algn="l"/>
            <a:r>
              <a:rPr sz="1200" b="0">
                <a:solidFill>
                  <a:srgbClr val="2D3436"/>
                </a:solidFill>
                <a:latin typeface="Calibri"/>
              </a:rPr>
              <a:t>Focus on business logic and testing</a:t>
            </a:r>
          </a:p>
          <a:p>
            <a:pPr algn="l"/>
            <a:r>
              <a:rPr sz="1200" b="0">
                <a:solidFill>
                  <a:srgbClr val="2D3436"/>
                </a:solidFill>
                <a:latin typeface="Calibri"/>
              </a:rPr>
              <a:t>Ideal for shorter sessions or beginners</a:t>
            </a:r>
          </a:p>
        </p:txBody>
      </p:sp>
      <p:sp>
        <p:nvSpPr>
          <p:cNvPr id="8" name="TextBox 7"/>
          <p:cNvSpPr txBox="1"/>
          <p:nvPr/>
        </p:nvSpPr>
        <p:spPr>
          <a:xfrm>
            <a:off x="6583680" y="1143000"/>
            <a:ext cx="5029200" cy="365760"/>
          </a:xfrm>
          <a:prstGeom prst="rect">
            <a:avLst/>
          </a:prstGeom>
          <a:noFill/>
        </p:spPr>
        <p:txBody>
          <a:bodyPr wrap="square">
            <a:spAutoFit/>
          </a:bodyPr>
          <a:lstStyle/>
          <a:p>
            <a:pPr algn="l"/>
            <a:r>
              <a:rPr sz="1600" b="1">
                <a:solidFill>
                  <a:srgbClr val="70AD47"/>
                </a:solidFill>
                <a:latin typeface="Calibri"/>
              </a:rPr>
              <a:t>Lab Exercise Flow</a:t>
            </a:r>
          </a:p>
        </p:txBody>
      </p:sp>
      <p:sp>
        <p:nvSpPr>
          <p:cNvPr id="9" name="Rounded Rectangle 8"/>
          <p:cNvSpPr/>
          <p:nvPr/>
        </p:nvSpPr>
        <p:spPr>
          <a:xfrm>
            <a:off x="6583680" y="1600200"/>
            <a:ext cx="914400" cy="54864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Spec</a:t>
            </a:r>
          </a:p>
        </p:txBody>
      </p:sp>
      <p:sp>
        <p:nvSpPr>
          <p:cNvPr id="10" name="Right Arrow 9"/>
          <p:cNvSpPr/>
          <p:nvPr/>
        </p:nvSpPr>
        <p:spPr>
          <a:xfrm>
            <a:off x="7516368" y="1737360"/>
            <a:ext cx="914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635240" y="1600200"/>
            <a:ext cx="914400" cy="54864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Architecture</a:t>
            </a:r>
          </a:p>
        </p:txBody>
      </p:sp>
      <p:sp>
        <p:nvSpPr>
          <p:cNvPr id="12" name="Right Arrow 11"/>
          <p:cNvSpPr/>
          <p:nvPr/>
        </p:nvSpPr>
        <p:spPr>
          <a:xfrm>
            <a:off x="8567928" y="1737360"/>
            <a:ext cx="914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0" y="1600200"/>
            <a:ext cx="914400" cy="5486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Code</a:t>
            </a:r>
          </a:p>
        </p:txBody>
      </p:sp>
      <p:sp>
        <p:nvSpPr>
          <p:cNvPr id="14" name="Right Arrow 13"/>
          <p:cNvSpPr/>
          <p:nvPr/>
        </p:nvSpPr>
        <p:spPr>
          <a:xfrm>
            <a:off x="9619488" y="1737360"/>
            <a:ext cx="914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38360" y="1600200"/>
            <a:ext cx="914400" cy="54864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Test</a:t>
            </a:r>
          </a:p>
        </p:txBody>
      </p:sp>
      <p:sp>
        <p:nvSpPr>
          <p:cNvPr id="16" name="Right Arrow 15"/>
          <p:cNvSpPr/>
          <p:nvPr/>
        </p:nvSpPr>
        <p:spPr>
          <a:xfrm>
            <a:off x="10671048" y="1737360"/>
            <a:ext cx="914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789920" y="1600200"/>
            <a:ext cx="914400" cy="54864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Deploy</a:t>
            </a:r>
          </a:p>
        </p:txBody>
      </p:sp>
      <p:sp>
        <p:nvSpPr>
          <p:cNvPr id="18" name="TextBox 17"/>
          <p:cNvSpPr txBox="1"/>
          <p:nvPr/>
        </p:nvSpPr>
        <p:spPr>
          <a:xfrm>
            <a:off x="6583680" y="2468880"/>
            <a:ext cx="5029200" cy="365760"/>
          </a:xfrm>
          <a:prstGeom prst="rect">
            <a:avLst/>
          </a:prstGeom>
          <a:noFill/>
        </p:spPr>
        <p:txBody>
          <a:bodyPr wrap="square">
            <a:spAutoFit/>
          </a:bodyPr>
          <a:lstStyle/>
          <a:p>
            <a:pPr algn="l"/>
            <a:r>
              <a:rPr sz="1600" b="1">
                <a:solidFill>
                  <a:srgbClr val="ED7D31"/>
                </a:solidFill>
                <a:latin typeface="Calibri"/>
              </a:rPr>
              <a:t>Homework Exercises</a:t>
            </a:r>
          </a:p>
        </p:txBody>
      </p:sp>
      <p:sp>
        <p:nvSpPr>
          <p:cNvPr id="19" name="TextBox 18"/>
          <p:cNvSpPr txBox="1"/>
          <p:nvPr/>
        </p:nvSpPr>
        <p:spPr>
          <a:xfrm>
            <a:off x="6583680" y="2880360"/>
            <a:ext cx="5029200" cy="2743200"/>
          </a:xfrm>
          <a:prstGeom prst="rect">
            <a:avLst/>
          </a:prstGeom>
          <a:noFill/>
        </p:spPr>
        <p:txBody>
          <a:bodyPr wrap="square">
            <a:spAutoFit/>
          </a:bodyPr>
          <a:lstStyle/>
          <a:p>
            <a:pPr>
              <a:lnSpc>
                <a:spcPct val="130000"/>
              </a:lnSpc>
              <a:spcAft>
                <a:spcPts val="800"/>
              </a:spcAft>
            </a:pPr>
            <a:r>
              <a:rPr sz="1300">
                <a:solidFill>
                  <a:srgbClr val="2D3436"/>
                </a:solidFill>
                <a:latin typeface="Calibri"/>
              </a:rPr>
              <a:t>• Book Library Management System</a:t>
            </a:r>
          </a:p>
          <a:p>
            <a:pPr>
              <a:lnSpc>
                <a:spcPct val="130000"/>
              </a:lnSpc>
              <a:spcAft>
                <a:spcPts val="400"/>
              </a:spcAft>
            </a:pPr>
            <a:r>
              <a:rPr sz="1100">
                <a:solidFill>
                  <a:srgbClr val="636E72"/>
                </a:solidFill>
                <a:latin typeface="Calibri"/>
              </a:rPr>
              <a:t>     - CRUD for books, authors, categories</a:t>
            </a:r>
          </a:p>
          <a:p>
            <a:pPr>
              <a:lnSpc>
                <a:spcPct val="130000"/>
              </a:lnSpc>
              <a:spcAft>
                <a:spcPts val="400"/>
              </a:spcAft>
            </a:pPr>
            <a:r>
              <a:rPr sz="1100">
                <a:solidFill>
                  <a:srgbClr val="636E72"/>
                </a:solidFill>
                <a:latin typeface="Calibri"/>
              </a:rPr>
              <a:t>     - Search &amp; filtering capabilities</a:t>
            </a:r>
          </a:p>
          <a:p>
            <a:pPr>
              <a:lnSpc>
                <a:spcPct val="130000"/>
              </a:lnSpc>
              <a:spcAft>
                <a:spcPts val="400"/>
              </a:spcAft>
            </a:pPr>
            <a:r>
              <a:rPr sz="1100">
                <a:solidFill>
                  <a:srgbClr val="636E72"/>
                </a:solidFill>
                <a:latin typeface="Calibri"/>
              </a:rPr>
              <a:t>     - Full spec-driven workflow</a:t>
            </a:r>
          </a:p>
          <a:p>
            <a:pPr>
              <a:lnSpc>
                <a:spcPct val="130000"/>
              </a:lnSpc>
              <a:spcAft>
                <a:spcPts val="800"/>
              </a:spcAft>
            </a:pPr>
            <a:r>
              <a:rPr sz="1300">
                <a:solidFill>
                  <a:srgbClr val="2D3436"/>
                </a:solidFill>
                <a:latin typeface="Calibri"/>
              </a:rPr>
              <a:t>• Event Registration Platform</a:t>
            </a:r>
          </a:p>
          <a:p>
            <a:pPr>
              <a:lnSpc>
                <a:spcPct val="130000"/>
              </a:lnSpc>
              <a:spcAft>
                <a:spcPts val="400"/>
              </a:spcAft>
            </a:pPr>
            <a:r>
              <a:rPr sz="1100">
                <a:solidFill>
                  <a:srgbClr val="636E72"/>
                </a:solidFill>
                <a:latin typeface="Calibri"/>
              </a:rPr>
              <a:t>     - Event creation &amp; attendee registration</a:t>
            </a:r>
          </a:p>
          <a:p>
            <a:pPr>
              <a:lnSpc>
                <a:spcPct val="130000"/>
              </a:lnSpc>
              <a:spcAft>
                <a:spcPts val="400"/>
              </a:spcAft>
            </a:pPr>
            <a:r>
              <a:rPr sz="1100">
                <a:solidFill>
                  <a:srgbClr val="636E72"/>
                </a:solidFill>
                <a:latin typeface="Calibri"/>
              </a:rPr>
              <a:t>     - Capacity management &amp; notifications</a:t>
            </a:r>
          </a:p>
          <a:p>
            <a:pPr>
              <a:lnSpc>
                <a:spcPct val="130000"/>
              </a:lnSpc>
              <a:spcAft>
                <a:spcPts val="400"/>
              </a:spcAft>
            </a:pPr>
            <a:r>
              <a:rPr sz="1100">
                <a:solidFill>
                  <a:srgbClr val="636E72"/>
                </a:solidFill>
                <a:latin typeface="Calibri"/>
              </a:rPr>
              <a:t>     - Multi-tier architecture</a:t>
            </a:r>
          </a:p>
        </p:txBody>
      </p:sp>
      <p:sp>
        <p:nvSpPr>
          <p:cNvPr id="20" name="Rounded Rectangle 19"/>
          <p:cNvSpPr/>
          <p:nvPr/>
        </p:nvSpPr>
        <p:spPr>
          <a:xfrm>
            <a:off x="548640" y="5486400"/>
            <a:ext cx="11064240" cy="50292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Key Principle:  Every exercise follows Spec-First -&gt; AI-Assisted Design -&gt; Generate &amp; Review -&gt; Test &amp; Validate -&gt; Deploy &amp; Monitor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Key Takeaways &amp; Next Steps</a:t>
            </a:r>
          </a:p>
        </p:txBody>
      </p:sp>
      <p:sp>
        <p:nvSpPr>
          <p:cNvPr id="3" name="Rounded Rectangle 2"/>
          <p:cNvSpPr/>
          <p:nvPr/>
        </p:nvSpPr>
        <p:spPr>
          <a:xfrm>
            <a:off x="365760" y="6263640"/>
            <a:ext cx="4114800" cy="347472"/>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Closing</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40</a:t>
            </a:r>
          </a:p>
        </p:txBody>
      </p:sp>
      <p:sp>
        <p:nvSpPr>
          <p:cNvPr id="5" name="Rounded Rectangle 4"/>
          <p:cNvSpPr/>
          <p:nvPr/>
        </p:nvSpPr>
        <p:spPr>
          <a:xfrm>
            <a:off x="548640" y="1188720"/>
            <a:ext cx="411480" cy="4114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1</a:t>
            </a:r>
          </a:p>
        </p:txBody>
      </p:sp>
      <p:sp>
        <p:nvSpPr>
          <p:cNvPr id="6" name="Rounded Rectangle 5"/>
          <p:cNvSpPr/>
          <p:nvPr/>
        </p:nvSpPr>
        <p:spPr>
          <a:xfrm>
            <a:off x="1051560" y="1188720"/>
            <a:ext cx="2926080" cy="109728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AI-native development starts with</a:t>
            </a:r>
          </a:p>
          <a:p>
            <a:pPr algn="l"/>
            <a:r>
              <a:rPr sz="1200" b="0">
                <a:solidFill>
                  <a:srgbClr val="2D3436"/>
                </a:solidFill>
                <a:latin typeface="Calibri"/>
              </a:rPr>
              <a:t>SPECIFICATIONS, not code</a:t>
            </a:r>
          </a:p>
        </p:txBody>
      </p:sp>
      <p:sp>
        <p:nvSpPr>
          <p:cNvPr id="7" name="Rounded Rectangle 6"/>
          <p:cNvSpPr/>
          <p:nvPr/>
        </p:nvSpPr>
        <p:spPr>
          <a:xfrm>
            <a:off x="4343400" y="1188720"/>
            <a:ext cx="411480" cy="4114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2</a:t>
            </a:r>
          </a:p>
        </p:txBody>
      </p:sp>
      <p:sp>
        <p:nvSpPr>
          <p:cNvPr id="8" name="Rounded Rectangle 7"/>
          <p:cNvSpPr/>
          <p:nvPr/>
        </p:nvSpPr>
        <p:spPr>
          <a:xfrm>
            <a:off x="4846320" y="1188720"/>
            <a:ext cx="2926080" cy="109728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Human oversight remains essential</a:t>
            </a:r>
          </a:p>
          <a:p>
            <a:pPr algn="l"/>
            <a:r>
              <a:rPr sz="1200" b="0">
                <a:solidFill>
                  <a:srgbClr val="2D3436"/>
                </a:solidFill>
                <a:latin typeface="Calibri"/>
              </a:rPr>
              <a:t>at every stage</a:t>
            </a:r>
          </a:p>
        </p:txBody>
      </p:sp>
      <p:sp>
        <p:nvSpPr>
          <p:cNvPr id="9" name="Rounded Rectangle 8"/>
          <p:cNvSpPr/>
          <p:nvPr/>
        </p:nvSpPr>
        <p:spPr>
          <a:xfrm>
            <a:off x="8138160" y="1188720"/>
            <a:ext cx="411480" cy="4114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3</a:t>
            </a:r>
          </a:p>
        </p:txBody>
      </p:sp>
      <p:sp>
        <p:nvSpPr>
          <p:cNvPr id="10" name="Rounded Rectangle 9"/>
          <p:cNvSpPr/>
          <p:nvPr/>
        </p:nvSpPr>
        <p:spPr>
          <a:xfrm>
            <a:off x="8641080" y="1188720"/>
            <a:ext cx="2926080" cy="109728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Testing and security are</a:t>
            </a:r>
          </a:p>
          <a:p>
            <a:pPr algn="l"/>
            <a:r>
              <a:rPr sz="1200" b="0">
                <a:solidFill>
                  <a:srgbClr val="2D3436"/>
                </a:solidFill>
                <a:latin typeface="Calibri"/>
              </a:rPr>
              <a:t>mandatory guardrails</a:t>
            </a:r>
          </a:p>
        </p:txBody>
      </p:sp>
      <p:sp>
        <p:nvSpPr>
          <p:cNvPr id="11" name="Rounded Rectangle 10"/>
          <p:cNvSpPr/>
          <p:nvPr/>
        </p:nvSpPr>
        <p:spPr>
          <a:xfrm>
            <a:off x="548640" y="2606040"/>
            <a:ext cx="411480" cy="4114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4</a:t>
            </a:r>
          </a:p>
        </p:txBody>
      </p:sp>
      <p:sp>
        <p:nvSpPr>
          <p:cNvPr id="12" name="Rounded Rectangle 11"/>
          <p:cNvSpPr/>
          <p:nvPr/>
        </p:nvSpPr>
        <p:spPr>
          <a:xfrm>
            <a:off x="1051560" y="2606040"/>
            <a:ext cx="2926080" cy="109728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CI/CD automates quality</a:t>
            </a:r>
          </a:p>
          <a:p>
            <a:pPr algn="l"/>
            <a:r>
              <a:rPr sz="1200" b="0">
                <a:solidFill>
                  <a:srgbClr val="2D3436"/>
                </a:solidFill>
                <a:latin typeface="Calibri"/>
              </a:rPr>
              <a:t>enforcement</a:t>
            </a:r>
          </a:p>
        </p:txBody>
      </p:sp>
      <p:sp>
        <p:nvSpPr>
          <p:cNvPr id="13" name="Rounded Rectangle 12"/>
          <p:cNvSpPr/>
          <p:nvPr/>
        </p:nvSpPr>
        <p:spPr>
          <a:xfrm>
            <a:off x="4343400" y="2606040"/>
            <a:ext cx="411480" cy="41148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5</a:t>
            </a:r>
          </a:p>
        </p:txBody>
      </p:sp>
      <p:sp>
        <p:nvSpPr>
          <p:cNvPr id="14" name="Rounded Rectangle 13"/>
          <p:cNvSpPr/>
          <p:nvPr/>
        </p:nvSpPr>
        <p:spPr>
          <a:xfrm>
            <a:off x="4846320" y="2606040"/>
            <a:ext cx="2926080" cy="109728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Multi-agent workflows represent</a:t>
            </a:r>
          </a:p>
          <a:p>
            <a:pPr algn="l"/>
            <a:r>
              <a:rPr sz="1200" b="0">
                <a:solidFill>
                  <a:srgbClr val="2D3436"/>
                </a:solidFill>
                <a:latin typeface="Calibri"/>
              </a:rPr>
              <a:t>the future of SDLC</a:t>
            </a:r>
          </a:p>
        </p:txBody>
      </p:sp>
      <p:sp>
        <p:nvSpPr>
          <p:cNvPr id="15" name="Rounded Rectangle 14"/>
          <p:cNvSpPr/>
          <p:nvPr/>
        </p:nvSpPr>
        <p:spPr>
          <a:xfrm>
            <a:off x="8138160" y="2606040"/>
            <a:ext cx="411480" cy="4114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400" b="1">
                <a:solidFill>
                  <a:srgbClr val="FFFFFF"/>
                </a:solidFill>
                <a:latin typeface="Calibri"/>
              </a:rPr>
              <a:t>6</a:t>
            </a:r>
          </a:p>
        </p:txBody>
      </p:sp>
      <p:sp>
        <p:nvSpPr>
          <p:cNvPr id="16" name="Rounded Rectangle 15"/>
          <p:cNvSpPr/>
          <p:nvPr/>
        </p:nvSpPr>
        <p:spPr>
          <a:xfrm>
            <a:off x="8641080" y="2606040"/>
            <a:ext cx="2926080" cy="109728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200" b="1">
                <a:solidFill>
                  <a:srgbClr val="2D3436"/>
                </a:solidFill>
                <a:latin typeface="Calibri"/>
              </a:rPr>
              <a:t>Governance ensures responsible,</a:t>
            </a:r>
          </a:p>
          <a:p>
            <a:pPr algn="l"/>
            <a:r>
              <a:rPr sz="1200" b="0">
                <a:solidFill>
                  <a:srgbClr val="2D3436"/>
                </a:solidFill>
                <a:latin typeface="Calibri"/>
              </a:rPr>
              <a:t>sustainable AI adoption</a:t>
            </a:r>
          </a:p>
        </p:txBody>
      </p:sp>
      <p:sp>
        <p:nvSpPr>
          <p:cNvPr id="17" name="Rounded Rectangle 16"/>
          <p:cNvSpPr/>
          <p:nvPr/>
        </p:nvSpPr>
        <p:spPr>
          <a:xfrm>
            <a:off x="548640" y="4251960"/>
            <a:ext cx="1371600" cy="64008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Human</a:t>
            </a:r>
          </a:p>
          <a:p>
            <a:pPr algn="ctr"/>
            <a:r>
              <a:rPr sz="900" b="0">
                <a:solidFill>
                  <a:srgbClr val="FFFFFF"/>
                </a:solidFill>
                <a:latin typeface="Calibri"/>
              </a:rPr>
              <a:t>Intent</a:t>
            </a:r>
          </a:p>
        </p:txBody>
      </p:sp>
      <p:sp>
        <p:nvSpPr>
          <p:cNvPr id="18" name="Right Arrow 17"/>
          <p:cNvSpPr/>
          <p:nvPr/>
        </p:nvSpPr>
        <p:spPr>
          <a:xfrm>
            <a:off x="1938528" y="440740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148840" y="4251960"/>
            <a:ext cx="137160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Executable</a:t>
            </a:r>
          </a:p>
          <a:p>
            <a:pPr algn="ctr"/>
            <a:r>
              <a:rPr sz="900" b="0">
                <a:solidFill>
                  <a:srgbClr val="FFFFFF"/>
                </a:solidFill>
                <a:latin typeface="Calibri"/>
              </a:rPr>
              <a:t>Spec</a:t>
            </a:r>
          </a:p>
        </p:txBody>
      </p:sp>
      <p:sp>
        <p:nvSpPr>
          <p:cNvPr id="20" name="Right Arrow 19"/>
          <p:cNvSpPr/>
          <p:nvPr/>
        </p:nvSpPr>
        <p:spPr>
          <a:xfrm>
            <a:off x="3538728" y="440740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3749039" y="4251960"/>
            <a:ext cx="137160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AI-Assisted</a:t>
            </a:r>
          </a:p>
          <a:p>
            <a:pPr algn="ctr"/>
            <a:r>
              <a:rPr sz="900" b="0">
                <a:solidFill>
                  <a:srgbClr val="FFFFFF"/>
                </a:solidFill>
                <a:latin typeface="Calibri"/>
              </a:rPr>
              <a:t>Design</a:t>
            </a:r>
          </a:p>
        </p:txBody>
      </p:sp>
      <p:sp>
        <p:nvSpPr>
          <p:cNvPr id="22" name="Right Arrow 21"/>
          <p:cNvSpPr/>
          <p:nvPr/>
        </p:nvSpPr>
        <p:spPr>
          <a:xfrm>
            <a:off x="5138927" y="440740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349240" y="4251960"/>
            <a:ext cx="1371600" cy="6400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Code</a:t>
            </a:r>
          </a:p>
          <a:p>
            <a:pPr algn="ctr"/>
            <a:r>
              <a:rPr sz="900" b="0">
                <a:solidFill>
                  <a:srgbClr val="FFFFFF"/>
                </a:solidFill>
                <a:latin typeface="Calibri"/>
              </a:rPr>
              <a:t>Generation</a:t>
            </a:r>
          </a:p>
        </p:txBody>
      </p:sp>
      <p:sp>
        <p:nvSpPr>
          <p:cNvPr id="24" name="Right Arrow 23"/>
          <p:cNvSpPr/>
          <p:nvPr/>
        </p:nvSpPr>
        <p:spPr>
          <a:xfrm>
            <a:off x="6739127" y="440740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949440" y="4251960"/>
            <a:ext cx="1371600" cy="64008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Automated</a:t>
            </a:r>
          </a:p>
          <a:p>
            <a:pPr algn="ctr"/>
            <a:r>
              <a:rPr sz="900" b="0">
                <a:solidFill>
                  <a:srgbClr val="FFFFFF"/>
                </a:solidFill>
                <a:latin typeface="Calibri"/>
              </a:rPr>
              <a:t>Testing</a:t>
            </a:r>
          </a:p>
        </p:txBody>
      </p:sp>
      <p:sp>
        <p:nvSpPr>
          <p:cNvPr id="26" name="Right Arrow 25"/>
          <p:cNvSpPr/>
          <p:nvPr/>
        </p:nvSpPr>
        <p:spPr>
          <a:xfrm>
            <a:off x="8339327" y="440740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549640" y="4251960"/>
            <a:ext cx="1371600" cy="64008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CI/CD</a:t>
            </a:r>
          </a:p>
          <a:p>
            <a:pPr algn="ctr"/>
            <a:r>
              <a:rPr sz="900" b="0">
                <a:solidFill>
                  <a:srgbClr val="FFFFFF"/>
                </a:solidFill>
                <a:latin typeface="Calibri"/>
              </a:rPr>
              <a:t>Pipeline</a:t>
            </a:r>
          </a:p>
        </p:txBody>
      </p:sp>
      <p:sp>
        <p:nvSpPr>
          <p:cNvPr id="28" name="Right Arrow 27"/>
          <p:cNvSpPr/>
          <p:nvPr/>
        </p:nvSpPr>
        <p:spPr>
          <a:xfrm>
            <a:off x="9939528" y="4407408"/>
            <a:ext cx="1828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149840" y="4251960"/>
            <a:ext cx="1371600" cy="64008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Continuous</a:t>
            </a:r>
          </a:p>
          <a:p>
            <a:pPr algn="ctr"/>
            <a:r>
              <a:rPr sz="900" b="0">
                <a:solidFill>
                  <a:srgbClr val="FFFFFF"/>
                </a:solidFill>
                <a:latin typeface="Calibri"/>
              </a:rPr>
              <a:t>Feedback</a:t>
            </a:r>
          </a:p>
        </p:txBody>
      </p:sp>
      <p:sp>
        <p:nvSpPr>
          <p:cNvPr id="30" name="Rounded Rectangle 29"/>
          <p:cNvSpPr/>
          <p:nvPr/>
        </p:nvSpPr>
        <p:spPr>
          <a:xfrm>
            <a:off x="548640" y="5166360"/>
            <a:ext cx="11064240" cy="82296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300" b="1">
                <a:solidFill>
                  <a:srgbClr val="2D3436"/>
                </a:solidFill>
                <a:latin typeface="Calibri"/>
              </a:rPr>
              <a:t>Next Steps:   Complete homework exercises   |   Explore AI tools (Cursor, Copilot, Claude)   |   Apply spec-driven practices in your curriculum   |   Share learnings with colleagues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Prompt Engineering Templates</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41</a:t>
            </a:r>
          </a:p>
        </p:txBody>
      </p:sp>
      <p:sp>
        <p:nvSpPr>
          <p:cNvPr id="5" name="TextBox 4"/>
          <p:cNvSpPr txBox="1"/>
          <p:nvPr/>
        </p:nvSpPr>
        <p:spPr>
          <a:xfrm>
            <a:off x="457200" y="1051560"/>
            <a:ext cx="3657600" cy="274320"/>
          </a:xfrm>
          <a:prstGeom prst="rect">
            <a:avLst/>
          </a:prstGeom>
          <a:noFill/>
        </p:spPr>
        <p:txBody>
          <a:bodyPr wrap="square">
            <a:spAutoFit/>
          </a:bodyPr>
          <a:lstStyle/>
          <a:p>
            <a:pPr algn="l"/>
            <a:r>
              <a:rPr sz="1300" b="1">
                <a:solidFill>
                  <a:srgbClr val="4472C4"/>
                </a:solidFill>
                <a:latin typeface="Calibri"/>
              </a:rPr>
              <a:t>1. Requirements Gathering Prompt</a:t>
            </a:r>
          </a:p>
        </p:txBody>
      </p:sp>
      <p:sp>
        <p:nvSpPr>
          <p:cNvPr id="6" name="Rectangle 5"/>
          <p:cNvSpPr/>
          <p:nvPr/>
        </p:nvSpPr>
        <p:spPr>
          <a:xfrm>
            <a:off x="457200" y="1371600"/>
            <a:ext cx="5394960" cy="146304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900">
                <a:solidFill>
                  <a:srgbClr val="2D3436"/>
                </a:solidFill>
                <a:latin typeface="Consolas"/>
              </a:rPr>
              <a:t>You are a requirements analyst.</a:t>
            </a:r>
          </a:p>
          <a:p>
            <a:pPr>
              <a:spcAft>
                <a:spcPts val="100"/>
              </a:spcAft>
            </a:pPr>
            <a:r>
              <a:rPr sz="900">
                <a:solidFill>
                  <a:srgbClr val="2D3436"/>
                </a:solidFill>
                <a:latin typeface="Consolas"/>
              </a:rPr>
              <a:t>Given this feature request:</a:t>
            </a:r>
          </a:p>
          <a:p>
            <a:pPr>
              <a:spcAft>
                <a:spcPts val="100"/>
              </a:spcAft>
            </a:pPr>
            <a:r>
              <a:rPr sz="900">
                <a:solidFill>
                  <a:srgbClr val="2D3436"/>
                </a:solidFill>
                <a:latin typeface="Consolas"/>
              </a:rPr>
              <a:t>  "{feature_description}"</a:t>
            </a:r>
          </a:p>
          <a:p>
            <a:pPr>
              <a:spcAft>
                <a:spcPts val="100"/>
              </a:spcAft>
            </a:pPr>
            <a:r>
              <a:rPr sz="900">
                <a:solidFill>
                  <a:srgbClr val="2D3436"/>
                </a:solidFill>
                <a:latin typeface="Consolas"/>
              </a:rPr>
              <a:t/>
            </a:r>
          </a:p>
          <a:p>
            <a:pPr>
              <a:spcAft>
                <a:spcPts val="100"/>
              </a:spcAft>
            </a:pPr>
            <a:r>
              <a:rPr sz="900">
                <a:solidFill>
                  <a:srgbClr val="2D3436"/>
                </a:solidFill>
                <a:latin typeface="Consolas"/>
              </a:rPr>
              <a:t>Produce:</a:t>
            </a:r>
          </a:p>
          <a:p>
            <a:pPr>
              <a:spcAft>
                <a:spcPts val="100"/>
              </a:spcAft>
            </a:pPr>
            <a:r>
              <a:rPr sz="900">
                <a:solidFill>
                  <a:srgbClr val="2D3436"/>
                </a:solidFill>
                <a:latin typeface="Consolas"/>
              </a:rPr>
              <a:t>1. Functional requirements (numbered)</a:t>
            </a:r>
          </a:p>
          <a:p>
            <a:pPr>
              <a:spcAft>
                <a:spcPts val="100"/>
              </a:spcAft>
            </a:pPr>
            <a:r>
              <a:rPr sz="900">
                <a:solidFill>
                  <a:srgbClr val="2D3436"/>
                </a:solidFill>
                <a:latin typeface="Consolas"/>
              </a:rPr>
              <a:t>2. Non-functional requirements</a:t>
            </a:r>
          </a:p>
          <a:p>
            <a:pPr>
              <a:spcAft>
                <a:spcPts val="100"/>
              </a:spcAft>
            </a:pPr>
            <a:r>
              <a:rPr sz="900">
                <a:solidFill>
                  <a:srgbClr val="2D3436"/>
                </a:solidFill>
                <a:latin typeface="Consolas"/>
              </a:rPr>
              <a:t>3. Acceptance criteria (Given/When/Then)</a:t>
            </a:r>
          </a:p>
          <a:p>
            <a:pPr>
              <a:spcAft>
                <a:spcPts val="100"/>
              </a:spcAft>
            </a:pPr>
            <a:r>
              <a:rPr sz="900">
                <a:solidFill>
                  <a:srgbClr val="2D3436"/>
                </a:solidFill>
                <a:latin typeface="Consolas"/>
              </a:rPr>
              <a:t>4. Edge cases and error scenarios</a:t>
            </a:r>
          </a:p>
        </p:txBody>
      </p:sp>
      <p:sp>
        <p:nvSpPr>
          <p:cNvPr id="7" name="TextBox 6"/>
          <p:cNvSpPr txBox="1"/>
          <p:nvPr/>
        </p:nvSpPr>
        <p:spPr>
          <a:xfrm>
            <a:off x="457200" y="3017520"/>
            <a:ext cx="3657600" cy="274320"/>
          </a:xfrm>
          <a:prstGeom prst="rect">
            <a:avLst/>
          </a:prstGeom>
          <a:noFill/>
        </p:spPr>
        <p:txBody>
          <a:bodyPr wrap="square">
            <a:spAutoFit/>
          </a:bodyPr>
          <a:lstStyle/>
          <a:p>
            <a:pPr algn="l"/>
            <a:r>
              <a:rPr sz="1300" b="1">
                <a:solidFill>
                  <a:srgbClr val="70AD47"/>
                </a:solidFill>
                <a:latin typeface="Calibri"/>
              </a:rPr>
              <a:t>2. Code Generation Prompt</a:t>
            </a:r>
          </a:p>
        </p:txBody>
      </p:sp>
      <p:sp>
        <p:nvSpPr>
          <p:cNvPr id="8" name="Rectangle 7"/>
          <p:cNvSpPr/>
          <p:nvPr/>
        </p:nvSpPr>
        <p:spPr>
          <a:xfrm>
            <a:off x="457200" y="3291840"/>
            <a:ext cx="5394960" cy="146304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900">
                <a:solidFill>
                  <a:srgbClr val="2D3436"/>
                </a:solidFill>
                <a:latin typeface="Consolas"/>
              </a:rPr>
              <a:t>You are a senior backend developer.</a:t>
            </a:r>
          </a:p>
          <a:p>
            <a:pPr>
              <a:spcAft>
                <a:spcPts val="100"/>
              </a:spcAft>
            </a:pPr>
            <a:r>
              <a:rPr sz="900">
                <a:solidFill>
                  <a:srgbClr val="2D3436"/>
                </a:solidFill>
                <a:latin typeface="Consolas"/>
              </a:rPr>
              <a:t>Given this specification:</a:t>
            </a:r>
          </a:p>
          <a:p>
            <a:pPr>
              <a:spcAft>
                <a:spcPts val="100"/>
              </a:spcAft>
            </a:pPr>
            <a:r>
              <a:rPr sz="900">
                <a:solidFill>
                  <a:srgbClr val="2D3436"/>
                </a:solidFill>
                <a:latin typeface="Consolas"/>
              </a:rPr>
              <a:t>  {specification}</a:t>
            </a:r>
          </a:p>
          <a:p>
            <a:pPr>
              <a:spcAft>
                <a:spcPts val="100"/>
              </a:spcAft>
            </a:pPr>
            <a:r>
              <a:rPr sz="900">
                <a:solidFill>
                  <a:srgbClr val="2D3436"/>
                </a:solidFill>
                <a:latin typeface="Consolas"/>
              </a:rPr>
              <a:t/>
            </a:r>
          </a:p>
          <a:p>
            <a:pPr>
              <a:spcAft>
                <a:spcPts val="100"/>
              </a:spcAft>
            </a:pPr>
            <a:r>
              <a:rPr sz="900">
                <a:solidFill>
                  <a:srgbClr val="2D3436"/>
                </a:solidFill>
                <a:latin typeface="Consolas"/>
              </a:rPr>
              <a:t>Generate a RESTful API implementation:</a:t>
            </a:r>
          </a:p>
          <a:p>
            <a:pPr>
              <a:spcAft>
                <a:spcPts val="100"/>
              </a:spcAft>
            </a:pPr>
            <a:r>
              <a:rPr sz="900">
                <a:solidFill>
                  <a:srgbClr val="2D3436"/>
                </a:solidFill>
                <a:latin typeface="Consolas"/>
              </a:rPr>
              <a:t>- Language: Python / FastAPI</a:t>
            </a:r>
          </a:p>
          <a:p>
            <a:pPr>
              <a:spcAft>
                <a:spcPts val="100"/>
              </a:spcAft>
            </a:pPr>
            <a:r>
              <a:rPr sz="900">
                <a:solidFill>
                  <a:srgbClr val="2D3436"/>
                </a:solidFill>
                <a:latin typeface="Consolas"/>
              </a:rPr>
              <a:t>- Follow clean architecture patterns</a:t>
            </a:r>
          </a:p>
          <a:p>
            <a:pPr>
              <a:spcAft>
                <a:spcPts val="100"/>
              </a:spcAft>
            </a:pPr>
            <a:r>
              <a:rPr sz="900">
                <a:solidFill>
                  <a:srgbClr val="2D3436"/>
                </a:solidFill>
                <a:latin typeface="Consolas"/>
              </a:rPr>
              <a:t>- Include input validation &amp; error handling</a:t>
            </a:r>
          </a:p>
          <a:p>
            <a:pPr>
              <a:spcAft>
                <a:spcPts val="100"/>
              </a:spcAft>
            </a:pPr>
            <a:r>
              <a:rPr sz="900">
                <a:solidFill>
                  <a:srgbClr val="2D3436"/>
                </a:solidFill>
                <a:latin typeface="Consolas"/>
              </a:rPr>
              <a:t>- Add docstrings and type hints</a:t>
            </a:r>
          </a:p>
        </p:txBody>
      </p:sp>
      <p:sp>
        <p:nvSpPr>
          <p:cNvPr id="9" name="TextBox 8"/>
          <p:cNvSpPr txBox="1"/>
          <p:nvPr/>
        </p:nvSpPr>
        <p:spPr>
          <a:xfrm>
            <a:off x="457200" y="4937760"/>
            <a:ext cx="3657600" cy="274320"/>
          </a:xfrm>
          <a:prstGeom prst="rect">
            <a:avLst/>
          </a:prstGeom>
          <a:noFill/>
        </p:spPr>
        <p:txBody>
          <a:bodyPr wrap="square">
            <a:spAutoFit/>
          </a:bodyPr>
          <a:lstStyle/>
          <a:p>
            <a:pPr algn="l"/>
            <a:r>
              <a:rPr sz="1300" b="1">
                <a:solidFill>
                  <a:srgbClr val="9B59B6"/>
                </a:solidFill>
                <a:latin typeface="Calibri"/>
              </a:rPr>
              <a:t>3. Test Generation Prompt</a:t>
            </a:r>
          </a:p>
        </p:txBody>
      </p:sp>
      <p:sp>
        <p:nvSpPr>
          <p:cNvPr id="10" name="Rectangle 9"/>
          <p:cNvSpPr/>
          <p:nvPr/>
        </p:nvSpPr>
        <p:spPr>
          <a:xfrm>
            <a:off x="457200" y="5212080"/>
            <a:ext cx="5394960" cy="91440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900">
                <a:solidFill>
                  <a:srgbClr val="2D3436"/>
                </a:solidFill>
                <a:latin typeface="Consolas"/>
              </a:rPr>
              <a:t>Given this code: {code}</a:t>
            </a:r>
          </a:p>
          <a:p>
            <a:pPr>
              <a:spcAft>
                <a:spcPts val="100"/>
              </a:spcAft>
            </a:pPr>
            <a:r>
              <a:rPr sz="900">
                <a:solidFill>
                  <a:srgbClr val="2D3436"/>
                </a:solidFill>
                <a:latin typeface="Consolas"/>
              </a:rPr>
              <a:t>And acceptance criteria: {criteria}</a:t>
            </a:r>
          </a:p>
          <a:p>
            <a:pPr>
              <a:spcAft>
                <a:spcPts val="100"/>
              </a:spcAft>
            </a:pPr>
            <a:r>
              <a:rPr sz="900">
                <a:solidFill>
                  <a:srgbClr val="2D3436"/>
                </a:solidFill>
                <a:latin typeface="Consolas"/>
              </a:rPr>
              <a:t>Generate: unit tests (pytest), edge case</a:t>
            </a:r>
          </a:p>
          <a:p>
            <a:pPr>
              <a:spcAft>
                <a:spcPts val="100"/>
              </a:spcAft>
            </a:pPr>
            <a:r>
              <a:rPr sz="900">
                <a:solidFill>
                  <a:srgbClr val="2D3436"/>
                </a:solidFill>
                <a:latin typeface="Consolas"/>
              </a:rPr>
              <a:t>tests, and integration tests with mocks.</a:t>
            </a:r>
          </a:p>
        </p:txBody>
      </p:sp>
      <p:sp>
        <p:nvSpPr>
          <p:cNvPr id="11" name="TextBox 10"/>
          <p:cNvSpPr txBox="1"/>
          <p:nvPr/>
        </p:nvSpPr>
        <p:spPr>
          <a:xfrm>
            <a:off x="6217920" y="1051560"/>
            <a:ext cx="5303520" cy="274320"/>
          </a:xfrm>
          <a:prstGeom prst="rect">
            <a:avLst/>
          </a:prstGeom>
          <a:noFill/>
        </p:spPr>
        <p:txBody>
          <a:bodyPr wrap="square">
            <a:spAutoFit/>
          </a:bodyPr>
          <a:lstStyle/>
          <a:p>
            <a:pPr algn="l"/>
            <a:r>
              <a:rPr sz="1600" b="1">
                <a:solidFill>
                  <a:srgbClr val="ED7D31"/>
                </a:solidFill>
                <a:latin typeface="Calibri"/>
              </a:rPr>
              <a:t>Prompt Engineering Tips</a:t>
            </a:r>
          </a:p>
        </p:txBody>
      </p:sp>
      <p:sp>
        <p:nvSpPr>
          <p:cNvPr id="12" name="TextBox 11"/>
          <p:cNvSpPr txBox="1"/>
          <p:nvPr/>
        </p:nvSpPr>
        <p:spPr>
          <a:xfrm>
            <a:off x="6217920" y="1463040"/>
            <a:ext cx="5303520" cy="4572000"/>
          </a:xfrm>
          <a:prstGeom prst="rect">
            <a:avLst/>
          </a:prstGeom>
          <a:noFill/>
        </p:spPr>
        <p:txBody>
          <a:bodyPr wrap="square">
            <a:spAutoFit/>
          </a:bodyPr>
          <a:lstStyle/>
          <a:p>
            <a:pPr>
              <a:lnSpc>
                <a:spcPct val="130000"/>
              </a:lnSpc>
              <a:spcAft>
                <a:spcPts val="800"/>
              </a:spcAft>
            </a:pPr>
            <a:r>
              <a:rPr sz="1200">
                <a:solidFill>
                  <a:srgbClr val="2D3436"/>
                </a:solidFill>
                <a:latin typeface="Calibri"/>
              </a:rPr>
              <a:t>• Always assign a ROLE to the AI (analyst, developer, tester)</a:t>
            </a:r>
          </a:p>
          <a:p>
            <a:pPr>
              <a:lnSpc>
                <a:spcPct val="130000"/>
              </a:lnSpc>
              <a:spcAft>
                <a:spcPts val="800"/>
              </a:spcAft>
            </a:pPr>
            <a:r>
              <a:rPr sz="1200">
                <a:solidFill>
                  <a:srgbClr val="2D3436"/>
                </a:solidFill>
                <a:latin typeface="Calibri"/>
              </a:rPr>
              <a:t>• Provide CONTEXT — specs, constraints, existing code</a:t>
            </a:r>
          </a:p>
          <a:p>
            <a:pPr>
              <a:lnSpc>
                <a:spcPct val="130000"/>
              </a:lnSpc>
              <a:spcAft>
                <a:spcPts val="800"/>
              </a:spcAft>
            </a:pPr>
            <a:r>
              <a:rPr sz="1200">
                <a:solidFill>
                  <a:srgbClr val="2D3436"/>
                </a:solidFill>
                <a:latin typeface="Calibri"/>
              </a:rPr>
              <a:t>• Be SPECIFIC about output format and requirements</a:t>
            </a:r>
          </a:p>
          <a:p>
            <a:pPr>
              <a:lnSpc>
                <a:spcPct val="130000"/>
              </a:lnSpc>
              <a:spcAft>
                <a:spcPts val="800"/>
              </a:spcAft>
            </a:pPr>
            <a:r>
              <a:rPr sz="1200">
                <a:solidFill>
                  <a:srgbClr val="2D3436"/>
                </a:solidFill>
                <a:latin typeface="Calibri"/>
              </a:rPr>
              <a:t>• Include EXAMPLES of desired output when possible</a:t>
            </a:r>
          </a:p>
          <a:p>
            <a:pPr>
              <a:lnSpc>
                <a:spcPct val="130000"/>
              </a:lnSpc>
              <a:spcAft>
                <a:spcPts val="800"/>
              </a:spcAft>
            </a:pPr>
            <a:r>
              <a:rPr sz="1200">
                <a:solidFill>
                  <a:srgbClr val="2D3436"/>
                </a:solidFill>
                <a:latin typeface="Calibri"/>
              </a:rPr>
              <a:t>• Iterate: refine prompts based on output quality</a:t>
            </a:r>
          </a:p>
          <a:p>
            <a:pPr>
              <a:lnSpc>
                <a:spcPct val="130000"/>
              </a:lnSpc>
              <a:spcAft>
                <a:spcPts val="800"/>
              </a:spcAft>
            </a:pPr>
            <a:r>
              <a:rPr sz="1200">
                <a:solidFill>
                  <a:srgbClr val="2D3436"/>
                </a:solidFill>
                <a:latin typeface="Calibri"/>
              </a:rPr>
              <a:t>• Use CHAIN-OF-THOUGHT for complex reasoning tasks</a:t>
            </a:r>
          </a:p>
          <a:p>
            <a:pPr>
              <a:lnSpc>
                <a:spcPct val="130000"/>
              </a:lnSpc>
              <a:spcAft>
                <a:spcPts val="800"/>
              </a:spcAft>
            </a:pPr>
            <a:r>
              <a:rPr sz="1200">
                <a:solidFill>
                  <a:srgbClr val="2D3436"/>
                </a:solidFill>
                <a:latin typeface="Calibri"/>
              </a:rPr>
              <a:t>• Break large tasks into smaller, focused prompts</a:t>
            </a:r>
          </a:p>
          <a:p>
            <a:pPr>
              <a:lnSpc>
                <a:spcPct val="130000"/>
              </a:lnSpc>
              <a:spcAft>
                <a:spcPts val="800"/>
              </a:spcAft>
            </a:pPr>
            <a:r>
              <a:rPr sz="1200">
                <a:solidFill>
                  <a:srgbClr val="2D3436"/>
                </a:solidFill>
                <a:latin typeface="Calibri"/>
              </a:rPr>
              <a:t>• Include constraints: language, framework, patterns</a:t>
            </a:r>
          </a:p>
          <a:p>
            <a:pPr>
              <a:lnSpc>
                <a:spcPct val="130000"/>
              </a:lnSpc>
              <a:spcAft>
                <a:spcPts val="800"/>
              </a:spcAft>
            </a:pPr>
            <a:r>
              <a:rPr sz="1200">
                <a:solidFill>
                  <a:srgbClr val="2D3436"/>
                </a:solidFill>
                <a:latin typeface="Calibri"/>
              </a:rPr>
              <a:t>• Ask AI to explain its reasoning and trade-offs</a:t>
            </a:r>
          </a:p>
          <a:p>
            <a:pPr>
              <a:lnSpc>
                <a:spcPct val="130000"/>
              </a:lnSpc>
              <a:spcAft>
                <a:spcPts val="800"/>
              </a:spcAft>
            </a:pPr>
            <a:r>
              <a:rPr sz="1200">
                <a:solidFill>
                  <a:srgbClr val="2D3436"/>
                </a:solidFill>
                <a:latin typeface="Calibri"/>
              </a:rPr>
              <a:t>• Save effective prompts as reusable templates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Kubernetes Deployment Architecture</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42</a:t>
            </a:r>
          </a:p>
        </p:txBody>
      </p:sp>
      <p:sp>
        <p:nvSpPr>
          <p:cNvPr id="5" name="TextBox 4"/>
          <p:cNvSpPr txBox="1"/>
          <p:nvPr/>
        </p:nvSpPr>
        <p:spPr>
          <a:xfrm>
            <a:off x="457200" y="1051560"/>
            <a:ext cx="5029200" cy="274320"/>
          </a:xfrm>
          <a:prstGeom prst="rect">
            <a:avLst/>
          </a:prstGeom>
          <a:noFill/>
        </p:spPr>
        <p:txBody>
          <a:bodyPr wrap="square">
            <a:spAutoFit/>
          </a:bodyPr>
          <a:lstStyle/>
          <a:p>
            <a:pPr algn="l"/>
            <a:r>
              <a:rPr sz="1400" b="1">
                <a:solidFill>
                  <a:srgbClr val="4472C4"/>
                </a:solidFill>
                <a:latin typeface="Calibri"/>
              </a:rPr>
              <a:t>Deployment YAML</a:t>
            </a:r>
          </a:p>
        </p:txBody>
      </p:sp>
      <p:sp>
        <p:nvSpPr>
          <p:cNvPr id="6" name="Rectangle 5"/>
          <p:cNvSpPr/>
          <p:nvPr/>
        </p:nvSpPr>
        <p:spPr>
          <a:xfrm>
            <a:off x="457200" y="1371600"/>
            <a:ext cx="5303520" cy="320040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900">
                <a:solidFill>
                  <a:srgbClr val="2D3436"/>
                </a:solidFill>
                <a:latin typeface="Consolas"/>
              </a:rPr>
              <a:t>apiVersion: apps/v1</a:t>
            </a:r>
          </a:p>
          <a:p>
            <a:pPr>
              <a:spcAft>
                <a:spcPts val="100"/>
              </a:spcAft>
            </a:pPr>
            <a:r>
              <a:rPr sz="900">
                <a:solidFill>
                  <a:srgbClr val="2D3436"/>
                </a:solidFill>
                <a:latin typeface="Consolas"/>
              </a:rPr>
              <a:t>kind: Deployment</a:t>
            </a:r>
          </a:p>
          <a:p>
            <a:pPr>
              <a:spcAft>
                <a:spcPts val="100"/>
              </a:spcAft>
            </a:pPr>
            <a:r>
              <a:rPr sz="900">
                <a:solidFill>
                  <a:srgbClr val="2D3436"/>
                </a:solidFill>
                <a:latin typeface="Consolas"/>
              </a:rPr>
              <a:t>metadata:</a:t>
            </a:r>
          </a:p>
          <a:p>
            <a:pPr>
              <a:spcAft>
                <a:spcPts val="100"/>
              </a:spcAft>
            </a:pPr>
            <a:r>
              <a:rPr sz="900">
                <a:solidFill>
                  <a:srgbClr val="2D3436"/>
                </a:solidFill>
                <a:latin typeface="Consolas"/>
              </a:rPr>
              <a:t>  name: task-api</a:t>
            </a:r>
          </a:p>
          <a:p>
            <a:pPr>
              <a:spcAft>
                <a:spcPts val="100"/>
              </a:spcAft>
            </a:pPr>
            <a:r>
              <a:rPr sz="900">
                <a:solidFill>
                  <a:srgbClr val="2D3436"/>
                </a:solidFill>
                <a:latin typeface="Consolas"/>
              </a:rPr>
              <a:t>spec:</a:t>
            </a:r>
          </a:p>
          <a:p>
            <a:pPr>
              <a:spcAft>
                <a:spcPts val="100"/>
              </a:spcAft>
            </a:pPr>
            <a:r>
              <a:rPr sz="900">
                <a:solidFill>
                  <a:srgbClr val="2D3436"/>
                </a:solidFill>
                <a:latin typeface="Consolas"/>
              </a:rPr>
              <a:t>  replicas: 3</a:t>
            </a:r>
          </a:p>
          <a:p>
            <a:pPr>
              <a:spcAft>
                <a:spcPts val="100"/>
              </a:spcAft>
            </a:pPr>
            <a:r>
              <a:rPr sz="900">
                <a:solidFill>
                  <a:srgbClr val="2D3436"/>
                </a:solidFill>
                <a:latin typeface="Consolas"/>
              </a:rPr>
              <a:t>  selector:</a:t>
            </a:r>
          </a:p>
          <a:p>
            <a:pPr>
              <a:spcAft>
                <a:spcPts val="100"/>
              </a:spcAft>
            </a:pPr>
            <a:r>
              <a:rPr sz="900">
                <a:solidFill>
                  <a:srgbClr val="2D3436"/>
                </a:solidFill>
                <a:latin typeface="Consolas"/>
              </a:rPr>
              <a:t>    matchLabels:</a:t>
            </a:r>
          </a:p>
          <a:p>
            <a:pPr>
              <a:spcAft>
                <a:spcPts val="100"/>
              </a:spcAft>
            </a:pPr>
            <a:r>
              <a:rPr sz="900">
                <a:solidFill>
                  <a:srgbClr val="2D3436"/>
                </a:solidFill>
                <a:latin typeface="Consolas"/>
              </a:rPr>
              <a:t>      app: task-api</a:t>
            </a:r>
          </a:p>
          <a:p>
            <a:pPr>
              <a:spcAft>
                <a:spcPts val="100"/>
              </a:spcAft>
            </a:pPr>
            <a:r>
              <a:rPr sz="900">
                <a:solidFill>
                  <a:srgbClr val="2D3436"/>
                </a:solidFill>
                <a:latin typeface="Consolas"/>
              </a:rPr>
              <a:t>  template:</a:t>
            </a:r>
          </a:p>
          <a:p>
            <a:pPr>
              <a:spcAft>
                <a:spcPts val="100"/>
              </a:spcAft>
            </a:pPr>
            <a:r>
              <a:rPr sz="900">
                <a:solidFill>
                  <a:srgbClr val="2D3436"/>
                </a:solidFill>
                <a:latin typeface="Consolas"/>
              </a:rPr>
              <a:t>    spec:</a:t>
            </a:r>
          </a:p>
          <a:p>
            <a:pPr>
              <a:spcAft>
                <a:spcPts val="100"/>
              </a:spcAft>
            </a:pPr>
            <a:r>
              <a:rPr sz="900">
                <a:solidFill>
                  <a:srgbClr val="2D3436"/>
                </a:solidFill>
                <a:latin typeface="Consolas"/>
              </a:rPr>
              <a:t>      containers:</a:t>
            </a:r>
          </a:p>
          <a:p>
            <a:pPr>
              <a:spcAft>
                <a:spcPts val="100"/>
              </a:spcAft>
            </a:pPr>
            <a:r>
              <a:rPr sz="900">
                <a:solidFill>
                  <a:srgbClr val="2D3436"/>
                </a:solidFill>
                <a:latin typeface="Consolas"/>
              </a:rPr>
              <a:t>      - name: task-api</a:t>
            </a:r>
          </a:p>
          <a:p>
            <a:pPr>
              <a:spcAft>
                <a:spcPts val="100"/>
              </a:spcAft>
            </a:pPr>
            <a:r>
              <a:rPr sz="900">
                <a:solidFill>
                  <a:srgbClr val="2D3436"/>
                </a:solidFill>
                <a:latin typeface="Consolas"/>
              </a:rPr>
              <a:t>        image: task-api:latest</a:t>
            </a:r>
          </a:p>
          <a:p>
            <a:pPr>
              <a:spcAft>
                <a:spcPts val="100"/>
              </a:spcAft>
            </a:pPr>
            <a:r>
              <a:rPr sz="900">
                <a:solidFill>
                  <a:srgbClr val="2D3436"/>
                </a:solidFill>
                <a:latin typeface="Consolas"/>
              </a:rPr>
              <a:t>        ports:</a:t>
            </a:r>
          </a:p>
          <a:p>
            <a:pPr>
              <a:spcAft>
                <a:spcPts val="100"/>
              </a:spcAft>
            </a:pPr>
            <a:r>
              <a:rPr sz="900">
                <a:solidFill>
                  <a:srgbClr val="2D3436"/>
                </a:solidFill>
                <a:latin typeface="Consolas"/>
              </a:rPr>
              <a:t>        - containerPort: 8000</a:t>
            </a:r>
          </a:p>
          <a:p>
            <a:pPr>
              <a:spcAft>
                <a:spcPts val="100"/>
              </a:spcAft>
            </a:pPr>
            <a:r>
              <a:rPr sz="900">
                <a:solidFill>
                  <a:srgbClr val="2D3436"/>
                </a:solidFill>
                <a:latin typeface="Consolas"/>
              </a:rPr>
              <a:t>        resources:</a:t>
            </a:r>
          </a:p>
          <a:p>
            <a:pPr>
              <a:spcAft>
                <a:spcPts val="100"/>
              </a:spcAft>
            </a:pPr>
            <a:r>
              <a:rPr sz="900">
                <a:solidFill>
                  <a:srgbClr val="2D3436"/>
                </a:solidFill>
                <a:latin typeface="Consolas"/>
              </a:rPr>
              <a:t>          limits:</a:t>
            </a:r>
          </a:p>
          <a:p>
            <a:pPr>
              <a:spcAft>
                <a:spcPts val="100"/>
              </a:spcAft>
            </a:pPr>
            <a:r>
              <a:rPr sz="900">
                <a:solidFill>
                  <a:srgbClr val="2D3436"/>
                </a:solidFill>
                <a:latin typeface="Consolas"/>
              </a:rPr>
              <a:t>            memory: "256Mi"</a:t>
            </a:r>
          </a:p>
          <a:p>
            <a:pPr>
              <a:spcAft>
                <a:spcPts val="100"/>
              </a:spcAft>
            </a:pPr>
            <a:r>
              <a:rPr sz="900">
                <a:solidFill>
                  <a:srgbClr val="2D3436"/>
                </a:solidFill>
                <a:latin typeface="Consolas"/>
              </a:rPr>
              <a:t>            cpu: "500m"</a:t>
            </a:r>
          </a:p>
        </p:txBody>
      </p:sp>
      <p:sp>
        <p:nvSpPr>
          <p:cNvPr id="7" name="TextBox 6"/>
          <p:cNvSpPr txBox="1"/>
          <p:nvPr/>
        </p:nvSpPr>
        <p:spPr>
          <a:xfrm>
            <a:off x="6217920" y="1051560"/>
            <a:ext cx="5029200" cy="274320"/>
          </a:xfrm>
          <a:prstGeom prst="rect">
            <a:avLst/>
          </a:prstGeom>
          <a:noFill/>
        </p:spPr>
        <p:txBody>
          <a:bodyPr wrap="square">
            <a:spAutoFit/>
          </a:bodyPr>
          <a:lstStyle/>
          <a:p>
            <a:pPr algn="l"/>
            <a:r>
              <a:rPr sz="1400" b="1">
                <a:solidFill>
                  <a:srgbClr val="4472C4"/>
                </a:solidFill>
                <a:latin typeface="Calibri"/>
              </a:rPr>
              <a:t>K8s Architecture</a:t>
            </a:r>
          </a:p>
        </p:txBody>
      </p:sp>
      <p:sp>
        <p:nvSpPr>
          <p:cNvPr id="8" name="Rounded Rectangle 7"/>
          <p:cNvSpPr/>
          <p:nvPr/>
        </p:nvSpPr>
        <p:spPr>
          <a:xfrm>
            <a:off x="6858000" y="1554480"/>
            <a:ext cx="1828800" cy="59436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Ingress</a:t>
            </a:r>
          </a:p>
          <a:p>
            <a:pPr algn="ctr"/>
            <a:r>
              <a:rPr sz="900" b="0">
                <a:solidFill>
                  <a:srgbClr val="FFFFFF"/>
                </a:solidFill>
                <a:latin typeface="Calibri"/>
              </a:rPr>
              <a:t>Controller</a:t>
            </a:r>
          </a:p>
        </p:txBody>
      </p:sp>
      <p:sp>
        <p:nvSpPr>
          <p:cNvPr id="9" name="Rounded Rectangle 8"/>
          <p:cNvSpPr/>
          <p:nvPr/>
        </p:nvSpPr>
        <p:spPr>
          <a:xfrm>
            <a:off x="6858000" y="2468880"/>
            <a:ext cx="1828800" cy="59436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Service</a:t>
            </a:r>
          </a:p>
          <a:p>
            <a:pPr algn="ctr"/>
            <a:r>
              <a:rPr sz="900" b="0">
                <a:solidFill>
                  <a:srgbClr val="FFFFFF"/>
                </a:solidFill>
                <a:latin typeface="Calibri"/>
              </a:rPr>
              <a:t>(Load Balancer)</a:t>
            </a:r>
          </a:p>
        </p:txBody>
      </p:sp>
      <p:sp>
        <p:nvSpPr>
          <p:cNvPr id="10" name="Rounded Rectangle 9"/>
          <p:cNvSpPr/>
          <p:nvPr/>
        </p:nvSpPr>
        <p:spPr>
          <a:xfrm>
            <a:off x="6217920" y="3383280"/>
            <a:ext cx="1280160" cy="5486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Pod 1</a:t>
            </a:r>
          </a:p>
          <a:p>
            <a:pPr algn="ctr"/>
            <a:r>
              <a:rPr sz="900" b="0">
                <a:solidFill>
                  <a:srgbClr val="FFFFFF"/>
                </a:solidFill>
                <a:latin typeface="Calibri"/>
              </a:rPr>
              <a:t>task-api</a:t>
            </a:r>
          </a:p>
        </p:txBody>
      </p:sp>
      <p:sp>
        <p:nvSpPr>
          <p:cNvPr id="11" name="Rounded Rectangle 10"/>
          <p:cNvSpPr/>
          <p:nvPr/>
        </p:nvSpPr>
        <p:spPr>
          <a:xfrm>
            <a:off x="7680960" y="3383280"/>
            <a:ext cx="1280160" cy="5486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Pod 2</a:t>
            </a:r>
          </a:p>
          <a:p>
            <a:pPr algn="ctr"/>
            <a:r>
              <a:rPr sz="900" b="0">
                <a:solidFill>
                  <a:srgbClr val="FFFFFF"/>
                </a:solidFill>
                <a:latin typeface="Calibri"/>
              </a:rPr>
              <a:t>task-api</a:t>
            </a:r>
          </a:p>
        </p:txBody>
      </p:sp>
      <p:sp>
        <p:nvSpPr>
          <p:cNvPr id="12" name="Rounded Rectangle 11"/>
          <p:cNvSpPr/>
          <p:nvPr/>
        </p:nvSpPr>
        <p:spPr>
          <a:xfrm>
            <a:off x="9144000" y="3383280"/>
            <a:ext cx="1280160" cy="5486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Pod 3</a:t>
            </a:r>
          </a:p>
          <a:p>
            <a:pPr algn="ctr"/>
            <a:r>
              <a:rPr sz="900" b="0">
                <a:solidFill>
                  <a:srgbClr val="FFFFFF"/>
                </a:solidFill>
                <a:latin typeface="Calibri"/>
              </a:rPr>
              <a:t>task-api</a:t>
            </a:r>
          </a:p>
        </p:txBody>
      </p:sp>
      <p:sp>
        <p:nvSpPr>
          <p:cNvPr id="13" name="Rounded Rectangle 12"/>
          <p:cNvSpPr/>
          <p:nvPr/>
        </p:nvSpPr>
        <p:spPr>
          <a:xfrm>
            <a:off x="6858000" y="4297680"/>
            <a:ext cx="2560320" cy="59436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900" b="1">
                <a:solidFill>
                  <a:srgbClr val="FFFFFF"/>
                </a:solidFill>
                <a:latin typeface="Calibri"/>
              </a:rPr>
              <a:t>PersistentVolume</a:t>
            </a:r>
          </a:p>
          <a:p>
            <a:pPr algn="ctr"/>
            <a:r>
              <a:rPr sz="900" b="0">
                <a:solidFill>
                  <a:srgbClr val="FFFFFF"/>
                </a:solidFill>
                <a:latin typeface="Calibri"/>
              </a:rPr>
              <a:t>(Database)</a:t>
            </a:r>
          </a:p>
        </p:txBody>
      </p:sp>
      <p:sp>
        <p:nvSpPr>
          <p:cNvPr id="14" name="Down Arrow 13"/>
          <p:cNvSpPr/>
          <p:nvPr/>
        </p:nvSpPr>
        <p:spPr>
          <a:xfrm>
            <a:off x="7635240" y="2194560"/>
            <a:ext cx="274320" cy="228600"/>
          </a:xfrm>
          <a:prstGeom prst="down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own Arrow 14"/>
          <p:cNvSpPr/>
          <p:nvPr/>
        </p:nvSpPr>
        <p:spPr>
          <a:xfrm>
            <a:off x="7635240" y="3108960"/>
            <a:ext cx="274320" cy="228600"/>
          </a:xfrm>
          <a:prstGeom prst="down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846320"/>
            <a:ext cx="11247120" cy="1188720"/>
          </a:xfrm>
          <a:prstGeom prst="rect">
            <a:avLst/>
          </a:prstGeom>
          <a:noFill/>
        </p:spPr>
        <p:txBody>
          <a:bodyPr wrap="square">
            <a:spAutoFit/>
          </a:bodyPr>
          <a:lstStyle/>
          <a:p>
            <a:pPr>
              <a:lnSpc>
                <a:spcPct val="130000"/>
              </a:lnSpc>
              <a:spcAft>
                <a:spcPts val="800"/>
              </a:spcAft>
            </a:pPr>
            <a:r>
              <a:rPr sz="1200">
                <a:solidFill>
                  <a:srgbClr val="2D3436"/>
                </a:solidFill>
                <a:latin typeface="Calibri"/>
              </a:rPr>
              <a:t>• Pods: smallest deployable unit — one or more containers sharing network</a:t>
            </a:r>
          </a:p>
          <a:p>
            <a:pPr>
              <a:lnSpc>
                <a:spcPct val="130000"/>
              </a:lnSpc>
              <a:spcAft>
                <a:spcPts val="800"/>
              </a:spcAft>
            </a:pPr>
            <a:r>
              <a:rPr sz="1200">
                <a:solidFill>
                  <a:srgbClr val="2D3436"/>
                </a:solidFill>
                <a:latin typeface="Calibri"/>
              </a:rPr>
              <a:t>• Services: stable network endpoint — load-balances across pods</a:t>
            </a:r>
          </a:p>
          <a:p>
            <a:pPr>
              <a:lnSpc>
                <a:spcPct val="130000"/>
              </a:lnSpc>
              <a:spcAft>
                <a:spcPts val="800"/>
              </a:spcAft>
            </a:pPr>
            <a:r>
              <a:rPr sz="1200">
                <a:solidFill>
                  <a:srgbClr val="2D3436"/>
                </a:solidFill>
                <a:latin typeface="Calibri"/>
              </a:rPr>
              <a:t>• Deployments: declarative updates — rolling upgrades with zero downtime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Observability with OpenTelemetry</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43</a:t>
            </a:r>
          </a:p>
        </p:txBody>
      </p:sp>
      <p:sp>
        <p:nvSpPr>
          <p:cNvPr id="5" name="TextBox 4"/>
          <p:cNvSpPr txBox="1"/>
          <p:nvPr/>
        </p:nvSpPr>
        <p:spPr>
          <a:xfrm>
            <a:off x="457200" y="1051560"/>
            <a:ext cx="7315200" cy="274320"/>
          </a:xfrm>
          <a:prstGeom prst="rect">
            <a:avLst/>
          </a:prstGeom>
          <a:noFill/>
        </p:spPr>
        <p:txBody>
          <a:bodyPr wrap="square">
            <a:spAutoFit/>
          </a:bodyPr>
          <a:lstStyle/>
          <a:p>
            <a:pPr algn="l"/>
            <a:r>
              <a:rPr sz="1600" b="1">
                <a:solidFill>
                  <a:srgbClr val="008B8B"/>
                </a:solidFill>
                <a:latin typeface="Calibri"/>
              </a:rPr>
              <a:t>Observability Architecture</a:t>
            </a:r>
          </a:p>
        </p:txBody>
      </p:sp>
      <p:sp>
        <p:nvSpPr>
          <p:cNvPr id="6" name="Rounded Rectangle 5"/>
          <p:cNvSpPr/>
          <p:nvPr/>
        </p:nvSpPr>
        <p:spPr>
          <a:xfrm>
            <a:off x="548640" y="1645920"/>
            <a:ext cx="1828800" cy="731520"/>
          </a:xfrm>
          <a:prstGeom prst="round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Application</a:t>
            </a:r>
          </a:p>
          <a:p>
            <a:pPr algn="ctr"/>
            <a:r>
              <a:rPr sz="1000" b="0">
                <a:solidFill>
                  <a:srgbClr val="FFFFFF"/>
                </a:solidFill>
                <a:latin typeface="Calibri"/>
              </a:rPr>
              <a:t>(Instrumented)</a:t>
            </a:r>
          </a:p>
        </p:txBody>
      </p:sp>
      <p:sp>
        <p:nvSpPr>
          <p:cNvPr id="7" name="Rounded Rectangle 6"/>
          <p:cNvSpPr/>
          <p:nvPr/>
        </p:nvSpPr>
        <p:spPr>
          <a:xfrm>
            <a:off x="3108960" y="1645920"/>
            <a:ext cx="1645920" cy="731520"/>
          </a:xfrm>
          <a:prstGeom prst="round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OTel</a:t>
            </a:r>
          </a:p>
          <a:p>
            <a:pPr algn="ctr"/>
            <a:r>
              <a:rPr sz="1000" b="0">
                <a:solidFill>
                  <a:srgbClr val="FFFFFF"/>
                </a:solidFill>
                <a:latin typeface="Calibri"/>
              </a:rPr>
              <a:t>Collector</a:t>
            </a:r>
          </a:p>
        </p:txBody>
      </p:sp>
      <p:sp>
        <p:nvSpPr>
          <p:cNvPr id="8" name="Rounded Rectangle 7"/>
          <p:cNvSpPr/>
          <p:nvPr/>
        </p:nvSpPr>
        <p:spPr>
          <a:xfrm>
            <a:off x="5394960" y="1417320"/>
            <a:ext cx="1645920" cy="548640"/>
          </a:xfrm>
          <a:prstGeom prst="round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Prometheus</a:t>
            </a:r>
          </a:p>
          <a:p>
            <a:pPr algn="ctr"/>
            <a:r>
              <a:rPr sz="1000" b="0">
                <a:solidFill>
                  <a:srgbClr val="FFFFFF"/>
                </a:solidFill>
                <a:latin typeface="Calibri"/>
              </a:rPr>
              <a:t>(Metrics)</a:t>
            </a:r>
          </a:p>
        </p:txBody>
      </p:sp>
      <p:sp>
        <p:nvSpPr>
          <p:cNvPr id="9" name="Rounded Rectangle 8"/>
          <p:cNvSpPr/>
          <p:nvPr/>
        </p:nvSpPr>
        <p:spPr>
          <a:xfrm>
            <a:off x="5394960" y="2057400"/>
            <a:ext cx="1645920" cy="54864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Jaeger</a:t>
            </a:r>
          </a:p>
          <a:p>
            <a:pPr algn="ctr"/>
            <a:r>
              <a:rPr sz="1000" b="0">
                <a:solidFill>
                  <a:srgbClr val="FFFFFF"/>
                </a:solidFill>
                <a:latin typeface="Calibri"/>
              </a:rPr>
              <a:t>(Traces)</a:t>
            </a:r>
          </a:p>
        </p:txBody>
      </p:sp>
      <p:sp>
        <p:nvSpPr>
          <p:cNvPr id="10" name="Rounded Rectangle 9"/>
          <p:cNvSpPr/>
          <p:nvPr/>
        </p:nvSpPr>
        <p:spPr>
          <a:xfrm>
            <a:off x="7680960" y="1645920"/>
            <a:ext cx="1828800" cy="731520"/>
          </a:xfrm>
          <a:prstGeom prst="round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FFFFFF"/>
                </a:solidFill>
                <a:latin typeface="Calibri"/>
              </a:rPr>
              <a:t>Grafana</a:t>
            </a:r>
          </a:p>
          <a:p>
            <a:pPr algn="ctr"/>
            <a:r>
              <a:rPr sz="1000" b="0">
                <a:solidFill>
                  <a:srgbClr val="FFFFFF"/>
                </a:solidFill>
                <a:latin typeface="Calibri"/>
              </a:rPr>
              <a:t>(Dashboards)</a:t>
            </a:r>
          </a:p>
        </p:txBody>
      </p:sp>
      <p:sp>
        <p:nvSpPr>
          <p:cNvPr id="11" name="Right Arrow 10"/>
          <p:cNvSpPr/>
          <p:nvPr/>
        </p:nvSpPr>
        <p:spPr>
          <a:xfrm>
            <a:off x="2423160" y="1828800"/>
            <a:ext cx="64008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800600" y="1828800"/>
            <a:ext cx="5486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7086600" y="1828800"/>
            <a:ext cx="548640" cy="274320"/>
          </a:xfrm>
          <a:prstGeom prst="rightArrow">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743200"/>
            <a:ext cx="10972800" cy="274320"/>
          </a:xfrm>
          <a:prstGeom prst="rect">
            <a:avLst/>
          </a:prstGeom>
          <a:noFill/>
        </p:spPr>
        <p:txBody>
          <a:bodyPr wrap="square">
            <a:spAutoFit/>
          </a:bodyPr>
          <a:lstStyle/>
          <a:p>
            <a:pPr algn="l"/>
            <a:r>
              <a:rPr sz="1600" b="1">
                <a:solidFill>
                  <a:srgbClr val="008B8B"/>
                </a:solidFill>
                <a:latin typeface="Calibri"/>
              </a:rPr>
              <a:t>Key Metrics to Track</a:t>
            </a:r>
          </a:p>
        </p:txBody>
      </p:sp>
      <p:graphicFrame>
        <p:nvGraphicFramePr>
          <p:cNvPr id="15" name="Table 14"/>
          <p:cNvGraphicFramePr>
            <a:graphicFrameLocks noGrp="1"/>
          </p:cNvGraphicFramePr>
          <p:nvPr/>
        </p:nvGraphicFramePr>
        <p:xfrm>
          <a:off x="457200" y="3108960"/>
          <a:ext cx="11247120" cy="2194560"/>
        </p:xfrm>
        <a:graphic>
          <a:graphicData uri="http://schemas.openxmlformats.org/drawingml/2006/table">
            <a:tbl>
              <a:tblPr firstRow="1" bandRow="1">
                <a:tableStyleId>{5C22544A-7EE6-4342-B048-85BDC9FD1C3A}</a:tableStyleId>
              </a:tblPr>
              <a:tblGrid>
                <a:gridCol w="3749040"/>
                <a:gridCol w="3749040"/>
                <a:gridCol w="3749040"/>
              </a:tblGrid>
              <a:tr h="438912">
                <a:tc>
                  <a:txBody>
                    <a:bodyPr/>
                    <a:lstStyle/>
                    <a:p>
                      <a:r>
                        <a:rPr sz="1200" b="1">
                          <a:solidFill>
                            <a:srgbClr val="FFFFFF"/>
                          </a:solidFill>
                          <a:latin typeface="Calibri"/>
                        </a:rPr>
                        <a:t>Metric Category</a:t>
                      </a:r>
                    </a:p>
                  </a:txBody>
                  <a:tcPr>
                    <a:solidFill>
                      <a:srgbClr val="2F75B5"/>
                    </a:solidFill>
                  </a:tcPr>
                </a:tc>
                <a:tc>
                  <a:txBody>
                    <a:bodyPr/>
                    <a:lstStyle/>
                    <a:p>
                      <a:r>
                        <a:rPr sz="1200" b="1">
                          <a:solidFill>
                            <a:srgbClr val="FFFFFF"/>
                          </a:solidFill>
                          <a:latin typeface="Calibri"/>
                        </a:rPr>
                        <a:t>Examples</a:t>
                      </a:r>
                    </a:p>
                  </a:txBody>
                  <a:tcPr>
                    <a:solidFill>
                      <a:srgbClr val="2F75B5"/>
                    </a:solidFill>
                  </a:tcPr>
                </a:tc>
                <a:tc>
                  <a:txBody>
                    <a:bodyPr/>
                    <a:lstStyle/>
                    <a:p>
                      <a:r>
                        <a:rPr sz="1200" b="1">
                          <a:solidFill>
                            <a:srgbClr val="FFFFFF"/>
                          </a:solidFill>
                          <a:latin typeface="Calibri"/>
                        </a:rPr>
                        <a:t>Why It Matters</a:t>
                      </a:r>
                    </a:p>
                  </a:txBody>
                  <a:tcPr>
                    <a:solidFill>
                      <a:srgbClr val="2F75B5"/>
                    </a:solidFill>
                  </a:tcPr>
                </a:tc>
              </a:tr>
              <a:tr h="438912">
                <a:tc>
                  <a:txBody>
                    <a:bodyPr/>
                    <a:lstStyle/>
                    <a:p>
                      <a:r>
                        <a:rPr sz="1200">
                          <a:solidFill>
                            <a:srgbClr val="2D3436"/>
                          </a:solidFill>
                          <a:latin typeface="Calibri"/>
                        </a:rPr>
                        <a:t>Latency</a:t>
                      </a:r>
                    </a:p>
                  </a:txBody>
                  <a:tcPr>
                    <a:solidFill>
                      <a:srgbClr val="FFFFFF"/>
                    </a:solidFill>
                  </a:tcPr>
                </a:tc>
                <a:tc>
                  <a:txBody>
                    <a:bodyPr/>
                    <a:lstStyle/>
                    <a:p>
                      <a:r>
                        <a:rPr sz="1200">
                          <a:solidFill>
                            <a:srgbClr val="2D3436"/>
                          </a:solidFill>
                          <a:latin typeface="Calibri"/>
                        </a:rPr>
                        <a:t>P50, P95, P99 response times</a:t>
                      </a:r>
                    </a:p>
                  </a:txBody>
                  <a:tcPr>
                    <a:solidFill>
                      <a:srgbClr val="FFFFFF"/>
                    </a:solidFill>
                  </a:tcPr>
                </a:tc>
                <a:tc>
                  <a:txBody>
                    <a:bodyPr/>
                    <a:lstStyle/>
                    <a:p>
                      <a:r>
                        <a:rPr sz="1200">
                          <a:solidFill>
                            <a:srgbClr val="2D3436"/>
                          </a:solidFill>
                          <a:latin typeface="Calibri"/>
                        </a:rPr>
                        <a:t>User experience &amp; SLA compliance</a:t>
                      </a:r>
                    </a:p>
                  </a:txBody>
                  <a:tcPr>
                    <a:solidFill>
                      <a:srgbClr val="FFFFFF"/>
                    </a:solidFill>
                  </a:tcPr>
                </a:tc>
              </a:tr>
              <a:tr h="438912">
                <a:tc>
                  <a:txBody>
                    <a:bodyPr/>
                    <a:lstStyle/>
                    <a:p>
                      <a:r>
                        <a:rPr sz="1200">
                          <a:solidFill>
                            <a:srgbClr val="2D3436"/>
                          </a:solidFill>
                          <a:latin typeface="Calibri"/>
                        </a:rPr>
                        <a:t>Throughput</a:t>
                      </a:r>
                    </a:p>
                  </a:txBody>
                  <a:tcPr>
                    <a:solidFill>
                      <a:srgbClr val="DDEBF7"/>
                    </a:solidFill>
                  </a:tcPr>
                </a:tc>
                <a:tc>
                  <a:txBody>
                    <a:bodyPr/>
                    <a:lstStyle/>
                    <a:p>
                      <a:r>
                        <a:rPr sz="1200">
                          <a:solidFill>
                            <a:srgbClr val="2D3436"/>
                          </a:solidFill>
                          <a:latin typeface="Calibri"/>
                        </a:rPr>
                        <a:t>Requests/second, transactions/min</a:t>
                      </a:r>
                    </a:p>
                  </a:txBody>
                  <a:tcPr>
                    <a:solidFill>
                      <a:srgbClr val="DDEBF7"/>
                    </a:solidFill>
                  </a:tcPr>
                </a:tc>
                <a:tc>
                  <a:txBody>
                    <a:bodyPr/>
                    <a:lstStyle/>
                    <a:p>
                      <a:r>
                        <a:rPr sz="1200">
                          <a:solidFill>
                            <a:srgbClr val="2D3436"/>
                          </a:solidFill>
                          <a:latin typeface="Calibri"/>
                        </a:rPr>
                        <a:t>Capacity planning &amp; scaling</a:t>
                      </a:r>
                    </a:p>
                  </a:txBody>
                  <a:tcPr>
                    <a:solidFill>
                      <a:srgbClr val="DDEBF7"/>
                    </a:solidFill>
                  </a:tcPr>
                </a:tc>
              </a:tr>
              <a:tr h="438912">
                <a:tc>
                  <a:txBody>
                    <a:bodyPr/>
                    <a:lstStyle/>
                    <a:p>
                      <a:r>
                        <a:rPr sz="1200">
                          <a:solidFill>
                            <a:srgbClr val="2D3436"/>
                          </a:solidFill>
                          <a:latin typeface="Calibri"/>
                        </a:rPr>
                        <a:t>Error Rate</a:t>
                      </a:r>
                    </a:p>
                  </a:txBody>
                  <a:tcPr>
                    <a:solidFill>
                      <a:srgbClr val="FFFFFF"/>
                    </a:solidFill>
                  </a:tcPr>
                </a:tc>
                <a:tc>
                  <a:txBody>
                    <a:bodyPr/>
                    <a:lstStyle/>
                    <a:p>
                      <a:r>
                        <a:rPr sz="1200">
                          <a:solidFill>
                            <a:srgbClr val="2D3436"/>
                          </a:solidFill>
                          <a:latin typeface="Calibri"/>
                        </a:rPr>
                        <a:t>4xx/5xx rates, exception counts</a:t>
                      </a:r>
                    </a:p>
                  </a:txBody>
                  <a:tcPr>
                    <a:solidFill>
                      <a:srgbClr val="FFFFFF"/>
                    </a:solidFill>
                  </a:tcPr>
                </a:tc>
                <a:tc>
                  <a:txBody>
                    <a:bodyPr/>
                    <a:lstStyle/>
                    <a:p>
                      <a:r>
                        <a:rPr sz="1200">
                          <a:solidFill>
                            <a:srgbClr val="2D3436"/>
                          </a:solidFill>
                          <a:latin typeface="Calibri"/>
                        </a:rPr>
                        <a:t>System health &amp; reliability</a:t>
                      </a:r>
                    </a:p>
                  </a:txBody>
                  <a:tcPr>
                    <a:solidFill>
                      <a:srgbClr val="FFFFFF"/>
                    </a:solidFill>
                  </a:tcPr>
                </a:tc>
              </a:tr>
              <a:tr h="438912">
                <a:tc>
                  <a:txBody>
                    <a:bodyPr/>
                    <a:lstStyle/>
                    <a:p>
                      <a:r>
                        <a:rPr sz="1200">
                          <a:solidFill>
                            <a:srgbClr val="2D3436"/>
                          </a:solidFill>
                          <a:latin typeface="Calibri"/>
                        </a:rPr>
                        <a:t>Saturation</a:t>
                      </a:r>
                    </a:p>
                  </a:txBody>
                  <a:tcPr>
                    <a:solidFill>
                      <a:srgbClr val="DDEBF7"/>
                    </a:solidFill>
                  </a:tcPr>
                </a:tc>
                <a:tc>
                  <a:txBody>
                    <a:bodyPr/>
                    <a:lstStyle/>
                    <a:p>
                      <a:r>
                        <a:rPr sz="1200">
                          <a:solidFill>
                            <a:srgbClr val="2D3436"/>
                          </a:solidFill>
                          <a:latin typeface="Calibri"/>
                        </a:rPr>
                        <a:t>CPU, memory, disk, connection pools</a:t>
                      </a:r>
                    </a:p>
                  </a:txBody>
                  <a:tcPr>
                    <a:solidFill>
                      <a:srgbClr val="DDEBF7"/>
                    </a:solidFill>
                  </a:tcPr>
                </a:tc>
                <a:tc>
                  <a:txBody>
                    <a:bodyPr/>
                    <a:lstStyle/>
                    <a:p>
                      <a:r>
                        <a:rPr sz="1200">
                          <a:solidFill>
                            <a:srgbClr val="2D3436"/>
                          </a:solidFill>
                          <a:latin typeface="Calibri"/>
                        </a:rPr>
                        <a:t>Bottleneck identification</a:t>
                      </a:r>
                    </a:p>
                  </a:txBody>
                  <a:tcPr>
                    <a:solidFill>
                      <a:srgbClr val="DDEBF7"/>
                    </a:solidFill>
                  </a:tcPr>
                </a:tc>
              </a:tr>
            </a:tbl>
          </a:graphicData>
        </a:graphic>
      </p:graphicFrame>
      <p:sp>
        <p:nvSpPr>
          <p:cNvPr id="16" name="TextBox 15"/>
          <p:cNvSpPr txBox="1"/>
          <p:nvPr/>
        </p:nvSpPr>
        <p:spPr>
          <a:xfrm>
            <a:off x="457200" y="5440680"/>
            <a:ext cx="4572000" cy="274320"/>
          </a:xfrm>
          <a:prstGeom prst="rect">
            <a:avLst/>
          </a:prstGeom>
          <a:noFill/>
        </p:spPr>
        <p:txBody>
          <a:bodyPr wrap="square">
            <a:spAutoFit/>
          </a:bodyPr>
          <a:lstStyle/>
          <a:p>
            <a:pPr algn="l"/>
            <a:r>
              <a:rPr sz="1200" b="1">
                <a:solidFill>
                  <a:srgbClr val="008B8B"/>
                </a:solidFill>
                <a:latin typeface="Calibri"/>
              </a:rPr>
              <a:t>Quick OTel Setup (Python)</a:t>
            </a:r>
          </a:p>
        </p:txBody>
      </p:sp>
      <p:sp>
        <p:nvSpPr>
          <p:cNvPr id="17" name="Rectangle 16"/>
          <p:cNvSpPr/>
          <p:nvPr/>
        </p:nvSpPr>
        <p:spPr>
          <a:xfrm>
            <a:off x="457200" y="5669280"/>
            <a:ext cx="5303520" cy="50292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900">
                <a:solidFill>
                  <a:srgbClr val="2D3436"/>
                </a:solidFill>
                <a:latin typeface="Consolas"/>
              </a:rPr>
              <a:t>pip install opentelemetry-api opentelemetry-sdk</a:t>
            </a:r>
          </a:p>
          <a:p>
            <a:pPr>
              <a:spcAft>
                <a:spcPts val="100"/>
              </a:spcAft>
            </a:pPr>
            <a:r>
              <a:rPr sz="900">
                <a:solidFill>
                  <a:srgbClr val="2D3436"/>
                </a:solidFill>
                <a:latin typeface="Consolas"/>
              </a:rPr>
              <a:t>opentelemetry-instrument python app.py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Load Testing with k6</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44</a:t>
            </a:r>
          </a:p>
        </p:txBody>
      </p:sp>
      <p:sp>
        <p:nvSpPr>
          <p:cNvPr id="5" name="TextBox 4"/>
          <p:cNvSpPr txBox="1"/>
          <p:nvPr/>
        </p:nvSpPr>
        <p:spPr>
          <a:xfrm>
            <a:off x="457200" y="1051560"/>
            <a:ext cx="5486400" cy="274320"/>
          </a:xfrm>
          <a:prstGeom prst="rect">
            <a:avLst/>
          </a:prstGeom>
          <a:noFill/>
        </p:spPr>
        <p:txBody>
          <a:bodyPr wrap="square">
            <a:spAutoFit/>
          </a:bodyPr>
          <a:lstStyle/>
          <a:p>
            <a:pPr algn="l"/>
            <a:r>
              <a:rPr sz="1400" b="1">
                <a:solidFill>
                  <a:srgbClr val="008B8B"/>
                </a:solidFill>
                <a:latin typeface="Calibri"/>
              </a:rPr>
              <a:t>k6 Load Test Script</a:t>
            </a:r>
          </a:p>
        </p:txBody>
      </p:sp>
      <p:sp>
        <p:nvSpPr>
          <p:cNvPr id="6" name="Rectangle 5"/>
          <p:cNvSpPr/>
          <p:nvPr/>
        </p:nvSpPr>
        <p:spPr>
          <a:xfrm>
            <a:off x="457200" y="1371600"/>
            <a:ext cx="5486400" cy="365760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900">
                <a:solidFill>
                  <a:srgbClr val="2D3436"/>
                </a:solidFill>
                <a:latin typeface="Consolas"/>
              </a:rPr>
              <a:t>import http from "k6/http";</a:t>
            </a:r>
          </a:p>
          <a:p>
            <a:pPr>
              <a:spcAft>
                <a:spcPts val="100"/>
              </a:spcAft>
            </a:pPr>
            <a:r>
              <a:rPr sz="900">
                <a:solidFill>
                  <a:srgbClr val="2D3436"/>
                </a:solidFill>
                <a:latin typeface="Consolas"/>
              </a:rPr>
              <a:t>import { check, sleep } from "k6";</a:t>
            </a:r>
          </a:p>
          <a:p>
            <a:pPr>
              <a:spcAft>
                <a:spcPts val="100"/>
              </a:spcAft>
            </a:pPr>
            <a:r>
              <a:rPr sz="900">
                <a:solidFill>
                  <a:srgbClr val="2D3436"/>
                </a:solidFill>
                <a:latin typeface="Consolas"/>
              </a:rPr>
              <a:t/>
            </a:r>
          </a:p>
          <a:p>
            <a:pPr>
              <a:spcAft>
                <a:spcPts val="100"/>
              </a:spcAft>
            </a:pPr>
            <a:r>
              <a:rPr sz="900">
                <a:solidFill>
                  <a:srgbClr val="2D3436"/>
                </a:solidFill>
                <a:latin typeface="Consolas"/>
              </a:rPr>
              <a:t>export const options = {</a:t>
            </a:r>
          </a:p>
          <a:p>
            <a:pPr>
              <a:spcAft>
                <a:spcPts val="100"/>
              </a:spcAft>
            </a:pPr>
            <a:r>
              <a:rPr sz="900">
                <a:solidFill>
                  <a:srgbClr val="2D3436"/>
                </a:solidFill>
                <a:latin typeface="Consolas"/>
              </a:rPr>
              <a:t>  stages: [</a:t>
            </a:r>
          </a:p>
          <a:p>
            <a:pPr>
              <a:spcAft>
                <a:spcPts val="100"/>
              </a:spcAft>
            </a:pPr>
            <a:r>
              <a:rPr sz="900">
                <a:solidFill>
                  <a:srgbClr val="2D3436"/>
                </a:solidFill>
                <a:latin typeface="Consolas"/>
              </a:rPr>
              <a:t>    { duration: "30s", target: 20 },</a:t>
            </a:r>
          </a:p>
          <a:p>
            <a:pPr>
              <a:spcAft>
                <a:spcPts val="100"/>
              </a:spcAft>
            </a:pPr>
            <a:r>
              <a:rPr sz="900">
                <a:solidFill>
                  <a:srgbClr val="2D3436"/>
                </a:solidFill>
                <a:latin typeface="Consolas"/>
              </a:rPr>
              <a:t>    { duration: "1m",  target: 50 },</a:t>
            </a:r>
          </a:p>
          <a:p>
            <a:pPr>
              <a:spcAft>
                <a:spcPts val="100"/>
              </a:spcAft>
            </a:pPr>
            <a:r>
              <a:rPr sz="900">
                <a:solidFill>
                  <a:srgbClr val="2D3436"/>
                </a:solidFill>
                <a:latin typeface="Consolas"/>
              </a:rPr>
              <a:t>    { duration: "30s", target: 0  },</a:t>
            </a:r>
          </a:p>
          <a:p>
            <a:pPr>
              <a:spcAft>
                <a:spcPts val="100"/>
              </a:spcAft>
            </a:pPr>
            <a:r>
              <a:rPr sz="900">
                <a:solidFill>
                  <a:srgbClr val="2D3436"/>
                </a:solidFill>
                <a:latin typeface="Consolas"/>
              </a:rPr>
              <a:t>  ],</a:t>
            </a:r>
          </a:p>
          <a:p>
            <a:pPr>
              <a:spcAft>
                <a:spcPts val="100"/>
              </a:spcAft>
            </a:pPr>
            <a:r>
              <a:rPr sz="900">
                <a:solidFill>
                  <a:srgbClr val="2D3436"/>
                </a:solidFill>
                <a:latin typeface="Consolas"/>
              </a:rPr>
              <a:t>  thresholds: {</a:t>
            </a:r>
          </a:p>
          <a:p>
            <a:pPr>
              <a:spcAft>
                <a:spcPts val="100"/>
              </a:spcAft>
            </a:pPr>
            <a:r>
              <a:rPr sz="900">
                <a:solidFill>
                  <a:srgbClr val="2D3436"/>
                </a:solidFill>
                <a:latin typeface="Consolas"/>
              </a:rPr>
              <a:t>    http_req_duration: ["p(95)&lt;500"],</a:t>
            </a:r>
          </a:p>
          <a:p>
            <a:pPr>
              <a:spcAft>
                <a:spcPts val="100"/>
              </a:spcAft>
            </a:pPr>
            <a:r>
              <a:rPr sz="900">
                <a:solidFill>
                  <a:srgbClr val="2D3436"/>
                </a:solidFill>
                <a:latin typeface="Consolas"/>
              </a:rPr>
              <a:t>    http_req_failed: ["rate&lt;0.01"],</a:t>
            </a:r>
          </a:p>
          <a:p>
            <a:pPr>
              <a:spcAft>
                <a:spcPts val="100"/>
              </a:spcAft>
            </a:pPr>
            <a:r>
              <a:rPr sz="900">
                <a:solidFill>
                  <a:srgbClr val="2D3436"/>
                </a:solidFill>
                <a:latin typeface="Consolas"/>
              </a:rPr>
              <a:t>  },</a:t>
            </a:r>
          </a:p>
          <a:p>
            <a:pPr>
              <a:spcAft>
                <a:spcPts val="100"/>
              </a:spcAft>
            </a:pPr>
            <a:r>
              <a:rPr sz="900">
                <a:solidFill>
                  <a:srgbClr val="2D3436"/>
                </a:solidFill>
                <a:latin typeface="Consolas"/>
              </a:rPr>
              <a:t>};</a:t>
            </a:r>
          </a:p>
          <a:p>
            <a:pPr>
              <a:spcAft>
                <a:spcPts val="100"/>
              </a:spcAft>
            </a:pPr>
            <a:r>
              <a:rPr sz="900">
                <a:solidFill>
                  <a:srgbClr val="2D3436"/>
                </a:solidFill>
                <a:latin typeface="Consolas"/>
              </a:rPr>
              <a:t/>
            </a:r>
          </a:p>
          <a:p>
            <a:pPr>
              <a:spcAft>
                <a:spcPts val="100"/>
              </a:spcAft>
            </a:pPr>
            <a:r>
              <a:rPr sz="900">
                <a:solidFill>
                  <a:srgbClr val="2D3436"/>
                </a:solidFill>
                <a:latin typeface="Consolas"/>
              </a:rPr>
              <a:t>export default function () {</a:t>
            </a:r>
          </a:p>
          <a:p>
            <a:pPr>
              <a:spcAft>
                <a:spcPts val="100"/>
              </a:spcAft>
            </a:pPr>
            <a:r>
              <a:rPr sz="900">
                <a:solidFill>
                  <a:srgbClr val="2D3436"/>
                </a:solidFill>
                <a:latin typeface="Consolas"/>
              </a:rPr>
              <a:t>  const res = http.get(</a:t>
            </a:r>
          </a:p>
          <a:p>
            <a:pPr>
              <a:spcAft>
                <a:spcPts val="100"/>
              </a:spcAft>
            </a:pPr>
            <a:r>
              <a:rPr sz="900">
                <a:solidFill>
                  <a:srgbClr val="2D3436"/>
                </a:solidFill>
                <a:latin typeface="Consolas"/>
              </a:rPr>
              <a:t>    "http://localhost:8000/api/tasks"</a:t>
            </a:r>
          </a:p>
          <a:p>
            <a:pPr>
              <a:spcAft>
                <a:spcPts val="100"/>
              </a:spcAft>
            </a:pPr>
            <a:r>
              <a:rPr sz="900">
                <a:solidFill>
                  <a:srgbClr val="2D3436"/>
                </a:solidFill>
                <a:latin typeface="Consolas"/>
              </a:rPr>
              <a:t>  );</a:t>
            </a:r>
          </a:p>
          <a:p>
            <a:pPr>
              <a:spcAft>
                <a:spcPts val="100"/>
              </a:spcAft>
            </a:pPr>
            <a:r>
              <a:rPr sz="900">
                <a:solidFill>
                  <a:srgbClr val="2D3436"/>
                </a:solidFill>
                <a:latin typeface="Consolas"/>
              </a:rPr>
              <a:t>  check(res, {</a:t>
            </a:r>
          </a:p>
          <a:p>
            <a:pPr>
              <a:spcAft>
                <a:spcPts val="100"/>
              </a:spcAft>
            </a:pPr>
            <a:r>
              <a:rPr sz="900">
                <a:solidFill>
                  <a:srgbClr val="2D3436"/>
                </a:solidFill>
                <a:latin typeface="Consolas"/>
              </a:rPr>
              <a:t>    "status is 200": (r) =&gt; r.status === 200,</a:t>
            </a:r>
          </a:p>
          <a:p>
            <a:pPr>
              <a:spcAft>
                <a:spcPts val="100"/>
              </a:spcAft>
            </a:pPr>
            <a:r>
              <a:rPr sz="900">
                <a:solidFill>
                  <a:srgbClr val="2D3436"/>
                </a:solidFill>
                <a:latin typeface="Consolas"/>
              </a:rPr>
              <a:t>    "response &lt; 500ms": (r) =&gt;</a:t>
            </a:r>
          </a:p>
          <a:p>
            <a:pPr>
              <a:spcAft>
                <a:spcPts val="100"/>
              </a:spcAft>
            </a:pPr>
            <a:r>
              <a:rPr sz="900">
                <a:solidFill>
                  <a:srgbClr val="2D3436"/>
                </a:solidFill>
                <a:latin typeface="Consolas"/>
              </a:rPr>
              <a:t>      r.timings.duration &lt; 500,</a:t>
            </a:r>
          </a:p>
          <a:p>
            <a:pPr>
              <a:spcAft>
                <a:spcPts val="100"/>
              </a:spcAft>
            </a:pPr>
            <a:r>
              <a:rPr sz="900">
                <a:solidFill>
                  <a:srgbClr val="2D3436"/>
                </a:solidFill>
                <a:latin typeface="Consolas"/>
              </a:rPr>
              <a:t>  });</a:t>
            </a:r>
          </a:p>
          <a:p>
            <a:pPr>
              <a:spcAft>
                <a:spcPts val="100"/>
              </a:spcAft>
            </a:pPr>
            <a:r>
              <a:rPr sz="900">
                <a:solidFill>
                  <a:srgbClr val="2D3436"/>
                </a:solidFill>
                <a:latin typeface="Consolas"/>
              </a:rPr>
              <a:t>  sleep(1);</a:t>
            </a:r>
          </a:p>
          <a:p>
            <a:pPr>
              <a:spcAft>
                <a:spcPts val="100"/>
              </a:spcAft>
            </a:pPr>
            <a:r>
              <a:rPr sz="900">
                <a:solidFill>
                  <a:srgbClr val="2D3436"/>
                </a:solidFill>
                <a:latin typeface="Consolas"/>
              </a:rPr>
              <a:t>}</a:t>
            </a:r>
          </a:p>
        </p:txBody>
      </p:sp>
      <p:sp>
        <p:nvSpPr>
          <p:cNvPr id="7" name="TextBox 6"/>
          <p:cNvSpPr txBox="1"/>
          <p:nvPr/>
        </p:nvSpPr>
        <p:spPr>
          <a:xfrm>
            <a:off x="6400800" y="1051560"/>
            <a:ext cx="5029200" cy="274320"/>
          </a:xfrm>
          <a:prstGeom prst="rect">
            <a:avLst/>
          </a:prstGeom>
          <a:noFill/>
        </p:spPr>
        <p:txBody>
          <a:bodyPr wrap="square">
            <a:spAutoFit/>
          </a:bodyPr>
          <a:lstStyle/>
          <a:p>
            <a:pPr algn="l"/>
            <a:r>
              <a:rPr sz="1400" b="1">
                <a:solidFill>
                  <a:srgbClr val="008B8B"/>
                </a:solidFill>
                <a:latin typeface="Calibri"/>
              </a:rPr>
              <a:t>Performance Metrics Explained</a:t>
            </a:r>
          </a:p>
        </p:txBody>
      </p:sp>
      <p:sp>
        <p:nvSpPr>
          <p:cNvPr id="8" name="Rounded Rectangle 7"/>
          <p:cNvSpPr/>
          <p:nvPr/>
        </p:nvSpPr>
        <p:spPr>
          <a:xfrm>
            <a:off x="6400800" y="1463040"/>
            <a:ext cx="5029200" cy="96012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Ramp-Up Pattern</a:t>
            </a:r>
          </a:p>
          <a:p>
            <a:pPr algn="ctr"/>
            <a:r>
              <a:rPr sz="1100" b="0">
                <a:solidFill>
                  <a:srgbClr val="2D3436"/>
                </a:solidFill>
                <a:latin typeface="Calibri"/>
              </a:rPr>
              <a:t>Gradually increase load</a:t>
            </a:r>
          </a:p>
          <a:p>
            <a:pPr algn="ctr"/>
            <a:r>
              <a:rPr sz="1100" b="0">
                <a:solidFill>
                  <a:srgbClr val="2D3436"/>
                </a:solidFill>
                <a:latin typeface="Calibri"/>
              </a:rPr>
              <a:t>30s to 20 users -&gt; 1m at 50 -&gt; ramp down</a:t>
            </a:r>
          </a:p>
        </p:txBody>
      </p:sp>
      <p:sp>
        <p:nvSpPr>
          <p:cNvPr id="9" name="Rounded Rectangle 8"/>
          <p:cNvSpPr/>
          <p:nvPr/>
        </p:nvSpPr>
        <p:spPr>
          <a:xfrm>
            <a:off x="6400800" y="2606040"/>
            <a:ext cx="5029200" cy="96012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Thresholds</a:t>
            </a:r>
          </a:p>
          <a:p>
            <a:pPr algn="ctr"/>
            <a:r>
              <a:rPr sz="1100" b="0">
                <a:solidFill>
                  <a:srgbClr val="2D3436"/>
                </a:solidFill>
                <a:latin typeface="Calibri"/>
              </a:rPr>
              <a:t>P95 latency &lt; 500ms</a:t>
            </a:r>
          </a:p>
          <a:p>
            <a:pPr algn="ctr"/>
            <a:r>
              <a:rPr sz="1100" b="0">
                <a:solidFill>
                  <a:srgbClr val="2D3436"/>
                </a:solidFill>
                <a:latin typeface="Calibri"/>
              </a:rPr>
              <a:t>Error rate &lt; 1%</a:t>
            </a:r>
          </a:p>
        </p:txBody>
      </p:sp>
      <p:sp>
        <p:nvSpPr>
          <p:cNvPr id="10" name="Rounded Rectangle 9"/>
          <p:cNvSpPr/>
          <p:nvPr/>
        </p:nvSpPr>
        <p:spPr>
          <a:xfrm>
            <a:off x="6400800" y="3749039"/>
            <a:ext cx="5029200" cy="96012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Checks</a:t>
            </a:r>
          </a:p>
          <a:p>
            <a:pPr algn="ctr"/>
            <a:r>
              <a:rPr sz="1100" b="0">
                <a:solidFill>
                  <a:srgbClr val="2D3436"/>
                </a:solidFill>
                <a:latin typeface="Calibri"/>
              </a:rPr>
              <a:t>Validate response status</a:t>
            </a:r>
          </a:p>
          <a:p>
            <a:pPr algn="ctr"/>
            <a:r>
              <a:rPr sz="1100" b="0">
                <a:solidFill>
                  <a:srgbClr val="2D3436"/>
                </a:solidFill>
                <a:latin typeface="Calibri"/>
              </a:rPr>
              <a:t>and timing per request</a:t>
            </a:r>
          </a:p>
        </p:txBody>
      </p:sp>
      <p:sp>
        <p:nvSpPr>
          <p:cNvPr id="11" name="Rounded Rectangle 10"/>
          <p:cNvSpPr/>
          <p:nvPr/>
        </p:nvSpPr>
        <p:spPr>
          <a:xfrm>
            <a:off x="6400800" y="4892040"/>
            <a:ext cx="5029200" cy="96012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Key Metrics</a:t>
            </a:r>
          </a:p>
          <a:p>
            <a:pPr algn="ctr"/>
            <a:r>
              <a:rPr sz="1100" b="0">
                <a:solidFill>
                  <a:srgbClr val="2D3436"/>
                </a:solidFill>
                <a:latin typeface="Calibri"/>
              </a:rPr>
              <a:t>req_duration, req_failed,</a:t>
            </a:r>
          </a:p>
          <a:p>
            <a:pPr algn="ctr"/>
            <a:r>
              <a:rPr sz="1100" b="0">
                <a:solidFill>
                  <a:srgbClr val="2D3436"/>
                </a:solidFill>
                <a:latin typeface="Calibri"/>
              </a:rPr>
              <a:t>iterations, vus, data_received</a:t>
            </a:r>
          </a:p>
        </p:txBody>
      </p:sp>
      <p:sp>
        <p:nvSpPr>
          <p:cNvPr id="12" name="Rounded Rectangle 11"/>
          <p:cNvSpPr/>
          <p:nvPr/>
        </p:nvSpPr>
        <p:spPr>
          <a:xfrm>
            <a:off x="457200" y="5394960"/>
            <a:ext cx="11247120" cy="59436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When to load test:  Before production deployment  |  After major code changes  |  Before expected traffic spikes  |  As part of CI/CD pipeline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End-to-End Testing with Playwright</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45</a:t>
            </a:r>
          </a:p>
        </p:txBody>
      </p:sp>
      <p:sp>
        <p:nvSpPr>
          <p:cNvPr id="5" name="TextBox 4"/>
          <p:cNvSpPr txBox="1"/>
          <p:nvPr/>
        </p:nvSpPr>
        <p:spPr>
          <a:xfrm>
            <a:off x="457200" y="1051560"/>
            <a:ext cx="5486400" cy="274320"/>
          </a:xfrm>
          <a:prstGeom prst="rect">
            <a:avLst/>
          </a:prstGeom>
          <a:noFill/>
        </p:spPr>
        <p:txBody>
          <a:bodyPr wrap="square">
            <a:spAutoFit/>
          </a:bodyPr>
          <a:lstStyle/>
          <a:p>
            <a:pPr algn="l"/>
            <a:r>
              <a:rPr sz="1400" b="1">
                <a:solidFill>
                  <a:srgbClr val="70AD47"/>
                </a:solidFill>
                <a:latin typeface="Calibri"/>
              </a:rPr>
              <a:t>Playwright Test Example</a:t>
            </a:r>
          </a:p>
        </p:txBody>
      </p:sp>
      <p:sp>
        <p:nvSpPr>
          <p:cNvPr id="6" name="Rectangle 5"/>
          <p:cNvSpPr/>
          <p:nvPr/>
        </p:nvSpPr>
        <p:spPr>
          <a:xfrm>
            <a:off x="457200" y="1371600"/>
            <a:ext cx="5486400" cy="3474720"/>
          </a:xfrm>
          <a:prstGeom prst="rect">
            <a:avLst/>
          </a:prstGeom>
          <a:solidFill>
            <a:srgbClr val="F8F9FA"/>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spcAft>
                <a:spcPts val="100"/>
              </a:spcAft>
            </a:pPr>
            <a:r>
              <a:rPr sz="900">
                <a:solidFill>
                  <a:srgbClr val="2D3436"/>
                </a:solidFill>
                <a:latin typeface="Consolas"/>
              </a:rPr>
              <a:t>import { test, expect } from "@playwright/test";</a:t>
            </a:r>
          </a:p>
          <a:p>
            <a:pPr>
              <a:spcAft>
                <a:spcPts val="100"/>
              </a:spcAft>
            </a:pPr>
            <a:r>
              <a:rPr sz="900">
                <a:solidFill>
                  <a:srgbClr val="2D3436"/>
                </a:solidFill>
                <a:latin typeface="Consolas"/>
              </a:rPr>
              <a:t/>
            </a:r>
          </a:p>
          <a:p>
            <a:pPr>
              <a:spcAft>
                <a:spcPts val="100"/>
              </a:spcAft>
            </a:pPr>
            <a:r>
              <a:rPr sz="900">
                <a:solidFill>
                  <a:srgbClr val="2D3436"/>
                </a:solidFill>
                <a:latin typeface="Consolas"/>
              </a:rPr>
              <a:t>test("create a new task", async ({ page }) =&gt; {</a:t>
            </a:r>
          </a:p>
          <a:p>
            <a:pPr>
              <a:spcAft>
                <a:spcPts val="100"/>
              </a:spcAft>
            </a:pPr>
            <a:r>
              <a:rPr sz="900">
                <a:solidFill>
                  <a:srgbClr val="2D3436"/>
                </a:solidFill>
                <a:latin typeface="Consolas"/>
              </a:rPr>
              <a:t>  // Navigate to the app</a:t>
            </a:r>
          </a:p>
          <a:p>
            <a:pPr>
              <a:spcAft>
                <a:spcPts val="100"/>
              </a:spcAft>
            </a:pPr>
            <a:r>
              <a:rPr sz="900">
                <a:solidFill>
                  <a:srgbClr val="2D3436"/>
                </a:solidFill>
                <a:latin typeface="Consolas"/>
              </a:rPr>
              <a:t>  await page.goto("http://localhost:3000");</a:t>
            </a:r>
          </a:p>
          <a:p>
            <a:pPr>
              <a:spcAft>
                <a:spcPts val="100"/>
              </a:spcAft>
            </a:pPr>
            <a:r>
              <a:rPr sz="900">
                <a:solidFill>
                  <a:srgbClr val="2D3436"/>
                </a:solidFill>
                <a:latin typeface="Consolas"/>
              </a:rPr>
              <a:t/>
            </a:r>
          </a:p>
          <a:p>
            <a:pPr>
              <a:spcAft>
                <a:spcPts val="100"/>
              </a:spcAft>
            </a:pPr>
            <a:r>
              <a:rPr sz="900">
                <a:solidFill>
                  <a:srgbClr val="2D3436"/>
                </a:solidFill>
                <a:latin typeface="Consolas"/>
              </a:rPr>
              <a:t>  // Click the "New Task" button</a:t>
            </a:r>
          </a:p>
          <a:p>
            <a:pPr>
              <a:spcAft>
                <a:spcPts val="100"/>
              </a:spcAft>
            </a:pPr>
            <a:r>
              <a:rPr sz="900">
                <a:solidFill>
                  <a:srgbClr val="2D3436"/>
                </a:solidFill>
                <a:latin typeface="Consolas"/>
              </a:rPr>
              <a:t>  await page.click(</a:t>
            </a:r>
          </a:p>
          <a:p>
            <a:pPr>
              <a:spcAft>
                <a:spcPts val="100"/>
              </a:spcAft>
            </a:pPr>
            <a:r>
              <a:rPr sz="900">
                <a:solidFill>
                  <a:srgbClr val="2D3436"/>
                </a:solidFill>
                <a:latin typeface="Consolas"/>
              </a:rPr>
              <a:t>    'button:has-text("New Task")'</a:t>
            </a:r>
          </a:p>
          <a:p>
            <a:pPr>
              <a:spcAft>
                <a:spcPts val="100"/>
              </a:spcAft>
            </a:pPr>
            <a:r>
              <a:rPr sz="900">
                <a:solidFill>
                  <a:srgbClr val="2D3436"/>
                </a:solidFill>
                <a:latin typeface="Consolas"/>
              </a:rPr>
              <a:t>  );</a:t>
            </a:r>
          </a:p>
          <a:p>
            <a:pPr>
              <a:spcAft>
                <a:spcPts val="100"/>
              </a:spcAft>
            </a:pPr>
            <a:r>
              <a:rPr sz="900">
                <a:solidFill>
                  <a:srgbClr val="2D3436"/>
                </a:solidFill>
                <a:latin typeface="Consolas"/>
              </a:rPr>
              <a:t/>
            </a:r>
          </a:p>
          <a:p>
            <a:pPr>
              <a:spcAft>
                <a:spcPts val="100"/>
              </a:spcAft>
            </a:pPr>
            <a:r>
              <a:rPr sz="900">
                <a:solidFill>
                  <a:srgbClr val="2D3436"/>
                </a:solidFill>
                <a:latin typeface="Consolas"/>
              </a:rPr>
              <a:t>  // Fill in task details</a:t>
            </a:r>
          </a:p>
          <a:p>
            <a:pPr>
              <a:spcAft>
                <a:spcPts val="100"/>
              </a:spcAft>
            </a:pPr>
            <a:r>
              <a:rPr sz="900">
                <a:solidFill>
                  <a:srgbClr val="2D3436"/>
                </a:solidFill>
                <a:latin typeface="Consolas"/>
              </a:rPr>
              <a:t>  await page.fill(</a:t>
            </a:r>
          </a:p>
          <a:p>
            <a:pPr>
              <a:spcAft>
                <a:spcPts val="100"/>
              </a:spcAft>
            </a:pPr>
            <a:r>
              <a:rPr sz="900">
                <a:solidFill>
                  <a:srgbClr val="2D3436"/>
                </a:solidFill>
                <a:latin typeface="Consolas"/>
              </a:rPr>
              <a:t>    'input[name="title"]',</a:t>
            </a:r>
          </a:p>
          <a:p>
            <a:pPr>
              <a:spcAft>
                <a:spcPts val="100"/>
              </a:spcAft>
            </a:pPr>
            <a:r>
              <a:rPr sz="900">
                <a:solidFill>
                  <a:srgbClr val="2D3436"/>
                </a:solidFill>
                <a:latin typeface="Consolas"/>
              </a:rPr>
              <a:t>    "Write unit tests"</a:t>
            </a:r>
          </a:p>
          <a:p>
            <a:pPr>
              <a:spcAft>
                <a:spcPts val="100"/>
              </a:spcAft>
            </a:pPr>
            <a:r>
              <a:rPr sz="900">
                <a:solidFill>
                  <a:srgbClr val="2D3436"/>
                </a:solidFill>
                <a:latin typeface="Consolas"/>
              </a:rPr>
              <a:t>  );</a:t>
            </a:r>
          </a:p>
          <a:p>
            <a:pPr>
              <a:spcAft>
                <a:spcPts val="100"/>
              </a:spcAft>
            </a:pPr>
            <a:r>
              <a:rPr sz="900">
                <a:solidFill>
                  <a:srgbClr val="2D3436"/>
                </a:solidFill>
                <a:latin typeface="Consolas"/>
              </a:rPr>
              <a:t>  await page.fill(</a:t>
            </a:r>
          </a:p>
          <a:p>
            <a:pPr>
              <a:spcAft>
                <a:spcPts val="100"/>
              </a:spcAft>
            </a:pPr>
            <a:r>
              <a:rPr sz="900">
                <a:solidFill>
                  <a:srgbClr val="2D3436"/>
                </a:solidFill>
                <a:latin typeface="Consolas"/>
              </a:rPr>
              <a:t>    'textarea[name="description"]',</a:t>
            </a:r>
          </a:p>
          <a:p>
            <a:pPr>
              <a:spcAft>
                <a:spcPts val="100"/>
              </a:spcAft>
            </a:pPr>
            <a:r>
              <a:rPr sz="900">
                <a:solidFill>
                  <a:srgbClr val="2D3436"/>
                </a:solidFill>
                <a:latin typeface="Consolas"/>
              </a:rPr>
              <a:t>    "Cover all edge cases"</a:t>
            </a:r>
          </a:p>
          <a:p>
            <a:pPr>
              <a:spcAft>
                <a:spcPts val="100"/>
              </a:spcAft>
            </a:pPr>
            <a:r>
              <a:rPr sz="900">
                <a:solidFill>
                  <a:srgbClr val="2D3436"/>
                </a:solidFill>
                <a:latin typeface="Consolas"/>
              </a:rPr>
              <a:t>  );</a:t>
            </a:r>
          </a:p>
          <a:p>
            <a:pPr>
              <a:spcAft>
                <a:spcPts val="100"/>
              </a:spcAft>
            </a:pPr>
            <a:r>
              <a:rPr sz="900">
                <a:solidFill>
                  <a:srgbClr val="2D3436"/>
                </a:solidFill>
                <a:latin typeface="Consolas"/>
              </a:rPr>
              <a:t/>
            </a:r>
          </a:p>
          <a:p>
            <a:pPr>
              <a:spcAft>
                <a:spcPts val="100"/>
              </a:spcAft>
            </a:pPr>
            <a:r>
              <a:rPr sz="900">
                <a:solidFill>
                  <a:srgbClr val="2D3436"/>
                </a:solidFill>
                <a:latin typeface="Consolas"/>
              </a:rPr>
              <a:t>  // Submit and verify</a:t>
            </a:r>
          </a:p>
          <a:p>
            <a:pPr>
              <a:spcAft>
                <a:spcPts val="100"/>
              </a:spcAft>
            </a:pPr>
            <a:r>
              <a:rPr sz="900">
                <a:solidFill>
                  <a:srgbClr val="2D3436"/>
                </a:solidFill>
                <a:latin typeface="Consolas"/>
              </a:rPr>
              <a:t>  await page.click('button:has-text("Save")');</a:t>
            </a:r>
          </a:p>
          <a:p>
            <a:pPr>
              <a:spcAft>
                <a:spcPts val="100"/>
              </a:spcAft>
            </a:pPr>
            <a:r>
              <a:rPr sz="900">
                <a:solidFill>
                  <a:srgbClr val="2D3436"/>
                </a:solidFill>
                <a:latin typeface="Consolas"/>
              </a:rPr>
              <a:t>  await expect(</a:t>
            </a:r>
          </a:p>
          <a:p>
            <a:pPr>
              <a:spcAft>
                <a:spcPts val="100"/>
              </a:spcAft>
            </a:pPr>
            <a:r>
              <a:rPr sz="900">
                <a:solidFill>
                  <a:srgbClr val="2D3436"/>
                </a:solidFill>
                <a:latin typeface="Consolas"/>
              </a:rPr>
              <a:t>    page.locator(".task-item")</a:t>
            </a:r>
          </a:p>
          <a:p>
            <a:pPr>
              <a:spcAft>
                <a:spcPts val="100"/>
              </a:spcAft>
            </a:pPr>
            <a:r>
              <a:rPr sz="900">
                <a:solidFill>
                  <a:srgbClr val="2D3436"/>
                </a:solidFill>
                <a:latin typeface="Consolas"/>
              </a:rPr>
              <a:t>  ).toContainText("Write unit tests");</a:t>
            </a:r>
          </a:p>
          <a:p>
            <a:pPr>
              <a:spcAft>
                <a:spcPts val="100"/>
              </a:spcAft>
            </a:pPr>
            <a:r>
              <a:rPr sz="900">
                <a:solidFill>
                  <a:srgbClr val="2D3436"/>
                </a:solidFill>
                <a:latin typeface="Consolas"/>
              </a:rPr>
              <a:t>});</a:t>
            </a:r>
          </a:p>
        </p:txBody>
      </p:sp>
      <p:sp>
        <p:nvSpPr>
          <p:cNvPr id="7" name="TextBox 6"/>
          <p:cNvSpPr txBox="1"/>
          <p:nvPr/>
        </p:nvSpPr>
        <p:spPr>
          <a:xfrm>
            <a:off x="6400800" y="1051560"/>
            <a:ext cx="5029200" cy="274320"/>
          </a:xfrm>
          <a:prstGeom prst="rect">
            <a:avLst/>
          </a:prstGeom>
          <a:noFill/>
        </p:spPr>
        <p:txBody>
          <a:bodyPr wrap="square">
            <a:spAutoFit/>
          </a:bodyPr>
          <a:lstStyle/>
          <a:p>
            <a:pPr algn="l"/>
            <a:r>
              <a:rPr sz="1600" b="1">
                <a:solidFill>
                  <a:srgbClr val="70AD47"/>
                </a:solidFill>
                <a:latin typeface="Calibri"/>
              </a:rPr>
              <a:t>Testing Pyramid</a:t>
            </a:r>
          </a:p>
        </p:txBody>
      </p:sp>
      <p:sp>
        <p:nvSpPr>
          <p:cNvPr id="8" name="Rounded Rectangle 7"/>
          <p:cNvSpPr/>
          <p:nvPr/>
        </p:nvSpPr>
        <p:spPr>
          <a:xfrm>
            <a:off x="7498079" y="1554480"/>
            <a:ext cx="2377440" cy="640080"/>
          </a:xfrm>
          <a:prstGeom prst="roundRect">
            <a:avLst/>
          </a:prstGeom>
          <a:solidFill>
            <a:srgbClr val="FCE4D6"/>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E2E Tests</a:t>
            </a:r>
          </a:p>
          <a:p>
            <a:pPr algn="ctr"/>
            <a:r>
              <a:rPr sz="1100" b="0">
                <a:solidFill>
                  <a:srgbClr val="2D3436"/>
                </a:solidFill>
                <a:latin typeface="Calibri"/>
              </a:rPr>
              <a:t>(Playwright, Cypress)</a:t>
            </a:r>
          </a:p>
        </p:txBody>
      </p:sp>
      <p:sp>
        <p:nvSpPr>
          <p:cNvPr id="9" name="Rounded Rectangle 8"/>
          <p:cNvSpPr/>
          <p:nvPr/>
        </p:nvSpPr>
        <p:spPr>
          <a:xfrm>
            <a:off x="7040880" y="2377440"/>
            <a:ext cx="3291840" cy="640080"/>
          </a:xfrm>
          <a:prstGeom prst="roundRect">
            <a:avLst/>
          </a:prstGeom>
          <a:solidFill>
            <a:srgbClr val="E2EFD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Integration Tests</a:t>
            </a:r>
          </a:p>
          <a:p>
            <a:pPr algn="ctr"/>
            <a:r>
              <a:rPr sz="1100" b="0">
                <a:solidFill>
                  <a:srgbClr val="2D3436"/>
                </a:solidFill>
                <a:latin typeface="Calibri"/>
              </a:rPr>
              <a:t>(API, Database)</a:t>
            </a:r>
          </a:p>
        </p:txBody>
      </p:sp>
      <p:sp>
        <p:nvSpPr>
          <p:cNvPr id="10" name="Rounded Rectangle 9"/>
          <p:cNvSpPr/>
          <p:nvPr/>
        </p:nvSpPr>
        <p:spPr>
          <a:xfrm>
            <a:off x="6583680" y="3200400"/>
            <a:ext cx="4206240" cy="640080"/>
          </a:xfrm>
          <a:prstGeom prst="roundRect">
            <a:avLst/>
          </a:prstGeom>
          <a:solidFill>
            <a:srgbClr val="DDEB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D3436"/>
                </a:solidFill>
                <a:latin typeface="Calibri"/>
              </a:rPr>
              <a:t>Unit Tests</a:t>
            </a:r>
          </a:p>
          <a:p>
            <a:pPr algn="ctr"/>
            <a:r>
              <a:rPr sz="1100" b="0">
                <a:solidFill>
                  <a:srgbClr val="2D3436"/>
                </a:solidFill>
                <a:latin typeface="Calibri"/>
              </a:rPr>
              <a:t>(pytest, Jest)</a:t>
            </a:r>
          </a:p>
        </p:txBody>
      </p:sp>
      <p:sp>
        <p:nvSpPr>
          <p:cNvPr id="11" name="TextBox 10"/>
          <p:cNvSpPr txBox="1"/>
          <p:nvPr/>
        </p:nvSpPr>
        <p:spPr>
          <a:xfrm>
            <a:off x="6400800" y="4114800"/>
            <a:ext cx="5029200" cy="274320"/>
          </a:xfrm>
          <a:prstGeom prst="rect">
            <a:avLst/>
          </a:prstGeom>
          <a:noFill/>
        </p:spPr>
        <p:txBody>
          <a:bodyPr wrap="square">
            <a:spAutoFit/>
          </a:bodyPr>
          <a:lstStyle/>
          <a:p>
            <a:pPr algn="l"/>
            <a:r>
              <a:rPr sz="1300" b="1">
                <a:solidFill>
                  <a:srgbClr val="70AD47"/>
                </a:solidFill>
                <a:latin typeface="Calibri"/>
              </a:rPr>
              <a:t>When to Use Each Type</a:t>
            </a:r>
          </a:p>
        </p:txBody>
      </p:sp>
      <p:graphicFrame>
        <p:nvGraphicFramePr>
          <p:cNvPr id="12" name="Table 11"/>
          <p:cNvGraphicFramePr>
            <a:graphicFrameLocks noGrp="1"/>
          </p:cNvGraphicFramePr>
          <p:nvPr/>
        </p:nvGraphicFramePr>
        <p:xfrm>
          <a:off x="6400800" y="4434840"/>
          <a:ext cx="5303520" cy="1463040"/>
        </p:xfrm>
        <a:graphic>
          <a:graphicData uri="http://schemas.openxmlformats.org/drawingml/2006/table">
            <a:tbl>
              <a:tblPr firstRow="1" bandRow="1">
                <a:tableStyleId>{5C22544A-7EE6-4342-B048-85BDC9FD1C3A}</a:tableStyleId>
              </a:tblPr>
              <a:tblGrid>
                <a:gridCol w="1325880"/>
                <a:gridCol w="1325880"/>
                <a:gridCol w="1325880"/>
                <a:gridCol w="1325880"/>
              </a:tblGrid>
              <a:tr h="365760">
                <a:tc>
                  <a:txBody>
                    <a:bodyPr/>
                    <a:lstStyle/>
                    <a:p>
                      <a:r>
                        <a:rPr sz="1200" b="1">
                          <a:solidFill>
                            <a:srgbClr val="FFFFFF"/>
                          </a:solidFill>
                          <a:latin typeface="Calibri"/>
                        </a:rPr>
                        <a:t>Type</a:t>
                      </a:r>
                    </a:p>
                  </a:txBody>
                  <a:tcPr>
                    <a:solidFill>
                      <a:srgbClr val="2F75B5"/>
                    </a:solidFill>
                  </a:tcPr>
                </a:tc>
                <a:tc>
                  <a:txBody>
                    <a:bodyPr/>
                    <a:lstStyle/>
                    <a:p>
                      <a:r>
                        <a:rPr sz="1200" b="1">
                          <a:solidFill>
                            <a:srgbClr val="FFFFFF"/>
                          </a:solidFill>
                          <a:latin typeface="Calibri"/>
                        </a:rPr>
                        <a:t>Speed</a:t>
                      </a:r>
                    </a:p>
                  </a:txBody>
                  <a:tcPr>
                    <a:solidFill>
                      <a:srgbClr val="2F75B5"/>
                    </a:solidFill>
                  </a:tcPr>
                </a:tc>
                <a:tc>
                  <a:txBody>
                    <a:bodyPr/>
                    <a:lstStyle/>
                    <a:p>
                      <a:r>
                        <a:rPr sz="1200" b="1">
                          <a:solidFill>
                            <a:srgbClr val="FFFFFF"/>
                          </a:solidFill>
                          <a:latin typeface="Calibri"/>
                        </a:rPr>
                        <a:t>Confidence</a:t>
                      </a:r>
                    </a:p>
                  </a:txBody>
                  <a:tcPr>
                    <a:solidFill>
                      <a:srgbClr val="2F75B5"/>
                    </a:solidFill>
                  </a:tcPr>
                </a:tc>
                <a:tc>
                  <a:txBody>
                    <a:bodyPr/>
                    <a:lstStyle/>
                    <a:p>
                      <a:r>
                        <a:rPr sz="1200" b="1">
                          <a:solidFill>
                            <a:srgbClr val="FFFFFF"/>
                          </a:solidFill>
                          <a:latin typeface="Calibri"/>
                        </a:rPr>
                        <a:t>Use For</a:t>
                      </a:r>
                    </a:p>
                  </a:txBody>
                  <a:tcPr>
                    <a:solidFill>
                      <a:srgbClr val="2F75B5"/>
                    </a:solidFill>
                  </a:tcPr>
                </a:tc>
              </a:tr>
              <a:tr h="365760">
                <a:tc>
                  <a:txBody>
                    <a:bodyPr/>
                    <a:lstStyle/>
                    <a:p>
                      <a:r>
                        <a:rPr sz="1200">
                          <a:solidFill>
                            <a:srgbClr val="2D3436"/>
                          </a:solidFill>
                          <a:latin typeface="Calibri"/>
                        </a:rPr>
                        <a:t>Unit</a:t>
                      </a:r>
                    </a:p>
                  </a:txBody>
                  <a:tcPr>
                    <a:solidFill>
                      <a:srgbClr val="FFFFFF"/>
                    </a:solidFill>
                  </a:tcPr>
                </a:tc>
                <a:tc>
                  <a:txBody>
                    <a:bodyPr/>
                    <a:lstStyle/>
                    <a:p>
                      <a:r>
                        <a:rPr sz="1200">
                          <a:solidFill>
                            <a:srgbClr val="2D3436"/>
                          </a:solidFill>
                          <a:latin typeface="Calibri"/>
                        </a:rPr>
                        <a:t>Fast</a:t>
                      </a:r>
                    </a:p>
                  </a:txBody>
                  <a:tcPr>
                    <a:solidFill>
                      <a:srgbClr val="FFFFFF"/>
                    </a:solidFill>
                  </a:tcPr>
                </a:tc>
                <a:tc>
                  <a:txBody>
                    <a:bodyPr/>
                    <a:lstStyle/>
                    <a:p>
                      <a:r>
                        <a:rPr sz="1200">
                          <a:solidFill>
                            <a:srgbClr val="2D3436"/>
                          </a:solidFill>
                          <a:latin typeface="Calibri"/>
                        </a:rPr>
                        <a:t>Low-Med</a:t>
                      </a:r>
                    </a:p>
                  </a:txBody>
                  <a:tcPr>
                    <a:solidFill>
                      <a:srgbClr val="FFFFFF"/>
                    </a:solidFill>
                  </a:tcPr>
                </a:tc>
                <a:tc>
                  <a:txBody>
                    <a:bodyPr/>
                    <a:lstStyle/>
                    <a:p>
                      <a:r>
                        <a:rPr sz="1200">
                          <a:solidFill>
                            <a:srgbClr val="2D3436"/>
                          </a:solidFill>
                          <a:latin typeface="Calibri"/>
                        </a:rPr>
                        <a:t>Business logic, utils</a:t>
                      </a:r>
                    </a:p>
                  </a:txBody>
                  <a:tcPr>
                    <a:solidFill>
                      <a:srgbClr val="FFFFFF"/>
                    </a:solidFill>
                  </a:tcPr>
                </a:tc>
              </a:tr>
              <a:tr h="365760">
                <a:tc>
                  <a:txBody>
                    <a:bodyPr/>
                    <a:lstStyle/>
                    <a:p>
                      <a:r>
                        <a:rPr sz="1200">
                          <a:solidFill>
                            <a:srgbClr val="2D3436"/>
                          </a:solidFill>
                          <a:latin typeface="Calibri"/>
                        </a:rPr>
                        <a:t>Integration</a:t>
                      </a:r>
                    </a:p>
                  </a:txBody>
                  <a:tcPr>
                    <a:solidFill>
                      <a:srgbClr val="DDEBF7"/>
                    </a:solidFill>
                  </a:tcPr>
                </a:tc>
                <a:tc>
                  <a:txBody>
                    <a:bodyPr/>
                    <a:lstStyle/>
                    <a:p>
                      <a:r>
                        <a:rPr sz="1200">
                          <a:solidFill>
                            <a:srgbClr val="2D3436"/>
                          </a:solidFill>
                          <a:latin typeface="Calibri"/>
                        </a:rPr>
                        <a:t>Medium</a:t>
                      </a:r>
                    </a:p>
                  </a:txBody>
                  <a:tcPr>
                    <a:solidFill>
                      <a:srgbClr val="DDEBF7"/>
                    </a:solidFill>
                  </a:tcPr>
                </a:tc>
                <a:tc>
                  <a:txBody>
                    <a:bodyPr/>
                    <a:lstStyle/>
                    <a:p>
                      <a:r>
                        <a:rPr sz="1200">
                          <a:solidFill>
                            <a:srgbClr val="2D3436"/>
                          </a:solidFill>
                          <a:latin typeface="Calibri"/>
                        </a:rPr>
                        <a:t>Medium</a:t>
                      </a:r>
                    </a:p>
                  </a:txBody>
                  <a:tcPr>
                    <a:solidFill>
                      <a:srgbClr val="DDEBF7"/>
                    </a:solidFill>
                  </a:tcPr>
                </a:tc>
                <a:tc>
                  <a:txBody>
                    <a:bodyPr/>
                    <a:lstStyle/>
                    <a:p>
                      <a:r>
                        <a:rPr sz="1200">
                          <a:solidFill>
                            <a:srgbClr val="2D3436"/>
                          </a:solidFill>
                          <a:latin typeface="Calibri"/>
                        </a:rPr>
                        <a:t>API contracts, DB queries</a:t>
                      </a:r>
                    </a:p>
                  </a:txBody>
                  <a:tcPr>
                    <a:solidFill>
                      <a:srgbClr val="DDEBF7"/>
                    </a:solidFill>
                  </a:tcPr>
                </a:tc>
              </a:tr>
              <a:tr h="365760">
                <a:tc>
                  <a:txBody>
                    <a:bodyPr/>
                    <a:lstStyle/>
                    <a:p>
                      <a:r>
                        <a:rPr sz="1200">
                          <a:solidFill>
                            <a:srgbClr val="2D3436"/>
                          </a:solidFill>
                          <a:latin typeface="Calibri"/>
                        </a:rPr>
                        <a:t>E2E</a:t>
                      </a:r>
                    </a:p>
                  </a:txBody>
                  <a:tcPr>
                    <a:solidFill>
                      <a:srgbClr val="FFFFFF"/>
                    </a:solidFill>
                  </a:tcPr>
                </a:tc>
                <a:tc>
                  <a:txBody>
                    <a:bodyPr/>
                    <a:lstStyle/>
                    <a:p>
                      <a:r>
                        <a:rPr sz="1200">
                          <a:solidFill>
                            <a:srgbClr val="2D3436"/>
                          </a:solidFill>
                          <a:latin typeface="Calibri"/>
                        </a:rPr>
                        <a:t>Slow</a:t>
                      </a:r>
                    </a:p>
                  </a:txBody>
                  <a:tcPr>
                    <a:solidFill>
                      <a:srgbClr val="FFFFFF"/>
                    </a:solidFill>
                  </a:tcPr>
                </a:tc>
                <a:tc>
                  <a:txBody>
                    <a:bodyPr/>
                    <a:lstStyle/>
                    <a:p>
                      <a:r>
                        <a:rPr sz="1200">
                          <a:solidFill>
                            <a:srgbClr val="2D3436"/>
                          </a:solidFill>
                          <a:latin typeface="Calibri"/>
                        </a:rPr>
                        <a:t>High</a:t>
                      </a:r>
                    </a:p>
                  </a:txBody>
                  <a:tcPr>
                    <a:solidFill>
                      <a:srgbClr val="FFFFFF"/>
                    </a:solidFill>
                  </a:tcPr>
                </a:tc>
                <a:tc>
                  <a:txBody>
                    <a:bodyPr/>
                    <a:lstStyle/>
                    <a:p>
                      <a:r>
                        <a:rPr sz="1200">
                          <a:solidFill>
                            <a:srgbClr val="2D3436"/>
                          </a:solidFill>
                          <a:latin typeface="Calibri"/>
                        </a:rPr>
                        <a:t>User workflows, UI</a:t>
                      </a:r>
                    </a:p>
                  </a:txBody>
                  <a:tcP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Research Opportunities for Faculty</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46</a:t>
            </a:r>
          </a:p>
        </p:txBody>
      </p:sp>
      <p:sp>
        <p:nvSpPr>
          <p:cNvPr id="5" name="TextBox 4"/>
          <p:cNvSpPr txBox="1"/>
          <p:nvPr/>
        </p:nvSpPr>
        <p:spPr>
          <a:xfrm>
            <a:off x="457200" y="1051560"/>
            <a:ext cx="10972800" cy="365760"/>
          </a:xfrm>
          <a:prstGeom prst="rect">
            <a:avLst/>
          </a:prstGeom>
          <a:noFill/>
        </p:spPr>
        <p:txBody>
          <a:bodyPr wrap="square">
            <a:spAutoFit/>
          </a:bodyPr>
          <a:lstStyle/>
          <a:p>
            <a:pPr algn="l"/>
            <a:r>
              <a:rPr sz="1600" b="1">
                <a:solidFill>
                  <a:srgbClr val="4472C4"/>
                </a:solidFill>
                <a:latin typeface="Calibri"/>
              </a:rPr>
              <a:t>Emerging Research Areas in AI-Native Software Engineering</a:t>
            </a:r>
          </a:p>
        </p:txBody>
      </p:sp>
      <p:sp>
        <p:nvSpPr>
          <p:cNvPr id="6" name="Rounded Rectangle 5"/>
          <p:cNvSpPr/>
          <p:nvPr/>
        </p:nvSpPr>
        <p:spPr>
          <a:xfrm>
            <a:off x="457200" y="1508760"/>
            <a:ext cx="5394960" cy="123444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AI-Assisted SE Education</a:t>
            </a:r>
          </a:p>
          <a:p>
            <a:pPr algn="l"/>
            <a:r>
              <a:rPr sz="1100" b="0">
                <a:solidFill>
                  <a:srgbClr val="2D3436"/>
                </a:solidFill>
                <a:latin typeface="Calibri"/>
              </a:rPr>
              <a:t>How does AI-native methodology impact student learning outcomes?</a:t>
            </a:r>
          </a:p>
          <a:p>
            <a:pPr algn="l"/>
            <a:r>
              <a:rPr sz="1100" b="0">
                <a:solidFill>
                  <a:srgbClr val="2D3436"/>
                </a:solidFill>
                <a:latin typeface="Calibri"/>
              </a:rPr>
              <a:t>What assessment methods work best for AI-augmented coursework?</a:t>
            </a:r>
          </a:p>
        </p:txBody>
      </p:sp>
      <p:sp>
        <p:nvSpPr>
          <p:cNvPr id="7" name="Rounded Rectangle 6"/>
          <p:cNvSpPr/>
          <p:nvPr/>
        </p:nvSpPr>
        <p:spPr>
          <a:xfrm>
            <a:off x="6217920" y="1508760"/>
            <a:ext cx="5394960" cy="123444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Spec-to-Code Traceability</a:t>
            </a:r>
          </a:p>
          <a:p>
            <a:pPr algn="l"/>
            <a:r>
              <a:rPr sz="1100" b="0">
                <a:solidFill>
                  <a:srgbClr val="2D3436"/>
                </a:solidFill>
                <a:latin typeface="Calibri"/>
              </a:rPr>
              <a:t>Can we maintain formal traceability from specs through AI generation?</a:t>
            </a:r>
          </a:p>
          <a:p>
            <a:pPr algn="l"/>
            <a:r>
              <a:rPr sz="1100" b="0">
                <a:solidFill>
                  <a:srgbClr val="2D3436"/>
                </a:solidFill>
                <a:latin typeface="Calibri"/>
              </a:rPr>
              <a:t>How do we verify generated code satisfies original requirements?</a:t>
            </a:r>
          </a:p>
        </p:txBody>
      </p:sp>
      <p:sp>
        <p:nvSpPr>
          <p:cNvPr id="8" name="Rounded Rectangle 7"/>
          <p:cNvSpPr/>
          <p:nvPr/>
        </p:nvSpPr>
        <p:spPr>
          <a:xfrm>
            <a:off x="457200" y="2971800"/>
            <a:ext cx="5394960" cy="123444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Agentic SDLC Effectiveness</a:t>
            </a:r>
          </a:p>
          <a:p>
            <a:pPr algn="l"/>
            <a:r>
              <a:rPr sz="1100" b="0">
                <a:solidFill>
                  <a:srgbClr val="2D3436"/>
                </a:solidFill>
                <a:latin typeface="Calibri"/>
              </a:rPr>
              <a:t>How effective are multi-agent workflows vs. single-agent approaches?</a:t>
            </a:r>
          </a:p>
          <a:p>
            <a:pPr algn="l"/>
            <a:r>
              <a:rPr sz="1100" b="0">
                <a:solidFill>
                  <a:srgbClr val="2D3436"/>
                </a:solidFill>
                <a:latin typeface="Calibri"/>
              </a:rPr>
              <a:t>What orchestration patterns yield the best results?</a:t>
            </a:r>
          </a:p>
        </p:txBody>
      </p:sp>
      <p:sp>
        <p:nvSpPr>
          <p:cNvPr id="9" name="Rounded Rectangle 8"/>
          <p:cNvSpPr/>
          <p:nvPr/>
        </p:nvSpPr>
        <p:spPr>
          <a:xfrm>
            <a:off x="6217920" y="2971800"/>
            <a:ext cx="5394960" cy="1234440"/>
          </a:xfrm>
          <a:prstGeom prst="roundRect">
            <a:avLst/>
          </a:prstGeom>
          <a:solidFill>
            <a:srgbClr val="EFE8F9"/>
          </a:solidFill>
          <a:ln w="19050">
            <a:solidFill>
              <a:srgbClr val="9B59B6"/>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Security of Generated Code</a:t>
            </a:r>
          </a:p>
          <a:p>
            <a:pPr algn="l"/>
            <a:r>
              <a:rPr sz="1100" b="0">
                <a:solidFill>
                  <a:srgbClr val="2D3436"/>
                </a:solidFill>
                <a:latin typeface="Calibri"/>
              </a:rPr>
              <a:t>What vulnerability patterns are common in AI-generated code?</a:t>
            </a:r>
          </a:p>
          <a:p>
            <a:pPr algn="l"/>
            <a:r>
              <a:rPr sz="1100" b="0">
                <a:solidFill>
                  <a:srgbClr val="2D3436"/>
                </a:solidFill>
                <a:latin typeface="Calibri"/>
              </a:rPr>
              <a:t>Can AI-based security review catch AI-introduced vulnerabilities?</a:t>
            </a:r>
          </a:p>
        </p:txBody>
      </p:sp>
      <p:sp>
        <p:nvSpPr>
          <p:cNvPr id="10" name="Rounded Rectangle 9"/>
          <p:cNvSpPr/>
          <p:nvPr/>
        </p:nvSpPr>
        <p:spPr>
          <a:xfrm>
            <a:off x="457200" y="4434840"/>
            <a:ext cx="5394960" cy="1234440"/>
          </a:xfrm>
          <a:prstGeom prst="roundRect">
            <a:avLst/>
          </a:prstGeom>
          <a:solidFill>
            <a:srgbClr val="E0F7FA"/>
          </a:solidFill>
          <a:ln w="19050">
            <a:solidFill>
              <a:srgbClr val="008B8B"/>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Human-AI Collaboration</a:t>
            </a:r>
          </a:p>
          <a:p>
            <a:pPr algn="l"/>
            <a:r>
              <a:rPr sz="1100" b="0">
                <a:solidFill>
                  <a:srgbClr val="2D3436"/>
                </a:solidFill>
                <a:latin typeface="Calibri"/>
              </a:rPr>
              <a:t>How do developers' roles change in AI-native workflows?</a:t>
            </a:r>
          </a:p>
          <a:p>
            <a:pPr algn="l"/>
            <a:r>
              <a:rPr sz="1100" b="0">
                <a:solidFill>
                  <a:srgbClr val="2D3436"/>
                </a:solidFill>
                <a:latin typeface="Calibri"/>
              </a:rPr>
              <a:t>What skills become more/less important with AI-native practices?</a:t>
            </a:r>
          </a:p>
        </p:txBody>
      </p:sp>
      <p:sp>
        <p:nvSpPr>
          <p:cNvPr id="11" name="Rounded Rectangle 10"/>
          <p:cNvSpPr/>
          <p:nvPr/>
        </p:nvSpPr>
        <p:spPr>
          <a:xfrm>
            <a:off x="6217920" y="4434840"/>
            <a:ext cx="5394960" cy="123444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100" b="1">
                <a:solidFill>
                  <a:srgbClr val="2D3436"/>
                </a:solidFill>
                <a:latin typeface="Calibri"/>
              </a:rPr>
              <a:t>Cost-Benefit Analysis</a:t>
            </a:r>
          </a:p>
          <a:p>
            <a:pPr algn="l"/>
            <a:r>
              <a:rPr sz="1100" b="0">
                <a:solidFill>
                  <a:srgbClr val="2D3436"/>
                </a:solidFill>
                <a:latin typeface="Calibri"/>
              </a:rPr>
              <a:t>What is the true ROI of AI-native development?</a:t>
            </a:r>
          </a:p>
          <a:p>
            <a:pPr algn="l"/>
            <a:r>
              <a:rPr sz="1100" b="0">
                <a:solidFill>
                  <a:srgbClr val="2D3436"/>
                </a:solidFill>
                <a:latin typeface="Calibri"/>
              </a:rPr>
              <a:t>How do we measure productivity gains accurately?</a:t>
            </a:r>
          </a:p>
        </p:txBody>
      </p:sp>
      <p:sp>
        <p:nvSpPr>
          <p:cNvPr id="12" name="Rounded Rectangle 11"/>
          <p:cNvSpPr/>
          <p:nvPr/>
        </p:nvSpPr>
        <p:spPr>
          <a:xfrm>
            <a:off x="457200" y="5623560"/>
            <a:ext cx="11247120" cy="45720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Collaboration Welcome:  Joint publications  |  Cross-institutional studies  |  Industry partnerships  |  Grant proposals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Instructor Guide &amp; Pitfalls</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47</a:t>
            </a:r>
          </a:p>
        </p:txBody>
      </p:sp>
      <p:sp>
        <p:nvSpPr>
          <p:cNvPr id="5" name="TextBox 4"/>
          <p:cNvSpPr txBox="1"/>
          <p:nvPr/>
        </p:nvSpPr>
        <p:spPr>
          <a:xfrm>
            <a:off x="457200" y="1051560"/>
            <a:ext cx="5303520" cy="365760"/>
          </a:xfrm>
          <a:prstGeom prst="rect">
            <a:avLst/>
          </a:prstGeom>
          <a:noFill/>
        </p:spPr>
        <p:txBody>
          <a:bodyPr wrap="square">
            <a:spAutoFit/>
          </a:bodyPr>
          <a:lstStyle/>
          <a:p>
            <a:pPr algn="l"/>
            <a:r>
              <a:rPr sz="1600" b="1">
                <a:solidFill>
                  <a:srgbClr val="ED7D31"/>
                </a:solidFill>
                <a:latin typeface="Calibri"/>
              </a:rPr>
              <a:t>Common Pitfalls</a:t>
            </a:r>
          </a:p>
        </p:txBody>
      </p:sp>
      <p:graphicFrame>
        <p:nvGraphicFramePr>
          <p:cNvPr id="6" name="Table 5"/>
          <p:cNvGraphicFramePr>
            <a:graphicFrameLocks noGrp="1"/>
          </p:cNvGraphicFramePr>
          <p:nvPr/>
        </p:nvGraphicFramePr>
        <p:xfrm>
          <a:off x="457200" y="1463040"/>
          <a:ext cx="5486400" cy="4389120"/>
        </p:xfrm>
        <a:graphic>
          <a:graphicData uri="http://schemas.openxmlformats.org/drawingml/2006/table">
            <a:tbl>
              <a:tblPr firstRow="1" bandRow="1">
                <a:tableStyleId>{5C22544A-7EE6-4342-B048-85BDC9FD1C3A}</a:tableStyleId>
              </a:tblPr>
              <a:tblGrid>
                <a:gridCol w="2743200"/>
                <a:gridCol w="2743200"/>
              </a:tblGrid>
              <a:tr h="627017">
                <a:tc>
                  <a:txBody>
                    <a:bodyPr/>
                    <a:lstStyle/>
                    <a:p>
                      <a:r>
                        <a:rPr sz="1200" b="1">
                          <a:solidFill>
                            <a:srgbClr val="FFFFFF"/>
                          </a:solidFill>
                          <a:latin typeface="Calibri"/>
                        </a:rPr>
                        <a:t>Pitfall</a:t>
                      </a:r>
                    </a:p>
                  </a:txBody>
                  <a:tcPr>
                    <a:solidFill>
                      <a:srgbClr val="2F75B5"/>
                    </a:solidFill>
                  </a:tcPr>
                </a:tc>
                <a:tc>
                  <a:txBody>
                    <a:bodyPr/>
                    <a:lstStyle/>
                    <a:p>
                      <a:r>
                        <a:rPr sz="1200" b="1">
                          <a:solidFill>
                            <a:srgbClr val="FFFFFF"/>
                          </a:solidFill>
                          <a:latin typeface="Calibri"/>
                        </a:rPr>
                        <a:t>Mitigation Strategy</a:t>
                      </a:r>
                    </a:p>
                  </a:txBody>
                  <a:tcPr>
                    <a:solidFill>
                      <a:srgbClr val="2F75B5"/>
                    </a:solidFill>
                  </a:tcPr>
                </a:tc>
              </a:tr>
              <a:tr h="627017">
                <a:tc>
                  <a:txBody>
                    <a:bodyPr/>
                    <a:lstStyle/>
                    <a:p>
                      <a:r>
                        <a:rPr sz="1200">
                          <a:solidFill>
                            <a:srgbClr val="2D3436"/>
                          </a:solidFill>
                          <a:latin typeface="Calibri"/>
                        </a:rPr>
                        <a:t>Students skip the spec</a:t>
                      </a:r>
                    </a:p>
                    <a:p>
                      <a:r>
                        <a:rPr sz="1200">
                          <a:solidFill>
                            <a:srgbClr val="2D3436"/>
                          </a:solidFill>
                          <a:latin typeface="Calibri"/>
                        </a:rPr>
                        <a:t>and jump to code</a:t>
                      </a:r>
                    </a:p>
                  </a:txBody>
                  <a:tcPr>
                    <a:solidFill>
                      <a:srgbClr val="DDEBF7"/>
                    </a:solidFill>
                  </a:tcPr>
                </a:tc>
                <a:tc>
                  <a:txBody>
                    <a:bodyPr/>
                    <a:lstStyle/>
                    <a:p>
                      <a:r>
                        <a:rPr sz="1200">
                          <a:solidFill>
                            <a:srgbClr val="2D3436"/>
                          </a:solidFill>
                          <a:latin typeface="Calibri"/>
                        </a:rPr>
                        <a:t>Require spec submission before</a:t>
                      </a:r>
                    </a:p>
                    <a:p>
                      <a:r>
                        <a:rPr sz="1200">
                          <a:solidFill>
                            <a:srgbClr val="2D3436"/>
                          </a:solidFill>
                          <a:latin typeface="Calibri"/>
                        </a:rPr>
                        <a:t>code generation is allowed</a:t>
                      </a:r>
                    </a:p>
                  </a:txBody>
                  <a:tcPr>
                    <a:solidFill>
                      <a:srgbClr val="DDEBF7"/>
                    </a:solidFill>
                  </a:tcPr>
                </a:tc>
              </a:tr>
              <a:tr h="627017">
                <a:tc>
                  <a:txBody>
                    <a:bodyPr/>
                    <a:lstStyle/>
                    <a:p>
                      <a:r>
                        <a:rPr sz="1200">
                          <a:solidFill>
                            <a:srgbClr val="2D3436"/>
                          </a:solidFill>
                          <a:latin typeface="Calibri"/>
                        </a:rPr>
                        <a:t>Over-reliance on AI</a:t>
                      </a:r>
                    </a:p>
                    <a:p>
                      <a:r>
                        <a:rPr sz="1200">
                          <a:solidFill>
                            <a:srgbClr val="2D3436"/>
                          </a:solidFill>
                          <a:latin typeface="Calibri"/>
                        </a:rPr>
                        <a:t>without understanding</a:t>
                      </a:r>
                    </a:p>
                  </a:txBody>
                  <a:tcPr>
                    <a:solidFill>
                      <a:srgbClr val="E2EFDA"/>
                    </a:solidFill>
                  </a:tcPr>
                </a:tc>
                <a:tc>
                  <a:txBody>
                    <a:bodyPr/>
                    <a:lstStyle/>
                    <a:p>
                      <a:r>
                        <a:rPr sz="1200">
                          <a:solidFill>
                            <a:srgbClr val="2D3436"/>
                          </a:solidFill>
                          <a:latin typeface="Calibri"/>
                        </a:rPr>
                        <a:t>Assess via oral explanation</a:t>
                      </a:r>
                    </a:p>
                    <a:p>
                      <a:r>
                        <a:rPr sz="1200">
                          <a:solidFill>
                            <a:srgbClr val="2D3436"/>
                          </a:solidFill>
                          <a:latin typeface="Calibri"/>
                        </a:rPr>
                        <a:t>and code modification exercises</a:t>
                      </a:r>
                    </a:p>
                  </a:txBody>
                  <a:tcPr>
                    <a:solidFill>
                      <a:srgbClr val="E2EFDA"/>
                    </a:solidFill>
                  </a:tcPr>
                </a:tc>
              </a:tr>
              <a:tr h="627017">
                <a:tc>
                  <a:txBody>
                    <a:bodyPr/>
                    <a:lstStyle/>
                    <a:p>
                      <a:r>
                        <a:rPr sz="1200">
                          <a:solidFill>
                            <a:srgbClr val="2D3436"/>
                          </a:solidFill>
                          <a:latin typeface="Calibri"/>
                        </a:rPr>
                        <a:t>Copy-paste without</a:t>
                      </a:r>
                    </a:p>
                    <a:p>
                      <a:r>
                        <a:rPr sz="1200">
                          <a:solidFill>
                            <a:srgbClr val="2D3436"/>
                          </a:solidFill>
                          <a:latin typeface="Calibri"/>
                        </a:rPr>
                        <a:t>review or testing</a:t>
                      </a:r>
                    </a:p>
                  </a:txBody>
                  <a:tcPr>
                    <a:solidFill>
                      <a:srgbClr val="FCE4D6"/>
                    </a:solidFill>
                  </a:tcPr>
                </a:tc>
                <a:tc>
                  <a:txBody>
                    <a:bodyPr/>
                    <a:lstStyle/>
                    <a:p>
                      <a:r>
                        <a:rPr sz="1200">
                          <a:solidFill>
                            <a:srgbClr val="2D3436"/>
                          </a:solidFill>
                          <a:latin typeface="Calibri"/>
                        </a:rPr>
                        <a:t>Mandate code review checklists</a:t>
                      </a:r>
                    </a:p>
                    <a:p>
                      <a:r>
                        <a:rPr sz="1200">
                          <a:solidFill>
                            <a:srgbClr val="2D3436"/>
                          </a:solidFill>
                          <a:latin typeface="Calibri"/>
                        </a:rPr>
                        <a:t>and minimum test coverage</a:t>
                      </a:r>
                    </a:p>
                  </a:txBody>
                  <a:tcPr>
                    <a:solidFill>
                      <a:srgbClr val="FCE4D6"/>
                    </a:solidFill>
                  </a:tcPr>
                </a:tc>
              </a:tr>
              <a:tr h="627017">
                <a:tc>
                  <a:txBody>
                    <a:bodyPr/>
                    <a:lstStyle/>
                    <a:p>
                      <a:r>
                        <a:rPr sz="1200">
                          <a:solidFill>
                            <a:srgbClr val="2D3436"/>
                          </a:solidFill>
                          <a:latin typeface="Calibri"/>
                        </a:rPr>
                        <a:t>Ignoring security</a:t>
                      </a:r>
                    </a:p>
                    <a:p>
                      <a:r>
                        <a:rPr sz="1200">
                          <a:solidFill>
                            <a:srgbClr val="2D3436"/>
                          </a:solidFill>
                          <a:latin typeface="Calibri"/>
                        </a:rPr>
                        <a:t>vulnerabilities</a:t>
                      </a:r>
                    </a:p>
                  </a:txBody>
                  <a:tcPr>
                    <a:solidFill>
                      <a:srgbClr val="FFF2CC"/>
                    </a:solidFill>
                  </a:tcPr>
                </a:tc>
                <a:tc>
                  <a:txBody>
                    <a:bodyPr/>
                    <a:lstStyle/>
                    <a:p>
                      <a:r>
                        <a:rPr sz="1200">
                          <a:solidFill>
                            <a:srgbClr val="2D3436"/>
                          </a:solidFill>
                          <a:latin typeface="Calibri"/>
                        </a:rPr>
                        <a:t>Integrate security scanning in</a:t>
                      </a:r>
                    </a:p>
                    <a:p>
                      <a:r>
                        <a:rPr sz="1200">
                          <a:solidFill>
                            <a:srgbClr val="2D3436"/>
                          </a:solidFill>
                          <a:latin typeface="Calibri"/>
                        </a:rPr>
                        <a:t>CI/CD; grade on security posture</a:t>
                      </a:r>
                    </a:p>
                  </a:txBody>
                  <a:tcPr>
                    <a:solidFill>
                      <a:srgbClr val="FFF2CC"/>
                    </a:solidFill>
                  </a:tcPr>
                </a:tc>
              </a:tr>
              <a:tr h="627017">
                <a:tc>
                  <a:txBody>
                    <a:bodyPr/>
                    <a:lstStyle/>
                    <a:p>
                      <a:r>
                        <a:rPr sz="1200">
                          <a:solidFill>
                            <a:srgbClr val="2D3436"/>
                          </a:solidFill>
                          <a:latin typeface="Calibri"/>
                        </a:rPr>
                        <a:t>Prompt engineering</a:t>
                      </a:r>
                    </a:p>
                    <a:p>
                      <a:r>
                        <a:rPr sz="1200">
                          <a:solidFill>
                            <a:srgbClr val="2D3436"/>
                          </a:solidFill>
                          <a:latin typeface="Calibri"/>
                        </a:rPr>
                        <a:t>frustration</a:t>
                      </a:r>
                    </a:p>
                  </a:txBody>
                  <a:tcPr>
                    <a:solidFill>
                      <a:srgbClr val="EFE8F9"/>
                    </a:solidFill>
                  </a:tcPr>
                </a:tc>
                <a:tc>
                  <a:txBody>
                    <a:bodyPr/>
                    <a:lstStyle/>
                    <a:p>
                      <a:r>
                        <a:rPr sz="1200">
                          <a:solidFill>
                            <a:srgbClr val="2D3436"/>
                          </a:solidFill>
                          <a:latin typeface="Calibri"/>
                        </a:rPr>
                        <a:t>Provide starter templates;</a:t>
                      </a:r>
                    </a:p>
                    <a:p>
                      <a:r>
                        <a:rPr sz="1200">
                          <a:solidFill>
                            <a:srgbClr val="2D3436"/>
                          </a:solidFill>
                          <a:latin typeface="Calibri"/>
                        </a:rPr>
                        <a:t>teach iterative refinement</a:t>
                      </a:r>
                    </a:p>
                  </a:txBody>
                  <a:tcPr>
                    <a:solidFill>
                      <a:srgbClr val="EFE8F9"/>
                    </a:solidFill>
                  </a:tcPr>
                </a:tc>
              </a:tr>
              <a:tr h="627018">
                <a:tc>
                  <a:txBody>
                    <a:bodyPr/>
                    <a:lstStyle/>
                    <a:p>
                      <a:r>
                        <a:rPr sz="1200">
                          <a:solidFill>
                            <a:srgbClr val="2D3436"/>
                          </a:solidFill>
                          <a:latin typeface="Calibri"/>
                        </a:rPr>
                        <a:t>Tool access issues</a:t>
                      </a:r>
                    </a:p>
                    <a:p>
                      <a:r>
                        <a:rPr sz="1200">
                          <a:solidFill>
                            <a:srgbClr val="2D3436"/>
                          </a:solidFill>
                          <a:latin typeface="Calibri"/>
                        </a:rPr>
                        <a:t>(cost, availability)</a:t>
                      </a:r>
                    </a:p>
                  </a:txBody>
                  <a:tcPr>
                    <a:solidFill>
                      <a:srgbClr val="E0F7FA"/>
                    </a:solidFill>
                  </a:tcPr>
                </a:tc>
                <a:tc>
                  <a:txBody>
                    <a:bodyPr/>
                    <a:lstStyle/>
                    <a:p>
                      <a:r>
                        <a:rPr sz="1200">
                          <a:solidFill>
                            <a:srgbClr val="2D3436"/>
                          </a:solidFill>
                          <a:latin typeface="Calibri"/>
                        </a:rPr>
                        <a:t>Use free tiers; have</a:t>
                      </a:r>
                    </a:p>
                    <a:p>
                      <a:r>
                        <a:rPr sz="1200">
                          <a:solidFill>
                            <a:srgbClr val="2D3436"/>
                          </a:solidFill>
                          <a:latin typeface="Calibri"/>
                        </a:rPr>
                        <a:t>offline backup exercises</a:t>
                      </a:r>
                    </a:p>
                  </a:txBody>
                  <a:tcPr>
                    <a:solidFill>
                      <a:srgbClr val="E0F7FA"/>
                    </a:solidFill>
                  </a:tcPr>
                </a:tc>
              </a:tr>
            </a:tbl>
          </a:graphicData>
        </a:graphic>
      </p:graphicFrame>
      <p:sp>
        <p:nvSpPr>
          <p:cNvPr id="7" name="TextBox 6"/>
          <p:cNvSpPr txBox="1"/>
          <p:nvPr/>
        </p:nvSpPr>
        <p:spPr>
          <a:xfrm>
            <a:off x="6400800" y="1051560"/>
            <a:ext cx="5029200" cy="365760"/>
          </a:xfrm>
          <a:prstGeom prst="rect">
            <a:avLst/>
          </a:prstGeom>
          <a:noFill/>
        </p:spPr>
        <p:txBody>
          <a:bodyPr wrap="square">
            <a:spAutoFit/>
          </a:bodyPr>
          <a:lstStyle/>
          <a:p>
            <a:pPr algn="l"/>
            <a:r>
              <a:rPr sz="1600" b="1">
                <a:solidFill>
                  <a:srgbClr val="70AD47"/>
                </a:solidFill>
                <a:latin typeface="Calibri"/>
              </a:rPr>
              <a:t>Facilitation Tips</a:t>
            </a:r>
          </a:p>
        </p:txBody>
      </p:sp>
      <p:sp>
        <p:nvSpPr>
          <p:cNvPr id="8" name="TextBox 7"/>
          <p:cNvSpPr txBox="1"/>
          <p:nvPr/>
        </p:nvSpPr>
        <p:spPr>
          <a:xfrm>
            <a:off x="6400800" y="1508760"/>
            <a:ext cx="5029200" cy="4572000"/>
          </a:xfrm>
          <a:prstGeom prst="rect">
            <a:avLst/>
          </a:prstGeom>
          <a:noFill/>
        </p:spPr>
        <p:txBody>
          <a:bodyPr wrap="square">
            <a:spAutoFit/>
          </a:bodyPr>
          <a:lstStyle/>
          <a:p>
            <a:pPr>
              <a:lnSpc>
                <a:spcPct val="130000"/>
              </a:lnSpc>
              <a:spcAft>
                <a:spcPts val="800"/>
              </a:spcAft>
            </a:pPr>
            <a:r>
              <a:rPr sz="1200">
                <a:solidFill>
                  <a:srgbClr val="2D3436"/>
                </a:solidFill>
                <a:latin typeface="Calibri"/>
              </a:rPr>
              <a:t>• Start with a live demo before hands-on exercises</a:t>
            </a:r>
          </a:p>
          <a:p>
            <a:pPr>
              <a:lnSpc>
                <a:spcPct val="130000"/>
              </a:lnSpc>
              <a:spcAft>
                <a:spcPts val="800"/>
              </a:spcAft>
            </a:pPr>
            <a:r>
              <a:rPr sz="1200">
                <a:solidFill>
                  <a:srgbClr val="2D3436"/>
                </a:solidFill>
                <a:latin typeface="Calibri"/>
              </a:rPr>
              <a:t>• Pair experienced and novice participants</a:t>
            </a:r>
          </a:p>
          <a:p>
            <a:pPr>
              <a:lnSpc>
                <a:spcPct val="130000"/>
              </a:lnSpc>
              <a:spcAft>
                <a:spcPts val="800"/>
              </a:spcAft>
            </a:pPr>
            <a:r>
              <a:rPr sz="1200">
                <a:solidFill>
                  <a:srgbClr val="2D3436"/>
                </a:solidFill>
                <a:latin typeface="Calibri"/>
              </a:rPr>
              <a:t>• Keep exercises time-boxed (20-30 min each)</a:t>
            </a:r>
          </a:p>
          <a:p>
            <a:pPr>
              <a:lnSpc>
                <a:spcPct val="130000"/>
              </a:lnSpc>
              <a:spcAft>
                <a:spcPts val="800"/>
              </a:spcAft>
            </a:pPr>
            <a:r>
              <a:rPr sz="1200">
                <a:solidFill>
                  <a:srgbClr val="2D3436"/>
                </a:solidFill>
                <a:latin typeface="Calibri"/>
              </a:rPr>
              <a:t>• Circulate during hands-on time; don't just observe</a:t>
            </a:r>
          </a:p>
          <a:p>
            <a:pPr>
              <a:lnSpc>
                <a:spcPct val="130000"/>
              </a:lnSpc>
              <a:spcAft>
                <a:spcPts val="800"/>
              </a:spcAft>
            </a:pPr>
            <a:r>
              <a:rPr sz="1200">
                <a:solidFill>
                  <a:srgbClr val="2D3436"/>
                </a:solidFill>
                <a:latin typeface="Calibri"/>
              </a:rPr>
              <a:t>• Have pre-written backup solutions ready</a:t>
            </a:r>
          </a:p>
          <a:p>
            <a:pPr>
              <a:lnSpc>
                <a:spcPct val="130000"/>
              </a:lnSpc>
              <a:spcAft>
                <a:spcPts val="800"/>
              </a:spcAft>
            </a:pPr>
            <a:r>
              <a:rPr sz="1200">
                <a:solidFill>
                  <a:srgbClr val="2D3436"/>
                </a:solidFill>
                <a:latin typeface="Calibri"/>
              </a:rPr>
              <a:t>• Encourage questions; create safe failure space</a:t>
            </a:r>
          </a:p>
          <a:p>
            <a:pPr>
              <a:lnSpc>
                <a:spcPct val="130000"/>
              </a:lnSpc>
              <a:spcAft>
                <a:spcPts val="800"/>
              </a:spcAft>
            </a:pPr>
            <a:r>
              <a:rPr sz="1200">
                <a:solidFill>
                  <a:srgbClr val="2D3436"/>
                </a:solidFill>
                <a:latin typeface="Calibri"/>
              </a:rPr>
              <a:t>• Debrief after each exercise: what surprised you?</a:t>
            </a:r>
          </a:p>
          <a:p>
            <a:pPr>
              <a:lnSpc>
                <a:spcPct val="130000"/>
              </a:lnSpc>
              <a:spcAft>
                <a:spcPts val="800"/>
              </a:spcAft>
            </a:pPr>
            <a:r>
              <a:rPr sz="1200">
                <a:solidFill>
                  <a:srgbClr val="2D3436"/>
                </a:solidFill>
                <a:latin typeface="Calibri"/>
              </a:rPr>
              <a:t>• Adjust pace based on room experience level</a:t>
            </a:r>
          </a:p>
          <a:p>
            <a:pPr>
              <a:lnSpc>
                <a:spcPct val="130000"/>
              </a:lnSpc>
              <a:spcAft>
                <a:spcPts val="800"/>
              </a:spcAft>
            </a:pPr>
            <a:r>
              <a:rPr sz="1200">
                <a:solidFill>
                  <a:srgbClr val="2D3436"/>
                </a:solidFill>
                <a:latin typeface="Calibri"/>
              </a:rPr>
              <a:t>• Use screen sharing for collaborative debugging</a:t>
            </a:r>
          </a:p>
          <a:p>
            <a:pPr>
              <a:lnSpc>
                <a:spcPct val="130000"/>
              </a:lnSpc>
              <a:spcAft>
                <a:spcPts val="800"/>
              </a:spcAft>
            </a:pPr>
            <a:r>
              <a:rPr sz="1200">
                <a:solidFill>
                  <a:srgbClr val="2D3436"/>
                </a:solidFill>
                <a:latin typeface="Calibri"/>
              </a:rPr>
              <a:t>• End each section with a reflection question</a:t>
            </a:r>
          </a:p>
          <a:p>
            <a:pPr>
              <a:lnSpc>
                <a:spcPct val="130000"/>
              </a:lnSpc>
              <a:spcAft>
                <a:spcPts val="800"/>
              </a:spcAft>
            </a:pPr>
            <a:r>
              <a:rPr sz="1200">
                <a:solidFill>
                  <a:srgbClr val="2D3436"/>
                </a:solidFill>
                <a:latin typeface="Calibri"/>
              </a:rPr>
              <a:t>• Document common issues for future sessions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Assessment Rubric for AI-Native Projects</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48</a:t>
            </a:r>
          </a:p>
        </p:txBody>
      </p:sp>
      <p:sp>
        <p:nvSpPr>
          <p:cNvPr id="5" name="TextBox 4"/>
          <p:cNvSpPr txBox="1"/>
          <p:nvPr/>
        </p:nvSpPr>
        <p:spPr>
          <a:xfrm>
            <a:off x="457200" y="1051560"/>
            <a:ext cx="10972800" cy="274320"/>
          </a:xfrm>
          <a:prstGeom prst="rect">
            <a:avLst/>
          </a:prstGeom>
          <a:noFill/>
        </p:spPr>
        <p:txBody>
          <a:bodyPr wrap="square">
            <a:spAutoFit/>
          </a:bodyPr>
          <a:lstStyle/>
          <a:p>
            <a:pPr algn="l"/>
            <a:r>
              <a:rPr sz="1500" b="1">
                <a:solidFill>
                  <a:srgbClr val="4472C4"/>
                </a:solidFill>
                <a:latin typeface="Calibri"/>
              </a:rPr>
              <a:t>Rubric for Evaluating AI-Native Software Projects</a:t>
            </a:r>
          </a:p>
        </p:txBody>
      </p:sp>
      <p:graphicFrame>
        <p:nvGraphicFramePr>
          <p:cNvPr id="6" name="Table 5"/>
          <p:cNvGraphicFramePr>
            <a:graphicFrameLocks noGrp="1"/>
          </p:cNvGraphicFramePr>
          <p:nvPr/>
        </p:nvGraphicFramePr>
        <p:xfrm>
          <a:off x="274320" y="1371600"/>
          <a:ext cx="11612880" cy="4572000"/>
        </p:xfrm>
        <a:graphic>
          <a:graphicData uri="http://schemas.openxmlformats.org/drawingml/2006/table">
            <a:tbl>
              <a:tblPr firstRow="1" bandRow="1">
                <a:tableStyleId>{5C22544A-7EE6-4342-B048-85BDC9FD1C3A}</a:tableStyleId>
              </a:tblPr>
              <a:tblGrid>
                <a:gridCol w="2903220"/>
                <a:gridCol w="2903220"/>
                <a:gridCol w="2903220"/>
                <a:gridCol w="2903220"/>
              </a:tblGrid>
              <a:tr h="653142">
                <a:tc>
                  <a:txBody>
                    <a:bodyPr/>
                    <a:lstStyle/>
                    <a:p>
                      <a:r>
                        <a:rPr sz="1200" b="1">
                          <a:solidFill>
                            <a:srgbClr val="FFFFFF"/>
                          </a:solidFill>
                          <a:latin typeface="Calibri"/>
                        </a:rPr>
                        <a:t>Criteria</a:t>
                      </a:r>
                    </a:p>
                  </a:txBody>
                  <a:tcPr>
                    <a:solidFill>
                      <a:srgbClr val="2F75B5"/>
                    </a:solidFill>
                  </a:tcPr>
                </a:tc>
                <a:tc>
                  <a:txBody>
                    <a:bodyPr/>
                    <a:lstStyle/>
                    <a:p>
                      <a:r>
                        <a:rPr sz="1200" b="1">
                          <a:solidFill>
                            <a:srgbClr val="FFFFFF"/>
                          </a:solidFill>
                          <a:latin typeface="Calibri"/>
                        </a:rPr>
                        <a:t>Excellent (A)</a:t>
                      </a:r>
                    </a:p>
                  </a:txBody>
                  <a:tcPr>
                    <a:solidFill>
                      <a:srgbClr val="2F75B5"/>
                    </a:solidFill>
                  </a:tcPr>
                </a:tc>
                <a:tc>
                  <a:txBody>
                    <a:bodyPr/>
                    <a:lstStyle/>
                    <a:p>
                      <a:r>
                        <a:rPr sz="1200" b="1">
                          <a:solidFill>
                            <a:srgbClr val="FFFFFF"/>
                          </a:solidFill>
                          <a:latin typeface="Calibri"/>
                        </a:rPr>
                        <a:t>Good (B)</a:t>
                      </a:r>
                    </a:p>
                  </a:txBody>
                  <a:tcPr>
                    <a:solidFill>
                      <a:srgbClr val="2F75B5"/>
                    </a:solidFill>
                  </a:tcPr>
                </a:tc>
                <a:tc>
                  <a:txBody>
                    <a:bodyPr/>
                    <a:lstStyle/>
                    <a:p>
                      <a:r>
                        <a:rPr sz="1200" b="1">
                          <a:solidFill>
                            <a:srgbClr val="FFFFFF"/>
                          </a:solidFill>
                          <a:latin typeface="Calibri"/>
                        </a:rPr>
                        <a:t>Needs Improvement (C)</a:t>
                      </a:r>
                    </a:p>
                  </a:txBody>
                  <a:tcPr>
                    <a:solidFill>
                      <a:srgbClr val="2F75B5"/>
                    </a:solidFill>
                  </a:tcPr>
                </a:tc>
              </a:tr>
              <a:tr h="653142">
                <a:tc>
                  <a:txBody>
                    <a:bodyPr/>
                    <a:lstStyle/>
                    <a:p>
                      <a:r>
                        <a:rPr sz="1200">
                          <a:solidFill>
                            <a:srgbClr val="2D3436"/>
                          </a:solidFill>
                          <a:latin typeface="Calibri"/>
                        </a:rPr>
                        <a:t>Specification</a:t>
                      </a:r>
                    </a:p>
                    <a:p>
                      <a:r>
                        <a:rPr sz="1200">
                          <a:solidFill>
                            <a:srgbClr val="2D3436"/>
                          </a:solidFill>
                          <a:latin typeface="Calibri"/>
                        </a:rPr>
                        <a:t>Quality</a:t>
                      </a:r>
                    </a:p>
                  </a:txBody>
                  <a:tcPr>
                    <a:solidFill>
                      <a:srgbClr val="DDEBF7"/>
                    </a:solidFill>
                  </a:tcPr>
                </a:tc>
                <a:tc>
                  <a:txBody>
                    <a:bodyPr/>
                    <a:lstStyle/>
                    <a:p>
                      <a:r>
                        <a:rPr sz="1200">
                          <a:solidFill>
                            <a:srgbClr val="2D3436"/>
                          </a:solidFill>
                          <a:latin typeface="Calibri"/>
                        </a:rPr>
                        <a:t>Complete, structured spec</a:t>
                      </a:r>
                    </a:p>
                    <a:p>
                      <a:r>
                        <a:rPr sz="1200">
                          <a:solidFill>
                            <a:srgbClr val="2D3436"/>
                          </a:solidFill>
                          <a:latin typeface="Calibri"/>
                        </a:rPr>
                        <a:t>with acceptance criteria</a:t>
                      </a:r>
                    </a:p>
                  </a:txBody>
                  <a:tcPr>
                    <a:solidFill>
                      <a:srgbClr val="DDEBF7"/>
                    </a:solidFill>
                  </a:tcPr>
                </a:tc>
                <a:tc>
                  <a:txBody>
                    <a:bodyPr/>
                    <a:lstStyle/>
                    <a:p>
                      <a:r>
                        <a:rPr sz="1200">
                          <a:solidFill>
                            <a:srgbClr val="2D3436"/>
                          </a:solidFill>
                          <a:latin typeface="Calibri"/>
                        </a:rPr>
                        <a:t>Adequate spec with</a:t>
                      </a:r>
                    </a:p>
                    <a:p>
                      <a:r>
                        <a:rPr sz="1200">
                          <a:solidFill>
                            <a:srgbClr val="2D3436"/>
                          </a:solidFill>
                          <a:latin typeface="Calibri"/>
                        </a:rPr>
                        <a:t>some gaps</a:t>
                      </a:r>
                    </a:p>
                  </a:txBody>
                  <a:tcPr>
                    <a:solidFill>
                      <a:srgbClr val="DDEBF7"/>
                    </a:solidFill>
                  </a:tcPr>
                </a:tc>
                <a:tc>
                  <a:txBody>
                    <a:bodyPr/>
                    <a:lstStyle/>
                    <a:p>
                      <a:r>
                        <a:rPr sz="1200">
                          <a:solidFill>
                            <a:srgbClr val="2D3436"/>
                          </a:solidFill>
                          <a:latin typeface="Calibri"/>
                        </a:rPr>
                        <a:t>Minimal or vague</a:t>
                      </a:r>
                    </a:p>
                    <a:p>
                      <a:r>
                        <a:rPr sz="1200">
                          <a:solidFill>
                            <a:srgbClr val="2D3436"/>
                          </a:solidFill>
                          <a:latin typeface="Calibri"/>
                        </a:rPr>
                        <a:t>specification</a:t>
                      </a:r>
                    </a:p>
                  </a:txBody>
                  <a:tcPr>
                    <a:solidFill>
                      <a:srgbClr val="DDEBF7"/>
                    </a:solidFill>
                  </a:tcPr>
                </a:tc>
              </a:tr>
              <a:tr h="653142">
                <a:tc>
                  <a:txBody>
                    <a:bodyPr/>
                    <a:lstStyle/>
                    <a:p>
                      <a:r>
                        <a:rPr sz="1200">
                          <a:solidFill>
                            <a:srgbClr val="2D3436"/>
                          </a:solidFill>
                          <a:latin typeface="Calibri"/>
                        </a:rPr>
                        <a:t>Architecture</a:t>
                      </a:r>
                    </a:p>
                    <a:p>
                      <a:r>
                        <a:rPr sz="1200">
                          <a:solidFill>
                            <a:srgbClr val="2D3436"/>
                          </a:solidFill>
                          <a:latin typeface="Calibri"/>
                        </a:rPr>
                        <a:t>Decision</a:t>
                      </a:r>
                    </a:p>
                  </a:txBody>
                  <a:tcPr>
                    <a:solidFill>
                      <a:srgbClr val="E2EFDA"/>
                    </a:solidFill>
                  </a:tcPr>
                </a:tc>
                <a:tc>
                  <a:txBody>
                    <a:bodyPr/>
                    <a:lstStyle/>
                    <a:p>
                      <a:r>
                        <a:rPr sz="1200">
                          <a:solidFill>
                            <a:srgbClr val="2D3436"/>
                          </a:solidFill>
                          <a:latin typeface="Calibri"/>
                        </a:rPr>
                        <a:t>Well-reasoned design with</a:t>
                      </a:r>
                    </a:p>
                    <a:p>
                      <a:r>
                        <a:rPr sz="1200">
                          <a:solidFill>
                            <a:srgbClr val="2D3436"/>
                          </a:solidFill>
                          <a:latin typeface="Calibri"/>
                        </a:rPr>
                        <a:t>documented trade-offs</a:t>
                      </a:r>
                    </a:p>
                  </a:txBody>
                  <a:tcPr>
                    <a:solidFill>
                      <a:srgbClr val="E2EFDA"/>
                    </a:solidFill>
                  </a:tcPr>
                </a:tc>
                <a:tc>
                  <a:txBody>
                    <a:bodyPr/>
                    <a:lstStyle/>
                    <a:p>
                      <a:r>
                        <a:rPr sz="1200">
                          <a:solidFill>
                            <a:srgbClr val="2D3436"/>
                          </a:solidFill>
                          <a:latin typeface="Calibri"/>
                        </a:rPr>
                        <a:t>Reasonable design but</a:t>
                      </a:r>
                    </a:p>
                    <a:p>
                      <a:r>
                        <a:rPr sz="1200">
                          <a:solidFill>
                            <a:srgbClr val="2D3436"/>
                          </a:solidFill>
                          <a:latin typeface="Calibri"/>
                        </a:rPr>
                        <a:t>limited justification</a:t>
                      </a:r>
                    </a:p>
                  </a:txBody>
                  <a:tcPr>
                    <a:solidFill>
                      <a:srgbClr val="E2EFDA"/>
                    </a:solidFill>
                  </a:tcPr>
                </a:tc>
                <a:tc>
                  <a:txBody>
                    <a:bodyPr/>
                    <a:lstStyle/>
                    <a:p>
                      <a:r>
                        <a:rPr sz="1200">
                          <a:solidFill>
                            <a:srgbClr val="2D3436"/>
                          </a:solidFill>
                          <a:latin typeface="Calibri"/>
                        </a:rPr>
                        <a:t>No clear architecture</a:t>
                      </a:r>
                    </a:p>
                    <a:p>
                      <a:r>
                        <a:rPr sz="1200">
                          <a:solidFill>
                            <a:srgbClr val="2D3436"/>
                          </a:solidFill>
                          <a:latin typeface="Calibri"/>
                        </a:rPr>
                        <a:t>or rationale</a:t>
                      </a:r>
                    </a:p>
                  </a:txBody>
                  <a:tcPr>
                    <a:solidFill>
                      <a:srgbClr val="E2EFDA"/>
                    </a:solidFill>
                  </a:tcPr>
                </a:tc>
              </a:tr>
              <a:tr h="653142">
                <a:tc>
                  <a:txBody>
                    <a:bodyPr/>
                    <a:lstStyle/>
                    <a:p>
                      <a:r>
                        <a:rPr sz="1200">
                          <a:solidFill>
                            <a:srgbClr val="2D3436"/>
                          </a:solidFill>
                          <a:latin typeface="Calibri"/>
                        </a:rPr>
                        <a:t>Code Quality</a:t>
                      </a:r>
                    </a:p>
                    <a:p>
                      <a:r>
                        <a:rPr sz="1200">
                          <a:solidFill>
                            <a:srgbClr val="2D3436"/>
                          </a:solidFill>
                          <a:latin typeface="Calibri"/>
                        </a:rPr>
                        <a:t>&amp; Review</a:t>
                      </a:r>
                    </a:p>
                  </a:txBody>
                  <a:tcPr>
                    <a:solidFill>
                      <a:srgbClr val="FCE4D6"/>
                    </a:solidFill>
                  </a:tcPr>
                </a:tc>
                <a:tc>
                  <a:txBody>
                    <a:bodyPr/>
                    <a:lstStyle/>
                    <a:p>
                      <a:r>
                        <a:rPr sz="1200">
                          <a:solidFill>
                            <a:srgbClr val="2D3436"/>
                          </a:solidFill>
                          <a:latin typeface="Calibri"/>
                        </a:rPr>
                        <a:t>Clean, reviewed code with</a:t>
                      </a:r>
                    </a:p>
                    <a:p>
                      <a:r>
                        <a:rPr sz="1200">
                          <a:solidFill>
                            <a:srgbClr val="2D3436"/>
                          </a:solidFill>
                          <a:latin typeface="Calibri"/>
                        </a:rPr>
                        <a:t>meaningful modifications</a:t>
                      </a:r>
                    </a:p>
                  </a:txBody>
                  <a:tcPr>
                    <a:solidFill>
                      <a:srgbClr val="FCE4D6"/>
                    </a:solidFill>
                  </a:tcPr>
                </a:tc>
                <a:tc>
                  <a:txBody>
                    <a:bodyPr/>
                    <a:lstStyle/>
                    <a:p>
                      <a:r>
                        <a:rPr sz="1200">
                          <a:solidFill>
                            <a:srgbClr val="2D3436"/>
                          </a:solidFill>
                          <a:latin typeface="Calibri"/>
                        </a:rPr>
                        <a:t>Functional code with</a:t>
                      </a:r>
                    </a:p>
                    <a:p>
                      <a:r>
                        <a:rPr sz="1200">
                          <a:solidFill>
                            <a:srgbClr val="2D3436"/>
                          </a:solidFill>
                          <a:latin typeface="Calibri"/>
                        </a:rPr>
                        <a:t>some review evidence</a:t>
                      </a:r>
                    </a:p>
                  </a:txBody>
                  <a:tcPr>
                    <a:solidFill>
                      <a:srgbClr val="FCE4D6"/>
                    </a:solidFill>
                  </a:tcPr>
                </a:tc>
                <a:tc>
                  <a:txBody>
                    <a:bodyPr/>
                    <a:lstStyle/>
                    <a:p>
                      <a:r>
                        <a:rPr sz="1200">
                          <a:solidFill>
                            <a:srgbClr val="2D3436"/>
                          </a:solidFill>
                          <a:latin typeface="Calibri"/>
                        </a:rPr>
                        <a:t>Unreviewed AI output</a:t>
                      </a:r>
                    </a:p>
                    <a:p>
                      <a:r>
                        <a:rPr sz="1200">
                          <a:solidFill>
                            <a:srgbClr val="2D3436"/>
                          </a:solidFill>
                          <a:latin typeface="Calibri"/>
                        </a:rPr>
                        <a:t>with no changes</a:t>
                      </a:r>
                    </a:p>
                  </a:txBody>
                  <a:tcPr>
                    <a:solidFill>
                      <a:srgbClr val="FCE4D6"/>
                    </a:solidFill>
                  </a:tcPr>
                </a:tc>
              </a:tr>
              <a:tr h="653142">
                <a:tc>
                  <a:txBody>
                    <a:bodyPr/>
                    <a:lstStyle/>
                    <a:p>
                      <a:r>
                        <a:rPr sz="1200">
                          <a:solidFill>
                            <a:srgbClr val="2D3436"/>
                          </a:solidFill>
                          <a:latin typeface="Calibri"/>
                        </a:rPr>
                        <a:t>Testing</a:t>
                      </a:r>
                    </a:p>
                    <a:p>
                      <a:r>
                        <a:rPr sz="1200">
                          <a:solidFill>
                            <a:srgbClr val="2D3436"/>
                          </a:solidFill>
                          <a:latin typeface="Calibri"/>
                        </a:rPr>
                        <a:t>Coverage</a:t>
                      </a:r>
                    </a:p>
                  </a:txBody>
                  <a:tcPr>
                    <a:solidFill>
                      <a:srgbClr val="FFF2CC"/>
                    </a:solidFill>
                  </a:tcPr>
                </a:tc>
                <a:tc>
                  <a:txBody>
                    <a:bodyPr/>
                    <a:lstStyle/>
                    <a:p>
                      <a:r>
                        <a:rPr sz="1200">
                          <a:solidFill>
                            <a:srgbClr val="2D3436"/>
                          </a:solidFill>
                          <a:latin typeface="Calibri"/>
                        </a:rPr>
                        <a:t>Comprehensive tests:</a:t>
                      </a:r>
                    </a:p>
                    <a:p>
                      <a:r>
                        <a:rPr sz="1200">
                          <a:solidFill>
                            <a:srgbClr val="2D3436"/>
                          </a:solidFill>
                          <a:latin typeface="Calibri"/>
                        </a:rPr>
                        <a:t>unit, integration, edge cases</a:t>
                      </a:r>
                    </a:p>
                  </a:txBody>
                  <a:tcPr>
                    <a:solidFill>
                      <a:srgbClr val="FFF2CC"/>
                    </a:solidFill>
                  </a:tcPr>
                </a:tc>
                <a:tc>
                  <a:txBody>
                    <a:bodyPr/>
                    <a:lstStyle/>
                    <a:p>
                      <a:r>
                        <a:rPr sz="1200">
                          <a:solidFill>
                            <a:srgbClr val="2D3436"/>
                          </a:solidFill>
                          <a:latin typeface="Calibri"/>
                        </a:rPr>
                        <a:t>Basic unit tests</a:t>
                      </a:r>
                    </a:p>
                    <a:p>
                      <a:r>
                        <a:rPr sz="1200">
                          <a:solidFill>
                            <a:srgbClr val="2D3436"/>
                          </a:solidFill>
                          <a:latin typeface="Calibri"/>
                        </a:rPr>
                        <a:t>with decent coverage</a:t>
                      </a:r>
                    </a:p>
                  </a:txBody>
                  <a:tcPr>
                    <a:solidFill>
                      <a:srgbClr val="FFF2CC"/>
                    </a:solidFill>
                  </a:tcPr>
                </a:tc>
                <a:tc>
                  <a:txBody>
                    <a:bodyPr/>
                    <a:lstStyle/>
                    <a:p>
                      <a:r>
                        <a:rPr sz="1200">
                          <a:solidFill>
                            <a:srgbClr val="2D3436"/>
                          </a:solidFill>
                          <a:latin typeface="Calibri"/>
                        </a:rPr>
                        <a:t>Minimal or no tests;</a:t>
                      </a:r>
                    </a:p>
                    <a:p>
                      <a:r>
                        <a:rPr sz="1200">
                          <a:solidFill>
                            <a:srgbClr val="2D3436"/>
                          </a:solidFill>
                          <a:latin typeface="Calibri"/>
                        </a:rPr>
                        <a:t>low coverage</a:t>
                      </a:r>
                    </a:p>
                  </a:txBody>
                  <a:tcPr>
                    <a:solidFill>
                      <a:srgbClr val="FFF2CC"/>
                    </a:solidFill>
                  </a:tcPr>
                </a:tc>
              </a:tr>
              <a:tr h="653142">
                <a:tc>
                  <a:txBody>
                    <a:bodyPr/>
                    <a:lstStyle/>
                    <a:p>
                      <a:r>
                        <a:rPr sz="1200">
                          <a:solidFill>
                            <a:srgbClr val="2D3436"/>
                          </a:solidFill>
                          <a:latin typeface="Calibri"/>
                        </a:rPr>
                        <a:t>Security</a:t>
                      </a:r>
                    </a:p>
                    <a:p>
                      <a:r>
                        <a:rPr sz="1200">
                          <a:solidFill>
                            <a:srgbClr val="2D3436"/>
                          </a:solidFill>
                          <a:latin typeface="Calibri"/>
                        </a:rPr>
                        <a:t>Practice</a:t>
                      </a:r>
                    </a:p>
                  </a:txBody>
                  <a:tcPr>
                    <a:solidFill>
                      <a:srgbClr val="EFE8F9"/>
                    </a:solidFill>
                  </a:tcPr>
                </a:tc>
                <a:tc>
                  <a:txBody>
                    <a:bodyPr/>
                    <a:lstStyle/>
                    <a:p>
                      <a:r>
                        <a:rPr sz="1200">
                          <a:solidFill>
                            <a:srgbClr val="2D3436"/>
                          </a:solidFill>
                          <a:latin typeface="Calibri"/>
                        </a:rPr>
                        <a:t>Security scan integrated;</a:t>
                      </a:r>
                    </a:p>
                    <a:p>
                      <a:r>
                        <a:rPr sz="1200">
                          <a:solidFill>
                            <a:srgbClr val="2D3436"/>
                          </a:solidFill>
                          <a:latin typeface="Calibri"/>
                        </a:rPr>
                        <a:t>vulnerabilities addressed</a:t>
                      </a:r>
                    </a:p>
                  </a:txBody>
                  <a:tcPr>
                    <a:solidFill>
                      <a:srgbClr val="EFE8F9"/>
                    </a:solidFill>
                  </a:tcPr>
                </a:tc>
                <a:tc>
                  <a:txBody>
                    <a:bodyPr/>
                    <a:lstStyle/>
                    <a:p>
                      <a:r>
                        <a:rPr sz="1200">
                          <a:solidFill>
                            <a:srgbClr val="2D3436"/>
                          </a:solidFill>
                          <a:latin typeface="Calibri"/>
                        </a:rPr>
                        <a:t>Basic security awareness;</a:t>
                      </a:r>
                    </a:p>
                    <a:p>
                      <a:r>
                        <a:rPr sz="1200">
                          <a:solidFill>
                            <a:srgbClr val="2D3436"/>
                          </a:solidFill>
                          <a:latin typeface="Calibri"/>
                        </a:rPr>
                        <a:t>some scanning</a:t>
                      </a:r>
                    </a:p>
                  </a:txBody>
                  <a:tcPr>
                    <a:solidFill>
                      <a:srgbClr val="EFE8F9"/>
                    </a:solidFill>
                  </a:tcPr>
                </a:tc>
                <a:tc>
                  <a:txBody>
                    <a:bodyPr/>
                    <a:lstStyle/>
                    <a:p>
                      <a:r>
                        <a:rPr sz="1200">
                          <a:solidFill>
                            <a:srgbClr val="2D3436"/>
                          </a:solidFill>
                          <a:latin typeface="Calibri"/>
                        </a:rPr>
                        <a:t>No security consideration</a:t>
                      </a:r>
                    </a:p>
                    <a:p>
                      <a:r>
                        <a:rPr sz="1200">
                          <a:solidFill>
                            <a:srgbClr val="2D3436"/>
                          </a:solidFill>
                          <a:latin typeface="Calibri"/>
                        </a:rPr>
                        <a:t>in the project</a:t>
                      </a:r>
                    </a:p>
                  </a:txBody>
                  <a:tcPr>
                    <a:solidFill>
                      <a:srgbClr val="EFE8F9"/>
                    </a:solidFill>
                  </a:tcPr>
                </a:tc>
              </a:tr>
              <a:tr h="653148">
                <a:tc>
                  <a:txBody>
                    <a:bodyPr/>
                    <a:lstStyle/>
                    <a:p>
                      <a:r>
                        <a:rPr sz="1200">
                          <a:solidFill>
                            <a:srgbClr val="2D3436"/>
                          </a:solidFill>
                          <a:latin typeface="Calibri"/>
                        </a:rPr>
                        <a:t>Process</a:t>
                      </a:r>
                    </a:p>
                    <a:p>
                      <a:r>
                        <a:rPr sz="1200">
                          <a:solidFill>
                            <a:srgbClr val="2D3436"/>
                          </a:solidFill>
                          <a:latin typeface="Calibri"/>
                        </a:rPr>
                        <a:t>Documentation</a:t>
                      </a:r>
                    </a:p>
                  </a:txBody>
                  <a:tcPr>
                    <a:solidFill>
                      <a:srgbClr val="E0F7FA"/>
                    </a:solidFill>
                  </a:tcPr>
                </a:tc>
                <a:tc>
                  <a:txBody>
                    <a:bodyPr/>
                    <a:lstStyle/>
                    <a:p>
                      <a:r>
                        <a:rPr sz="1200">
                          <a:solidFill>
                            <a:srgbClr val="2D3436"/>
                          </a:solidFill>
                          <a:latin typeface="Calibri"/>
                        </a:rPr>
                        <a:t>Full AI interaction log;</a:t>
                      </a:r>
                    </a:p>
                    <a:p>
                      <a:r>
                        <a:rPr sz="1200">
                          <a:solidFill>
                            <a:srgbClr val="2D3436"/>
                          </a:solidFill>
                          <a:latin typeface="Calibri"/>
                        </a:rPr>
                        <a:t>decision rationale documented</a:t>
                      </a:r>
                    </a:p>
                  </a:txBody>
                  <a:tcPr>
                    <a:solidFill>
                      <a:srgbClr val="E0F7FA"/>
                    </a:solidFill>
                  </a:tcPr>
                </a:tc>
                <a:tc>
                  <a:txBody>
                    <a:bodyPr/>
                    <a:lstStyle/>
                    <a:p>
                      <a:r>
                        <a:rPr sz="1200">
                          <a:solidFill>
                            <a:srgbClr val="2D3436"/>
                          </a:solidFill>
                          <a:latin typeface="Calibri"/>
                        </a:rPr>
                        <a:t>Partial documentation</a:t>
                      </a:r>
                    </a:p>
                    <a:p>
                      <a:r>
                        <a:rPr sz="1200">
                          <a:solidFill>
                            <a:srgbClr val="2D3436"/>
                          </a:solidFill>
                          <a:latin typeface="Calibri"/>
                        </a:rPr>
                        <a:t>of AI usage</a:t>
                      </a:r>
                    </a:p>
                  </a:txBody>
                  <a:tcPr>
                    <a:solidFill>
                      <a:srgbClr val="E0F7FA"/>
                    </a:solidFill>
                  </a:tcPr>
                </a:tc>
                <a:tc>
                  <a:txBody>
                    <a:bodyPr/>
                    <a:lstStyle/>
                    <a:p>
                      <a:r>
                        <a:rPr sz="1200">
                          <a:solidFill>
                            <a:srgbClr val="2D3436"/>
                          </a:solidFill>
                          <a:latin typeface="Calibri"/>
                        </a:rPr>
                        <a:t>No documentation of</a:t>
                      </a:r>
                    </a:p>
                    <a:p>
                      <a:r>
                        <a:rPr sz="1200">
                          <a:solidFill>
                            <a:srgbClr val="2D3436"/>
                          </a:solidFill>
                          <a:latin typeface="Calibri"/>
                        </a:rPr>
                        <a:t>AI-assisted process</a:t>
                      </a:r>
                    </a:p>
                  </a:txBody>
                  <a:tcPr>
                    <a:solidFill>
                      <a:srgbClr val="E0F7FA"/>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AI Development Tool Comparison</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49</a:t>
            </a:r>
          </a:p>
        </p:txBody>
      </p:sp>
      <p:sp>
        <p:nvSpPr>
          <p:cNvPr id="5" name="TextBox 4"/>
          <p:cNvSpPr txBox="1"/>
          <p:nvPr/>
        </p:nvSpPr>
        <p:spPr>
          <a:xfrm>
            <a:off x="457200" y="1051560"/>
            <a:ext cx="10972800" cy="274320"/>
          </a:xfrm>
          <a:prstGeom prst="rect">
            <a:avLst/>
          </a:prstGeom>
          <a:noFill/>
        </p:spPr>
        <p:txBody>
          <a:bodyPr wrap="square">
            <a:spAutoFit/>
          </a:bodyPr>
          <a:lstStyle/>
          <a:p>
            <a:pPr algn="l"/>
            <a:r>
              <a:rPr sz="1500" b="1">
                <a:solidFill>
                  <a:srgbClr val="4472C4"/>
                </a:solidFill>
                <a:latin typeface="Calibri"/>
              </a:rPr>
              <a:t>AI-Powered Development Tools: Feature Comparison</a:t>
            </a:r>
          </a:p>
        </p:txBody>
      </p:sp>
      <p:graphicFrame>
        <p:nvGraphicFramePr>
          <p:cNvPr id="6" name="Table 5"/>
          <p:cNvGraphicFramePr>
            <a:graphicFrameLocks noGrp="1"/>
          </p:cNvGraphicFramePr>
          <p:nvPr/>
        </p:nvGraphicFramePr>
        <p:xfrm>
          <a:off x="274320" y="1371600"/>
          <a:ext cx="11612880" cy="3840480"/>
        </p:xfrm>
        <a:graphic>
          <a:graphicData uri="http://schemas.openxmlformats.org/drawingml/2006/table">
            <a:tbl>
              <a:tblPr firstRow="1" bandRow="1">
                <a:tableStyleId>{5C22544A-7EE6-4342-B048-85BDC9FD1C3A}</a:tableStyleId>
              </a:tblPr>
              <a:tblGrid>
                <a:gridCol w="2322576"/>
                <a:gridCol w="2322576"/>
                <a:gridCol w="2322576"/>
                <a:gridCol w="2322576"/>
                <a:gridCol w="2322576"/>
              </a:tblGrid>
              <a:tr h="480060">
                <a:tc>
                  <a:txBody>
                    <a:bodyPr/>
                    <a:lstStyle/>
                    <a:p>
                      <a:r>
                        <a:rPr sz="1200" b="1">
                          <a:solidFill>
                            <a:srgbClr val="FFFFFF"/>
                          </a:solidFill>
                          <a:latin typeface="Calibri"/>
                        </a:rPr>
                        <a:t>Tool</a:t>
                      </a:r>
                    </a:p>
                  </a:txBody>
                  <a:tcPr>
                    <a:solidFill>
                      <a:srgbClr val="2F75B5"/>
                    </a:solidFill>
                  </a:tcPr>
                </a:tc>
                <a:tc>
                  <a:txBody>
                    <a:bodyPr/>
                    <a:lstStyle/>
                    <a:p>
                      <a:r>
                        <a:rPr sz="1200" b="1">
                          <a:solidFill>
                            <a:srgbClr val="FFFFFF"/>
                          </a:solidFill>
                          <a:latin typeface="Calibri"/>
                        </a:rPr>
                        <a:t>Type</a:t>
                      </a:r>
                    </a:p>
                  </a:txBody>
                  <a:tcPr>
                    <a:solidFill>
                      <a:srgbClr val="2F75B5"/>
                    </a:solidFill>
                  </a:tcPr>
                </a:tc>
                <a:tc>
                  <a:txBody>
                    <a:bodyPr/>
                    <a:lstStyle/>
                    <a:p>
                      <a:r>
                        <a:rPr sz="1200" b="1">
                          <a:solidFill>
                            <a:srgbClr val="FFFFFF"/>
                          </a:solidFill>
                          <a:latin typeface="Calibri"/>
                        </a:rPr>
                        <a:t>Key Strength</a:t>
                      </a:r>
                    </a:p>
                  </a:txBody>
                  <a:tcPr>
                    <a:solidFill>
                      <a:srgbClr val="2F75B5"/>
                    </a:solidFill>
                  </a:tcPr>
                </a:tc>
                <a:tc>
                  <a:txBody>
                    <a:bodyPr/>
                    <a:lstStyle/>
                    <a:p>
                      <a:r>
                        <a:rPr sz="1200" b="1">
                          <a:solidFill>
                            <a:srgbClr val="FFFFFF"/>
                          </a:solidFill>
                          <a:latin typeface="Calibri"/>
                        </a:rPr>
                        <a:t>Best For</a:t>
                      </a:r>
                    </a:p>
                  </a:txBody>
                  <a:tcPr>
                    <a:solidFill>
                      <a:srgbClr val="2F75B5"/>
                    </a:solidFill>
                  </a:tcPr>
                </a:tc>
                <a:tc>
                  <a:txBody>
                    <a:bodyPr/>
                    <a:lstStyle/>
                    <a:p>
                      <a:r>
                        <a:rPr sz="1200" b="1">
                          <a:solidFill>
                            <a:srgbClr val="FFFFFF"/>
                          </a:solidFill>
                          <a:latin typeface="Calibri"/>
                        </a:rPr>
                        <a:t>Cost</a:t>
                      </a:r>
                    </a:p>
                  </a:txBody>
                  <a:tcPr>
                    <a:solidFill>
                      <a:srgbClr val="2F75B5"/>
                    </a:solidFill>
                  </a:tcPr>
                </a:tc>
              </a:tr>
              <a:tr h="480060">
                <a:tc>
                  <a:txBody>
                    <a:bodyPr/>
                    <a:lstStyle/>
                    <a:p>
                      <a:r>
                        <a:rPr sz="1200">
                          <a:solidFill>
                            <a:srgbClr val="2D3436"/>
                          </a:solidFill>
                          <a:latin typeface="Calibri"/>
                        </a:rPr>
                        <a:t>GitHub Copilot</a:t>
                      </a:r>
                    </a:p>
                  </a:txBody>
                  <a:tcPr>
                    <a:solidFill>
                      <a:srgbClr val="DDEBF7"/>
                    </a:solidFill>
                  </a:tcPr>
                </a:tc>
                <a:tc>
                  <a:txBody>
                    <a:bodyPr/>
                    <a:lstStyle/>
                    <a:p>
                      <a:r>
                        <a:rPr sz="1200">
                          <a:solidFill>
                            <a:srgbClr val="2D3436"/>
                          </a:solidFill>
                          <a:latin typeface="Calibri"/>
                        </a:rPr>
                        <a:t>Code completion</a:t>
                      </a:r>
                    </a:p>
                  </a:txBody>
                  <a:tcPr>
                    <a:solidFill>
                      <a:srgbClr val="DDEBF7"/>
                    </a:solidFill>
                  </a:tcPr>
                </a:tc>
                <a:tc>
                  <a:txBody>
                    <a:bodyPr/>
                    <a:lstStyle/>
                    <a:p>
                      <a:r>
                        <a:rPr sz="1200">
                          <a:solidFill>
                            <a:srgbClr val="2D3436"/>
                          </a:solidFill>
                          <a:latin typeface="Calibri"/>
                        </a:rPr>
                        <a:t>Deep IDE integration</a:t>
                      </a:r>
                    </a:p>
                  </a:txBody>
                  <a:tcPr>
                    <a:solidFill>
                      <a:srgbClr val="DDEBF7"/>
                    </a:solidFill>
                  </a:tcPr>
                </a:tc>
                <a:tc>
                  <a:txBody>
                    <a:bodyPr/>
                    <a:lstStyle/>
                    <a:p>
                      <a:r>
                        <a:rPr sz="1200">
                          <a:solidFill>
                            <a:srgbClr val="2D3436"/>
                          </a:solidFill>
                          <a:latin typeface="Calibri"/>
                        </a:rPr>
                        <a:t>Inline code suggestions</a:t>
                      </a:r>
                    </a:p>
                  </a:txBody>
                  <a:tcPr>
                    <a:solidFill>
                      <a:srgbClr val="DDEBF7"/>
                    </a:solidFill>
                  </a:tcPr>
                </a:tc>
                <a:tc>
                  <a:txBody>
                    <a:bodyPr/>
                    <a:lstStyle/>
                    <a:p>
                      <a:r>
                        <a:rPr sz="1200">
                          <a:solidFill>
                            <a:srgbClr val="2D3436"/>
                          </a:solidFill>
                          <a:latin typeface="Calibri"/>
                        </a:rPr>
                        <a:t>Free for students</a:t>
                      </a:r>
                    </a:p>
                  </a:txBody>
                  <a:tcPr>
                    <a:solidFill>
                      <a:srgbClr val="DDEBF7"/>
                    </a:solidFill>
                  </a:tcPr>
                </a:tc>
              </a:tr>
              <a:tr h="480060">
                <a:tc>
                  <a:txBody>
                    <a:bodyPr/>
                    <a:lstStyle/>
                    <a:p>
                      <a:r>
                        <a:rPr sz="1200">
                          <a:solidFill>
                            <a:srgbClr val="2D3436"/>
                          </a:solidFill>
                          <a:latin typeface="Calibri"/>
                        </a:rPr>
                        <a:t>Cursor</a:t>
                      </a:r>
                    </a:p>
                  </a:txBody>
                  <a:tcPr>
                    <a:solidFill>
                      <a:srgbClr val="E2EFDA"/>
                    </a:solidFill>
                  </a:tcPr>
                </a:tc>
                <a:tc>
                  <a:txBody>
                    <a:bodyPr/>
                    <a:lstStyle/>
                    <a:p>
                      <a:r>
                        <a:rPr sz="1200">
                          <a:solidFill>
                            <a:srgbClr val="2D3436"/>
                          </a:solidFill>
                          <a:latin typeface="Calibri"/>
                        </a:rPr>
                        <a:t>AI-native IDE</a:t>
                      </a:r>
                    </a:p>
                  </a:txBody>
                  <a:tcPr>
                    <a:solidFill>
                      <a:srgbClr val="E2EFDA"/>
                    </a:solidFill>
                  </a:tcPr>
                </a:tc>
                <a:tc>
                  <a:txBody>
                    <a:bodyPr/>
                    <a:lstStyle/>
                    <a:p>
                      <a:r>
                        <a:rPr sz="1200">
                          <a:solidFill>
                            <a:srgbClr val="2D3436"/>
                          </a:solidFill>
                          <a:latin typeface="Calibri"/>
                        </a:rPr>
                        <a:t>Full-file editing, agents</a:t>
                      </a:r>
                    </a:p>
                  </a:txBody>
                  <a:tcPr>
                    <a:solidFill>
                      <a:srgbClr val="E2EFDA"/>
                    </a:solidFill>
                  </a:tcPr>
                </a:tc>
                <a:tc>
                  <a:txBody>
                    <a:bodyPr/>
                    <a:lstStyle/>
                    <a:p>
                      <a:r>
                        <a:rPr sz="1200">
                          <a:solidFill>
                            <a:srgbClr val="2D3436"/>
                          </a:solidFill>
                          <a:latin typeface="Calibri"/>
                        </a:rPr>
                        <a:t>Agentic coding workflows</a:t>
                      </a:r>
                    </a:p>
                  </a:txBody>
                  <a:tcPr>
                    <a:solidFill>
                      <a:srgbClr val="E2EFDA"/>
                    </a:solidFill>
                  </a:tcPr>
                </a:tc>
                <a:tc>
                  <a:txBody>
                    <a:bodyPr/>
                    <a:lstStyle/>
                    <a:p>
                      <a:r>
                        <a:rPr sz="1200">
                          <a:solidFill>
                            <a:srgbClr val="2D3436"/>
                          </a:solidFill>
                          <a:latin typeface="Calibri"/>
                        </a:rPr>
                        <a:t>$20/month</a:t>
                      </a:r>
                    </a:p>
                  </a:txBody>
                  <a:tcPr>
                    <a:solidFill>
                      <a:srgbClr val="E2EFDA"/>
                    </a:solidFill>
                  </a:tcPr>
                </a:tc>
              </a:tr>
              <a:tr h="480060">
                <a:tc>
                  <a:txBody>
                    <a:bodyPr/>
                    <a:lstStyle/>
                    <a:p>
                      <a:r>
                        <a:rPr sz="1200">
                          <a:solidFill>
                            <a:srgbClr val="2D3436"/>
                          </a:solidFill>
                          <a:latin typeface="Calibri"/>
                        </a:rPr>
                        <a:t>Claude (Anthropic)</a:t>
                      </a:r>
                    </a:p>
                  </a:txBody>
                  <a:tcPr>
                    <a:solidFill>
                      <a:srgbClr val="FCE4D6"/>
                    </a:solidFill>
                  </a:tcPr>
                </a:tc>
                <a:tc>
                  <a:txBody>
                    <a:bodyPr/>
                    <a:lstStyle/>
                    <a:p>
                      <a:r>
                        <a:rPr sz="1200">
                          <a:solidFill>
                            <a:srgbClr val="2D3436"/>
                          </a:solidFill>
                          <a:latin typeface="Calibri"/>
                        </a:rPr>
                        <a:t>Chat + code</a:t>
                      </a:r>
                    </a:p>
                  </a:txBody>
                  <a:tcPr>
                    <a:solidFill>
                      <a:srgbClr val="FCE4D6"/>
                    </a:solidFill>
                  </a:tcPr>
                </a:tc>
                <a:tc>
                  <a:txBody>
                    <a:bodyPr/>
                    <a:lstStyle/>
                    <a:p>
                      <a:r>
                        <a:rPr sz="1200">
                          <a:solidFill>
                            <a:srgbClr val="2D3436"/>
                          </a:solidFill>
                          <a:latin typeface="Calibri"/>
                        </a:rPr>
                        <a:t>Long context, reasoning</a:t>
                      </a:r>
                    </a:p>
                  </a:txBody>
                  <a:tcPr>
                    <a:solidFill>
                      <a:srgbClr val="FCE4D6"/>
                    </a:solidFill>
                  </a:tcPr>
                </a:tc>
                <a:tc>
                  <a:txBody>
                    <a:bodyPr/>
                    <a:lstStyle/>
                    <a:p>
                      <a:r>
                        <a:rPr sz="1200">
                          <a:solidFill>
                            <a:srgbClr val="2D3436"/>
                          </a:solidFill>
                          <a:latin typeface="Calibri"/>
                        </a:rPr>
                        <a:t>Architecture &amp; specs</a:t>
                      </a:r>
                    </a:p>
                  </a:txBody>
                  <a:tcPr>
                    <a:solidFill>
                      <a:srgbClr val="FCE4D6"/>
                    </a:solidFill>
                  </a:tcPr>
                </a:tc>
                <a:tc>
                  <a:txBody>
                    <a:bodyPr/>
                    <a:lstStyle/>
                    <a:p>
                      <a:r>
                        <a:rPr sz="1200">
                          <a:solidFill>
                            <a:srgbClr val="2D3436"/>
                          </a:solidFill>
                          <a:latin typeface="Calibri"/>
                        </a:rPr>
                        <a:t>Free tier available</a:t>
                      </a:r>
                    </a:p>
                  </a:txBody>
                  <a:tcPr>
                    <a:solidFill>
                      <a:srgbClr val="FCE4D6"/>
                    </a:solidFill>
                  </a:tcPr>
                </a:tc>
              </a:tr>
              <a:tr h="480060">
                <a:tc>
                  <a:txBody>
                    <a:bodyPr/>
                    <a:lstStyle/>
                    <a:p>
                      <a:r>
                        <a:rPr sz="1200">
                          <a:solidFill>
                            <a:srgbClr val="2D3436"/>
                          </a:solidFill>
                          <a:latin typeface="Calibri"/>
                        </a:rPr>
                        <a:t>ChatGPT (OpenAI)</a:t>
                      </a:r>
                    </a:p>
                  </a:txBody>
                  <a:tcPr>
                    <a:solidFill>
                      <a:srgbClr val="FFF2CC"/>
                    </a:solidFill>
                  </a:tcPr>
                </a:tc>
                <a:tc>
                  <a:txBody>
                    <a:bodyPr/>
                    <a:lstStyle/>
                    <a:p>
                      <a:r>
                        <a:rPr sz="1200">
                          <a:solidFill>
                            <a:srgbClr val="2D3436"/>
                          </a:solidFill>
                          <a:latin typeface="Calibri"/>
                        </a:rPr>
                        <a:t>Chat + code</a:t>
                      </a:r>
                    </a:p>
                  </a:txBody>
                  <a:tcPr>
                    <a:solidFill>
                      <a:srgbClr val="FFF2CC"/>
                    </a:solidFill>
                  </a:tcPr>
                </a:tc>
                <a:tc>
                  <a:txBody>
                    <a:bodyPr/>
                    <a:lstStyle/>
                    <a:p>
                      <a:r>
                        <a:rPr sz="1200">
                          <a:solidFill>
                            <a:srgbClr val="2D3436"/>
                          </a:solidFill>
                          <a:latin typeface="Calibri"/>
                        </a:rPr>
                        <a:t>Broad knowledge base</a:t>
                      </a:r>
                    </a:p>
                  </a:txBody>
                  <a:tcPr>
                    <a:solidFill>
                      <a:srgbClr val="FFF2CC"/>
                    </a:solidFill>
                  </a:tcPr>
                </a:tc>
                <a:tc>
                  <a:txBody>
                    <a:bodyPr/>
                    <a:lstStyle/>
                    <a:p>
                      <a:r>
                        <a:rPr sz="1200">
                          <a:solidFill>
                            <a:srgbClr val="2D3436"/>
                          </a:solidFill>
                          <a:latin typeface="Calibri"/>
                        </a:rPr>
                        <a:t>General-purpose coding</a:t>
                      </a:r>
                    </a:p>
                  </a:txBody>
                  <a:tcPr>
                    <a:solidFill>
                      <a:srgbClr val="FFF2CC"/>
                    </a:solidFill>
                  </a:tcPr>
                </a:tc>
                <a:tc>
                  <a:txBody>
                    <a:bodyPr/>
                    <a:lstStyle/>
                    <a:p>
                      <a:r>
                        <a:rPr sz="1200">
                          <a:solidFill>
                            <a:srgbClr val="2D3436"/>
                          </a:solidFill>
                          <a:latin typeface="Calibri"/>
                        </a:rPr>
                        <a:t>Free tier available</a:t>
                      </a:r>
                    </a:p>
                  </a:txBody>
                  <a:tcPr>
                    <a:solidFill>
                      <a:srgbClr val="FFF2CC"/>
                    </a:solidFill>
                  </a:tcPr>
                </a:tc>
              </a:tr>
              <a:tr h="480060">
                <a:tc>
                  <a:txBody>
                    <a:bodyPr/>
                    <a:lstStyle/>
                    <a:p>
                      <a:r>
                        <a:rPr sz="1200">
                          <a:solidFill>
                            <a:srgbClr val="2D3436"/>
                          </a:solidFill>
                          <a:latin typeface="Calibri"/>
                        </a:rPr>
                        <a:t>Windsurf</a:t>
                      </a:r>
                    </a:p>
                  </a:txBody>
                  <a:tcPr>
                    <a:solidFill>
                      <a:srgbClr val="EFE8F9"/>
                    </a:solidFill>
                  </a:tcPr>
                </a:tc>
                <a:tc>
                  <a:txBody>
                    <a:bodyPr/>
                    <a:lstStyle/>
                    <a:p>
                      <a:r>
                        <a:rPr sz="1200">
                          <a:solidFill>
                            <a:srgbClr val="2D3436"/>
                          </a:solidFill>
                          <a:latin typeface="Calibri"/>
                        </a:rPr>
                        <a:t>AI-native IDE</a:t>
                      </a:r>
                    </a:p>
                  </a:txBody>
                  <a:tcPr>
                    <a:solidFill>
                      <a:srgbClr val="EFE8F9"/>
                    </a:solidFill>
                  </a:tcPr>
                </a:tc>
                <a:tc>
                  <a:txBody>
                    <a:bodyPr/>
                    <a:lstStyle/>
                    <a:p>
                      <a:r>
                        <a:rPr sz="1200">
                          <a:solidFill>
                            <a:srgbClr val="2D3436"/>
                          </a:solidFill>
                          <a:latin typeface="Calibri"/>
                        </a:rPr>
                        <a:t>Cascade flows, agents</a:t>
                      </a:r>
                    </a:p>
                  </a:txBody>
                  <a:tcPr>
                    <a:solidFill>
                      <a:srgbClr val="EFE8F9"/>
                    </a:solidFill>
                  </a:tcPr>
                </a:tc>
                <a:tc>
                  <a:txBody>
                    <a:bodyPr/>
                    <a:lstStyle/>
                    <a:p>
                      <a:r>
                        <a:rPr sz="1200">
                          <a:solidFill>
                            <a:srgbClr val="2D3436"/>
                          </a:solidFill>
                          <a:latin typeface="Calibri"/>
                        </a:rPr>
                        <a:t>End-to-end development</a:t>
                      </a:r>
                    </a:p>
                  </a:txBody>
                  <a:tcPr>
                    <a:solidFill>
                      <a:srgbClr val="EFE8F9"/>
                    </a:solidFill>
                  </a:tcPr>
                </a:tc>
                <a:tc>
                  <a:txBody>
                    <a:bodyPr/>
                    <a:lstStyle/>
                    <a:p>
                      <a:r>
                        <a:rPr sz="1200">
                          <a:solidFill>
                            <a:srgbClr val="2D3436"/>
                          </a:solidFill>
                          <a:latin typeface="Calibri"/>
                        </a:rPr>
                        <a:t>$15/month</a:t>
                      </a:r>
                    </a:p>
                  </a:txBody>
                  <a:tcPr>
                    <a:solidFill>
                      <a:srgbClr val="EFE8F9"/>
                    </a:solidFill>
                  </a:tcPr>
                </a:tc>
              </a:tr>
              <a:tr h="480060">
                <a:tc>
                  <a:txBody>
                    <a:bodyPr/>
                    <a:lstStyle/>
                    <a:p>
                      <a:r>
                        <a:rPr sz="1200">
                          <a:solidFill>
                            <a:srgbClr val="2D3436"/>
                          </a:solidFill>
                          <a:latin typeface="Calibri"/>
                        </a:rPr>
                        <a:t>Amazon Q Dev</a:t>
                      </a:r>
                    </a:p>
                  </a:txBody>
                  <a:tcPr>
                    <a:solidFill>
                      <a:srgbClr val="E0F7FA"/>
                    </a:solidFill>
                  </a:tcPr>
                </a:tc>
                <a:tc>
                  <a:txBody>
                    <a:bodyPr/>
                    <a:lstStyle/>
                    <a:p>
                      <a:r>
                        <a:rPr sz="1200">
                          <a:solidFill>
                            <a:srgbClr val="2D3436"/>
                          </a:solidFill>
                          <a:latin typeface="Calibri"/>
                        </a:rPr>
                        <a:t>AWS integrated</a:t>
                      </a:r>
                    </a:p>
                  </a:txBody>
                  <a:tcPr>
                    <a:solidFill>
                      <a:srgbClr val="E0F7FA"/>
                    </a:solidFill>
                  </a:tcPr>
                </a:tc>
                <a:tc>
                  <a:txBody>
                    <a:bodyPr/>
                    <a:lstStyle/>
                    <a:p>
                      <a:r>
                        <a:rPr sz="1200">
                          <a:solidFill>
                            <a:srgbClr val="2D3436"/>
                          </a:solidFill>
                          <a:latin typeface="Calibri"/>
                        </a:rPr>
                        <a:t>Cloud-native dev</a:t>
                      </a:r>
                    </a:p>
                  </a:txBody>
                  <a:tcPr>
                    <a:solidFill>
                      <a:srgbClr val="E0F7FA"/>
                    </a:solidFill>
                  </a:tcPr>
                </a:tc>
                <a:tc>
                  <a:txBody>
                    <a:bodyPr/>
                    <a:lstStyle/>
                    <a:p>
                      <a:r>
                        <a:rPr sz="1200">
                          <a:solidFill>
                            <a:srgbClr val="2D3436"/>
                          </a:solidFill>
                          <a:latin typeface="Calibri"/>
                        </a:rPr>
                        <a:t>AWS infrastructure</a:t>
                      </a:r>
                    </a:p>
                  </a:txBody>
                  <a:tcPr>
                    <a:solidFill>
                      <a:srgbClr val="E0F7FA"/>
                    </a:solidFill>
                  </a:tcPr>
                </a:tc>
                <a:tc>
                  <a:txBody>
                    <a:bodyPr/>
                    <a:lstStyle/>
                    <a:p>
                      <a:r>
                        <a:rPr sz="1200">
                          <a:solidFill>
                            <a:srgbClr val="2D3436"/>
                          </a:solidFill>
                          <a:latin typeface="Calibri"/>
                        </a:rPr>
                        <a:t>Free tier available</a:t>
                      </a:r>
                    </a:p>
                  </a:txBody>
                  <a:tcPr>
                    <a:solidFill>
                      <a:srgbClr val="E0F7FA"/>
                    </a:solidFill>
                  </a:tcPr>
                </a:tc>
              </a:tr>
              <a:tr h="480060">
                <a:tc>
                  <a:txBody>
                    <a:bodyPr/>
                    <a:lstStyle/>
                    <a:p>
                      <a:r>
                        <a:rPr sz="1200">
                          <a:solidFill>
                            <a:srgbClr val="2D3436"/>
                          </a:solidFill>
                          <a:latin typeface="Calibri"/>
                        </a:rPr>
                        <a:t>Tabnine</a:t>
                      </a:r>
                    </a:p>
                  </a:txBody>
                  <a:tcPr>
                    <a:solidFill>
                      <a:srgbClr val="DDEBF7"/>
                    </a:solidFill>
                  </a:tcPr>
                </a:tc>
                <a:tc>
                  <a:txBody>
                    <a:bodyPr/>
                    <a:lstStyle/>
                    <a:p>
                      <a:r>
                        <a:rPr sz="1200">
                          <a:solidFill>
                            <a:srgbClr val="2D3436"/>
                          </a:solidFill>
                          <a:latin typeface="Calibri"/>
                        </a:rPr>
                        <a:t>Code completion</a:t>
                      </a:r>
                    </a:p>
                  </a:txBody>
                  <a:tcPr>
                    <a:solidFill>
                      <a:srgbClr val="DDEBF7"/>
                    </a:solidFill>
                  </a:tcPr>
                </a:tc>
                <a:tc>
                  <a:txBody>
                    <a:bodyPr/>
                    <a:lstStyle/>
                    <a:p>
                      <a:r>
                        <a:rPr sz="1200">
                          <a:solidFill>
                            <a:srgbClr val="2D3436"/>
                          </a:solidFill>
                          <a:latin typeface="Calibri"/>
                        </a:rPr>
                        <a:t>Privacy-focused</a:t>
                      </a:r>
                    </a:p>
                  </a:txBody>
                  <a:tcPr>
                    <a:solidFill>
                      <a:srgbClr val="DDEBF7"/>
                    </a:solidFill>
                  </a:tcPr>
                </a:tc>
                <a:tc>
                  <a:txBody>
                    <a:bodyPr/>
                    <a:lstStyle/>
                    <a:p>
                      <a:r>
                        <a:rPr sz="1200">
                          <a:solidFill>
                            <a:srgbClr val="2D3436"/>
                          </a:solidFill>
                          <a:latin typeface="Calibri"/>
                        </a:rPr>
                        <a:t>Enterprise, on-prem</a:t>
                      </a:r>
                    </a:p>
                  </a:txBody>
                  <a:tcPr>
                    <a:solidFill>
                      <a:srgbClr val="DDEBF7"/>
                    </a:solidFill>
                  </a:tcPr>
                </a:tc>
                <a:tc>
                  <a:txBody>
                    <a:bodyPr/>
                    <a:lstStyle/>
                    <a:p>
                      <a:r>
                        <a:rPr sz="1200">
                          <a:solidFill>
                            <a:srgbClr val="2D3436"/>
                          </a:solidFill>
                          <a:latin typeface="Calibri"/>
                        </a:rPr>
                        <a:t>Free tier available</a:t>
                      </a:r>
                    </a:p>
                  </a:txBody>
                  <a:tcPr>
                    <a:solidFill>
                      <a:srgbClr val="DDEBF7"/>
                    </a:solidFill>
                  </a:tcPr>
                </a:tc>
              </a:tr>
            </a:tbl>
          </a:graphicData>
        </a:graphic>
      </p:graphicFrame>
      <p:sp>
        <p:nvSpPr>
          <p:cNvPr id="7" name="TextBox 6"/>
          <p:cNvSpPr txBox="1"/>
          <p:nvPr/>
        </p:nvSpPr>
        <p:spPr>
          <a:xfrm>
            <a:off x="457200" y="5394960"/>
            <a:ext cx="10972800" cy="274320"/>
          </a:xfrm>
          <a:prstGeom prst="rect">
            <a:avLst/>
          </a:prstGeom>
          <a:noFill/>
        </p:spPr>
        <p:txBody>
          <a:bodyPr wrap="square">
            <a:spAutoFit/>
          </a:bodyPr>
          <a:lstStyle/>
          <a:p>
            <a:pPr algn="l"/>
            <a:r>
              <a:rPr sz="1400" b="1">
                <a:solidFill>
                  <a:srgbClr val="ED7D31"/>
                </a:solidFill>
                <a:latin typeface="Calibri"/>
              </a:rPr>
              <a:t>Selection Criteria</a:t>
            </a:r>
          </a:p>
        </p:txBody>
      </p:sp>
      <p:sp>
        <p:nvSpPr>
          <p:cNvPr id="8" name="TextBox 7"/>
          <p:cNvSpPr txBox="1"/>
          <p:nvPr/>
        </p:nvSpPr>
        <p:spPr>
          <a:xfrm>
            <a:off x="457200" y="5669280"/>
            <a:ext cx="10972800" cy="548640"/>
          </a:xfrm>
          <a:prstGeom prst="rect">
            <a:avLst/>
          </a:prstGeom>
          <a:noFill/>
        </p:spPr>
        <p:txBody>
          <a:bodyPr wrap="square">
            <a:spAutoFit/>
          </a:bodyPr>
          <a:lstStyle/>
          <a:p>
            <a:pPr>
              <a:lnSpc>
                <a:spcPct val="130000"/>
              </a:lnSpc>
              <a:spcAft>
                <a:spcPts val="800"/>
              </a:spcAft>
            </a:pPr>
            <a:r>
              <a:rPr sz="1200">
                <a:solidFill>
                  <a:srgbClr val="2D3436"/>
                </a:solidFill>
                <a:latin typeface="Calibri"/>
              </a:rPr>
              <a:t>• Consider: privacy policies, institutional licenses, student accessibility, language/framework support, and integration with existing workflows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E7F2FA"/>
        </a:solidFill>
        <a:effectLst/>
      </p:bgPr>
    </p:bg>
    <p:spTree>
      <p:nvGrpSpPr>
        <p:cNvPr id="1" name=""/>
        <p:cNvGrpSpPr/>
        <p:nvPr/>
      </p:nvGrpSpPr>
      <p:grpSpPr/>
      <p:sp>
        <p:nvSpPr>
          <p:cNvPr id="2" name="Rectangle 1"/>
          <p:cNvSpPr/>
          <p:nvPr/>
        </p:nvSpPr>
        <p:spPr>
          <a:xfrm>
            <a:off x="0" y="0"/>
            <a:ext cx="12191695" cy="868680"/>
          </a:xfrm>
          <a:prstGeom prst="rect">
            <a:avLst/>
          </a:prstGeom>
          <a:solidFill>
            <a:srgbClr val="2F75B5"/>
          </a:solidFill>
          <a:ln>
            <a:noFill/>
          </a:ln>
        </p:spPr>
        <p:style>
          <a:lnRef idx="1">
            <a:schemeClr val="accent1"/>
          </a:lnRef>
          <a:fillRef idx="3">
            <a:schemeClr val="accent1"/>
          </a:fillRef>
          <a:effectRef idx="2">
            <a:schemeClr val="accent1"/>
          </a:effectRef>
          <a:fontRef idx="minor">
            <a:schemeClr val="lt1"/>
          </a:fontRef>
        </p:style>
        <p:txBody>
          <a:bodyPr rtlCol="0" anchor="ctr" wrap="square" lIns="457200" tIns="137160"/>
          <a:lstStyle/>
          <a:p>
            <a:pPr algn="ctr"/>
            <a:r>
              <a:rPr sz="2800" b="1">
                <a:solidFill>
                  <a:srgbClr val="FFFFFF"/>
                </a:solidFill>
                <a:latin typeface="Calibri"/>
              </a:rPr>
              <a:t>BACKUP: Architecture Patterns for AI-Native Systems</a:t>
            </a:r>
          </a:p>
        </p:txBody>
      </p:sp>
      <p:sp>
        <p:nvSpPr>
          <p:cNvPr id="3" name="Rounded Rectangle 2"/>
          <p:cNvSpPr/>
          <p:nvPr/>
        </p:nvSpPr>
        <p:spPr>
          <a:xfrm>
            <a:off x="365760" y="6263640"/>
            <a:ext cx="4114800" cy="347472"/>
          </a:xfrm>
          <a:prstGeom prst="roundRect">
            <a:avLst/>
          </a:prstGeom>
          <a:solidFill>
            <a:srgbClr val="636E72"/>
          </a:solidFill>
          <a:ln>
            <a:noFill/>
          </a:ln>
        </p:spPr>
        <p:style>
          <a:lnRef idx="1">
            <a:schemeClr val="accent1"/>
          </a:lnRef>
          <a:fillRef idx="3">
            <a:schemeClr val="accent1"/>
          </a:fillRef>
          <a:effectRef idx="2">
            <a:schemeClr val="accent1"/>
          </a:effectRef>
          <a:fontRef idx="minor">
            <a:schemeClr val="lt1"/>
          </a:fontRef>
        </p:style>
        <p:txBody>
          <a:bodyPr rtlCol="0" anchor="ctr" lIns="137160" tIns="18288"/>
          <a:lstStyle/>
          <a:p>
            <a:pPr algn="ctr"/>
            <a:r>
              <a:rPr sz="1000">
                <a:solidFill>
                  <a:srgbClr val="FFFFFF"/>
                </a:solidFill>
                <a:latin typeface="Calibri"/>
              </a:rPr>
              <a:t>AI-Native Software Development  |  Backup</a:t>
            </a:r>
          </a:p>
        </p:txBody>
      </p:sp>
      <p:sp>
        <p:nvSpPr>
          <p:cNvPr id="4" name="TextBox 3"/>
          <p:cNvSpPr txBox="1"/>
          <p:nvPr/>
        </p:nvSpPr>
        <p:spPr>
          <a:xfrm>
            <a:off x="11338560" y="6263640"/>
            <a:ext cx="640080" cy="320040"/>
          </a:xfrm>
          <a:prstGeom prst="rect">
            <a:avLst/>
          </a:prstGeom>
          <a:noFill/>
        </p:spPr>
        <p:txBody>
          <a:bodyPr wrap="square">
            <a:spAutoFit/>
          </a:bodyPr>
          <a:lstStyle/>
          <a:p>
            <a:pPr algn="r"/>
            <a:r>
              <a:rPr sz="1100" b="1">
                <a:solidFill>
                  <a:srgbClr val="636E72"/>
                </a:solidFill>
                <a:latin typeface="Calibri"/>
              </a:rPr>
              <a:t>50</a:t>
            </a:r>
          </a:p>
        </p:txBody>
      </p:sp>
      <p:sp>
        <p:nvSpPr>
          <p:cNvPr id="5" name="TextBox 4"/>
          <p:cNvSpPr txBox="1"/>
          <p:nvPr/>
        </p:nvSpPr>
        <p:spPr>
          <a:xfrm>
            <a:off x="457200" y="1051560"/>
            <a:ext cx="10972800" cy="365760"/>
          </a:xfrm>
          <a:prstGeom prst="rect">
            <a:avLst/>
          </a:prstGeom>
          <a:noFill/>
        </p:spPr>
        <p:txBody>
          <a:bodyPr wrap="square">
            <a:spAutoFit/>
          </a:bodyPr>
          <a:lstStyle/>
          <a:p>
            <a:pPr algn="l"/>
            <a:r>
              <a:rPr sz="1600" b="1">
                <a:solidFill>
                  <a:srgbClr val="4472C4"/>
                </a:solidFill>
                <a:latin typeface="Calibri"/>
              </a:rPr>
              <a:t>Advanced Architecture Patterns</a:t>
            </a:r>
          </a:p>
        </p:txBody>
      </p:sp>
      <p:sp>
        <p:nvSpPr>
          <p:cNvPr id="6" name="Rounded Rectangle 5"/>
          <p:cNvSpPr/>
          <p:nvPr/>
        </p:nvSpPr>
        <p:spPr>
          <a:xfrm>
            <a:off x="457200" y="1508760"/>
            <a:ext cx="3566160" cy="3931920"/>
          </a:xfrm>
          <a:prstGeom prst="roundRect">
            <a:avLst/>
          </a:prstGeom>
          <a:solidFill>
            <a:srgbClr val="DDEBF7"/>
          </a:solidFill>
          <a:ln w="19050">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Event-Driven Architecture</a:t>
            </a:r>
          </a:p>
          <a:p>
            <a:pPr algn="l"/>
            <a:r>
              <a:rPr sz="1000" b="0">
                <a:solidFill>
                  <a:srgbClr val="2D3436"/>
                </a:solidFill>
                <a:latin typeface="Calibri"/>
              </a:rPr>
              <a:t/>
            </a:r>
          </a:p>
          <a:p>
            <a:pPr algn="l"/>
            <a:r>
              <a:rPr sz="1000" b="0">
                <a:solidFill>
                  <a:srgbClr val="2D3436"/>
                </a:solidFill>
                <a:latin typeface="Calibri"/>
              </a:rPr>
              <a:t>Components communicate via events</a:t>
            </a:r>
          </a:p>
          <a:p>
            <a:pPr algn="l"/>
            <a:r>
              <a:rPr sz="1000" b="0">
                <a:solidFill>
                  <a:srgbClr val="2D3436"/>
                </a:solidFill>
                <a:latin typeface="Calibri"/>
              </a:rPr>
              <a:t/>
            </a:r>
          </a:p>
          <a:p>
            <a:pPr algn="l"/>
            <a:r>
              <a:rPr sz="1000" b="0">
                <a:solidFill>
                  <a:srgbClr val="2D3436"/>
                </a:solidFill>
                <a:latin typeface="Calibri"/>
              </a:rPr>
              <a:t>Producer -&gt; Event Bus -&gt; Consumer</a:t>
            </a:r>
          </a:p>
          <a:p>
            <a:pPr algn="l"/>
            <a:r>
              <a:rPr sz="1000" b="0">
                <a:solidFill>
                  <a:srgbClr val="2D3436"/>
                </a:solidFill>
                <a:latin typeface="Calibri"/>
              </a:rPr>
              <a:t/>
            </a:r>
          </a:p>
          <a:p>
            <a:pPr algn="l"/>
            <a:r>
              <a:rPr sz="1000" b="0">
                <a:solidFill>
                  <a:srgbClr val="2D3436"/>
                </a:solidFill>
                <a:latin typeface="Calibri"/>
              </a:rPr>
              <a:t>Benefits:</a:t>
            </a:r>
          </a:p>
          <a:p>
            <a:pPr algn="l"/>
            <a:r>
              <a:rPr sz="1000" b="0">
                <a:solidFill>
                  <a:srgbClr val="2D3436"/>
                </a:solidFill>
                <a:latin typeface="Calibri"/>
              </a:rPr>
              <a:t>  Loose coupling between services</a:t>
            </a:r>
          </a:p>
          <a:p>
            <a:pPr algn="l"/>
            <a:r>
              <a:rPr sz="1000" b="0">
                <a:solidFill>
                  <a:srgbClr val="2D3436"/>
                </a:solidFill>
                <a:latin typeface="Calibri"/>
              </a:rPr>
              <a:t>  Scalable and resilient</a:t>
            </a:r>
          </a:p>
          <a:p>
            <a:pPr algn="l"/>
            <a:r>
              <a:rPr sz="1000" b="0">
                <a:solidFill>
                  <a:srgbClr val="2D3436"/>
                </a:solidFill>
                <a:latin typeface="Calibri"/>
              </a:rPr>
              <a:t>  Natural fit for async workflows</a:t>
            </a:r>
          </a:p>
        </p:txBody>
      </p:sp>
      <p:sp>
        <p:nvSpPr>
          <p:cNvPr id="7" name="Rounded Rectangle 6"/>
          <p:cNvSpPr/>
          <p:nvPr/>
        </p:nvSpPr>
        <p:spPr>
          <a:xfrm>
            <a:off x="4297680" y="1508760"/>
            <a:ext cx="3566160" cy="3931920"/>
          </a:xfrm>
          <a:prstGeom prst="roundRect">
            <a:avLst/>
          </a:prstGeom>
          <a:solidFill>
            <a:srgbClr val="E2EFDA"/>
          </a:solidFill>
          <a:ln w="19050">
            <a:solidFill>
              <a:srgbClr val="70AD47"/>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CQRS (Command Query</a:t>
            </a:r>
          </a:p>
          <a:p>
            <a:pPr algn="l"/>
            <a:r>
              <a:rPr sz="1000" b="0">
                <a:solidFill>
                  <a:srgbClr val="2D3436"/>
                </a:solidFill>
                <a:latin typeface="Calibri"/>
              </a:rPr>
              <a:t>Responsibility Segregation)</a:t>
            </a:r>
          </a:p>
          <a:p>
            <a:pPr algn="l"/>
            <a:r>
              <a:rPr sz="1000" b="0">
                <a:solidFill>
                  <a:srgbClr val="2D3436"/>
                </a:solidFill>
                <a:latin typeface="Calibri"/>
              </a:rPr>
              <a:t/>
            </a:r>
          </a:p>
          <a:p>
            <a:pPr algn="l"/>
            <a:r>
              <a:rPr sz="1000" b="0">
                <a:solidFill>
                  <a:srgbClr val="2D3436"/>
                </a:solidFill>
                <a:latin typeface="Calibri"/>
              </a:rPr>
              <a:t>Separate read and write models</a:t>
            </a:r>
          </a:p>
          <a:p>
            <a:pPr algn="l"/>
            <a:r>
              <a:rPr sz="1000" b="0">
                <a:solidFill>
                  <a:srgbClr val="2D3436"/>
                </a:solidFill>
                <a:latin typeface="Calibri"/>
              </a:rPr>
              <a:t/>
            </a:r>
          </a:p>
          <a:p>
            <a:pPr algn="l"/>
            <a:r>
              <a:rPr sz="1000" b="0">
                <a:solidFill>
                  <a:srgbClr val="2D3436"/>
                </a:solidFill>
                <a:latin typeface="Calibri"/>
              </a:rPr>
              <a:t>Commands -&gt; Write Model</a:t>
            </a:r>
          </a:p>
          <a:p>
            <a:pPr algn="l"/>
            <a:r>
              <a:rPr sz="1000" b="0">
                <a:solidFill>
                  <a:srgbClr val="2D3436"/>
                </a:solidFill>
                <a:latin typeface="Calibri"/>
              </a:rPr>
              <a:t>Queries  -&gt; Read Model</a:t>
            </a:r>
          </a:p>
          <a:p>
            <a:pPr algn="l"/>
            <a:r>
              <a:rPr sz="1000" b="0">
                <a:solidFill>
                  <a:srgbClr val="2D3436"/>
                </a:solidFill>
                <a:latin typeface="Calibri"/>
              </a:rPr>
              <a:t/>
            </a:r>
          </a:p>
          <a:p>
            <a:pPr algn="l"/>
            <a:r>
              <a:rPr sz="1000" b="0">
                <a:solidFill>
                  <a:srgbClr val="2D3436"/>
                </a:solidFill>
                <a:latin typeface="Calibri"/>
              </a:rPr>
              <a:t>Benefits:</a:t>
            </a:r>
          </a:p>
          <a:p>
            <a:pPr algn="l"/>
            <a:r>
              <a:rPr sz="1000" b="0">
                <a:solidFill>
                  <a:srgbClr val="2D3436"/>
                </a:solidFill>
                <a:latin typeface="Calibri"/>
              </a:rPr>
              <a:t>  Optimized read/write paths</a:t>
            </a:r>
          </a:p>
          <a:p>
            <a:pPr algn="l"/>
            <a:r>
              <a:rPr sz="1000" b="0">
                <a:solidFill>
                  <a:srgbClr val="2D3436"/>
                </a:solidFill>
                <a:latin typeface="Calibri"/>
              </a:rPr>
              <a:t>  Better scalability</a:t>
            </a:r>
          </a:p>
          <a:p>
            <a:pPr algn="l"/>
            <a:r>
              <a:rPr sz="1000" b="0">
                <a:solidFill>
                  <a:srgbClr val="2D3436"/>
                </a:solidFill>
                <a:latin typeface="Calibri"/>
              </a:rPr>
              <a:t>  Clearer domain model</a:t>
            </a:r>
          </a:p>
        </p:txBody>
      </p:sp>
      <p:sp>
        <p:nvSpPr>
          <p:cNvPr id="8" name="Rounded Rectangle 7"/>
          <p:cNvSpPr/>
          <p:nvPr/>
        </p:nvSpPr>
        <p:spPr>
          <a:xfrm>
            <a:off x="8138160" y="1508760"/>
            <a:ext cx="3566160" cy="3931920"/>
          </a:xfrm>
          <a:prstGeom prst="roundRect">
            <a:avLst/>
          </a:prstGeom>
          <a:solidFill>
            <a:srgbClr val="FCE4D6"/>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r>
              <a:rPr sz="1000" b="1">
                <a:solidFill>
                  <a:srgbClr val="2D3436"/>
                </a:solidFill>
                <a:latin typeface="Calibri"/>
              </a:rPr>
              <a:t>Hexagonal Architecture</a:t>
            </a:r>
          </a:p>
          <a:p>
            <a:pPr algn="l"/>
            <a:r>
              <a:rPr sz="1000" b="0">
                <a:solidFill>
                  <a:srgbClr val="2D3436"/>
                </a:solidFill>
                <a:latin typeface="Calibri"/>
              </a:rPr>
              <a:t>(Ports &amp; Adapters)</a:t>
            </a:r>
          </a:p>
          <a:p>
            <a:pPr algn="l"/>
            <a:r>
              <a:rPr sz="1000" b="0">
                <a:solidFill>
                  <a:srgbClr val="2D3436"/>
                </a:solidFill>
                <a:latin typeface="Calibri"/>
              </a:rPr>
              <a:t/>
            </a:r>
          </a:p>
          <a:p>
            <a:pPr algn="l"/>
            <a:r>
              <a:rPr sz="1000" b="0">
                <a:solidFill>
                  <a:srgbClr val="2D3436"/>
                </a:solidFill>
                <a:latin typeface="Calibri"/>
              </a:rPr>
              <a:t>Core logic isolated from I/O</a:t>
            </a:r>
          </a:p>
          <a:p>
            <a:pPr algn="l"/>
            <a:r>
              <a:rPr sz="1000" b="0">
                <a:solidFill>
                  <a:srgbClr val="2D3436"/>
                </a:solidFill>
                <a:latin typeface="Calibri"/>
              </a:rPr>
              <a:t/>
            </a:r>
          </a:p>
          <a:p>
            <a:pPr algn="l"/>
            <a:r>
              <a:rPr sz="1000" b="0">
                <a:solidFill>
                  <a:srgbClr val="2D3436"/>
                </a:solidFill>
                <a:latin typeface="Calibri"/>
              </a:rPr>
              <a:t>Adapters -&gt; Ports -&gt; Core</a:t>
            </a:r>
          </a:p>
          <a:p>
            <a:pPr algn="l"/>
            <a:r>
              <a:rPr sz="1000" b="0">
                <a:solidFill>
                  <a:srgbClr val="2D3436"/>
                </a:solidFill>
                <a:latin typeface="Calibri"/>
              </a:rPr>
              <a:t/>
            </a:r>
          </a:p>
          <a:p>
            <a:pPr algn="l"/>
            <a:r>
              <a:rPr sz="1000" b="0">
                <a:solidFill>
                  <a:srgbClr val="2D3436"/>
                </a:solidFill>
                <a:latin typeface="Calibri"/>
              </a:rPr>
              <a:t>Benefits:</a:t>
            </a:r>
          </a:p>
          <a:p>
            <a:pPr algn="l"/>
            <a:r>
              <a:rPr sz="1000" b="0">
                <a:solidFill>
                  <a:srgbClr val="2D3436"/>
                </a:solidFill>
                <a:latin typeface="Calibri"/>
              </a:rPr>
              <a:t>  Testable business logic</a:t>
            </a:r>
          </a:p>
          <a:p>
            <a:pPr algn="l"/>
            <a:r>
              <a:rPr sz="1000" b="0">
                <a:solidFill>
                  <a:srgbClr val="2D3436"/>
                </a:solidFill>
                <a:latin typeface="Calibri"/>
              </a:rPr>
              <a:t>  Swappable infrastructure</a:t>
            </a:r>
          </a:p>
          <a:p>
            <a:pPr algn="l"/>
            <a:r>
              <a:rPr sz="1000" b="0">
                <a:solidFill>
                  <a:srgbClr val="2D3436"/>
                </a:solidFill>
                <a:latin typeface="Calibri"/>
              </a:rPr>
              <a:t>  AI generates adapters easily</a:t>
            </a:r>
          </a:p>
        </p:txBody>
      </p:sp>
      <p:sp>
        <p:nvSpPr>
          <p:cNvPr id="9" name="Rounded Rectangle 8"/>
          <p:cNvSpPr/>
          <p:nvPr/>
        </p:nvSpPr>
        <p:spPr>
          <a:xfrm>
            <a:off x="457200" y="5623560"/>
            <a:ext cx="11247120" cy="457200"/>
          </a:xfrm>
          <a:prstGeom prst="roundRect">
            <a:avLst/>
          </a:prstGeom>
          <a:solidFill>
            <a:srgbClr val="FFF2CC"/>
          </a:solidFill>
          <a:ln w="19050">
            <a:solidFill>
              <a:srgbClr val="ED7D31"/>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D3436"/>
                </a:solidFill>
                <a:latin typeface="Calibri"/>
              </a:rPr>
              <a:t>Pattern Selection:  Event-Driven for microservices  |  CQRS for read-heavy systems  |  Hexagonal for testable, maintainable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