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7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Set the context and learning journey..</a:t>
            </a:r>
          </a:p>
          <a:p>
            <a:pPr>
              <a:defRPr sz="1200">
                <a:latin typeface="Aptos"/>
              </a:defRPr>
            </a:pPr>
            <a:r>
              <a:t>Explain that the goal is not to replace software engineering fundamentals. The goal is to show how AI becomes part of the engineering workflow: requirements, design, implementation, validation, deployment and feedback. Emphasize that faculty should leave with a teachable structure, not just a tool demo.</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Clarify measurable outcomes..</a:t>
            </a:r>
          </a:p>
          <a:p>
            <a:pPr>
              <a:defRPr sz="1200">
                <a:latin typeface="Aptos"/>
              </a:defRPr>
            </a:pPr>
            <a:r>
              <a:t>Walk through each outcome and map it to the later sections. The audience should understand that the workshop is structured as concepts first, then demonstration, then hands-on practice. Make clear that success is measured by the quality of specifications, tests and review—not just whether AI generated code quickly.</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Give faculty a realistic timing model..</a:t>
            </a:r>
          </a:p>
          <a:p>
            <a:pPr>
              <a:defRPr sz="1200">
                <a:latin typeface="Aptos"/>
              </a:defRPr>
            </a:pPr>
            <a:r>
              <a:t>Explain that the deck is intentionally modular. If the session is 4 hours, reduce tool comparisons and spend more time on lab. If it is 5 hours, include code review, security scan and pipeline walkthrough. Faculty can also adapt this into multiple lectures or a two-day FDP format.</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Define AI-native precisely..</a:t>
            </a:r>
          </a:p>
          <a:p>
            <a:pPr>
              <a:defRPr sz="1200">
                <a:latin typeface="Aptos"/>
              </a:defRPr>
            </a:pPr>
            <a:r>
              <a:t>Stress the difference between AI-assisted and AI-native. In AI-assisted development, developers ask AI for help at isolated moments. In AI-native development, the workflow itself is redesigned so that requirements, design, tests, review and deployment artifacts are AI-readable and traceable. This is why specifications and validation become more important than casual prompting.</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Compare workflows without overstating AI..</a:t>
            </a:r>
          </a:p>
          <a:p>
            <a:pPr>
              <a:defRPr sz="1200">
                <a:latin typeface="Aptos"/>
              </a:defRPr>
            </a:pPr>
            <a:r>
              <a:t>Use a practical example: a student attendance feature. In a traditional workflow, requirements may say 'generate attendance report' while code implements ad-hoc filters. In an AI-native workflow, the requirement, API contract, test cases and UI states are all generated from the same specification and reviewed together. Point out that AI does not remove ambiguity; it exposes ambiguity faster.</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the lifecycle loop..</a:t>
            </a:r>
          </a:p>
          <a:p>
            <a:pPr>
              <a:defRPr sz="1200">
                <a:latin typeface="Aptos"/>
              </a:defRPr>
            </a:pPr>
            <a:r>
              <a:t>Walk through the loop from left to right. Emphasize that the key teaching idea is traceability: every generated code change should be traceable to a requirement, design decision and test. This creates an excellent opportunity for faculty to teach software engineering fundamentals through AI-enhanced artifacts.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Introduce the common lab project..</a:t>
            </a:r>
          </a:p>
          <a:p>
            <a:pPr>
              <a:defRPr sz="1200">
                <a:latin typeface="Aptos"/>
              </a:defRPr>
            </a:pPr>
            <a:r>
              <a:t>Explain why this example is chosen: it is familiar to faculty, has clear entities, and contains meaningful non-functional requirements such as access control, report performance and auditability. It also allows extension exercises: QR attendance, anomaly detection, offline sync or analytics dashboard.</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Classify tools by role..</a:t>
            </a:r>
          </a:p>
          <a:p>
            <a:pPr>
              <a:defRPr sz="1200">
                <a:latin typeface="Aptos"/>
              </a:defRPr>
            </a:pPr>
            <a:r>
              <a:t>Avoid turning this into a vendor comparison. Instead classify tools by where they fit: ideation, code completion, repository understanding, workflow automation, test generation and operations. For faculty, the important lesson is tool selection based on learning objective and governance constraints.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Position M365 Copilot appropriately..</a:t>
            </a:r>
          </a:p>
          <a:p>
            <a:pPr>
              <a:defRPr sz="1200">
                <a:latin typeface="Aptos"/>
              </a:defRPr>
            </a:pPr>
            <a:r>
              <a:t>Explain that M365 Copilot is valuable for faculty preparation, content synthesis and document-based productivity. It can help create lab instructions, summarize feedback forms and refine course outcomes. For direct coding, pair it with an IDE assistant or code environment. Reinforce responsible use of institutional data.</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practical IDE assistant usage..</a:t>
            </a:r>
          </a:p>
          <a:p>
            <a:pPr>
              <a:defRPr sz="1200">
                <a:latin typeface="Aptos"/>
              </a:defRPr>
            </a:pPr>
            <a:r>
              <a:t>Demonstrate that IDE AI tools are strongest when the project has clear structure and context. Ask participants to compare a vague prompt such as 'build attendance app' with a precise prompt referencing package structure, domain rules and tests. This reinforces the central theme: prompt quality follows specification quality.</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Set realistic expectations..</a:t>
            </a:r>
          </a:p>
          <a:p>
            <a:pPr>
              <a:defRPr sz="1200">
                <a:latin typeface="Aptos"/>
              </a:defRPr>
            </a:pPr>
            <a:r>
              <a:t>Use this as a safety slide. Explain hallucination in software terms: wrong library names, outdated APIs, insecure defaults or missing edge cases. Faculty should teach students to treat AI output like code from an unknown contributor: useful but requiring review, tests and evidence.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Teach prompt structure..</a:t>
            </a:r>
          </a:p>
          <a:p>
            <a:pPr>
              <a:defRPr sz="1200">
                <a:latin typeface="Aptos"/>
              </a:defRPr>
            </a:pPr>
            <a:r>
              <a:t>Present prompting as requirements communication. A good software prompt behaves like a good issue ticket: it describes goal, constraints, acceptance criteria and expected output. Encourage faculty to make students submit prompts along with generated artifacts so prompting becomes assessable.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Give a reusable prompt pattern..</a:t>
            </a:r>
          </a:p>
          <a:p>
            <a:pPr>
              <a:defRPr sz="1200">
                <a:latin typeface="Aptos"/>
              </a:defRPr>
            </a:pPr>
            <a:r>
              <a:t>Explain each part of the template. Role controls perspective, context reduces ambiguity, task prevents wandering and output format makes results usable. For the lab, ask participants to use the template to create requirements and API contracts before generating implementation code.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Establish the core methodology..</a:t>
            </a:r>
          </a:p>
          <a:p>
            <a:pPr>
              <a:defRPr sz="1200">
                <a:latin typeface="Aptos"/>
              </a:defRPr>
            </a:pPr>
            <a:r>
              <a:t>This is one of the most important slides. Explain that spec-driven development is a governance and quality technique. It forces the team to agree on behavior before code. AI becomes more reliable because it receives structured context. Students also learn that design decisions should be explicit and reviewable.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Show what a useful requirement contains..</a:t>
            </a:r>
          </a:p>
          <a:p>
            <a:pPr>
              <a:defRPr sz="1200">
                <a:latin typeface="Aptos"/>
              </a:defRPr>
            </a:pPr>
            <a:r>
              <a:t>Use the attendance example: faculty can mark attendance only for assigned courses; students can view their own status; admin can generate reports. Add NFRs: report should load within 2 seconds for a selected course; audit logs must retain changes. These details guide code and tests.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Demonstrate a scoped requirement..</a:t>
            </a:r>
          </a:p>
          <a:p>
            <a:pPr>
              <a:defRPr sz="1200">
                <a:latin typeface="Aptos"/>
              </a:defRPr>
            </a:pPr>
            <a:r>
              <a:t>Explain why a small slice is better than a large vague feature. This slice can produce entity changes, API endpoints, validation rules, unit tests, security checks and UI states. It is ideal for a 30–45 minute coding demonstration inside the workshop.</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Make architecture teachable..</a:t>
            </a:r>
          </a:p>
          <a:p>
            <a:pPr>
              <a:defRPr sz="1200">
                <a:latin typeface="Aptos"/>
              </a:defRPr>
            </a:pPr>
            <a:r>
              <a:t>Explain that the lab should avoid over-engineering. A layered monolith or modular service is enough for learning. However, the architecture diagram introduces boundaries that are important in real systems: UI, API, domain logic, persistence, security and observability.</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Walk through the system block diagram..</a:t>
            </a:r>
          </a:p>
          <a:p>
            <a:pPr>
              <a:defRPr sz="1200">
                <a:latin typeface="Aptos"/>
              </a:defRPr>
            </a:pPr>
            <a:r>
              <a:t>Point to each component and explain its responsibility. The purpose is to teach separation of concerns. Ask participants where validation should live. Expected answer: UI can help users, but authoritative validation must exist in the service/API layer and be verified by tests.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Connect UML to implementation..</a:t>
            </a:r>
          </a:p>
          <a:p>
            <a:pPr>
              <a:defRPr sz="1200">
                <a:latin typeface="Aptos"/>
              </a:defRPr>
            </a:pPr>
            <a:r>
              <a:t>Explain that UML is not just documentation. In AI-native development, UML can be used as structured context for code generation. Ask participants to identify multiplicity: one course has many sessions, one student has many attendance records, one faculty member teaches many course offerings.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Show behavior over time..</a:t>
            </a:r>
          </a:p>
          <a:p>
            <a:pPr>
              <a:defRPr sz="1200">
                <a:latin typeface="Aptos"/>
              </a:defRPr>
            </a:pPr>
            <a:r>
              <a:t>Use the sequence diagram to teach how requirements become runtime interactions. Highlight where failures occur: unauthorized faculty, invalid course, duplicate attendance, database conflict. Each failure should produce a test case and a meaningful error response.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contract-first API development..</a:t>
            </a:r>
          </a:p>
          <a:p>
            <a:pPr>
              <a:defRPr sz="1200">
                <a:latin typeface="Aptos"/>
              </a:defRPr>
            </a:pPr>
            <a:r>
              <a:t>Emphasize that API contracts reduce misunderstanding between teams and improve AI output. If frontend and backend are generated independently, the contract is the shared source of truth. Faculty can ask students to submit OpenAPI definitions as part of lab assessment.</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Discuss database correctness..</a:t>
            </a:r>
          </a:p>
          <a:p>
            <a:pPr>
              <a:defRPr sz="1200">
                <a:latin typeface="Aptos"/>
              </a:defRPr>
            </a:pPr>
            <a:r>
              <a:t>Explain that some correctness should be enforced in the database, not only application code. A unique constraint on student, course session and date prevents duplicate entries even if concurrent requests occur. This bridges software engineering, DBMS and testing topics.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Introduce ADRs as lightweight governance..</a:t>
            </a:r>
          </a:p>
          <a:p>
            <a:pPr>
              <a:defRPr sz="1200">
                <a:latin typeface="Aptos"/>
              </a:defRPr>
            </a:pPr>
            <a:r>
              <a:t>Give an example ADR: choose Spring Boot and PostgreSQL for the lab because faculty and students commonly know Java and relational databases. Note the trade-off: not as lightweight as Node/SQLite, but better for enterprise patterns. AI can draft ADRs, but humans should approve them.</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Plan the hands-on build..</a:t>
            </a:r>
          </a:p>
          <a:p>
            <a:pPr>
              <a:defRPr sz="1200">
                <a:latin typeface="Aptos"/>
              </a:defRPr>
            </a:pPr>
            <a:r>
              <a:t>Explain the vertical slice idea: implement mark attendance from UI to database and test it. Avoid trying to build the whole product during the lab. After the slice works, add report generation or role-based access as optional extensions.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Teach layered backend design..</a:t>
            </a:r>
          </a:p>
          <a:p>
            <a:pPr>
              <a:defRPr sz="1200">
                <a:latin typeface="Aptos"/>
              </a:defRPr>
            </a:pPr>
            <a:r>
              <a:t>Explain why generated code often becomes messy if layers are not specified. Ask participants to demand a package structure in the prompt: controller, service, repository, entity, dto and config. This makes generated code easier to review and test.</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Show a realistic code snippet..</a:t>
            </a:r>
          </a:p>
          <a:p>
            <a:pPr>
              <a:defRPr sz="1200">
                <a:latin typeface="Aptos"/>
              </a:defRPr>
            </a:pPr>
            <a:r>
              <a:t>Explain that this is a targeted snippet, not code on every slide. Walk through the endpoint. The controller accepts a request, delegates to service and returns response. The important teaching point is separation of concerns and testability.</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Show service logic where correctness matters..</a:t>
            </a:r>
          </a:p>
          <a:p>
            <a:pPr>
              <a:defRPr sz="1200">
                <a:latin typeface="Aptos"/>
              </a:defRPr>
            </a:pPr>
            <a:r>
              <a:t>Emphasize that AI-generated code often misses negative cases. Use this slide to show how natural-language rules become if-conditions, repository checks and exceptions. Demonstrate how every rule should map to at least one unit test.</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pragmatic frontend scope..</a:t>
            </a:r>
          </a:p>
          <a:p>
            <a:pPr>
              <a:defRPr sz="1200">
                <a:latin typeface="Aptos"/>
              </a:defRPr>
            </a:pPr>
            <a:r>
              <a:t>Faculty do not need to build a polished production UI in the lab. The aim is to show AI-assisted component generation and state handling. Ask participants to compare model-generated UI with the API contract and identify mismatches.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Show limited but useful frontend code..</a:t>
            </a:r>
          </a:p>
          <a:p>
            <a:pPr>
              <a:defRPr sz="1200">
                <a:latin typeface="Aptos"/>
              </a:defRPr>
            </a:pPr>
            <a:r>
              <a:t>Explain that the code snippet helps connect UI to backend contract. Highlight error handling because AI often generates optimistic frontend code that assumes success. For teaching, this is a good place to discuss resilient UI behavior.</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Teach safe generation workflow..</a:t>
            </a:r>
          </a:p>
          <a:p>
            <a:pPr>
              <a:defRPr sz="1200">
                <a:latin typeface="Aptos"/>
              </a:defRPr>
            </a:pPr>
            <a:r>
              <a:t>Discourage the 'generate entire app' approach. Explain that smaller increments reduce hallucination, make review easier and support version control. Faculty can make this a lab rule: no one accepts generated code without compiling, testing and explaining it.</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Use AI as a reviewer, not authority..</a:t>
            </a:r>
          </a:p>
          <a:p>
            <a:pPr>
              <a:defRPr sz="1200">
                <a:latin typeface="Aptos"/>
              </a:defRPr>
            </a:pPr>
            <a:r>
              <a:t>Show a sample review prompt verbally: 'Review this service against the requirement that duplicate attendance must be blocked.' Encourage faculty to teach students to ask AI for evidence and line-level reasoning, then verify with tests.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why refactoring is essential..</a:t>
            </a:r>
          </a:p>
          <a:p>
            <a:pPr>
              <a:defRPr sz="1200">
                <a:latin typeface="Aptos"/>
              </a:defRPr>
            </a:pPr>
            <a:r>
              <a:t>AI-generated code may work but still be difficult to maintain. This slide links AI-native development with classic clean-code practices. Invite faculty to create exercises where students refactor generated code and justify improvements.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Position tests as the safety net..</a:t>
            </a:r>
          </a:p>
          <a:p>
            <a:pPr>
              <a:defRPr sz="1200">
                <a:latin typeface="Aptos"/>
              </a:defRPr>
            </a:pPr>
            <a:r>
              <a:t>Explain that AI generation increases the need for tests because code can appear correct while missing edge cases. The testing pyramid remains relevant. AI can generate test drafts, but humans define risk areas and verify meaningful assertions.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Show a compact meaningful test..</a:t>
            </a:r>
          </a:p>
          <a:p>
            <a:pPr>
              <a:defRPr sz="1200">
                <a:latin typeface="Aptos"/>
              </a:defRPr>
            </a:pPr>
            <a:r>
              <a:t>Walk through arrange, act and assert. Explain that this test is more valuable than a superficial 'context loads' test because it checks a domain rule. Ask faculty to require at least one positive and one negative test per feature.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integration testing scope..</a:t>
            </a:r>
          </a:p>
          <a:p>
            <a:pPr>
              <a:defRPr sz="1200">
                <a:latin typeface="Aptos"/>
              </a:defRPr>
            </a:pPr>
            <a:r>
              <a:t>Clarify that integration tests catch wiring issues: routes, serialization, validation, transactions and persistence. In the lab, one MockMvc or API test is enough to demonstrate the pattern. For advanced sessions, use Testcontainers.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Demonstrate UI validation carefully..</a:t>
            </a:r>
          </a:p>
          <a:p>
            <a:pPr>
              <a:defRPr sz="1200">
                <a:latin typeface="Aptos"/>
              </a:defRPr>
            </a:pPr>
            <a:r>
              <a:t>Explain that E2E tests are powerful but slower and more brittle. For the lab, test only the happy path: faculty logs in, selects course, marks attendance and sees success. This makes E2E testing understandable within limited workshop time.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Summarize validation dimensions..</a:t>
            </a:r>
          </a:p>
          <a:p>
            <a:pPr>
              <a:defRPr sz="1200">
                <a:latin typeface="Aptos"/>
              </a:defRPr>
            </a:pPr>
            <a:r>
              <a:t>Use this slide to connect requirements, code, tests, security and DevOps. Explain that AI-native development should produce evidence for each validation dimension. Faculty can use this matrix as a grading rubric.</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Introduce security risks..</a:t>
            </a:r>
          </a:p>
          <a:p>
            <a:pPr>
              <a:defRPr sz="1200">
                <a:latin typeface="Aptos"/>
              </a:defRPr>
            </a:pPr>
            <a:r>
              <a:t>Explain that AI security is both about the application being built and the development process itself. Students may paste secrets or private data into prompts; generated code may miss access checks. This slide sets up secure-by-design practices.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Make security concrete..</a:t>
            </a:r>
          </a:p>
          <a:p>
            <a:pPr>
              <a:defRPr sz="1200">
                <a:latin typeface="Aptos"/>
              </a:defRPr>
            </a:pPr>
            <a:r>
              <a:t>Frame OWASP as a checklist for reviewing generated code. In the attendance system, broken access control is the most relevant risk: a faculty member should not edit another faculty member's course attendance. Ask participants to identify which endpoint is highest risk.</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Teach lightweight threat modeling..</a:t>
            </a:r>
          </a:p>
          <a:p>
            <a:pPr>
              <a:defRPr sz="1200">
                <a:latin typeface="Aptos"/>
              </a:defRPr>
            </a:pPr>
            <a:r>
              <a:t>Use STRIDE informally if the audience knows it, but keep the lab accessible. Ask: who can misuse this feature, what data matters, and what controls reduce risk? This reinforces that security is a design activity, not a final scan.</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Show selected security code..</a:t>
            </a:r>
          </a:p>
          <a:p>
            <a:pPr>
              <a:defRPr sz="1200">
                <a:latin typeface="Aptos"/>
              </a:defRPr>
            </a:pPr>
            <a:r>
              <a:t>Explain that authorization belongs close to the protected operation. UI controls improve experience but cannot enforce security. Ask participants to generate a negative test where an unauthorized faculty user attempts to update attendance.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Address safe classroom practices..</a:t>
            </a:r>
          </a:p>
          <a:p>
            <a:pPr>
              <a:defRPr sz="1200">
                <a:latin typeface="Aptos"/>
              </a:defRPr>
            </a:pPr>
            <a:r>
              <a:t>This is especially important for faculty workshops. Recommend using synthetic student records and local development credentials. Explain that responsible AI usage includes data minimization and avoiding unapproved disclosure of institutional information.</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Introduce CI/CD as automated evidence..</a:t>
            </a:r>
          </a:p>
          <a:p>
            <a:pPr>
              <a:defRPr sz="1200">
                <a:latin typeface="Aptos"/>
              </a:defRPr>
            </a:pPr>
            <a:r>
              <a:t>Explain that CI/CD is not just deployment automation. It is an automated validation system for AI-generated changes. The pipeline provides evidence that code compiles, tests pass, vulnerabilities are managed and deployment artifacts are reproducible.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Expand pipeline stage-by-stage..</a:t>
            </a:r>
          </a:p>
          <a:p>
            <a:pPr>
              <a:defRPr sz="1200">
                <a:latin typeface="Aptos"/>
              </a:defRPr>
            </a:pPr>
            <a:r>
              <a:t>Walk through each stage slowly. Build catches compilation and package errors. Tests catch behavior errors. Security scans catch known weaknesses. Docker packaging proves the app can run consistently. Staging deployment enables smoke tests before production. This is the most practical DevOps slide for the workshop.</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Show a practical pipeline snippet..</a:t>
            </a:r>
          </a:p>
          <a:p>
            <a:pPr>
              <a:defRPr sz="1200">
                <a:latin typeface="Aptos"/>
              </a:defRPr>
            </a:pPr>
            <a:r>
              <a:t>Explain the YAML structure: trigger, job, runner and steps. Point out that a real enterprise pipeline would include caching, artifacts, environment approvals and secrets. For the workshop, the important idea is automated validation on every push.</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containerization for repeatability..</a:t>
            </a:r>
          </a:p>
          <a:p>
            <a:pPr>
              <a:defRPr sz="1200">
                <a:latin typeface="Aptos"/>
              </a:defRPr>
            </a:pPr>
            <a:r>
              <a:t>Relate Docker to classroom setup: participants can run the same app consistently. Also discuss image hygiene: avoid large images, avoid secrets, patch base images and scan vulnerabilities. Keep the demo simple but mention production expectations.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Introduce Kubernetes at high level..</a:t>
            </a:r>
          </a:p>
          <a:p>
            <a:pPr>
              <a:defRPr sz="1200">
                <a:latin typeface="Aptos"/>
              </a:defRPr>
            </a:pPr>
            <a:r>
              <a:t>Do not go too deep unless time allows. Explain Kubernetes as an advanced extension for scale and operations. For the lab, Docker Compose may be enough; Kubernetes slides help faculty discuss industry-grade deployment.</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Connect security and quality to release decisions..</a:t>
            </a:r>
          </a:p>
          <a:p>
            <a:pPr>
              <a:defRPr sz="1200">
                <a:latin typeface="Aptos"/>
              </a:defRPr>
            </a:pPr>
            <a:r>
              <a:t>Explain that gates convert quality expectations into automated checks. AI can generate code quickly, but gates keep speed from reducing safety. Faculty can ask students to define sensible gates for different project types.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Introduce performance engineering..</a:t>
            </a:r>
          </a:p>
          <a:p>
            <a:pPr>
              <a:defRPr sz="1200">
                <a:latin typeface="Aptos"/>
              </a:defRPr>
            </a:pPr>
            <a:r>
              <a:t>Use an attendance report example: loading a monthly report for 5,000 students may be slow if the query joins inefficiently. Explain that performance goals should be part of NFRs, not added after complaints. AI can suggest optimizations, but measurements decide correctness.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Show a compact load test..</a:t>
            </a:r>
          </a:p>
          <a:p>
            <a:pPr>
              <a:defRPr sz="1200">
                <a:latin typeface="Aptos"/>
              </a:defRPr>
            </a:pPr>
            <a:r>
              <a:t>Explain that this is not a full performance engineering course. The goal is to show how to validate performance assumptions. Ask participants to run a small load test before and after adding indexes or caching, then compare results.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observability in plain language..</a:t>
            </a:r>
          </a:p>
          <a:p>
            <a:pPr>
              <a:defRPr sz="1200">
                <a:latin typeface="Aptos"/>
              </a:defRPr>
            </a:pPr>
            <a:r>
              <a:t>Relate observability to faculty debugging: instead of guessing why a report is slow, logs identify errors, metrics show CPU/latency and traces show where time was spent. AI tools can summarize logs, but instrumentation must exist first.</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Connect telemetry to architecture..</a:t>
            </a:r>
          </a:p>
          <a:p>
            <a:pPr>
              <a:defRPr sz="1200">
                <a:latin typeface="Aptos"/>
              </a:defRPr>
            </a:pPr>
            <a:r>
              <a:t>Show how observability fits into the architecture rather than being an afterthought. Explain that every production-grade AI-native workflow should capture runtime feedback, because future changes can be guided by real usage and failure data.</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Introduce multi-agent systems carefully..</a:t>
            </a:r>
          </a:p>
          <a:p>
            <a:pPr>
              <a:defRPr sz="1200">
                <a:latin typeface="Aptos"/>
              </a:defRPr>
            </a:pPr>
            <a:r>
              <a:t>Explain that multi-agent development is an advanced pattern. It is not simply opening multiple chats. Agents need role definitions, context, tools, memory and constraints. Use it as a conceptual model for dividing software engineering work.</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each agent role..</a:t>
            </a:r>
          </a:p>
          <a:p>
            <a:pPr>
              <a:defRPr sz="1200">
                <a:latin typeface="Aptos"/>
              </a:defRPr>
            </a:pPr>
            <a:r>
              <a:t>Emphasize role separation. If one model generates requirements, code and tests without independent review, mistakes may reinforce each other. Separate agents with different prompts can provide checks and balances, but human oversight remains essential.</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Deep dive into requirements agent..</a:t>
            </a:r>
          </a:p>
          <a:p>
            <a:pPr>
              <a:defRPr sz="1200">
                <a:latin typeface="Aptos"/>
              </a:defRPr>
            </a:pPr>
            <a:r>
              <a:t>Demonstrate verbally with the attendance feature. The agent should ask: who can mark attendance, what happens if a student is absent, can attendance be edited, and what audit is required? This is valuable for faculty teaching requirements engineering.</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Deep dive into architecture agent..</a:t>
            </a:r>
          </a:p>
          <a:p>
            <a:pPr>
              <a:defRPr sz="1200">
                <a:latin typeface="Aptos"/>
              </a:defRPr>
            </a:pPr>
            <a:r>
              <a:t>Explain that the architect agent should not directly produce final code. Its output should be architecture notes, diagrams and decisions. Ask faculty to make students compare two architecture options and justify one using constraints.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Deep dive into coding agent..</a:t>
            </a:r>
          </a:p>
          <a:p>
            <a:pPr>
              <a:defRPr sz="1200">
                <a:latin typeface="Aptos"/>
              </a:defRPr>
            </a:pPr>
            <a:r>
              <a:t>Position the coding agent as an efficient junior contributor. It can write boilerplate and isolated changes, but it needs specifications and tests. Faculty should ask students to explain generated code to prove understanding.</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Deep dive into testing agent..</a:t>
            </a:r>
          </a:p>
          <a:p>
            <a:pPr>
              <a:defRPr sz="1200">
                <a:latin typeface="Aptos"/>
              </a:defRPr>
            </a:pPr>
            <a:r>
              <a:t>Explain that the testing agent should work from requirements and risk, not from implementation only. If it only reads generated code, it may reproduce the same blind spots. Strong testing prompts include business rules, failure modes and expected responses.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Deep dive into security agent..</a:t>
            </a:r>
          </a:p>
          <a:p>
            <a:pPr>
              <a:defRPr sz="1200">
                <a:latin typeface="Aptos"/>
              </a:defRPr>
            </a:pPr>
            <a:r>
              <a:t>Use the attendance example: security agent verifies that students cannot view other students' data, faculty cannot modify unrelated courses and admin actions are audited. Explain that security findings should become backlog items and test cases.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Deep dive into DevOps agent..</a:t>
            </a:r>
          </a:p>
          <a:p>
            <a:pPr>
              <a:defRPr sz="1200">
                <a:latin typeface="Aptos"/>
              </a:defRPr>
            </a:pPr>
            <a:r>
              <a:t>Explain that the DevOps agent connects development to operational readiness. It can draft YAML, Dockerfiles and deployment manifests, but secrets, permissions and production environments require strict human review.</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orchestration instead of isolated agents..</a:t>
            </a:r>
          </a:p>
          <a:p>
            <a:pPr>
              <a:defRPr sz="1200">
                <a:latin typeface="Aptos"/>
              </a:defRPr>
            </a:pPr>
            <a:r>
              <a:t>Walk through a possible sequence: Requirements Agent creates user stories; Architect Agent designs APIs; Coding Agent implements; Testing Agent generates tests; Security Agent reviews; DevOps Agent updates pipeline. The orchestrator coordinates dependencies and prevents agents from working with stale context.</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Explain MCP-like tool connectivity at a high level..</a:t>
            </a:r>
          </a:p>
          <a:p>
            <a:pPr>
              <a:defRPr sz="1200">
                <a:latin typeface="Aptos"/>
              </a:defRPr>
            </a:pPr>
            <a:r>
              <a:t>Keep this conceptual unless the audience is advanced. The core message is that agentic development requires structured context and safe tool access. Without governance, agents may act on incomplete or unauthorized information.</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Introduce AI governance as essential..</a:t>
            </a:r>
          </a:p>
          <a:p>
            <a:pPr>
              <a:defRPr sz="1200">
                <a:latin typeface="Aptos"/>
              </a:defRPr>
            </a:pPr>
            <a:r>
              <a:t>Explain that governance is not anti-innovation. It enables responsible adoption by clarifying what is allowed, what must be reviewed and what evidence is required. For academic institutions, governance also protects students and faculty from accidental data or IP misuse.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Translate principles into classroom actions..</a:t>
            </a:r>
          </a:p>
          <a:p>
            <a:pPr>
              <a:defRPr sz="1200">
                <a:latin typeface="Aptos"/>
              </a:defRPr>
            </a:pPr>
            <a:r>
              <a:t>Ask faculty to require an AI usage statement in assignments: what tools were used, for which tasks, and how outputs were verified. This encourages transparency and academic integrity while still allowing productive use of AI.</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Adapt assessment for AI era..</a:t>
            </a:r>
          </a:p>
          <a:p>
            <a:pPr>
              <a:defRPr sz="1200">
                <a:latin typeface="Aptos"/>
              </a:defRPr>
            </a:pPr>
            <a:r>
              <a:t>Explain that banning AI may be unrealistic, but unstructured use weakens learning. A better approach is to assess the process: requirement quality, design rationale, test strength, security reasoning and ability to explain code. This aligns with outcomes-based education.</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Give a realistic lab schedule..</a:t>
            </a:r>
          </a:p>
          <a:p>
            <a:pPr>
              <a:defRPr sz="1200">
                <a:latin typeface="Aptos"/>
              </a:defRPr>
            </a:pPr>
            <a:r>
              <a:t>Explain that the lab can be run as pairs or small groups. The instructor should provide a starter repository if time is limited. If internet or tool access is inconsistent, use pre-generated snippets and focus on review, testing and reasoning.</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Detail the first lab activity..</a:t>
            </a:r>
          </a:p>
          <a:p>
            <a:pPr>
              <a:defRPr sz="1200">
                <a:latin typeface="Aptos"/>
              </a:defRPr>
            </a:pPr>
            <a:r>
              <a:t>Instruct participants to create a one-page spec for mark attendance. Ask them to include permissions, validation rules and audit needs. Then have them ask AI to identify missing requirements. This demonstrates human-AI collaboration before code.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Detail the architecture lab..</a:t>
            </a:r>
          </a:p>
          <a:p>
            <a:pPr>
              <a:defRPr sz="1200">
                <a:latin typeface="Aptos"/>
              </a:defRPr>
            </a:pPr>
            <a:r>
              <a:t>Ask participants to generate a text-based UML or Mermaid diagram first, then convert it into a slide or documentation artifact. The goal is not artistic perfection but shared understanding. Encourage participants to challenge the generated design.</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Detail backend implementation lab..</a:t>
            </a:r>
          </a:p>
          <a:p>
            <a:pPr>
              <a:defRPr sz="1200">
                <a:latin typeface="Aptos"/>
              </a:defRPr>
            </a:pPr>
            <a:r>
              <a:t>Guide participants step-by-step. First generate DTOs and controller. Then service logic. Then repository. Stop after each step to compile. If errors occur, use them as teachable moments: paste the error into the AI assistant and ask for root cause and minimal fix.</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Detail frontend integration lab..</a:t>
            </a:r>
          </a:p>
          <a:p>
            <a:pPr>
              <a:defRPr sz="1200">
                <a:latin typeface="Aptos"/>
              </a:defRPr>
            </a:pPr>
            <a:r>
              <a:t>Explain that the purpose is to complete the vertical slice. The UI should allow selecting a course, marking a student present or absent and displaying server response. Encourage checking browser network tab to connect frontend behavior with API contract.</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Detail DevOps lab..</a:t>
            </a:r>
          </a:p>
          <a:p>
            <a:pPr>
              <a:defRPr sz="1200">
                <a:latin typeface="Aptos"/>
              </a:defRPr>
            </a:pPr>
            <a:r>
              <a:t>If participants cannot push to GitHub during the workshop, show a prepared repository or run the pipeline locally with commands. The important learning outcome is that AI-generated code must pass automated checks before being considered complete.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Prepare instructor for workshop friction..</a:t>
            </a:r>
          </a:p>
          <a:p>
            <a:pPr>
              <a:defRPr sz="1200">
                <a:latin typeface="Aptos"/>
              </a:defRPr>
            </a:pPr>
            <a:r>
              <a:t>Explain how to handle failures constructively. If code does not compile, ask participants to diagnose using error messages. If AI output is too broad, ask them to narrow the prompt. If tests are weak, revisit acceptance criteria. Failures are part of the learning experience.</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Turn workshop into course activity..</a:t>
            </a:r>
          </a:p>
          <a:p>
            <a:pPr>
              <a:defRPr sz="1200">
                <a:latin typeface="Aptos"/>
              </a:defRPr>
            </a:pPr>
            <a:r>
              <a:t>This slide helps faculty adopt the material beyond the workshop. The assignment should grade engineering process and understanding. Students should not receive full credit for generated code alone; they must demonstrate validation, explain design choices and reflect on AI limitations.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Connect to academic research..</a:t>
            </a:r>
          </a:p>
          <a:p>
            <a:pPr>
              <a:defRPr sz="1200">
                <a:latin typeface="Aptos"/>
              </a:defRPr>
            </a:pPr>
            <a:r>
              <a:t>Encourage faculty to turn classroom practice into research questions. Examples: Does spec-driven prompting improve code quality? How do students learn debugging when using AI? What rubrics best assess AI-assisted software engineering? This creates institutional value beyond a single training session.</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latin typeface="Aptos"/>
              </a:defRPr>
            </a:pPr>
            <a:r>
              <a:t>Use this slide as a teaching moment rather than a reading slide. Keep the talk anchored in the running Faculty Attendance System example so faculty can immediately connect the method to a classroom-sized practical lab.</a:t>
            </a:r>
          </a:p>
          <a:p>
            <a:pPr>
              <a:defRPr sz="1200">
                <a:latin typeface="Aptos"/>
              </a:defRPr>
            </a:pPr>
            <a:r>
              <a:t>Slide intent: Close with the core message..</a:t>
            </a:r>
          </a:p>
          <a:p>
            <a:pPr>
              <a:defRPr sz="1200">
                <a:latin typeface="Aptos"/>
              </a:defRPr>
            </a:pPr>
            <a:r>
              <a:t>Summarize the workshop in one sentence: AI accelerates development, but engineering discipline determines quality. Thank participants and invite questions around adapting the lab to their curriculum, available tools and student skill levels.</a:t>
            </a:r>
          </a:p>
          <a:p>
            <a:pPr>
              <a:defRPr sz="1200">
                <a:latin typeface="Aptos"/>
              </a:defRPr>
            </a:pPr>
            <a:r>
              <a:t>Suggested facilitation: Ask participants how they would explain this concept to second-year or final-year computer science students. Invite one example from software engineering, one from testing, and one from deployment.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AI-Native Software Development with Practical Sessions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Faculty workshop for 4–5 hours</a:t>
            </a:r>
          </a:p>
          <a:p>
            <a:pPr>
              <a:lnSpc>
                <a:spcPct val="105000"/>
              </a:lnSpc>
              <a:spcAft>
                <a:spcPts val="1000"/>
              </a:spcAft>
              <a:defRPr sz="1800">
                <a:solidFill>
                  <a:srgbClr val="404040"/>
                </a:solidFill>
                <a:latin typeface="Aptos"/>
              </a:defRPr>
            </a:pPr>
            <a:r>
              <a:t>From basic concepts to advanced AI-native engineering</a:t>
            </a:r>
          </a:p>
          <a:p>
            <a:pPr>
              <a:lnSpc>
                <a:spcPct val="105000"/>
              </a:lnSpc>
              <a:spcAft>
                <a:spcPts val="1000"/>
              </a:spcAft>
              <a:defRPr sz="1800">
                <a:solidFill>
                  <a:srgbClr val="404040"/>
                </a:solidFill>
                <a:latin typeface="Aptos"/>
              </a:defRPr>
            </a:pPr>
            <a:r>
              <a:t>Includes guided practical lab using a Faculty Attendance System</a:t>
            </a:r>
          </a:p>
        </p:txBody>
      </p:sp>
      <p:sp>
        <p:nvSpPr>
          <p:cNvPr id="5" name="Rounded Rectangle 4"/>
          <p:cNvSpPr/>
          <p:nvPr/>
        </p:nvSpPr>
        <p:spPr>
          <a:xfrm>
            <a:off x="6355080" y="1874519"/>
            <a:ext cx="804672" cy="658368"/>
          </a:xfrm>
          <a:prstGeom prst="roundRect">
            <a:avLst/>
          </a:prstGeom>
          <a:solidFill>
            <a:srgbClr val="E7F2FA"/>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Intent</a:t>
            </a:r>
          </a:p>
        </p:txBody>
      </p:sp>
      <p:cxnSp>
        <p:nvCxnSpPr>
          <p:cNvPr id="6" name="Connector 5"/>
          <p:cNvCxnSpPr/>
          <p:nvPr/>
        </p:nvCxnSpPr>
        <p:spPr>
          <a:xfrm>
            <a:off x="7159752"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24344" y="1874519"/>
            <a:ext cx="804672" cy="658368"/>
          </a:xfrm>
          <a:prstGeom prst="roundRect">
            <a:avLst/>
          </a:prstGeom>
          <a:solidFill>
            <a:srgbClr val="FFF7DD"/>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Specification</a:t>
            </a:r>
          </a:p>
        </p:txBody>
      </p:sp>
      <p:cxnSp>
        <p:nvCxnSpPr>
          <p:cNvPr id="8" name="Connector 7"/>
          <p:cNvCxnSpPr/>
          <p:nvPr/>
        </p:nvCxnSpPr>
        <p:spPr>
          <a:xfrm>
            <a:off x="8129016"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93608" y="1874519"/>
            <a:ext cx="804672" cy="658368"/>
          </a:xfrm>
          <a:prstGeom prst="roundRect">
            <a:avLst/>
          </a:prstGeom>
          <a:solidFill>
            <a:srgbClr val="EFE8F9"/>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AI-assisted Design</a:t>
            </a:r>
          </a:p>
        </p:txBody>
      </p:sp>
      <p:cxnSp>
        <p:nvCxnSpPr>
          <p:cNvPr id="10" name="Connector 9"/>
          <p:cNvCxnSpPr/>
          <p:nvPr/>
        </p:nvCxnSpPr>
        <p:spPr>
          <a:xfrm>
            <a:off x="9098280"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262872" y="1874519"/>
            <a:ext cx="804672" cy="658368"/>
          </a:xfrm>
          <a:prstGeom prst="roundRect">
            <a:avLst/>
          </a:prstGeom>
          <a:solidFill>
            <a:srgbClr val="E7F2FA"/>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Generated Code</a:t>
            </a:r>
          </a:p>
        </p:txBody>
      </p:sp>
      <p:cxnSp>
        <p:nvCxnSpPr>
          <p:cNvPr id="12" name="Connector 11"/>
          <p:cNvCxnSpPr/>
          <p:nvPr/>
        </p:nvCxnSpPr>
        <p:spPr>
          <a:xfrm>
            <a:off x="10067544"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232136" y="1874519"/>
            <a:ext cx="804672" cy="658368"/>
          </a:xfrm>
          <a:prstGeom prst="roundRect">
            <a:avLst/>
          </a:prstGeom>
          <a:solidFill>
            <a:srgbClr val="E0F7FA"/>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Tests</a:t>
            </a:r>
          </a:p>
        </p:txBody>
      </p:sp>
      <p:cxnSp>
        <p:nvCxnSpPr>
          <p:cNvPr id="14" name="Connector 13"/>
          <p:cNvCxnSpPr/>
          <p:nvPr/>
        </p:nvCxnSpPr>
        <p:spPr>
          <a:xfrm>
            <a:off x="11036808"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1201400" y="1874519"/>
            <a:ext cx="804672" cy="658368"/>
          </a:xfrm>
          <a:prstGeom prst="roundRect">
            <a:avLst/>
          </a:prstGeom>
          <a:solidFill>
            <a:srgbClr val="EFE8F9"/>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CI/CD</a:t>
            </a:r>
          </a:p>
        </p:txBody>
      </p:sp>
      <p:cxnSp>
        <p:nvCxnSpPr>
          <p:cNvPr id="16" name="Connector 15"/>
          <p:cNvCxnSpPr/>
          <p:nvPr/>
        </p:nvCxnSpPr>
        <p:spPr>
          <a:xfrm>
            <a:off x="11889943"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49863" y="1874519"/>
            <a:ext cx="804672" cy="658368"/>
          </a:xfrm>
          <a:prstGeom prst="roundRect">
            <a:avLst/>
          </a:prstGeom>
          <a:solidFill>
            <a:srgbClr val="E2EFDA"/>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Feedback</a:t>
            </a:r>
          </a:p>
        </p:txBody>
      </p:sp>
      <p:sp>
        <p:nvSpPr>
          <p:cNvPr id="18" name="Rounded Rectangle 17"/>
          <p:cNvSpPr/>
          <p:nvPr/>
        </p:nvSpPr>
        <p:spPr>
          <a:xfrm>
            <a:off x="6446520" y="3063240"/>
            <a:ext cx="5074920" cy="777240"/>
          </a:xfrm>
          <a:prstGeom prst="roundRect">
            <a:avLst/>
          </a:prstGeom>
          <a:solidFill>
            <a:srgbClr val="FFFFFF"/>
          </a:solidFill>
          <a:ln w="19050">
            <a:solidFill>
              <a:srgbClr val="2F75B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F75B5"/>
                </a:solidFill>
                <a:latin typeface="Aptos"/>
              </a:defRPr>
            </a:pPr>
            <a:r>
              <a:t>AI-native = human intent + executable specification + automated feedback</a:t>
            </a:r>
          </a:p>
        </p:txBody>
      </p:sp>
      <p:sp>
        <p:nvSpPr>
          <p:cNvPr id="19" name="Rectangle 18"/>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Opening</a:t>
            </a:r>
          </a:p>
        </p:txBody>
      </p:sp>
      <p:sp>
        <p:nvSpPr>
          <p:cNvPr id="21" name="TextBox 20"/>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Workshop Outcomes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Understand AI-native SDLC and its impact on software engineering</a:t>
            </a:r>
          </a:p>
          <a:p>
            <a:pPr>
              <a:lnSpc>
                <a:spcPct val="105000"/>
              </a:lnSpc>
              <a:spcAft>
                <a:spcPts val="1000"/>
              </a:spcAft>
              <a:defRPr sz="1800">
                <a:solidFill>
                  <a:srgbClr val="404040"/>
                </a:solidFill>
                <a:latin typeface="Aptos"/>
              </a:defRPr>
            </a:pPr>
            <a:r>
              <a:t>Apply spec-driven development before generating code</a:t>
            </a:r>
          </a:p>
          <a:p>
            <a:pPr>
              <a:lnSpc>
                <a:spcPct val="105000"/>
              </a:lnSpc>
              <a:spcAft>
                <a:spcPts val="1000"/>
              </a:spcAft>
              <a:defRPr sz="1800">
                <a:solidFill>
                  <a:srgbClr val="404040"/>
                </a:solidFill>
                <a:latin typeface="Aptos"/>
              </a:defRPr>
            </a:pPr>
            <a:r>
              <a:t>Design, implement, test, secure and deploy a small application</a:t>
            </a:r>
          </a:p>
          <a:p>
            <a:pPr>
              <a:lnSpc>
                <a:spcPct val="105000"/>
              </a:lnSpc>
              <a:spcAft>
                <a:spcPts val="1000"/>
              </a:spcAft>
              <a:defRPr sz="1800">
                <a:solidFill>
                  <a:srgbClr val="404040"/>
                </a:solidFill>
                <a:latin typeface="Aptos"/>
              </a:defRPr>
            </a:pPr>
            <a:r>
              <a:t>Discuss governance, ethics and classroom adoption</a:t>
            </a:r>
          </a:p>
        </p:txBody>
      </p:sp>
      <p:sp>
        <p:nvSpPr>
          <p:cNvPr id="5" name="Rounded Rectangle 4"/>
          <p:cNvSpPr/>
          <p:nvPr/>
        </p:nvSpPr>
        <p:spPr>
          <a:xfrm>
            <a:off x="6446520" y="1554480"/>
            <a:ext cx="5074920" cy="685800"/>
          </a:xfrm>
          <a:prstGeom prst="roundRect">
            <a:avLst/>
          </a:prstGeom>
          <a:solidFill>
            <a:srgbClr val="FFFFFF"/>
          </a:solidFill>
          <a:ln w="19050">
            <a:solidFill>
              <a:srgbClr val="2F75B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F75B5"/>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Opening</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4–5 Hour Delivery Plan</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Part 1: Concepts and methodology — around 2 hours</a:t>
            </a:r>
          </a:p>
          <a:p>
            <a:pPr>
              <a:lnSpc>
                <a:spcPct val="105000"/>
              </a:lnSpc>
              <a:spcAft>
                <a:spcPts val="1000"/>
              </a:spcAft>
              <a:defRPr sz="1800">
                <a:solidFill>
                  <a:srgbClr val="404040"/>
                </a:solidFill>
                <a:latin typeface="Aptos"/>
              </a:defRPr>
            </a:pPr>
            <a:r>
              <a:t>Part 2: Guided implementation lab — around 2–3 hours</a:t>
            </a:r>
          </a:p>
          <a:p>
            <a:pPr>
              <a:lnSpc>
                <a:spcPct val="105000"/>
              </a:lnSpc>
              <a:spcAft>
                <a:spcPts val="1000"/>
              </a:spcAft>
              <a:defRPr sz="1800">
                <a:solidFill>
                  <a:srgbClr val="404040"/>
                </a:solidFill>
                <a:latin typeface="Aptos"/>
              </a:defRPr>
            </a:pPr>
            <a:r>
              <a:t>Part 3: Governance, assessment and research discussion</a:t>
            </a:r>
          </a:p>
          <a:p>
            <a:pPr>
              <a:lnSpc>
                <a:spcPct val="105000"/>
              </a:lnSpc>
              <a:spcAft>
                <a:spcPts val="1000"/>
              </a:spcAft>
              <a:defRPr sz="1800">
                <a:solidFill>
                  <a:srgbClr val="404040"/>
                </a:solidFill>
                <a:latin typeface="Aptos"/>
              </a:defRPr>
            </a:pPr>
            <a:r>
              <a:t>Use breaks at natural transition points</a:t>
            </a:r>
          </a:p>
        </p:txBody>
      </p:sp>
      <p:sp>
        <p:nvSpPr>
          <p:cNvPr id="5" name="Rounded Rectangle 4"/>
          <p:cNvSpPr/>
          <p:nvPr/>
        </p:nvSpPr>
        <p:spPr>
          <a:xfrm>
            <a:off x="6400800" y="1737360"/>
            <a:ext cx="1051560" cy="50292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Concepts</a:t>
            </a:r>
          </a:p>
        </p:txBody>
      </p:sp>
      <p:sp>
        <p:nvSpPr>
          <p:cNvPr id="6" name="Rounded Rectangle 5"/>
          <p:cNvSpPr/>
          <p:nvPr/>
        </p:nvSpPr>
        <p:spPr>
          <a:xfrm>
            <a:off x="7909560" y="1737360"/>
            <a:ext cx="1051560" cy="50292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Demo</a:t>
            </a:r>
          </a:p>
        </p:txBody>
      </p:sp>
      <p:sp>
        <p:nvSpPr>
          <p:cNvPr id="7" name="Rounded Rectangle 6"/>
          <p:cNvSpPr/>
          <p:nvPr/>
        </p:nvSpPr>
        <p:spPr>
          <a:xfrm>
            <a:off x="9418320" y="1737360"/>
            <a:ext cx="1051560" cy="50292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Hands-on</a:t>
            </a:r>
          </a:p>
        </p:txBody>
      </p:sp>
      <p:sp>
        <p:nvSpPr>
          <p:cNvPr id="8" name="Rounded Rectangle 7"/>
          <p:cNvSpPr/>
          <p:nvPr/>
        </p:nvSpPr>
        <p:spPr>
          <a:xfrm>
            <a:off x="10927080" y="1737360"/>
            <a:ext cx="1051560" cy="50292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Review</a:t>
            </a:r>
          </a:p>
        </p:txBody>
      </p:sp>
      <p:cxnSp>
        <p:nvCxnSpPr>
          <p:cNvPr id="9" name="Connector 8"/>
          <p:cNvCxnSpPr/>
          <p:nvPr/>
        </p:nvCxnSpPr>
        <p:spPr>
          <a:xfrm>
            <a:off x="7452360" y="1993392"/>
            <a:ext cx="45720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961120" y="1993392"/>
            <a:ext cx="45720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469880" y="1993392"/>
            <a:ext cx="45720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46520" y="3017520"/>
            <a:ext cx="5074920" cy="594360"/>
          </a:xfrm>
          <a:prstGeom prst="roundRect">
            <a:avLst/>
          </a:prstGeom>
          <a:solidFill>
            <a:srgbClr val="FFFFFF"/>
          </a:solidFill>
          <a:ln w="19050">
            <a:solidFill>
              <a:srgbClr val="2F75B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F75B5"/>
                </a:solidFill>
                <a:latin typeface="Aptos"/>
              </a:defRPr>
            </a:pPr>
            <a:r>
              <a:t>Suggested flow: 40% concepts, 60% guided practice</a:t>
            </a:r>
          </a:p>
        </p:txBody>
      </p:sp>
      <p:sp>
        <p:nvSpPr>
          <p:cNvPr id="13" name="Rectangle 12"/>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Opening</a:t>
            </a:r>
          </a:p>
        </p:txBody>
      </p:sp>
      <p:sp>
        <p:nvSpPr>
          <p:cNvPr id="15" name="TextBox 14"/>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What Makes Development “AI-Native”?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AI participates across the lifecycle, not only during coding</a:t>
            </a:r>
          </a:p>
          <a:p>
            <a:pPr>
              <a:lnSpc>
                <a:spcPct val="105000"/>
              </a:lnSpc>
              <a:spcAft>
                <a:spcPts val="1000"/>
              </a:spcAft>
              <a:defRPr sz="1800">
                <a:solidFill>
                  <a:srgbClr val="404040"/>
                </a:solidFill>
                <a:latin typeface="Aptos"/>
              </a:defRPr>
            </a:pPr>
            <a:r>
              <a:t>Specifications become the primary control mechanism</a:t>
            </a:r>
          </a:p>
          <a:p>
            <a:pPr>
              <a:lnSpc>
                <a:spcPct val="105000"/>
              </a:lnSpc>
              <a:spcAft>
                <a:spcPts val="1000"/>
              </a:spcAft>
              <a:defRPr sz="1800">
                <a:solidFill>
                  <a:srgbClr val="404040"/>
                </a:solidFill>
                <a:latin typeface="Aptos"/>
              </a:defRPr>
            </a:pPr>
            <a:r>
              <a:t>Humans review intent, architecture, safety and fitness</a:t>
            </a:r>
          </a:p>
          <a:p>
            <a:pPr>
              <a:lnSpc>
                <a:spcPct val="105000"/>
              </a:lnSpc>
              <a:spcAft>
                <a:spcPts val="1000"/>
              </a:spcAft>
              <a:defRPr sz="1800">
                <a:solidFill>
                  <a:srgbClr val="404040"/>
                </a:solidFill>
                <a:latin typeface="Aptos"/>
              </a:defRPr>
            </a:pPr>
            <a:r>
              <a:t>Feedback loops continuously improve the product</a:t>
            </a:r>
          </a:p>
        </p:txBody>
      </p:sp>
      <p:sp>
        <p:nvSpPr>
          <p:cNvPr id="5" name="Rounded Rectangle 4"/>
          <p:cNvSpPr/>
          <p:nvPr/>
        </p:nvSpPr>
        <p:spPr>
          <a:xfrm>
            <a:off x="6355080" y="1874519"/>
            <a:ext cx="804672" cy="658368"/>
          </a:xfrm>
          <a:prstGeom prst="roundRect">
            <a:avLst/>
          </a:prstGeom>
          <a:solidFill>
            <a:srgbClr val="E7F2F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Intent</a:t>
            </a:r>
          </a:p>
        </p:txBody>
      </p:sp>
      <p:cxnSp>
        <p:nvCxnSpPr>
          <p:cNvPr id="6" name="Connector 5"/>
          <p:cNvCxnSpPr/>
          <p:nvPr/>
        </p:nvCxnSpPr>
        <p:spPr>
          <a:xfrm>
            <a:off x="7159752"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24344" y="1874519"/>
            <a:ext cx="804672" cy="658368"/>
          </a:xfrm>
          <a:prstGeom prst="roundRect">
            <a:avLst/>
          </a:prstGeom>
          <a:solidFill>
            <a:srgbClr val="FFF7DD"/>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Specification</a:t>
            </a:r>
          </a:p>
        </p:txBody>
      </p:sp>
      <p:cxnSp>
        <p:nvCxnSpPr>
          <p:cNvPr id="8" name="Connector 7"/>
          <p:cNvCxnSpPr/>
          <p:nvPr/>
        </p:nvCxnSpPr>
        <p:spPr>
          <a:xfrm>
            <a:off x="8129016"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93608" y="1874519"/>
            <a:ext cx="804672" cy="658368"/>
          </a:xfrm>
          <a:prstGeom prst="roundRect">
            <a:avLst/>
          </a:prstGeom>
          <a:solidFill>
            <a:srgbClr val="EFE8F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AI-assisted Design</a:t>
            </a:r>
          </a:p>
        </p:txBody>
      </p:sp>
      <p:cxnSp>
        <p:nvCxnSpPr>
          <p:cNvPr id="10" name="Connector 9"/>
          <p:cNvCxnSpPr/>
          <p:nvPr/>
        </p:nvCxnSpPr>
        <p:spPr>
          <a:xfrm>
            <a:off x="9098280"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262872" y="1874519"/>
            <a:ext cx="804672" cy="658368"/>
          </a:xfrm>
          <a:prstGeom prst="roundRect">
            <a:avLst/>
          </a:prstGeom>
          <a:solidFill>
            <a:srgbClr val="E7F2F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Generated Code</a:t>
            </a:r>
          </a:p>
        </p:txBody>
      </p:sp>
      <p:cxnSp>
        <p:nvCxnSpPr>
          <p:cNvPr id="12" name="Connector 11"/>
          <p:cNvCxnSpPr/>
          <p:nvPr/>
        </p:nvCxnSpPr>
        <p:spPr>
          <a:xfrm>
            <a:off x="10067544"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232136" y="1874519"/>
            <a:ext cx="804672" cy="658368"/>
          </a:xfrm>
          <a:prstGeom prst="roundRect">
            <a:avLst/>
          </a:prstGeom>
          <a:solidFill>
            <a:srgbClr val="E0F7F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Tests</a:t>
            </a:r>
          </a:p>
        </p:txBody>
      </p:sp>
      <p:cxnSp>
        <p:nvCxnSpPr>
          <p:cNvPr id="14" name="Connector 13"/>
          <p:cNvCxnSpPr/>
          <p:nvPr/>
        </p:nvCxnSpPr>
        <p:spPr>
          <a:xfrm>
            <a:off x="11036808"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1201400" y="1874519"/>
            <a:ext cx="804672" cy="658368"/>
          </a:xfrm>
          <a:prstGeom prst="roundRect">
            <a:avLst/>
          </a:prstGeom>
          <a:solidFill>
            <a:srgbClr val="EFE8F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CI/CD</a:t>
            </a:r>
          </a:p>
        </p:txBody>
      </p:sp>
      <p:cxnSp>
        <p:nvCxnSpPr>
          <p:cNvPr id="16" name="Connector 15"/>
          <p:cNvCxnSpPr/>
          <p:nvPr/>
        </p:nvCxnSpPr>
        <p:spPr>
          <a:xfrm>
            <a:off x="11889943"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49863" y="1874519"/>
            <a:ext cx="804672" cy="658368"/>
          </a:xfrm>
          <a:prstGeom prst="roundRect">
            <a:avLst/>
          </a:prstGeom>
          <a:solidFill>
            <a:srgbClr val="E2EFD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Feedback</a:t>
            </a:r>
          </a:p>
        </p:txBody>
      </p:sp>
      <p:sp>
        <p:nvSpPr>
          <p:cNvPr id="18" name="Rounded Rectangle 17"/>
          <p:cNvSpPr/>
          <p:nvPr/>
        </p:nvSpPr>
        <p:spPr>
          <a:xfrm>
            <a:off x="6446520" y="3063240"/>
            <a:ext cx="5074920" cy="777240"/>
          </a:xfrm>
          <a:prstGeom prst="roundRect">
            <a:avLst/>
          </a:prstGeom>
          <a:solidFill>
            <a:srgbClr val="FFFFFF"/>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F4E79"/>
                </a:solidFill>
                <a:latin typeface="Aptos"/>
              </a:defRPr>
            </a:pPr>
            <a:r>
              <a:t>AI-native = human intent + executable specification + automated feedback</a:t>
            </a:r>
          </a:p>
        </p:txBody>
      </p:sp>
      <p:sp>
        <p:nvSpPr>
          <p:cNvPr id="19" name="Rectangle 18"/>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Foundations</a:t>
            </a:r>
          </a:p>
        </p:txBody>
      </p:sp>
      <p:sp>
        <p:nvSpPr>
          <p:cNvPr id="21" name="TextBox 20"/>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Traditional SDLC vs AI-Native SDLC</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Traditional: documents and code often drift apart</a:t>
            </a:r>
          </a:p>
          <a:p>
            <a:pPr>
              <a:lnSpc>
                <a:spcPct val="105000"/>
              </a:lnSpc>
              <a:spcAft>
                <a:spcPts val="1000"/>
              </a:spcAft>
              <a:defRPr sz="1800">
                <a:solidFill>
                  <a:srgbClr val="404040"/>
                </a:solidFill>
                <a:latin typeface="Aptos"/>
              </a:defRPr>
            </a:pPr>
            <a:r>
              <a:t>AI-native: specs, code, tests and pipelines are generated and checked together</a:t>
            </a:r>
          </a:p>
          <a:p>
            <a:pPr>
              <a:lnSpc>
                <a:spcPct val="105000"/>
              </a:lnSpc>
              <a:spcAft>
                <a:spcPts val="1000"/>
              </a:spcAft>
              <a:defRPr sz="1800">
                <a:solidFill>
                  <a:srgbClr val="404040"/>
                </a:solidFill>
                <a:latin typeface="Aptos"/>
              </a:defRPr>
            </a:pPr>
            <a:r>
              <a:t>Traditional reviews focus on completed code</a:t>
            </a:r>
          </a:p>
          <a:p>
            <a:pPr>
              <a:lnSpc>
                <a:spcPct val="105000"/>
              </a:lnSpc>
              <a:spcAft>
                <a:spcPts val="1000"/>
              </a:spcAft>
              <a:defRPr sz="1800">
                <a:solidFill>
                  <a:srgbClr val="404040"/>
                </a:solidFill>
                <a:latin typeface="Aptos"/>
              </a:defRPr>
            </a:pPr>
            <a:r>
              <a:t>AI-native reviews start from intent and continue through release</a:t>
            </a:r>
          </a:p>
        </p:txBody>
      </p:sp>
      <p:sp>
        <p:nvSpPr>
          <p:cNvPr id="5" name="Rounded Rectangle 4"/>
          <p:cNvSpPr/>
          <p:nvPr/>
        </p:nvSpPr>
        <p:spPr>
          <a:xfrm>
            <a:off x="6446520" y="1554480"/>
            <a:ext cx="5074920" cy="685800"/>
          </a:xfrm>
          <a:prstGeom prst="roundRect">
            <a:avLst/>
          </a:prstGeom>
          <a:solidFill>
            <a:srgbClr val="FFFFFF"/>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F4E79"/>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Foundations</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AI-Native SDLC Feedback Loop</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Intent is captured as structured requirements</a:t>
            </a:r>
          </a:p>
          <a:p>
            <a:pPr>
              <a:lnSpc>
                <a:spcPct val="105000"/>
              </a:lnSpc>
              <a:spcAft>
                <a:spcPts val="1000"/>
              </a:spcAft>
              <a:defRPr sz="1800">
                <a:solidFill>
                  <a:srgbClr val="404040"/>
                </a:solidFill>
                <a:latin typeface="Aptos"/>
              </a:defRPr>
            </a:pPr>
            <a:r>
              <a:t>Architecture and test plans are generated before code</a:t>
            </a:r>
          </a:p>
          <a:p>
            <a:pPr>
              <a:lnSpc>
                <a:spcPct val="105000"/>
              </a:lnSpc>
              <a:spcAft>
                <a:spcPts val="1000"/>
              </a:spcAft>
              <a:defRPr sz="1800">
                <a:solidFill>
                  <a:srgbClr val="404040"/>
                </a:solidFill>
                <a:latin typeface="Aptos"/>
              </a:defRPr>
            </a:pPr>
            <a:r>
              <a:t>CI/CD validates every generated artifact</a:t>
            </a:r>
          </a:p>
          <a:p>
            <a:pPr>
              <a:lnSpc>
                <a:spcPct val="105000"/>
              </a:lnSpc>
              <a:spcAft>
                <a:spcPts val="1000"/>
              </a:spcAft>
              <a:defRPr sz="1800">
                <a:solidFill>
                  <a:srgbClr val="404040"/>
                </a:solidFill>
                <a:latin typeface="Aptos"/>
              </a:defRPr>
            </a:pPr>
            <a:r>
              <a:t>Runtime telemetry feeds future improvements</a:t>
            </a:r>
          </a:p>
        </p:txBody>
      </p:sp>
      <p:sp>
        <p:nvSpPr>
          <p:cNvPr id="5" name="Rounded Rectangle 4"/>
          <p:cNvSpPr/>
          <p:nvPr/>
        </p:nvSpPr>
        <p:spPr>
          <a:xfrm>
            <a:off x="6355080" y="1874519"/>
            <a:ext cx="804672" cy="658368"/>
          </a:xfrm>
          <a:prstGeom prst="roundRect">
            <a:avLst/>
          </a:prstGeom>
          <a:solidFill>
            <a:srgbClr val="E7F2F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Intent</a:t>
            </a:r>
          </a:p>
        </p:txBody>
      </p:sp>
      <p:cxnSp>
        <p:nvCxnSpPr>
          <p:cNvPr id="6" name="Connector 5"/>
          <p:cNvCxnSpPr/>
          <p:nvPr/>
        </p:nvCxnSpPr>
        <p:spPr>
          <a:xfrm>
            <a:off x="7159752"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24344" y="1874519"/>
            <a:ext cx="804672" cy="658368"/>
          </a:xfrm>
          <a:prstGeom prst="roundRect">
            <a:avLst/>
          </a:prstGeom>
          <a:solidFill>
            <a:srgbClr val="FFF7DD"/>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Specification</a:t>
            </a:r>
          </a:p>
        </p:txBody>
      </p:sp>
      <p:cxnSp>
        <p:nvCxnSpPr>
          <p:cNvPr id="8" name="Connector 7"/>
          <p:cNvCxnSpPr/>
          <p:nvPr/>
        </p:nvCxnSpPr>
        <p:spPr>
          <a:xfrm>
            <a:off x="8129016"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93608" y="1874519"/>
            <a:ext cx="804672" cy="658368"/>
          </a:xfrm>
          <a:prstGeom prst="roundRect">
            <a:avLst/>
          </a:prstGeom>
          <a:solidFill>
            <a:srgbClr val="EFE8F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AI-assisted Design</a:t>
            </a:r>
          </a:p>
        </p:txBody>
      </p:sp>
      <p:cxnSp>
        <p:nvCxnSpPr>
          <p:cNvPr id="10" name="Connector 9"/>
          <p:cNvCxnSpPr/>
          <p:nvPr/>
        </p:nvCxnSpPr>
        <p:spPr>
          <a:xfrm>
            <a:off x="9098280"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262872" y="1874519"/>
            <a:ext cx="804672" cy="658368"/>
          </a:xfrm>
          <a:prstGeom prst="roundRect">
            <a:avLst/>
          </a:prstGeom>
          <a:solidFill>
            <a:srgbClr val="E7F2F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Generated Code</a:t>
            </a:r>
          </a:p>
        </p:txBody>
      </p:sp>
      <p:cxnSp>
        <p:nvCxnSpPr>
          <p:cNvPr id="12" name="Connector 11"/>
          <p:cNvCxnSpPr/>
          <p:nvPr/>
        </p:nvCxnSpPr>
        <p:spPr>
          <a:xfrm>
            <a:off x="10067544"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232136" y="1874519"/>
            <a:ext cx="804672" cy="658368"/>
          </a:xfrm>
          <a:prstGeom prst="roundRect">
            <a:avLst/>
          </a:prstGeom>
          <a:solidFill>
            <a:srgbClr val="E0F7F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Tests</a:t>
            </a:r>
          </a:p>
        </p:txBody>
      </p:sp>
      <p:cxnSp>
        <p:nvCxnSpPr>
          <p:cNvPr id="14" name="Connector 13"/>
          <p:cNvCxnSpPr/>
          <p:nvPr/>
        </p:nvCxnSpPr>
        <p:spPr>
          <a:xfrm>
            <a:off x="11036808"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1201400" y="1874519"/>
            <a:ext cx="804672" cy="658368"/>
          </a:xfrm>
          <a:prstGeom prst="roundRect">
            <a:avLst/>
          </a:prstGeom>
          <a:solidFill>
            <a:srgbClr val="EFE8F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CI/CD</a:t>
            </a:r>
          </a:p>
        </p:txBody>
      </p:sp>
      <p:cxnSp>
        <p:nvCxnSpPr>
          <p:cNvPr id="16" name="Connector 15"/>
          <p:cNvCxnSpPr/>
          <p:nvPr/>
        </p:nvCxnSpPr>
        <p:spPr>
          <a:xfrm>
            <a:off x="11889943"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49863" y="1874519"/>
            <a:ext cx="804672" cy="658368"/>
          </a:xfrm>
          <a:prstGeom prst="roundRect">
            <a:avLst/>
          </a:prstGeom>
          <a:solidFill>
            <a:srgbClr val="E2EFD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Feedback</a:t>
            </a:r>
          </a:p>
        </p:txBody>
      </p:sp>
      <p:sp>
        <p:nvSpPr>
          <p:cNvPr id="18" name="Rounded Rectangle 17"/>
          <p:cNvSpPr/>
          <p:nvPr/>
        </p:nvSpPr>
        <p:spPr>
          <a:xfrm>
            <a:off x="6446520" y="3063240"/>
            <a:ext cx="5074920" cy="777240"/>
          </a:xfrm>
          <a:prstGeom prst="roundRect">
            <a:avLst/>
          </a:prstGeom>
          <a:solidFill>
            <a:srgbClr val="FFFFFF"/>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F4E79"/>
                </a:solidFill>
                <a:latin typeface="Aptos"/>
              </a:defRPr>
            </a:pPr>
            <a:r>
              <a:t>AI-native = human intent + executable specification + automated feedback</a:t>
            </a:r>
          </a:p>
        </p:txBody>
      </p:sp>
      <p:sp>
        <p:nvSpPr>
          <p:cNvPr id="19" name="Rectangle 18"/>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Foundations</a:t>
            </a:r>
          </a:p>
        </p:txBody>
      </p:sp>
      <p:sp>
        <p:nvSpPr>
          <p:cNvPr id="21" name="TextBox 20"/>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Running Practical Example: Faculty Attendance System</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Simple enough for a 2–3 hour lab</a:t>
            </a:r>
          </a:p>
          <a:p>
            <a:pPr>
              <a:lnSpc>
                <a:spcPct val="105000"/>
              </a:lnSpc>
              <a:spcAft>
                <a:spcPts val="1000"/>
              </a:spcAft>
              <a:defRPr sz="1800">
                <a:solidFill>
                  <a:srgbClr val="404040"/>
                </a:solidFill>
                <a:latin typeface="Aptos"/>
              </a:defRPr>
            </a:pPr>
            <a:r>
              <a:t>Rich enough to cover APIs, data models, tests, security and CI/CD</a:t>
            </a:r>
          </a:p>
          <a:p>
            <a:pPr>
              <a:lnSpc>
                <a:spcPct val="105000"/>
              </a:lnSpc>
              <a:spcAft>
                <a:spcPts val="1000"/>
              </a:spcAft>
              <a:defRPr sz="1800">
                <a:solidFill>
                  <a:srgbClr val="404040"/>
                </a:solidFill>
                <a:latin typeface="Aptos"/>
              </a:defRPr>
            </a:pPr>
            <a:r>
              <a:t>Actors: Admin, Faculty and Student</a:t>
            </a:r>
          </a:p>
          <a:p>
            <a:pPr>
              <a:lnSpc>
                <a:spcPct val="105000"/>
              </a:lnSpc>
              <a:spcAft>
                <a:spcPts val="1000"/>
              </a:spcAft>
              <a:defRPr sz="1800">
                <a:solidFill>
                  <a:srgbClr val="404040"/>
                </a:solidFill>
                <a:latin typeface="Aptos"/>
              </a:defRPr>
            </a:pPr>
            <a:r>
              <a:t>Core feature: mark attendance and generate reports</a:t>
            </a:r>
          </a:p>
        </p:txBody>
      </p:sp>
      <p:sp>
        <p:nvSpPr>
          <p:cNvPr id="5" name="Rounded Rectangle 4"/>
          <p:cNvSpPr/>
          <p:nvPr/>
        </p:nvSpPr>
        <p:spPr>
          <a:xfrm>
            <a:off x="6400800" y="1508760"/>
            <a:ext cx="1828800" cy="640080"/>
          </a:xfrm>
          <a:prstGeom prst="roundRect">
            <a:avLst/>
          </a:prstGeom>
          <a:solidFill>
            <a:srgbClr val="FFFFFF"/>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Faculty / Student</a:t>
            </a:r>
            <a:br/>
            <a:r>
              <a:t>React UI</a:t>
            </a:r>
          </a:p>
        </p:txBody>
      </p:sp>
      <p:sp>
        <p:nvSpPr>
          <p:cNvPr id="6" name="Rounded Rectangle 5"/>
          <p:cNvSpPr/>
          <p:nvPr/>
        </p:nvSpPr>
        <p:spPr>
          <a:xfrm>
            <a:off x="9052560" y="1508760"/>
            <a:ext cx="1828800" cy="640080"/>
          </a:xfrm>
          <a:prstGeom prst="roundRect">
            <a:avLst/>
          </a:prstGeom>
          <a:solidFill>
            <a:srgbClr val="FFFFFF"/>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API Gateway</a:t>
            </a:r>
            <a:br/>
            <a:r>
              <a:t>Auth + Routing</a:t>
            </a:r>
          </a:p>
        </p:txBody>
      </p:sp>
      <p:sp>
        <p:nvSpPr>
          <p:cNvPr id="7" name="Rounded Rectangle 6"/>
          <p:cNvSpPr/>
          <p:nvPr/>
        </p:nvSpPr>
        <p:spPr>
          <a:xfrm>
            <a:off x="6400800" y="2743200"/>
            <a:ext cx="1828800" cy="73152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Attendance Service</a:t>
            </a:r>
            <a:br/>
            <a:r>
              <a:t>Spring Boot</a:t>
            </a:r>
          </a:p>
        </p:txBody>
      </p:sp>
      <p:sp>
        <p:nvSpPr>
          <p:cNvPr id="8" name="Rounded Rectangle 7"/>
          <p:cNvSpPr/>
          <p:nvPr/>
        </p:nvSpPr>
        <p:spPr>
          <a:xfrm>
            <a:off x="9052560" y="2743200"/>
            <a:ext cx="1828800" cy="73152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Reporting Service</a:t>
            </a:r>
            <a:br/>
            <a:r>
              <a:t>Spring Boot</a:t>
            </a:r>
          </a:p>
        </p:txBody>
      </p:sp>
      <p:sp>
        <p:nvSpPr>
          <p:cNvPr id="9" name="Rounded Rectangle 8"/>
          <p:cNvSpPr/>
          <p:nvPr/>
        </p:nvSpPr>
        <p:spPr>
          <a:xfrm>
            <a:off x="6400800" y="4160520"/>
            <a:ext cx="1828800" cy="731520"/>
          </a:xfrm>
          <a:prstGeom prst="roundRect">
            <a:avLst/>
          </a:prstGeom>
          <a:solidFill>
            <a:srgbClr val="E2EFD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PostgreSQL</a:t>
            </a:r>
            <a:br/>
            <a:r>
              <a:t>Students/Courses</a:t>
            </a:r>
          </a:p>
        </p:txBody>
      </p:sp>
      <p:sp>
        <p:nvSpPr>
          <p:cNvPr id="10" name="Rounded Rectangle 9"/>
          <p:cNvSpPr/>
          <p:nvPr/>
        </p:nvSpPr>
        <p:spPr>
          <a:xfrm>
            <a:off x="9052560" y="4160520"/>
            <a:ext cx="1828800" cy="731520"/>
          </a:xfrm>
          <a:prstGeom prst="roundRect">
            <a:avLst/>
          </a:prstGeom>
          <a:solidFill>
            <a:srgbClr val="E2EFD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Redis Cache</a:t>
            </a:r>
            <a:br/>
            <a:r>
              <a:t>Sessions/Reports</a:t>
            </a:r>
          </a:p>
        </p:txBody>
      </p:sp>
      <p:cxnSp>
        <p:nvCxnSpPr>
          <p:cNvPr id="11" name="Connector 10"/>
          <p:cNvCxnSpPr/>
          <p:nvPr/>
        </p:nvCxnSpPr>
        <p:spPr>
          <a:xfrm>
            <a:off x="8229600" y="1828800"/>
            <a:ext cx="8229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1520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96696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96696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46520" y="5257800"/>
            <a:ext cx="5074920" cy="548640"/>
          </a:xfrm>
          <a:prstGeom prst="roundRect">
            <a:avLst/>
          </a:prstGeom>
          <a:solidFill>
            <a:srgbClr val="FFFFFF"/>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F4E79"/>
                </a:solidFill>
                <a:latin typeface="Aptos"/>
              </a:defRPr>
            </a:pPr>
            <a:r>
              <a:t>Block diagram: separate UI, API, services, data and cache boundaries</a:t>
            </a:r>
          </a:p>
        </p:txBody>
      </p:sp>
      <p:sp>
        <p:nvSpPr>
          <p:cNvPr id="17" name="Rectangle 16"/>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Foundations</a:t>
            </a:r>
          </a:p>
        </p:txBody>
      </p:sp>
      <p:sp>
        <p:nvSpPr>
          <p:cNvPr id="19" name="TextBox 18"/>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AI Tool Landscape for Software Development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IDE assistants: GitHub Copilot, Cursor, JetBrains AI</a:t>
            </a:r>
          </a:p>
          <a:p>
            <a:pPr>
              <a:lnSpc>
                <a:spcPct val="105000"/>
              </a:lnSpc>
              <a:spcAft>
                <a:spcPts val="1000"/>
              </a:spcAft>
              <a:defRPr sz="1800">
                <a:solidFill>
                  <a:srgbClr val="404040"/>
                </a:solidFill>
                <a:latin typeface="Aptos"/>
              </a:defRPr>
            </a:pPr>
            <a:r>
              <a:t>Chat assistants: M365 Copilot, ChatGPT-style tools</a:t>
            </a:r>
          </a:p>
          <a:p>
            <a:pPr>
              <a:lnSpc>
                <a:spcPct val="105000"/>
              </a:lnSpc>
              <a:spcAft>
                <a:spcPts val="1000"/>
              </a:spcAft>
              <a:defRPr sz="1800">
                <a:solidFill>
                  <a:srgbClr val="404040"/>
                </a:solidFill>
                <a:latin typeface="Aptos"/>
              </a:defRPr>
            </a:pPr>
            <a:r>
              <a:t>Workflow frameworks: Semantic Kernel, LangChain, AutoGen-style orchestration</a:t>
            </a:r>
          </a:p>
          <a:p>
            <a:pPr>
              <a:lnSpc>
                <a:spcPct val="105000"/>
              </a:lnSpc>
              <a:spcAft>
                <a:spcPts val="1000"/>
              </a:spcAft>
              <a:defRPr sz="1800">
                <a:solidFill>
                  <a:srgbClr val="404040"/>
                </a:solidFill>
                <a:latin typeface="Aptos"/>
              </a:defRPr>
            </a:pPr>
            <a:r>
              <a:t>DevOps integrations: code scanning, pipeline generation, monitoring assistants</a:t>
            </a:r>
          </a:p>
        </p:txBody>
      </p:sp>
      <p:sp>
        <p:nvSpPr>
          <p:cNvPr id="5" name="Rounded Rectangle 4"/>
          <p:cNvSpPr/>
          <p:nvPr/>
        </p:nvSpPr>
        <p:spPr>
          <a:xfrm>
            <a:off x="6446520" y="1554480"/>
            <a:ext cx="5074920" cy="68580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Tools</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Where M365 Copilot Fits in Faculty Workflows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Summarize research papers, notes and planning documents</a:t>
            </a:r>
          </a:p>
          <a:p>
            <a:pPr>
              <a:lnSpc>
                <a:spcPct val="105000"/>
              </a:lnSpc>
              <a:spcAft>
                <a:spcPts val="1000"/>
              </a:spcAft>
              <a:defRPr sz="1800">
                <a:solidFill>
                  <a:srgbClr val="404040"/>
                </a:solidFill>
                <a:latin typeface="Aptos"/>
              </a:defRPr>
            </a:pPr>
            <a:r>
              <a:t>Convert course objectives into workshop plans and rubrics</a:t>
            </a:r>
          </a:p>
          <a:p>
            <a:pPr>
              <a:lnSpc>
                <a:spcPct val="105000"/>
              </a:lnSpc>
              <a:spcAft>
                <a:spcPts val="1000"/>
              </a:spcAft>
              <a:defRPr sz="1800">
                <a:solidFill>
                  <a:srgbClr val="404040"/>
                </a:solidFill>
                <a:latin typeface="Aptos"/>
              </a:defRPr>
            </a:pPr>
            <a:r>
              <a:t>Draft prompts, lab instructions and assessment criteria</a:t>
            </a:r>
          </a:p>
          <a:p>
            <a:pPr>
              <a:lnSpc>
                <a:spcPct val="105000"/>
              </a:lnSpc>
              <a:spcAft>
                <a:spcPts val="1000"/>
              </a:spcAft>
              <a:defRPr sz="1800">
                <a:solidFill>
                  <a:srgbClr val="404040"/>
                </a:solidFill>
                <a:latin typeface="Aptos"/>
              </a:defRPr>
            </a:pPr>
            <a:r>
              <a:t>Use uploaded files only when participants provide them</a:t>
            </a:r>
          </a:p>
        </p:txBody>
      </p:sp>
      <p:sp>
        <p:nvSpPr>
          <p:cNvPr id="5" name="Rounded Rectangle 4"/>
          <p:cNvSpPr/>
          <p:nvPr/>
        </p:nvSpPr>
        <p:spPr>
          <a:xfrm>
            <a:off x="6446520" y="1554480"/>
            <a:ext cx="5074920" cy="68580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Tools</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IDE Assistant Use Cases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Generate boilerplate from clearly stated requirements</a:t>
            </a:r>
          </a:p>
          <a:p>
            <a:pPr>
              <a:lnSpc>
                <a:spcPct val="105000"/>
              </a:lnSpc>
              <a:spcAft>
                <a:spcPts val="1000"/>
              </a:spcAft>
              <a:defRPr sz="1800">
                <a:solidFill>
                  <a:srgbClr val="404040"/>
                </a:solidFill>
                <a:latin typeface="Aptos"/>
              </a:defRPr>
            </a:pPr>
            <a:r>
              <a:t>Explain unfamiliar repository structure</a:t>
            </a:r>
          </a:p>
          <a:p>
            <a:pPr>
              <a:lnSpc>
                <a:spcPct val="105000"/>
              </a:lnSpc>
              <a:spcAft>
                <a:spcPts val="1000"/>
              </a:spcAft>
              <a:defRPr sz="1800">
                <a:solidFill>
                  <a:srgbClr val="404040"/>
                </a:solidFill>
                <a:latin typeface="Aptos"/>
              </a:defRPr>
            </a:pPr>
            <a:r>
              <a:t>Suggest refactoring and tests</a:t>
            </a:r>
          </a:p>
          <a:p>
            <a:pPr>
              <a:lnSpc>
                <a:spcPct val="105000"/>
              </a:lnSpc>
              <a:spcAft>
                <a:spcPts val="1000"/>
              </a:spcAft>
              <a:defRPr sz="1800">
                <a:solidFill>
                  <a:srgbClr val="404040"/>
                </a:solidFill>
                <a:latin typeface="Aptos"/>
              </a:defRPr>
            </a:pPr>
            <a:r>
              <a:t>Accelerate repetitive tasks while preserving human review</a:t>
            </a:r>
          </a:p>
        </p:txBody>
      </p:sp>
      <p:sp>
        <p:nvSpPr>
          <p:cNvPr id="5" name="Rounded Rectangle 4"/>
          <p:cNvSpPr/>
          <p:nvPr/>
        </p:nvSpPr>
        <p:spPr>
          <a:xfrm>
            <a:off x="6446520" y="1554480"/>
            <a:ext cx="5074920" cy="68580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Tools</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Model Capabilities and Limitations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Models generate plausible output, not guaranteed truth</a:t>
            </a:r>
          </a:p>
          <a:p>
            <a:pPr>
              <a:lnSpc>
                <a:spcPct val="105000"/>
              </a:lnSpc>
              <a:spcAft>
                <a:spcPts val="1000"/>
              </a:spcAft>
              <a:defRPr sz="1800">
                <a:solidFill>
                  <a:srgbClr val="404040"/>
                </a:solidFill>
                <a:latin typeface="Aptos"/>
              </a:defRPr>
            </a:pPr>
            <a:r>
              <a:t>Context window limits affect repository understanding</a:t>
            </a:r>
          </a:p>
          <a:p>
            <a:pPr>
              <a:lnSpc>
                <a:spcPct val="105000"/>
              </a:lnSpc>
              <a:spcAft>
                <a:spcPts val="1000"/>
              </a:spcAft>
              <a:defRPr sz="1800">
                <a:solidFill>
                  <a:srgbClr val="404040"/>
                </a:solidFill>
                <a:latin typeface="Aptos"/>
              </a:defRPr>
            </a:pPr>
            <a:r>
              <a:t>Generated dependencies and APIs must be verified</a:t>
            </a:r>
          </a:p>
          <a:p>
            <a:pPr>
              <a:lnSpc>
                <a:spcPct val="105000"/>
              </a:lnSpc>
              <a:spcAft>
                <a:spcPts val="1000"/>
              </a:spcAft>
              <a:defRPr sz="1800">
                <a:solidFill>
                  <a:srgbClr val="404040"/>
                </a:solidFill>
                <a:latin typeface="Aptos"/>
              </a:defRPr>
            </a:pPr>
            <a:r>
              <a:t>Security and correctness require independent validation</a:t>
            </a:r>
          </a:p>
        </p:txBody>
      </p:sp>
      <p:sp>
        <p:nvSpPr>
          <p:cNvPr id="5" name="Rounded Rectangle 4"/>
          <p:cNvSpPr/>
          <p:nvPr/>
        </p:nvSpPr>
        <p:spPr>
          <a:xfrm>
            <a:off x="6446520" y="1554480"/>
            <a:ext cx="5074920" cy="68580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Tools</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Prompt Engineering for Software Engineering</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Use role, task, context, constraints and output format</a:t>
            </a:r>
          </a:p>
          <a:p>
            <a:pPr>
              <a:lnSpc>
                <a:spcPct val="105000"/>
              </a:lnSpc>
              <a:spcAft>
                <a:spcPts val="1000"/>
              </a:spcAft>
              <a:defRPr sz="1800">
                <a:solidFill>
                  <a:srgbClr val="404040"/>
                </a:solidFill>
                <a:latin typeface="Aptos"/>
              </a:defRPr>
            </a:pPr>
            <a:r>
              <a:t>Break complex tasks into chained prompts</a:t>
            </a:r>
          </a:p>
          <a:p>
            <a:pPr>
              <a:lnSpc>
                <a:spcPct val="105000"/>
              </a:lnSpc>
              <a:spcAft>
                <a:spcPts val="1000"/>
              </a:spcAft>
              <a:defRPr sz="1800">
                <a:solidFill>
                  <a:srgbClr val="404040"/>
                </a:solidFill>
                <a:latin typeface="Aptos"/>
              </a:defRPr>
            </a:pPr>
            <a:r>
              <a:t>Ask for assumptions and risks explicitly</a:t>
            </a:r>
          </a:p>
          <a:p>
            <a:pPr>
              <a:lnSpc>
                <a:spcPct val="105000"/>
              </a:lnSpc>
              <a:spcAft>
                <a:spcPts val="1000"/>
              </a:spcAft>
              <a:defRPr sz="1800">
                <a:solidFill>
                  <a:srgbClr val="404040"/>
                </a:solidFill>
                <a:latin typeface="Aptos"/>
              </a:defRPr>
            </a:pPr>
            <a:r>
              <a:t>Prefer verifiable artifacts over long prose</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Spec-Driven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 Strong Prompt Template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Role: who should the model act as?</a:t>
            </a:r>
          </a:p>
          <a:p>
            <a:pPr>
              <a:lnSpc>
                <a:spcPct val="105000"/>
              </a:lnSpc>
              <a:spcAft>
                <a:spcPts val="1000"/>
              </a:spcAft>
              <a:defRPr sz="1800">
                <a:solidFill>
                  <a:srgbClr val="404040"/>
                </a:solidFill>
                <a:latin typeface="Aptos"/>
              </a:defRPr>
            </a:pPr>
            <a:r>
              <a:t>Context: project, technology and constraints</a:t>
            </a:r>
          </a:p>
          <a:p>
            <a:pPr>
              <a:lnSpc>
                <a:spcPct val="105000"/>
              </a:lnSpc>
              <a:spcAft>
                <a:spcPts val="1000"/>
              </a:spcAft>
              <a:defRPr sz="1800">
                <a:solidFill>
                  <a:srgbClr val="404040"/>
                </a:solidFill>
                <a:latin typeface="Aptos"/>
              </a:defRPr>
            </a:pPr>
            <a:r>
              <a:t>Task: one clear deliverable</a:t>
            </a:r>
          </a:p>
          <a:p>
            <a:pPr>
              <a:lnSpc>
                <a:spcPct val="105000"/>
              </a:lnSpc>
              <a:spcAft>
                <a:spcPts val="1000"/>
              </a:spcAft>
              <a:defRPr sz="1800">
                <a:solidFill>
                  <a:srgbClr val="404040"/>
                </a:solidFill>
                <a:latin typeface="Aptos"/>
              </a:defRPr>
            </a:pPr>
            <a:r>
              <a:t>Output: exact format such as API table, test cases or YAML</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Spec-Driven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Spec-Driven Development: Core Idea</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Do not start with code generation</a:t>
            </a:r>
          </a:p>
          <a:p>
            <a:pPr>
              <a:lnSpc>
                <a:spcPct val="105000"/>
              </a:lnSpc>
              <a:spcAft>
                <a:spcPts val="1000"/>
              </a:spcAft>
              <a:defRPr sz="1800">
                <a:solidFill>
                  <a:srgbClr val="404040"/>
                </a:solidFill>
                <a:latin typeface="Aptos"/>
              </a:defRPr>
            </a:pPr>
            <a:r>
              <a:t>First create requirements, domain model, APIs and acceptance tests</a:t>
            </a:r>
          </a:p>
          <a:p>
            <a:pPr>
              <a:lnSpc>
                <a:spcPct val="105000"/>
              </a:lnSpc>
              <a:spcAft>
                <a:spcPts val="1000"/>
              </a:spcAft>
              <a:defRPr sz="1800">
                <a:solidFill>
                  <a:srgbClr val="404040"/>
                </a:solidFill>
                <a:latin typeface="Aptos"/>
              </a:defRPr>
            </a:pPr>
            <a:r>
              <a:t>Use AI to refine ambiguity before implementation</a:t>
            </a:r>
          </a:p>
          <a:p>
            <a:pPr>
              <a:lnSpc>
                <a:spcPct val="105000"/>
              </a:lnSpc>
              <a:spcAft>
                <a:spcPts val="1000"/>
              </a:spcAft>
              <a:defRPr sz="1800">
                <a:solidFill>
                  <a:srgbClr val="404040"/>
                </a:solidFill>
                <a:latin typeface="Aptos"/>
              </a:defRPr>
            </a:pPr>
            <a:r>
              <a:t>Generate code only after reviewable specs exist</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Spec-Driven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Requirement Specification Structure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Functional requirements: what the system must do</a:t>
            </a:r>
          </a:p>
          <a:p>
            <a:pPr>
              <a:lnSpc>
                <a:spcPct val="105000"/>
              </a:lnSpc>
              <a:spcAft>
                <a:spcPts val="1000"/>
              </a:spcAft>
              <a:defRPr sz="1800">
                <a:solidFill>
                  <a:srgbClr val="404040"/>
                </a:solidFill>
                <a:latin typeface="Aptos"/>
              </a:defRPr>
            </a:pPr>
            <a:r>
              <a:t>Non-functional requirements: performance, security, usability</a:t>
            </a:r>
          </a:p>
          <a:p>
            <a:pPr>
              <a:lnSpc>
                <a:spcPct val="105000"/>
              </a:lnSpc>
              <a:spcAft>
                <a:spcPts val="1000"/>
              </a:spcAft>
              <a:defRPr sz="1800">
                <a:solidFill>
                  <a:srgbClr val="404040"/>
                </a:solidFill>
                <a:latin typeface="Aptos"/>
              </a:defRPr>
            </a:pPr>
            <a:r>
              <a:t>Actors and permissions</a:t>
            </a:r>
          </a:p>
          <a:p>
            <a:pPr>
              <a:lnSpc>
                <a:spcPct val="105000"/>
              </a:lnSpc>
              <a:spcAft>
                <a:spcPts val="1000"/>
              </a:spcAft>
              <a:defRPr sz="1800">
                <a:solidFill>
                  <a:srgbClr val="404040"/>
                </a:solidFill>
                <a:latin typeface="Aptos"/>
              </a:defRPr>
            </a:pPr>
            <a:r>
              <a:t>Acceptance criteria and edge cases</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Spec-Driven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Example Requirement Slice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Feature: mark attendance for a course session</a:t>
            </a:r>
          </a:p>
          <a:p>
            <a:pPr>
              <a:lnSpc>
                <a:spcPct val="105000"/>
              </a:lnSpc>
              <a:spcAft>
                <a:spcPts val="1000"/>
              </a:spcAft>
              <a:defRPr sz="1800">
                <a:solidFill>
                  <a:srgbClr val="404040"/>
                </a:solidFill>
                <a:latin typeface="Aptos"/>
              </a:defRPr>
            </a:pPr>
            <a:r>
              <a:t>Rule: only assigned faculty can mark or update attendance</a:t>
            </a:r>
          </a:p>
          <a:p>
            <a:pPr>
              <a:lnSpc>
                <a:spcPct val="105000"/>
              </a:lnSpc>
              <a:spcAft>
                <a:spcPts val="1000"/>
              </a:spcAft>
              <a:defRPr sz="1800">
                <a:solidFill>
                  <a:srgbClr val="404040"/>
                </a:solidFill>
                <a:latin typeface="Aptos"/>
              </a:defRPr>
            </a:pPr>
            <a:r>
              <a:t>Validation: duplicate attendance for same student/session is blocked</a:t>
            </a:r>
          </a:p>
          <a:p>
            <a:pPr>
              <a:lnSpc>
                <a:spcPct val="105000"/>
              </a:lnSpc>
              <a:spcAft>
                <a:spcPts val="1000"/>
              </a:spcAft>
              <a:defRPr sz="1800">
                <a:solidFill>
                  <a:srgbClr val="404040"/>
                </a:solidFill>
                <a:latin typeface="Aptos"/>
              </a:defRPr>
            </a:pPr>
            <a:r>
              <a:t>Audit: changes are recorded with timestamp and user</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Spec-Driven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High-Level Architecture Decisions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Choose simple layered architecture for the teaching lab</a:t>
            </a:r>
          </a:p>
          <a:p>
            <a:pPr>
              <a:lnSpc>
                <a:spcPct val="105000"/>
              </a:lnSpc>
              <a:spcAft>
                <a:spcPts val="1000"/>
              </a:spcAft>
              <a:defRPr sz="1800">
                <a:solidFill>
                  <a:srgbClr val="404040"/>
                </a:solidFill>
                <a:latin typeface="Aptos"/>
              </a:defRPr>
            </a:pPr>
            <a:r>
              <a:t>Separate UI, API/service layer and persistence</a:t>
            </a:r>
          </a:p>
          <a:p>
            <a:pPr>
              <a:lnSpc>
                <a:spcPct val="105000"/>
              </a:lnSpc>
              <a:spcAft>
                <a:spcPts val="1000"/>
              </a:spcAft>
              <a:defRPr sz="1800">
                <a:solidFill>
                  <a:srgbClr val="404040"/>
                </a:solidFill>
                <a:latin typeface="Aptos"/>
              </a:defRPr>
            </a:pPr>
            <a:r>
              <a:t>Keep authentication and authorization explicit</a:t>
            </a:r>
          </a:p>
          <a:p>
            <a:pPr>
              <a:lnSpc>
                <a:spcPct val="105000"/>
              </a:lnSpc>
              <a:spcAft>
                <a:spcPts val="1000"/>
              </a:spcAft>
              <a:defRPr sz="1800">
                <a:solidFill>
                  <a:srgbClr val="404040"/>
                </a:solidFill>
                <a:latin typeface="Aptos"/>
              </a:defRPr>
            </a:pPr>
            <a:r>
              <a:t>Introduce cache and reporting only after core flow works</a:t>
            </a:r>
          </a:p>
        </p:txBody>
      </p:sp>
      <p:sp>
        <p:nvSpPr>
          <p:cNvPr id="5" name="Rounded Rectangle 4"/>
          <p:cNvSpPr/>
          <p:nvPr/>
        </p:nvSpPr>
        <p:spPr>
          <a:xfrm>
            <a:off x="6400800" y="1508760"/>
            <a:ext cx="1828800" cy="6400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Faculty / Student</a:t>
            </a:r>
            <a:br/>
            <a:r>
              <a:t>React UI</a:t>
            </a:r>
          </a:p>
        </p:txBody>
      </p:sp>
      <p:sp>
        <p:nvSpPr>
          <p:cNvPr id="6" name="Rounded Rectangle 5"/>
          <p:cNvSpPr/>
          <p:nvPr/>
        </p:nvSpPr>
        <p:spPr>
          <a:xfrm>
            <a:off x="9052560" y="1508760"/>
            <a:ext cx="1828800" cy="6400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API Gateway</a:t>
            </a:r>
            <a:br/>
            <a:r>
              <a:t>Auth + Routing</a:t>
            </a:r>
          </a:p>
        </p:txBody>
      </p:sp>
      <p:sp>
        <p:nvSpPr>
          <p:cNvPr id="7" name="Rounded Rectangle 6"/>
          <p:cNvSpPr/>
          <p:nvPr/>
        </p:nvSpPr>
        <p:spPr>
          <a:xfrm>
            <a:off x="6400800" y="2743200"/>
            <a:ext cx="1828800" cy="731520"/>
          </a:xfrm>
          <a:prstGeom prst="roundRect">
            <a:avLst/>
          </a:prstGeom>
          <a:solidFill>
            <a:srgbClr val="DDEBF7"/>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Attendance Service</a:t>
            </a:r>
            <a:br/>
            <a:r>
              <a:t>Spring Boot</a:t>
            </a:r>
          </a:p>
        </p:txBody>
      </p:sp>
      <p:sp>
        <p:nvSpPr>
          <p:cNvPr id="8" name="Rounded Rectangle 7"/>
          <p:cNvSpPr/>
          <p:nvPr/>
        </p:nvSpPr>
        <p:spPr>
          <a:xfrm>
            <a:off x="9052560" y="2743200"/>
            <a:ext cx="1828800" cy="731520"/>
          </a:xfrm>
          <a:prstGeom prst="roundRect">
            <a:avLst/>
          </a:prstGeom>
          <a:solidFill>
            <a:srgbClr val="DDEBF7"/>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Reporting Service</a:t>
            </a:r>
            <a:br/>
            <a:r>
              <a:t>Spring Boot</a:t>
            </a:r>
          </a:p>
        </p:txBody>
      </p:sp>
      <p:sp>
        <p:nvSpPr>
          <p:cNvPr id="9" name="Rounded Rectangle 8"/>
          <p:cNvSpPr/>
          <p:nvPr/>
        </p:nvSpPr>
        <p:spPr>
          <a:xfrm>
            <a:off x="6400800" y="4160520"/>
            <a:ext cx="1828800" cy="731520"/>
          </a:xfrm>
          <a:prstGeom prst="roundRect">
            <a:avLst/>
          </a:prstGeom>
          <a:solidFill>
            <a:srgbClr val="E2EFDA"/>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PostgreSQL</a:t>
            </a:r>
            <a:br/>
            <a:r>
              <a:t>Students/Courses</a:t>
            </a:r>
          </a:p>
        </p:txBody>
      </p:sp>
      <p:sp>
        <p:nvSpPr>
          <p:cNvPr id="10" name="Rounded Rectangle 9"/>
          <p:cNvSpPr/>
          <p:nvPr/>
        </p:nvSpPr>
        <p:spPr>
          <a:xfrm>
            <a:off x="9052560" y="4160520"/>
            <a:ext cx="1828800" cy="731520"/>
          </a:xfrm>
          <a:prstGeom prst="roundRect">
            <a:avLst/>
          </a:prstGeom>
          <a:solidFill>
            <a:srgbClr val="E2EFDA"/>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Redis Cache</a:t>
            </a:r>
            <a:br/>
            <a:r>
              <a:t>Sessions/Reports</a:t>
            </a:r>
          </a:p>
        </p:txBody>
      </p:sp>
      <p:cxnSp>
        <p:nvCxnSpPr>
          <p:cNvPr id="11" name="Connector 10"/>
          <p:cNvCxnSpPr/>
          <p:nvPr/>
        </p:nvCxnSpPr>
        <p:spPr>
          <a:xfrm>
            <a:off x="8229600" y="1828800"/>
            <a:ext cx="8229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1520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96696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96696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46520" y="5257800"/>
            <a:ext cx="5074920" cy="548640"/>
          </a:xfrm>
          <a:prstGeom prst="roundRect">
            <a:avLst/>
          </a:prstGeom>
          <a:solidFill>
            <a:srgbClr val="FFFFFF"/>
          </a:solidFill>
          <a:ln w="19050">
            <a:solidFill>
              <a:srgbClr val="703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30A0"/>
                </a:solidFill>
                <a:latin typeface="Aptos"/>
              </a:defRPr>
            </a:pPr>
            <a:r>
              <a:t>Block diagram: separate UI, API, services, data and cache boundaries</a:t>
            </a:r>
          </a:p>
        </p:txBody>
      </p:sp>
      <p:sp>
        <p:nvSpPr>
          <p:cNvPr id="17" name="Rectangle 16"/>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Architecture</a:t>
            </a:r>
          </a:p>
        </p:txBody>
      </p:sp>
      <p:sp>
        <p:nvSpPr>
          <p:cNvPr id="19" name="TextBox 18"/>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Block Diagram: Faculty Attendance System</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React UI handles faculty and admin workflows</a:t>
            </a:r>
          </a:p>
          <a:p>
            <a:pPr>
              <a:lnSpc>
                <a:spcPct val="105000"/>
              </a:lnSpc>
              <a:spcAft>
                <a:spcPts val="1000"/>
              </a:spcAft>
              <a:defRPr sz="1800">
                <a:solidFill>
                  <a:srgbClr val="404040"/>
                </a:solidFill>
                <a:latin typeface="Aptos"/>
              </a:defRPr>
            </a:pPr>
            <a:r>
              <a:t>Spring Boot API implements domain rules</a:t>
            </a:r>
          </a:p>
          <a:p>
            <a:pPr>
              <a:lnSpc>
                <a:spcPct val="105000"/>
              </a:lnSpc>
              <a:spcAft>
                <a:spcPts val="1000"/>
              </a:spcAft>
              <a:defRPr sz="1800">
                <a:solidFill>
                  <a:srgbClr val="404040"/>
                </a:solidFill>
                <a:latin typeface="Aptos"/>
              </a:defRPr>
            </a:pPr>
            <a:r>
              <a:t>PostgreSQL stores authoritative data</a:t>
            </a:r>
          </a:p>
          <a:p>
            <a:pPr>
              <a:lnSpc>
                <a:spcPct val="105000"/>
              </a:lnSpc>
              <a:spcAft>
                <a:spcPts val="1000"/>
              </a:spcAft>
              <a:defRPr sz="1800">
                <a:solidFill>
                  <a:srgbClr val="404040"/>
                </a:solidFill>
                <a:latin typeface="Aptos"/>
              </a:defRPr>
            </a:pPr>
            <a:r>
              <a:t>Cache and reports can be added as advanced extensions</a:t>
            </a:r>
          </a:p>
        </p:txBody>
      </p:sp>
      <p:sp>
        <p:nvSpPr>
          <p:cNvPr id="5" name="Rounded Rectangle 4"/>
          <p:cNvSpPr/>
          <p:nvPr/>
        </p:nvSpPr>
        <p:spPr>
          <a:xfrm>
            <a:off x="6400800" y="1508760"/>
            <a:ext cx="1828800" cy="6400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Faculty / Student</a:t>
            </a:r>
            <a:br/>
            <a:r>
              <a:t>React UI</a:t>
            </a:r>
          </a:p>
        </p:txBody>
      </p:sp>
      <p:sp>
        <p:nvSpPr>
          <p:cNvPr id="6" name="Rounded Rectangle 5"/>
          <p:cNvSpPr/>
          <p:nvPr/>
        </p:nvSpPr>
        <p:spPr>
          <a:xfrm>
            <a:off x="9052560" y="1508760"/>
            <a:ext cx="1828800" cy="6400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API Gateway</a:t>
            </a:r>
            <a:br/>
            <a:r>
              <a:t>Auth + Routing</a:t>
            </a:r>
          </a:p>
        </p:txBody>
      </p:sp>
      <p:sp>
        <p:nvSpPr>
          <p:cNvPr id="7" name="Rounded Rectangle 6"/>
          <p:cNvSpPr/>
          <p:nvPr/>
        </p:nvSpPr>
        <p:spPr>
          <a:xfrm>
            <a:off x="6400800" y="2743200"/>
            <a:ext cx="1828800" cy="731520"/>
          </a:xfrm>
          <a:prstGeom prst="roundRect">
            <a:avLst/>
          </a:prstGeom>
          <a:solidFill>
            <a:srgbClr val="DDEBF7"/>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Attendance Service</a:t>
            </a:r>
            <a:br/>
            <a:r>
              <a:t>Spring Boot</a:t>
            </a:r>
          </a:p>
        </p:txBody>
      </p:sp>
      <p:sp>
        <p:nvSpPr>
          <p:cNvPr id="8" name="Rounded Rectangle 7"/>
          <p:cNvSpPr/>
          <p:nvPr/>
        </p:nvSpPr>
        <p:spPr>
          <a:xfrm>
            <a:off x="9052560" y="2743200"/>
            <a:ext cx="1828800" cy="731520"/>
          </a:xfrm>
          <a:prstGeom prst="roundRect">
            <a:avLst/>
          </a:prstGeom>
          <a:solidFill>
            <a:srgbClr val="DDEBF7"/>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Reporting Service</a:t>
            </a:r>
            <a:br/>
            <a:r>
              <a:t>Spring Boot</a:t>
            </a:r>
          </a:p>
        </p:txBody>
      </p:sp>
      <p:sp>
        <p:nvSpPr>
          <p:cNvPr id="9" name="Rounded Rectangle 8"/>
          <p:cNvSpPr/>
          <p:nvPr/>
        </p:nvSpPr>
        <p:spPr>
          <a:xfrm>
            <a:off x="6400800" y="4160520"/>
            <a:ext cx="1828800" cy="731520"/>
          </a:xfrm>
          <a:prstGeom prst="roundRect">
            <a:avLst/>
          </a:prstGeom>
          <a:solidFill>
            <a:srgbClr val="E2EFDA"/>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PostgreSQL</a:t>
            </a:r>
            <a:br/>
            <a:r>
              <a:t>Students/Courses</a:t>
            </a:r>
          </a:p>
        </p:txBody>
      </p:sp>
      <p:sp>
        <p:nvSpPr>
          <p:cNvPr id="10" name="Rounded Rectangle 9"/>
          <p:cNvSpPr/>
          <p:nvPr/>
        </p:nvSpPr>
        <p:spPr>
          <a:xfrm>
            <a:off x="9052560" y="4160520"/>
            <a:ext cx="1828800" cy="731520"/>
          </a:xfrm>
          <a:prstGeom prst="roundRect">
            <a:avLst/>
          </a:prstGeom>
          <a:solidFill>
            <a:srgbClr val="E2EFDA"/>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Redis Cache</a:t>
            </a:r>
            <a:br/>
            <a:r>
              <a:t>Sessions/Reports</a:t>
            </a:r>
          </a:p>
        </p:txBody>
      </p:sp>
      <p:cxnSp>
        <p:nvCxnSpPr>
          <p:cNvPr id="11" name="Connector 10"/>
          <p:cNvCxnSpPr/>
          <p:nvPr/>
        </p:nvCxnSpPr>
        <p:spPr>
          <a:xfrm>
            <a:off x="8229600" y="1828800"/>
            <a:ext cx="8229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1520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96696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96696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46520" y="5257800"/>
            <a:ext cx="5074920" cy="548640"/>
          </a:xfrm>
          <a:prstGeom prst="roundRect">
            <a:avLst/>
          </a:prstGeom>
          <a:solidFill>
            <a:srgbClr val="FFFFFF"/>
          </a:solidFill>
          <a:ln w="19050">
            <a:solidFill>
              <a:srgbClr val="703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30A0"/>
                </a:solidFill>
                <a:latin typeface="Aptos"/>
              </a:defRPr>
            </a:pPr>
            <a:r>
              <a:t>Block diagram: separate UI, API, services, data and cache boundaries</a:t>
            </a:r>
          </a:p>
        </p:txBody>
      </p:sp>
      <p:sp>
        <p:nvSpPr>
          <p:cNvPr id="17" name="Rectangle 16"/>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Architecture</a:t>
            </a:r>
          </a:p>
        </p:txBody>
      </p:sp>
      <p:sp>
        <p:nvSpPr>
          <p:cNvPr id="19" name="TextBox 18"/>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UML Class Model for Core Domain</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Student, Course, Faculty and Attendance are the core entities</a:t>
            </a:r>
          </a:p>
          <a:p>
            <a:pPr>
              <a:lnSpc>
                <a:spcPct val="105000"/>
              </a:lnSpc>
              <a:spcAft>
                <a:spcPts val="1000"/>
              </a:spcAft>
              <a:defRPr sz="1800">
                <a:solidFill>
                  <a:srgbClr val="404040"/>
                </a:solidFill>
                <a:latin typeface="Aptos"/>
              </a:defRPr>
            </a:pPr>
            <a:r>
              <a:t>Attendance links student, course session and status</a:t>
            </a:r>
          </a:p>
          <a:p>
            <a:pPr>
              <a:lnSpc>
                <a:spcPct val="105000"/>
              </a:lnSpc>
              <a:spcAft>
                <a:spcPts val="1000"/>
              </a:spcAft>
              <a:defRPr sz="1800">
                <a:solidFill>
                  <a:srgbClr val="404040"/>
                </a:solidFill>
                <a:latin typeface="Aptos"/>
              </a:defRPr>
            </a:pPr>
            <a:r>
              <a:t>Report is derived from attendance records</a:t>
            </a:r>
          </a:p>
          <a:p>
            <a:pPr>
              <a:lnSpc>
                <a:spcPct val="105000"/>
              </a:lnSpc>
              <a:spcAft>
                <a:spcPts val="1000"/>
              </a:spcAft>
              <a:defRPr sz="1800">
                <a:solidFill>
                  <a:srgbClr val="404040"/>
                </a:solidFill>
                <a:latin typeface="Aptos"/>
              </a:defRPr>
            </a:pPr>
            <a:r>
              <a:t>Relationships drive database schema and API design</a:t>
            </a:r>
          </a:p>
        </p:txBody>
      </p:sp>
      <p:sp>
        <p:nvSpPr>
          <p:cNvPr id="5" name="Rounded Rectangle 4"/>
          <p:cNvSpPr/>
          <p:nvPr/>
        </p:nvSpPr>
        <p:spPr>
          <a:xfrm>
            <a:off x="6400800" y="1417320"/>
            <a:ext cx="1874519" cy="96012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Student</a:t>
            </a:r>
            <a:br/>
            <a:r>
              <a:t>────────</a:t>
            </a:r>
            <a:br/>
            <a:r>
              <a:t>id</a:t>
            </a:r>
            <a:br/>
            <a:r>
              <a:t>name</a:t>
            </a:r>
            <a:br/>
            <a:r>
              <a:t>rollNo</a:t>
            </a:r>
          </a:p>
        </p:txBody>
      </p:sp>
      <p:sp>
        <p:nvSpPr>
          <p:cNvPr id="6" name="Rounded Rectangle 5"/>
          <p:cNvSpPr/>
          <p:nvPr/>
        </p:nvSpPr>
        <p:spPr>
          <a:xfrm>
            <a:off x="8961120" y="1417320"/>
            <a:ext cx="1874519" cy="96012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Course</a:t>
            </a:r>
            <a:br/>
            <a:r>
              <a:t>────────</a:t>
            </a:r>
            <a:br/>
            <a:r>
              <a:t>id</a:t>
            </a:r>
            <a:br/>
            <a:r>
              <a:t>code</a:t>
            </a:r>
            <a:br/>
            <a:r>
              <a:t>title</a:t>
            </a:r>
          </a:p>
        </p:txBody>
      </p:sp>
      <p:sp>
        <p:nvSpPr>
          <p:cNvPr id="7" name="Rounded Rectangle 6"/>
          <p:cNvSpPr/>
          <p:nvPr/>
        </p:nvSpPr>
        <p:spPr>
          <a:xfrm>
            <a:off x="7680960" y="2971800"/>
            <a:ext cx="1874519" cy="96012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Attendance</a:t>
            </a:r>
            <a:br/>
            <a:r>
              <a:t>────────</a:t>
            </a:r>
            <a:br/>
            <a:r>
              <a:t>id</a:t>
            </a:r>
            <a:br/>
            <a:r>
              <a:t>date</a:t>
            </a:r>
            <a:br/>
            <a:r>
              <a:t>status</a:t>
            </a:r>
          </a:p>
        </p:txBody>
      </p:sp>
      <p:sp>
        <p:nvSpPr>
          <p:cNvPr id="8" name="Rounded Rectangle 7"/>
          <p:cNvSpPr/>
          <p:nvPr/>
        </p:nvSpPr>
        <p:spPr>
          <a:xfrm>
            <a:off x="6400800" y="4480560"/>
            <a:ext cx="1874519" cy="96012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Faculty</a:t>
            </a:r>
            <a:br/>
            <a:r>
              <a:t>────────</a:t>
            </a:r>
            <a:br/>
            <a:r>
              <a:t>id</a:t>
            </a:r>
            <a:br/>
            <a:r>
              <a:t>name</a:t>
            </a:r>
            <a:br/>
            <a:r>
              <a:t>department</a:t>
            </a:r>
          </a:p>
        </p:txBody>
      </p:sp>
      <p:sp>
        <p:nvSpPr>
          <p:cNvPr id="9" name="Rounded Rectangle 8"/>
          <p:cNvSpPr/>
          <p:nvPr/>
        </p:nvSpPr>
        <p:spPr>
          <a:xfrm>
            <a:off x="8961120" y="4480560"/>
            <a:ext cx="1874519" cy="96012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Report</a:t>
            </a:r>
            <a:br/>
            <a:r>
              <a:t>────────</a:t>
            </a:r>
            <a:br/>
            <a:r>
              <a:t>courseId</a:t>
            </a:r>
            <a:br/>
            <a:r>
              <a:t>period</a:t>
            </a:r>
            <a:br/>
            <a:r>
              <a:t>percentage</a:t>
            </a:r>
          </a:p>
        </p:txBody>
      </p:sp>
      <p:cxnSp>
        <p:nvCxnSpPr>
          <p:cNvPr id="10" name="Connector 9"/>
          <p:cNvCxnSpPr/>
          <p:nvPr/>
        </p:nvCxnSpPr>
        <p:spPr>
          <a:xfrm>
            <a:off x="7315200" y="2377440"/>
            <a:ext cx="91440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686800" y="2377440"/>
            <a:ext cx="118872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315200" y="3931920"/>
            <a:ext cx="914400" cy="54864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8686800" y="3931920"/>
            <a:ext cx="1188720" cy="54864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Architecture</a:t>
            </a:r>
          </a:p>
        </p:txBody>
      </p:sp>
      <p:sp>
        <p:nvSpPr>
          <p:cNvPr id="16" name="TextBox 15"/>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UML Sequence: Mark Attendance Flow</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Faculty submits attendance from UI</a:t>
            </a:r>
          </a:p>
          <a:p>
            <a:pPr>
              <a:lnSpc>
                <a:spcPct val="105000"/>
              </a:lnSpc>
              <a:spcAft>
                <a:spcPts val="1000"/>
              </a:spcAft>
              <a:defRPr sz="1800">
                <a:solidFill>
                  <a:srgbClr val="404040"/>
                </a:solidFill>
                <a:latin typeface="Aptos"/>
              </a:defRPr>
            </a:pPr>
            <a:r>
              <a:t>API validates authentication and permissions</a:t>
            </a:r>
          </a:p>
          <a:p>
            <a:pPr>
              <a:lnSpc>
                <a:spcPct val="105000"/>
              </a:lnSpc>
              <a:spcAft>
                <a:spcPts val="1000"/>
              </a:spcAft>
              <a:defRPr sz="1800">
                <a:solidFill>
                  <a:srgbClr val="404040"/>
                </a:solidFill>
                <a:latin typeface="Aptos"/>
              </a:defRPr>
            </a:pPr>
            <a:r>
              <a:t>Service checks duplicate and business rules</a:t>
            </a:r>
          </a:p>
          <a:p>
            <a:pPr>
              <a:lnSpc>
                <a:spcPct val="105000"/>
              </a:lnSpc>
              <a:spcAft>
                <a:spcPts val="1000"/>
              </a:spcAft>
              <a:defRPr sz="1800">
                <a:solidFill>
                  <a:srgbClr val="404040"/>
                </a:solidFill>
                <a:latin typeface="Aptos"/>
              </a:defRPr>
            </a:pPr>
            <a:r>
              <a:t>Database persists record and returns confirmation</a:t>
            </a:r>
          </a:p>
        </p:txBody>
      </p:sp>
      <p:sp>
        <p:nvSpPr>
          <p:cNvPr id="5" name="Rounded Rectangle 4"/>
          <p:cNvSpPr/>
          <p:nvPr/>
        </p:nvSpPr>
        <p:spPr>
          <a:xfrm>
            <a:off x="6400800" y="1417320"/>
            <a:ext cx="914400" cy="4114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Faculty UI</a:t>
            </a:r>
          </a:p>
        </p:txBody>
      </p:sp>
      <p:cxnSp>
        <p:nvCxnSpPr>
          <p:cNvPr id="6" name="Connector 5"/>
          <p:cNvCxnSpPr/>
          <p:nvPr/>
        </p:nvCxnSpPr>
        <p:spPr>
          <a:xfrm>
            <a:off x="6858000" y="1828800"/>
            <a:ext cx="0" cy="329184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680960" y="1417320"/>
            <a:ext cx="914400" cy="4114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API</a:t>
            </a:r>
          </a:p>
        </p:txBody>
      </p:sp>
      <p:cxnSp>
        <p:nvCxnSpPr>
          <p:cNvPr id="8" name="Connector 7"/>
          <p:cNvCxnSpPr/>
          <p:nvPr/>
        </p:nvCxnSpPr>
        <p:spPr>
          <a:xfrm>
            <a:off x="8138160" y="1828800"/>
            <a:ext cx="0" cy="329184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961120" y="1417320"/>
            <a:ext cx="914400" cy="4114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Service</a:t>
            </a:r>
          </a:p>
        </p:txBody>
      </p:sp>
      <p:cxnSp>
        <p:nvCxnSpPr>
          <p:cNvPr id="10" name="Connector 9"/>
          <p:cNvCxnSpPr/>
          <p:nvPr/>
        </p:nvCxnSpPr>
        <p:spPr>
          <a:xfrm>
            <a:off x="9418320" y="1828800"/>
            <a:ext cx="0" cy="329184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241280" y="1417320"/>
            <a:ext cx="914400" cy="4114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DB</a:t>
            </a:r>
          </a:p>
        </p:txBody>
      </p:sp>
      <p:cxnSp>
        <p:nvCxnSpPr>
          <p:cNvPr id="12" name="Connector 11"/>
          <p:cNvCxnSpPr/>
          <p:nvPr/>
        </p:nvCxnSpPr>
        <p:spPr>
          <a:xfrm>
            <a:off x="10698480" y="1828800"/>
            <a:ext cx="0" cy="329184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2148840"/>
            <a:ext cx="8229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903720" y="1947672"/>
            <a:ext cx="1188720" cy="201168"/>
          </a:xfrm>
          <a:prstGeom prst="rect">
            <a:avLst/>
          </a:prstGeom>
          <a:noFill/>
        </p:spPr>
        <p:txBody>
          <a:bodyPr wrap="none">
            <a:spAutoFit/>
          </a:bodyPr>
          <a:lstStyle/>
          <a:p>
            <a:pPr>
              <a:defRPr sz="800">
                <a:solidFill>
                  <a:srgbClr val="595959"/>
                </a:solidFill>
                <a:latin typeface="Aptos"/>
              </a:defRPr>
            </a:pPr>
            <a:r>
              <a:t>1 markAttendance()</a:t>
            </a:r>
          </a:p>
        </p:txBody>
      </p:sp>
      <p:cxnSp>
        <p:nvCxnSpPr>
          <p:cNvPr id="15" name="Connector 14"/>
          <p:cNvCxnSpPr/>
          <p:nvPr/>
        </p:nvCxnSpPr>
        <p:spPr>
          <a:xfrm>
            <a:off x="8138160" y="2743200"/>
            <a:ext cx="8229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83880" y="2542032"/>
            <a:ext cx="1188720" cy="201168"/>
          </a:xfrm>
          <a:prstGeom prst="rect">
            <a:avLst/>
          </a:prstGeom>
          <a:noFill/>
        </p:spPr>
        <p:txBody>
          <a:bodyPr wrap="none">
            <a:spAutoFit/>
          </a:bodyPr>
          <a:lstStyle/>
          <a:p>
            <a:pPr>
              <a:defRPr sz="800">
                <a:solidFill>
                  <a:srgbClr val="595959"/>
                </a:solidFill>
                <a:latin typeface="Aptos"/>
              </a:defRPr>
            </a:pPr>
            <a:r>
              <a:t>2 validate()</a:t>
            </a:r>
          </a:p>
        </p:txBody>
      </p:sp>
      <p:cxnSp>
        <p:nvCxnSpPr>
          <p:cNvPr id="17" name="Connector 16"/>
          <p:cNvCxnSpPr/>
          <p:nvPr/>
        </p:nvCxnSpPr>
        <p:spPr>
          <a:xfrm>
            <a:off x="9418320" y="3337560"/>
            <a:ext cx="8229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64040" y="3136391"/>
            <a:ext cx="1188719" cy="201168"/>
          </a:xfrm>
          <a:prstGeom prst="rect">
            <a:avLst/>
          </a:prstGeom>
          <a:noFill/>
        </p:spPr>
        <p:txBody>
          <a:bodyPr wrap="none">
            <a:spAutoFit/>
          </a:bodyPr>
          <a:lstStyle/>
          <a:p>
            <a:pPr>
              <a:defRPr sz="800">
                <a:solidFill>
                  <a:srgbClr val="595959"/>
                </a:solidFill>
                <a:latin typeface="Aptos"/>
              </a:defRPr>
            </a:pPr>
            <a:r>
              <a:t>3 save()</a:t>
            </a:r>
          </a:p>
        </p:txBody>
      </p:sp>
      <p:cxnSp>
        <p:nvCxnSpPr>
          <p:cNvPr id="19" name="Connector 18"/>
          <p:cNvCxnSpPr/>
          <p:nvPr/>
        </p:nvCxnSpPr>
        <p:spPr>
          <a:xfrm flipH="1">
            <a:off x="6858000" y="3931920"/>
            <a:ext cx="338328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03720" y="3730752"/>
            <a:ext cx="3749039" cy="201168"/>
          </a:xfrm>
          <a:prstGeom prst="rect">
            <a:avLst/>
          </a:prstGeom>
          <a:noFill/>
        </p:spPr>
        <p:txBody>
          <a:bodyPr wrap="none">
            <a:spAutoFit/>
          </a:bodyPr>
          <a:lstStyle/>
          <a:p>
            <a:pPr>
              <a:defRPr sz="800">
                <a:solidFill>
                  <a:srgbClr val="595959"/>
                </a:solidFill>
                <a:latin typeface="Aptos"/>
              </a:defRPr>
            </a:pPr>
            <a:r>
              <a:t>4 response</a:t>
            </a:r>
          </a:p>
        </p:txBody>
      </p:sp>
      <p:sp>
        <p:nvSpPr>
          <p:cNvPr id="21" name="Rectangle 20"/>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Architecture</a:t>
            </a:r>
          </a:p>
        </p:txBody>
      </p:sp>
      <p:sp>
        <p:nvSpPr>
          <p:cNvPr id="23" name="TextBox 22"/>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API Contract Before Code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Define endpoints, request body and response body</a:t>
            </a:r>
          </a:p>
          <a:p>
            <a:pPr>
              <a:lnSpc>
                <a:spcPct val="105000"/>
              </a:lnSpc>
              <a:spcAft>
                <a:spcPts val="1000"/>
              </a:spcAft>
              <a:defRPr sz="1800">
                <a:solidFill>
                  <a:srgbClr val="404040"/>
                </a:solidFill>
                <a:latin typeface="Aptos"/>
              </a:defRPr>
            </a:pPr>
            <a:r>
              <a:t>Specify status codes and error models</a:t>
            </a:r>
          </a:p>
          <a:p>
            <a:pPr>
              <a:lnSpc>
                <a:spcPct val="105000"/>
              </a:lnSpc>
              <a:spcAft>
                <a:spcPts val="1000"/>
              </a:spcAft>
              <a:defRPr sz="1800">
                <a:solidFill>
                  <a:srgbClr val="404040"/>
                </a:solidFill>
                <a:latin typeface="Aptos"/>
              </a:defRPr>
            </a:pPr>
            <a:r>
              <a:t>Use OpenAPI as a contract between frontend and backend</a:t>
            </a:r>
          </a:p>
          <a:p>
            <a:pPr>
              <a:lnSpc>
                <a:spcPct val="105000"/>
              </a:lnSpc>
              <a:spcAft>
                <a:spcPts val="1000"/>
              </a:spcAft>
              <a:defRPr sz="1800">
                <a:solidFill>
                  <a:srgbClr val="404040"/>
                </a:solidFill>
                <a:latin typeface="Aptos"/>
              </a:defRPr>
            </a:pPr>
            <a:r>
              <a:t>Generate tests from the contract where possible</a:t>
            </a:r>
          </a:p>
        </p:txBody>
      </p:sp>
      <p:sp>
        <p:nvSpPr>
          <p:cNvPr id="5" name="Rounded Rectangle 4"/>
          <p:cNvSpPr/>
          <p:nvPr/>
        </p:nvSpPr>
        <p:spPr>
          <a:xfrm>
            <a:off x="6446520" y="1554480"/>
            <a:ext cx="5074920" cy="685800"/>
          </a:xfrm>
          <a:prstGeom prst="roundRect">
            <a:avLst/>
          </a:prstGeom>
          <a:solidFill>
            <a:srgbClr val="FFFFFF"/>
          </a:solidFill>
          <a:ln w="19050">
            <a:solidFill>
              <a:srgbClr val="703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30A0"/>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Architecture</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Data Model Design Considerations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Use normalized tables for students, courses and enrollments</a:t>
            </a:r>
          </a:p>
          <a:p>
            <a:pPr>
              <a:lnSpc>
                <a:spcPct val="105000"/>
              </a:lnSpc>
              <a:spcAft>
                <a:spcPts val="1000"/>
              </a:spcAft>
              <a:defRPr sz="1800">
                <a:solidFill>
                  <a:srgbClr val="404040"/>
                </a:solidFill>
                <a:latin typeface="Aptos"/>
              </a:defRPr>
            </a:pPr>
            <a:r>
              <a:t>Use constraints to prevent duplicate attendance</a:t>
            </a:r>
          </a:p>
          <a:p>
            <a:pPr>
              <a:lnSpc>
                <a:spcPct val="105000"/>
              </a:lnSpc>
              <a:spcAft>
                <a:spcPts val="1000"/>
              </a:spcAft>
              <a:defRPr sz="1800">
                <a:solidFill>
                  <a:srgbClr val="404040"/>
                </a:solidFill>
                <a:latin typeface="Aptos"/>
              </a:defRPr>
            </a:pPr>
            <a:r>
              <a:t>Index common query fields such as course and date</a:t>
            </a:r>
          </a:p>
          <a:p>
            <a:pPr>
              <a:lnSpc>
                <a:spcPct val="105000"/>
              </a:lnSpc>
              <a:spcAft>
                <a:spcPts val="1000"/>
              </a:spcAft>
              <a:defRPr sz="1800">
                <a:solidFill>
                  <a:srgbClr val="404040"/>
                </a:solidFill>
                <a:latin typeface="Aptos"/>
              </a:defRPr>
            </a:pPr>
            <a:r>
              <a:t>Audit fields support accountability</a:t>
            </a:r>
          </a:p>
        </p:txBody>
      </p:sp>
      <p:sp>
        <p:nvSpPr>
          <p:cNvPr id="5" name="Rounded Rectangle 4"/>
          <p:cNvSpPr/>
          <p:nvPr/>
        </p:nvSpPr>
        <p:spPr>
          <a:xfrm>
            <a:off x="6446520" y="1554480"/>
            <a:ext cx="5074920" cy="685800"/>
          </a:xfrm>
          <a:prstGeom prst="roundRect">
            <a:avLst/>
          </a:prstGeom>
          <a:solidFill>
            <a:srgbClr val="FFFFFF"/>
          </a:solidFill>
          <a:ln w="19050">
            <a:solidFill>
              <a:srgbClr val="703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30A0"/>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Architecture</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Architectural Decision Records (ADR)</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Capture major decisions and alternatives</a:t>
            </a:r>
          </a:p>
          <a:p>
            <a:pPr>
              <a:lnSpc>
                <a:spcPct val="105000"/>
              </a:lnSpc>
              <a:spcAft>
                <a:spcPts val="1000"/>
              </a:spcAft>
              <a:defRPr sz="1800">
                <a:solidFill>
                  <a:srgbClr val="404040"/>
                </a:solidFill>
                <a:latin typeface="Aptos"/>
              </a:defRPr>
            </a:pPr>
            <a:r>
              <a:t>Record context, trade-offs and consequences</a:t>
            </a:r>
          </a:p>
          <a:p>
            <a:pPr>
              <a:lnSpc>
                <a:spcPct val="105000"/>
              </a:lnSpc>
              <a:spcAft>
                <a:spcPts val="1000"/>
              </a:spcAft>
              <a:defRPr sz="1800">
                <a:solidFill>
                  <a:srgbClr val="404040"/>
                </a:solidFill>
                <a:latin typeface="Aptos"/>
              </a:defRPr>
            </a:pPr>
            <a:r>
              <a:t>Make AI-generated decisions reviewable</a:t>
            </a:r>
          </a:p>
          <a:p>
            <a:pPr>
              <a:lnSpc>
                <a:spcPct val="105000"/>
              </a:lnSpc>
              <a:spcAft>
                <a:spcPts val="1000"/>
              </a:spcAft>
              <a:defRPr sz="1800">
                <a:solidFill>
                  <a:srgbClr val="404040"/>
                </a:solidFill>
                <a:latin typeface="Aptos"/>
              </a:defRPr>
            </a:pPr>
            <a:r>
              <a:t>Useful for teaching design rationale</a:t>
            </a:r>
          </a:p>
        </p:txBody>
      </p:sp>
      <p:sp>
        <p:nvSpPr>
          <p:cNvPr id="5" name="Rounded Rectangle 4"/>
          <p:cNvSpPr/>
          <p:nvPr/>
        </p:nvSpPr>
        <p:spPr>
          <a:xfrm>
            <a:off x="6446520" y="1554480"/>
            <a:ext cx="5074920" cy="685800"/>
          </a:xfrm>
          <a:prstGeom prst="roundRect">
            <a:avLst/>
          </a:prstGeom>
          <a:solidFill>
            <a:srgbClr val="FFFFFF"/>
          </a:solidFill>
          <a:ln w="19050">
            <a:solidFill>
              <a:srgbClr val="703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30A0"/>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Architecture</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Implementation Plan for the Lab</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Generate backend skeleton from accepted specs</a:t>
            </a:r>
          </a:p>
          <a:p>
            <a:pPr>
              <a:lnSpc>
                <a:spcPct val="105000"/>
              </a:lnSpc>
              <a:spcAft>
                <a:spcPts val="1000"/>
              </a:spcAft>
              <a:defRPr sz="1800">
                <a:solidFill>
                  <a:srgbClr val="404040"/>
                </a:solidFill>
                <a:latin typeface="Aptos"/>
              </a:defRPr>
            </a:pPr>
            <a:r>
              <a:t>Implement one vertical slice end-to-end</a:t>
            </a:r>
          </a:p>
          <a:p>
            <a:pPr>
              <a:lnSpc>
                <a:spcPct val="105000"/>
              </a:lnSpc>
              <a:spcAft>
                <a:spcPts val="1000"/>
              </a:spcAft>
              <a:defRPr sz="1800">
                <a:solidFill>
                  <a:srgbClr val="404040"/>
                </a:solidFill>
                <a:latin typeface="Aptos"/>
              </a:defRPr>
            </a:pPr>
            <a:r>
              <a:t>Add tests before expanding features</a:t>
            </a:r>
          </a:p>
          <a:p>
            <a:pPr>
              <a:lnSpc>
                <a:spcPct val="105000"/>
              </a:lnSpc>
              <a:spcAft>
                <a:spcPts val="1000"/>
              </a:spcAft>
              <a:defRPr sz="1800">
                <a:solidFill>
                  <a:srgbClr val="404040"/>
                </a:solidFill>
                <a:latin typeface="Aptos"/>
              </a:defRPr>
            </a:pPr>
            <a:r>
              <a:t>Review and refactor generated code</a:t>
            </a:r>
          </a:p>
        </p:txBody>
      </p:sp>
      <p:sp>
        <p:nvSpPr>
          <p:cNvPr id="5" name="Rounded Rectangle 4"/>
          <p:cNvSpPr/>
          <p:nvPr/>
        </p:nvSpPr>
        <p:spPr>
          <a:xfrm>
            <a:off x="6446520" y="1554480"/>
            <a:ext cx="5074920" cy="685800"/>
          </a:xfrm>
          <a:prstGeom prst="roundRect">
            <a:avLst/>
          </a:prstGeom>
          <a:solidFill>
            <a:srgbClr val="FFFFFF"/>
          </a:solidFill>
          <a:ln w="19050">
            <a:solidFill>
              <a:srgbClr val="2F75B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F75B5"/>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Implementation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Backend Layering Pattern</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Controller handles HTTP concerns</a:t>
            </a:r>
          </a:p>
          <a:p>
            <a:pPr>
              <a:lnSpc>
                <a:spcPct val="105000"/>
              </a:lnSpc>
              <a:spcAft>
                <a:spcPts val="1000"/>
              </a:spcAft>
              <a:defRPr sz="1800">
                <a:solidFill>
                  <a:srgbClr val="404040"/>
                </a:solidFill>
                <a:latin typeface="Aptos"/>
              </a:defRPr>
            </a:pPr>
            <a:r>
              <a:t>Service contains business rules</a:t>
            </a:r>
          </a:p>
          <a:p>
            <a:pPr>
              <a:lnSpc>
                <a:spcPct val="105000"/>
              </a:lnSpc>
              <a:spcAft>
                <a:spcPts val="1000"/>
              </a:spcAft>
              <a:defRPr sz="1800">
                <a:solidFill>
                  <a:srgbClr val="404040"/>
                </a:solidFill>
                <a:latin typeface="Aptos"/>
              </a:defRPr>
            </a:pPr>
            <a:r>
              <a:t>Repository manages persistence</a:t>
            </a:r>
          </a:p>
          <a:p>
            <a:pPr>
              <a:lnSpc>
                <a:spcPct val="105000"/>
              </a:lnSpc>
              <a:spcAft>
                <a:spcPts val="1000"/>
              </a:spcAft>
              <a:defRPr sz="1800">
                <a:solidFill>
                  <a:srgbClr val="404040"/>
                </a:solidFill>
                <a:latin typeface="Aptos"/>
              </a:defRPr>
            </a:pPr>
            <a:r>
              <a:t>DTOs protect API boundary</a:t>
            </a:r>
          </a:p>
        </p:txBody>
      </p:sp>
      <p:sp>
        <p:nvSpPr>
          <p:cNvPr id="5" name="Rounded Rectangle 4"/>
          <p:cNvSpPr/>
          <p:nvPr/>
        </p:nvSpPr>
        <p:spPr>
          <a:xfrm>
            <a:off x="6446520" y="1554480"/>
            <a:ext cx="5074920" cy="685800"/>
          </a:xfrm>
          <a:prstGeom prst="roundRect">
            <a:avLst/>
          </a:prstGeom>
          <a:solidFill>
            <a:srgbClr val="FFFFFF"/>
          </a:solidFill>
          <a:ln w="19050">
            <a:solidFill>
              <a:srgbClr val="2F75B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F75B5"/>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Implementation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Important Backend Code: Attendance Controller</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Use small endpoint methods</a:t>
            </a:r>
          </a:p>
          <a:p>
            <a:pPr>
              <a:lnSpc>
                <a:spcPct val="105000"/>
              </a:lnSpc>
              <a:spcAft>
                <a:spcPts val="1000"/>
              </a:spcAft>
              <a:defRPr sz="1800">
                <a:solidFill>
                  <a:srgbClr val="404040"/>
                </a:solidFill>
                <a:latin typeface="Aptos"/>
              </a:defRPr>
            </a:pPr>
            <a:r>
              <a:t>Validate input using request DTOs</a:t>
            </a:r>
          </a:p>
          <a:p>
            <a:pPr>
              <a:lnSpc>
                <a:spcPct val="105000"/>
              </a:lnSpc>
              <a:spcAft>
                <a:spcPts val="1000"/>
              </a:spcAft>
              <a:defRPr sz="1800">
                <a:solidFill>
                  <a:srgbClr val="404040"/>
                </a:solidFill>
                <a:latin typeface="Aptos"/>
              </a:defRPr>
            </a:pPr>
            <a:r>
              <a:t>Keep business rules out of controller</a:t>
            </a:r>
          </a:p>
          <a:p>
            <a:pPr>
              <a:lnSpc>
                <a:spcPct val="105000"/>
              </a:lnSpc>
              <a:spcAft>
                <a:spcPts val="1000"/>
              </a:spcAft>
              <a:defRPr sz="1800">
                <a:solidFill>
                  <a:srgbClr val="404040"/>
                </a:solidFill>
                <a:latin typeface="Aptos"/>
              </a:defRPr>
            </a:pPr>
            <a:r>
              <a:t>Return clear status codes</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900">
                <a:solidFill>
                  <a:srgbClr val="F5F5F5"/>
                </a:solidFill>
                <a:latin typeface="Consolas"/>
              </a:defRPr>
            </a:pPr>
            <a:r>
              <a:t>@RestController</a:t>
            </a:r>
          </a:p>
          <a:p>
            <a:pPr>
              <a:spcAft>
                <a:spcPts val="0"/>
              </a:spcAft>
              <a:defRPr sz="900">
                <a:solidFill>
                  <a:srgbClr val="F5F5F5"/>
                </a:solidFill>
                <a:latin typeface="Consolas"/>
              </a:defRPr>
            </a:pPr>
            <a:r>
              <a:t>@RequestMapping("/api/attendance")</a:t>
            </a:r>
          </a:p>
          <a:p>
            <a:pPr>
              <a:spcAft>
                <a:spcPts val="0"/>
              </a:spcAft>
              <a:defRPr sz="900">
                <a:solidFill>
                  <a:srgbClr val="F5F5F5"/>
                </a:solidFill>
                <a:latin typeface="Consolas"/>
              </a:defRPr>
            </a:pPr>
            <a:r>
              <a:t>@RequiredArgsConstructor</a:t>
            </a:r>
          </a:p>
          <a:p>
            <a:pPr>
              <a:spcAft>
                <a:spcPts val="0"/>
              </a:spcAft>
              <a:defRPr sz="900">
                <a:solidFill>
                  <a:srgbClr val="F5F5F5"/>
                </a:solidFill>
                <a:latin typeface="Consolas"/>
              </a:defRPr>
            </a:pPr>
            <a:r>
              <a:t>class AttendanceController {</a:t>
            </a:r>
          </a:p>
          <a:p>
            <a:pPr>
              <a:spcAft>
                <a:spcPts val="0"/>
              </a:spcAft>
              <a:defRPr sz="900">
                <a:solidFill>
                  <a:srgbClr val="F5F5F5"/>
                </a:solidFill>
                <a:latin typeface="Consolas"/>
              </a:defRPr>
            </a:pPr>
            <a:r>
              <a:t>  private final AttendanceService service;</a:t>
            </a:r>
          </a:p>
          <a:p>
            <a:pPr>
              <a:spcAft>
                <a:spcPts val="0"/>
              </a:spcAft>
              <a:defRPr sz="900">
                <a:solidFill>
                  <a:srgbClr val="F5F5F5"/>
                </a:solidFill>
                <a:latin typeface="Consolas"/>
              </a:defRPr>
            </a:pPr>
            <a:endParaRPr/>
          </a:p>
          <a:p>
            <a:pPr>
              <a:spcAft>
                <a:spcPts val="0"/>
              </a:spcAft>
              <a:defRPr sz="900">
                <a:solidFill>
                  <a:srgbClr val="F5F5F5"/>
                </a:solidFill>
                <a:latin typeface="Consolas"/>
              </a:defRPr>
            </a:pPr>
            <a:r>
              <a:t>  @PostMapping</a:t>
            </a:r>
          </a:p>
          <a:p>
            <a:pPr>
              <a:spcAft>
                <a:spcPts val="0"/>
              </a:spcAft>
              <a:defRPr sz="900">
                <a:solidFill>
                  <a:srgbClr val="F5F5F5"/>
                </a:solidFill>
                <a:latin typeface="Consolas"/>
              </a:defRPr>
            </a:pPr>
            <a:r>
              <a:t>  ResponseEntity&lt;AttendanceResponse&gt; mark(</a:t>
            </a:r>
          </a:p>
          <a:p>
            <a:pPr>
              <a:spcAft>
                <a:spcPts val="0"/>
              </a:spcAft>
              <a:defRPr sz="900">
                <a:solidFill>
                  <a:srgbClr val="F5F5F5"/>
                </a:solidFill>
                <a:latin typeface="Consolas"/>
              </a:defRPr>
            </a:pPr>
            <a:r>
              <a:t>      @Valid @RequestBody MarkAttendanceRequest request,</a:t>
            </a:r>
          </a:p>
          <a:p>
            <a:pPr>
              <a:spcAft>
                <a:spcPts val="0"/>
              </a:spcAft>
              <a:defRPr sz="900">
                <a:solidFill>
                  <a:srgbClr val="F5F5F5"/>
                </a:solidFill>
                <a:latin typeface="Consolas"/>
              </a:defRPr>
            </a:pPr>
            <a:r>
              <a:t>      Authentication authentication) {</a:t>
            </a:r>
          </a:p>
          <a:p>
            <a:pPr>
              <a:spcAft>
                <a:spcPts val="0"/>
              </a:spcAft>
              <a:defRPr sz="900">
                <a:solidFill>
                  <a:srgbClr val="F5F5F5"/>
                </a:solidFill>
                <a:latin typeface="Consolas"/>
              </a:defRPr>
            </a:pPr>
            <a:r>
              <a:t>    var response = service.markAttendance(request, authentication.getName());</a:t>
            </a:r>
          </a:p>
          <a:p>
            <a:pPr>
              <a:spcAft>
                <a:spcPts val="0"/>
              </a:spcAft>
              <a:defRPr sz="900">
                <a:solidFill>
                  <a:srgbClr val="F5F5F5"/>
                </a:solidFill>
                <a:latin typeface="Consolas"/>
              </a:defRPr>
            </a:pPr>
            <a:r>
              <a:t>    return ResponseEntity.status(HttpStatus.CREATED).body(response);</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r>
              <a:t>}</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Implementation</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Important Backend Code: Service Validation</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Check faculty permission before saving</a:t>
            </a:r>
          </a:p>
          <a:p>
            <a:pPr>
              <a:lnSpc>
                <a:spcPct val="105000"/>
              </a:lnSpc>
              <a:spcAft>
                <a:spcPts val="1000"/>
              </a:spcAft>
              <a:defRPr sz="1800">
                <a:solidFill>
                  <a:srgbClr val="404040"/>
                </a:solidFill>
                <a:latin typeface="Aptos"/>
              </a:defRPr>
            </a:pPr>
            <a:r>
              <a:t>Check duplicate attendance records</a:t>
            </a:r>
          </a:p>
          <a:p>
            <a:pPr>
              <a:lnSpc>
                <a:spcPct val="105000"/>
              </a:lnSpc>
              <a:spcAft>
                <a:spcPts val="1000"/>
              </a:spcAft>
              <a:defRPr sz="1800">
                <a:solidFill>
                  <a:srgbClr val="404040"/>
                </a:solidFill>
                <a:latin typeface="Aptos"/>
              </a:defRPr>
            </a:pPr>
            <a:r>
              <a:t>Keep rules deterministic and unit-testable</a:t>
            </a:r>
          </a:p>
          <a:p>
            <a:pPr>
              <a:lnSpc>
                <a:spcPct val="105000"/>
              </a:lnSpc>
              <a:spcAft>
                <a:spcPts val="1000"/>
              </a:spcAft>
              <a:defRPr sz="1800">
                <a:solidFill>
                  <a:srgbClr val="404040"/>
                </a:solidFill>
                <a:latin typeface="Aptos"/>
              </a:defRPr>
            </a:pPr>
            <a:r>
              <a:t>Make failure cases explicit</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900">
                <a:solidFill>
                  <a:srgbClr val="F5F5F5"/>
                </a:solidFill>
                <a:latin typeface="Consolas"/>
              </a:defRPr>
            </a:pPr>
            <a:r>
              <a:t>@Service</a:t>
            </a:r>
          </a:p>
          <a:p>
            <a:pPr>
              <a:spcAft>
                <a:spcPts val="0"/>
              </a:spcAft>
              <a:defRPr sz="900">
                <a:solidFill>
                  <a:srgbClr val="F5F5F5"/>
                </a:solidFill>
                <a:latin typeface="Consolas"/>
              </a:defRPr>
            </a:pPr>
            <a:r>
              <a:t>@RequiredArgsConstructor</a:t>
            </a:r>
          </a:p>
          <a:p>
            <a:pPr>
              <a:spcAft>
                <a:spcPts val="0"/>
              </a:spcAft>
              <a:defRPr sz="900">
                <a:solidFill>
                  <a:srgbClr val="F5F5F5"/>
                </a:solidFill>
                <a:latin typeface="Consolas"/>
              </a:defRPr>
            </a:pPr>
            <a:r>
              <a:t>class AttendanceService {</a:t>
            </a:r>
          </a:p>
          <a:p>
            <a:pPr>
              <a:spcAft>
                <a:spcPts val="0"/>
              </a:spcAft>
              <a:defRPr sz="900">
                <a:solidFill>
                  <a:srgbClr val="F5F5F5"/>
                </a:solidFill>
                <a:latin typeface="Consolas"/>
              </a:defRPr>
            </a:pPr>
            <a:r>
              <a:t>  public AttendanceResponse markAttendance(MarkAttendanceRequest req, String facultyId) {</a:t>
            </a:r>
          </a:p>
          <a:p>
            <a:pPr>
              <a:spcAft>
                <a:spcPts val="0"/>
              </a:spcAft>
              <a:defRPr sz="900">
                <a:solidFill>
                  <a:srgbClr val="F5F5F5"/>
                </a:solidFill>
                <a:latin typeface="Consolas"/>
              </a:defRPr>
            </a:pPr>
            <a:r>
              <a:t>    if (!courseService.isAssignedFaculty(req.courseId(), facultyId)) {</a:t>
            </a:r>
          </a:p>
          <a:p>
            <a:pPr>
              <a:spcAft>
                <a:spcPts val="0"/>
              </a:spcAft>
              <a:defRPr sz="900">
                <a:solidFill>
                  <a:srgbClr val="F5F5F5"/>
                </a:solidFill>
                <a:latin typeface="Consolas"/>
              </a:defRPr>
            </a:pPr>
            <a:r>
              <a:t>      throw new AccessDeniedException("Faculty is not assigned to this course");</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r>
              <a:t>    if (repo.existsByStudentIdAndSessionId(req.studentId(), req.sessionId())) {</a:t>
            </a:r>
          </a:p>
          <a:p>
            <a:pPr>
              <a:spcAft>
                <a:spcPts val="0"/>
              </a:spcAft>
              <a:defRPr sz="900">
                <a:solidFill>
                  <a:srgbClr val="F5F5F5"/>
                </a:solidFill>
                <a:latin typeface="Consolas"/>
              </a:defRPr>
            </a:pPr>
            <a:r>
              <a:t>      throw new DuplicateAttendanceException("Attendance already marked");</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r>
              <a:t>    var entity = Attendance.from(req, facultyId);</a:t>
            </a:r>
          </a:p>
          <a:p>
            <a:pPr>
              <a:spcAft>
                <a:spcPts val="0"/>
              </a:spcAft>
              <a:defRPr sz="900">
                <a:solidFill>
                  <a:srgbClr val="F5F5F5"/>
                </a:solidFill>
                <a:latin typeface="Consolas"/>
              </a:defRPr>
            </a:pPr>
            <a:r>
              <a:t>    return AttendanceResponse.from(repo.save(entity));</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r>
              <a:t>}</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Implementation</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Frontend Design for the Lab</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Keep UI simple: course selection, student list and mark status</a:t>
            </a:r>
          </a:p>
          <a:p>
            <a:pPr>
              <a:lnSpc>
                <a:spcPct val="105000"/>
              </a:lnSpc>
              <a:spcAft>
                <a:spcPts val="1000"/>
              </a:spcAft>
              <a:defRPr sz="1800">
                <a:solidFill>
                  <a:srgbClr val="404040"/>
                </a:solidFill>
                <a:latin typeface="Aptos"/>
              </a:defRPr>
            </a:pPr>
            <a:r>
              <a:t>Show loading, success and error states</a:t>
            </a:r>
          </a:p>
          <a:p>
            <a:pPr>
              <a:lnSpc>
                <a:spcPct val="105000"/>
              </a:lnSpc>
              <a:spcAft>
                <a:spcPts val="1000"/>
              </a:spcAft>
              <a:defRPr sz="1800">
                <a:solidFill>
                  <a:srgbClr val="404040"/>
                </a:solidFill>
                <a:latin typeface="Aptos"/>
              </a:defRPr>
            </a:pPr>
            <a:r>
              <a:t>Do not hide backend validation errors</a:t>
            </a:r>
          </a:p>
          <a:p>
            <a:pPr>
              <a:lnSpc>
                <a:spcPct val="105000"/>
              </a:lnSpc>
              <a:spcAft>
                <a:spcPts val="1000"/>
              </a:spcAft>
              <a:defRPr sz="1800">
                <a:solidFill>
                  <a:srgbClr val="404040"/>
                </a:solidFill>
                <a:latin typeface="Aptos"/>
              </a:defRPr>
            </a:pPr>
            <a:r>
              <a:t>Prefer reusable components for forms and tables</a:t>
            </a:r>
          </a:p>
        </p:txBody>
      </p:sp>
      <p:sp>
        <p:nvSpPr>
          <p:cNvPr id="5" name="Rounded Rectangle 4"/>
          <p:cNvSpPr/>
          <p:nvPr/>
        </p:nvSpPr>
        <p:spPr>
          <a:xfrm>
            <a:off x="6446520" y="1554480"/>
            <a:ext cx="5074920" cy="685800"/>
          </a:xfrm>
          <a:prstGeom prst="roundRect">
            <a:avLst/>
          </a:prstGeom>
          <a:solidFill>
            <a:srgbClr val="FFFFFF"/>
          </a:solidFill>
          <a:ln w="19050">
            <a:solidFill>
              <a:srgbClr val="2F75B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F75B5"/>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Implementation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Important Frontend Code: API Call</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Keep API access in a small client function</a:t>
            </a:r>
          </a:p>
          <a:p>
            <a:pPr>
              <a:lnSpc>
                <a:spcPct val="105000"/>
              </a:lnSpc>
              <a:spcAft>
                <a:spcPts val="1000"/>
              </a:spcAft>
              <a:defRPr sz="1800">
                <a:solidFill>
                  <a:srgbClr val="404040"/>
                </a:solidFill>
                <a:latin typeface="Aptos"/>
              </a:defRPr>
            </a:pPr>
            <a:r>
              <a:t>Pass explicit request data</a:t>
            </a:r>
          </a:p>
          <a:p>
            <a:pPr>
              <a:lnSpc>
                <a:spcPct val="105000"/>
              </a:lnSpc>
              <a:spcAft>
                <a:spcPts val="1000"/>
              </a:spcAft>
              <a:defRPr sz="1800">
                <a:solidFill>
                  <a:srgbClr val="404040"/>
                </a:solidFill>
                <a:latin typeface="Aptos"/>
              </a:defRPr>
            </a:pPr>
            <a:r>
              <a:t>Handle non-2xx responses</a:t>
            </a:r>
          </a:p>
          <a:p>
            <a:pPr>
              <a:lnSpc>
                <a:spcPct val="105000"/>
              </a:lnSpc>
              <a:spcAft>
                <a:spcPts val="1000"/>
              </a:spcAft>
              <a:defRPr sz="1800">
                <a:solidFill>
                  <a:srgbClr val="404040"/>
                </a:solidFill>
                <a:latin typeface="Aptos"/>
              </a:defRPr>
            </a:pPr>
            <a:r>
              <a:t>Reuse the function in UI components and tests</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900">
                <a:solidFill>
                  <a:srgbClr val="F5F5F5"/>
                </a:solidFill>
                <a:latin typeface="Consolas"/>
              </a:defRPr>
            </a:pPr>
            <a:r>
              <a:t>export async function markAttendance(request) {</a:t>
            </a:r>
          </a:p>
          <a:p>
            <a:pPr>
              <a:spcAft>
                <a:spcPts val="0"/>
              </a:spcAft>
              <a:defRPr sz="900">
                <a:solidFill>
                  <a:srgbClr val="F5F5F5"/>
                </a:solidFill>
                <a:latin typeface="Consolas"/>
              </a:defRPr>
            </a:pPr>
            <a:r>
              <a:t>  const res = await fetch('/api/attendance', {</a:t>
            </a:r>
          </a:p>
          <a:p>
            <a:pPr>
              <a:spcAft>
                <a:spcPts val="0"/>
              </a:spcAft>
              <a:defRPr sz="900">
                <a:solidFill>
                  <a:srgbClr val="F5F5F5"/>
                </a:solidFill>
                <a:latin typeface="Consolas"/>
              </a:defRPr>
            </a:pPr>
            <a:r>
              <a:t>    method: 'POST',</a:t>
            </a:r>
          </a:p>
          <a:p>
            <a:pPr>
              <a:spcAft>
                <a:spcPts val="0"/>
              </a:spcAft>
              <a:defRPr sz="900">
                <a:solidFill>
                  <a:srgbClr val="F5F5F5"/>
                </a:solidFill>
                <a:latin typeface="Consolas"/>
              </a:defRPr>
            </a:pPr>
            <a:r>
              <a:t>    headers: { 'Content-Type': 'application/json' },</a:t>
            </a:r>
          </a:p>
          <a:p>
            <a:pPr>
              <a:spcAft>
                <a:spcPts val="0"/>
              </a:spcAft>
              <a:defRPr sz="900">
                <a:solidFill>
                  <a:srgbClr val="F5F5F5"/>
                </a:solidFill>
                <a:latin typeface="Consolas"/>
              </a:defRPr>
            </a:pPr>
            <a:r>
              <a:t>    body: JSON.stringify(request)</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endParaRPr/>
          </a:p>
          <a:p>
            <a:pPr>
              <a:spcAft>
                <a:spcPts val="0"/>
              </a:spcAft>
              <a:defRPr sz="900">
                <a:solidFill>
                  <a:srgbClr val="F5F5F5"/>
                </a:solidFill>
                <a:latin typeface="Consolas"/>
              </a:defRPr>
            </a:pPr>
            <a:r>
              <a:t>  if (!res.ok) {</a:t>
            </a:r>
          </a:p>
          <a:p>
            <a:pPr>
              <a:spcAft>
                <a:spcPts val="0"/>
              </a:spcAft>
              <a:defRPr sz="900">
                <a:solidFill>
                  <a:srgbClr val="F5F5F5"/>
                </a:solidFill>
                <a:latin typeface="Consolas"/>
              </a:defRPr>
            </a:pPr>
            <a:r>
              <a:t>    const error = await res.json();</a:t>
            </a:r>
          </a:p>
          <a:p>
            <a:pPr>
              <a:spcAft>
                <a:spcPts val="0"/>
              </a:spcAft>
              <a:defRPr sz="900">
                <a:solidFill>
                  <a:srgbClr val="F5F5F5"/>
                </a:solidFill>
                <a:latin typeface="Consolas"/>
              </a:defRPr>
            </a:pPr>
            <a:r>
              <a:t>    throw new Error(error.message ?? 'Unable to mark attendance');</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r>
              <a:t>  return res.json();</a:t>
            </a:r>
          </a:p>
          <a:p>
            <a:pPr>
              <a:spcAft>
                <a:spcPts val="0"/>
              </a:spcAft>
              <a:defRPr sz="900">
                <a:solidFill>
                  <a:srgbClr val="F5F5F5"/>
                </a:solidFill>
                <a:latin typeface="Consolas"/>
              </a:defRPr>
            </a:pPr>
            <a:r>
              <a:t>}</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Implementation</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AI Code Generation Workflow</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Generate one component or layer at a time</a:t>
            </a:r>
          </a:p>
          <a:p>
            <a:pPr>
              <a:lnSpc>
                <a:spcPct val="105000"/>
              </a:lnSpc>
              <a:spcAft>
                <a:spcPts val="1000"/>
              </a:spcAft>
              <a:defRPr sz="1800">
                <a:solidFill>
                  <a:srgbClr val="404040"/>
                </a:solidFill>
                <a:latin typeface="Aptos"/>
              </a:defRPr>
            </a:pPr>
            <a:r>
              <a:t>Review generated code before asking for the next layer</a:t>
            </a:r>
          </a:p>
          <a:p>
            <a:pPr>
              <a:lnSpc>
                <a:spcPct val="105000"/>
              </a:lnSpc>
              <a:spcAft>
                <a:spcPts val="1000"/>
              </a:spcAft>
              <a:defRPr sz="1800">
                <a:solidFill>
                  <a:srgbClr val="404040"/>
                </a:solidFill>
                <a:latin typeface="Aptos"/>
              </a:defRPr>
            </a:pPr>
            <a:r>
              <a:t>Keep prompts tied to specs and file names</a:t>
            </a:r>
          </a:p>
          <a:p>
            <a:pPr>
              <a:lnSpc>
                <a:spcPct val="105000"/>
              </a:lnSpc>
              <a:spcAft>
                <a:spcPts val="1000"/>
              </a:spcAft>
              <a:defRPr sz="1800">
                <a:solidFill>
                  <a:srgbClr val="404040"/>
                </a:solidFill>
                <a:latin typeface="Aptos"/>
              </a:defRPr>
            </a:pPr>
            <a:r>
              <a:t>Commit working increments frequently</a:t>
            </a:r>
          </a:p>
        </p:txBody>
      </p:sp>
      <p:sp>
        <p:nvSpPr>
          <p:cNvPr id="5" name="Rounded Rectangle 4"/>
          <p:cNvSpPr/>
          <p:nvPr/>
        </p:nvSpPr>
        <p:spPr>
          <a:xfrm>
            <a:off x="6446520" y="1554480"/>
            <a:ext cx="5074920" cy="685800"/>
          </a:xfrm>
          <a:prstGeom prst="roundRect">
            <a:avLst/>
          </a:prstGeom>
          <a:solidFill>
            <a:srgbClr val="FFFFFF"/>
          </a:solidFill>
          <a:ln w="19050">
            <a:solidFill>
              <a:srgbClr val="2F75B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F75B5"/>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Implementation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AI Code Review Workflow</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Ask AI to review against requirements, not generic style only</a:t>
            </a:r>
          </a:p>
          <a:p>
            <a:pPr>
              <a:lnSpc>
                <a:spcPct val="105000"/>
              </a:lnSpc>
              <a:spcAft>
                <a:spcPts val="1000"/>
              </a:spcAft>
              <a:defRPr sz="1800">
                <a:solidFill>
                  <a:srgbClr val="404040"/>
                </a:solidFill>
                <a:latin typeface="Aptos"/>
              </a:defRPr>
            </a:pPr>
            <a:r>
              <a:t>Run static tools and tests independently</a:t>
            </a:r>
          </a:p>
          <a:p>
            <a:pPr>
              <a:lnSpc>
                <a:spcPct val="105000"/>
              </a:lnSpc>
              <a:spcAft>
                <a:spcPts val="1000"/>
              </a:spcAft>
              <a:defRPr sz="1800">
                <a:solidFill>
                  <a:srgbClr val="404040"/>
                </a:solidFill>
                <a:latin typeface="Aptos"/>
              </a:defRPr>
            </a:pPr>
            <a:r>
              <a:t>Request specific fixes with reasoning</a:t>
            </a:r>
          </a:p>
          <a:p>
            <a:pPr>
              <a:lnSpc>
                <a:spcPct val="105000"/>
              </a:lnSpc>
              <a:spcAft>
                <a:spcPts val="1000"/>
              </a:spcAft>
              <a:defRPr sz="1800">
                <a:solidFill>
                  <a:srgbClr val="404040"/>
                </a:solidFill>
                <a:latin typeface="Aptos"/>
              </a:defRPr>
            </a:pPr>
            <a:r>
              <a:t>Record review findings for assessment</a:t>
            </a:r>
          </a:p>
        </p:txBody>
      </p:sp>
      <p:sp>
        <p:nvSpPr>
          <p:cNvPr id="5" name="Rounded Rectangle 4"/>
          <p:cNvSpPr/>
          <p:nvPr/>
        </p:nvSpPr>
        <p:spPr>
          <a:xfrm>
            <a:off x="6446520" y="1554480"/>
            <a:ext cx="5074920" cy="685800"/>
          </a:xfrm>
          <a:prstGeom prst="roundRect">
            <a:avLst/>
          </a:prstGeom>
          <a:solidFill>
            <a:srgbClr val="FFFFFF"/>
          </a:solidFill>
          <a:ln w="19050">
            <a:solidFill>
              <a:srgbClr val="2F75B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F75B5"/>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Implementation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DDEBF7"/>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Refactoring Generated Code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Remove duplication introduced by repeated prompts</a:t>
            </a:r>
          </a:p>
          <a:p>
            <a:pPr>
              <a:lnSpc>
                <a:spcPct val="105000"/>
              </a:lnSpc>
              <a:spcAft>
                <a:spcPts val="1000"/>
              </a:spcAft>
              <a:defRPr sz="1800">
                <a:solidFill>
                  <a:srgbClr val="404040"/>
                </a:solidFill>
                <a:latin typeface="Aptos"/>
              </a:defRPr>
            </a:pPr>
            <a:r>
              <a:t>Rename unclear classes and methods</a:t>
            </a:r>
          </a:p>
          <a:p>
            <a:pPr>
              <a:lnSpc>
                <a:spcPct val="105000"/>
              </a:lnSpc>
              <a:spcAft>
                <a:spcPts val="1000"/>
              </a:spcAft>
              <a:defRPr sz="1800">
                <a:solidFill>
                  <a:srgbClr val="404040"/>
                </a:solidFill>
                <a:latin typeface="Aptos"/>
              </a:defRPr>
            </a:pPr>
            <a:r>
              <a:t>Extract business rules into testable services</a:t>
            </a:r>
          </a:p>
          <a:p>
            <a:pPr>
              <a:lnSpc>
                <a:spcPct val="105000"/>
              </a:lnSpc>
              <a:spcAft>
                <a:spcPts val="1000"/>
              </a:spcAft>
              <a:defRPr sz="1800">
                <a:solidFill>
                  <a:srgbClr val="404040"/>
                </a:solidFill>
                <a:latin typeface="Aptos"/>
              </a:defRPr>
            </a:pPr>
            <a:r>
              <a:t>Simplify before adding features</a:t>
            </a:r>
          </a:p>
        </p:txBody>
      </p:sp>
      <p:sp>
        <p:nvSpPr>
          <p:cNvPr id="5" name="Rounded Rectangle 4"/>
          <p:cNvSpPr/>
          <p:nvPr/>
        </p:nvSpPr>
        <p:spPr>
          <a:xfrm>
            <a:off x="6446520" y="1554480"/>
            <a:ext cx="5074920" cy="685800"/>
          </a:xfrm>
          <a:prstGeom prst="roundRect">
            <a:avLst/>
          </a:prstGeom>
          <a:solidFill>
            <a:srgbClr val="FFFFFF"/>
          </a:solidFill>
          <a:ln w="19050">
            <a:solidFill>
              <a:srgbClr val="2F75B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F75B5"/>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2F75B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Implementation</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DAEEF3"/>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Testing Strategy in AI-Native Development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Tests define whether generated code is acceptable</a:t>
            </a:r>
          </a:p>
          <a:p>
            <a:pPr>
              <a:lnSpc>
                <a:spcPct val="105000"/>
              </a:lnSpc>
              <a:spcAft>
                <a:spcPts val="1000"/>
              </a:spcAft>
              <a:defRPr sz="1800">
                <a:solidFill>
                  <a:srgbClr val="404040"/>
                </a:solidFill>
                <a:latin typeface="Aptos"/>
              </a:defRPr>
            </a:pPr>
            <a:r>
              <a:t>Unit tests cover business rules</a:t>
            </a:r>
          </a:p>
          <a:p>
            <a:pPr>
              <a:lnSpc>
                <a:spcPct val="105000"/>
              </a:lnSpc>
              <a:spcAft>
                <a:spcPts val="1000"/>
              </a:spcAft>
              <a:defRPr sz="1800">
                <a:solidFill>
                  <a:srgbClr val="404040"/>
                </a:solidFill>
                <a:latin typeface="Aptos"/>
              </a:defRPr>
            </a:pPr>
            <a:r>
              <a:t>Integration tests cover API and database behavior</a:t>
            </a:r>
          </a:p>
          <a:p>
            <a:pPr>
              <a:lnSpc>
                <a:spcPct val="105000"/>
              </a:lnSpc>
              <a:spcAft>
                <a:spcPts val="1000"/>
              </a:spcAft>
              <a:defRPr sz="1800">
                <a:solidFill>
                  <a:srgbClr val="404040"/>
                </a:solidFill>
                <a:latin typeface="Aptos"/>
              </a:defRPr>
            </a:pPr>
            <a:r>
              <a:t>E2E tests cover user journeys</a:t>
            </a:r>
          </a:p>
        </p:txBody>
      </p:sp>
      <p:sp>
        <p:nvSpPr>
          <p:cNvPr id="5" name="Rounded Rectangle 4"/>
          <p:cNvSpPr/>
          <p:nvPr/>
        </p:nvSpPr>
        <p:spPr>
          <a:xfrm>
            <a:off x="6446520" y="1554480"/>
            <a:ext cx="5074920" cy="685800"/>
          </a:xfrm>
          <a:prstGeom prst="round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08B8B"/>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Quality</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DAEEF3"/>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Important Unit Test: Duplicate Attendance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Maps directly to a requirement rule</a:t>
            </a:r>
          </a:p>
          <a:p>
            <a:pPr>
              <a:lnSpc>
                <a:spcPct val="105000"/>
              </a:lnSpc>
              <a:spcAft>
                <a:spcPts val="1000"/>
              </a:spcAft>
              <a:defRPr sz="1800">
                <a:solidFill>
                  <a:srgbClr val="404040"/>
                </a:solidFill>
                <a:latin typeface="Aptos"/>
              </a:defRPr>
            </a:pPr>
            <a:r>
              <a:t>Fast to run during development</a:t>
            </a:r>
          </a:p>
          <a:p>
            <a:pPr>
              <a:lnSpc>
                <a:spcPct val="105000"/>
              </a:lnSpc>
              <a:spcAft>
                <a:spcPts val="1000"/>
              </a:spcAft>
              <a:defRPr sz="1800">
                <a:solidFill>
                  <a:srgbClr val="404040"/>
                </a:solidFill>
                <a:latin typeface="Aptos"/>
              </a:defRPr>
            </a:pPr>
            <a:r>
              <a:t>Prevents regression when AI refactors code</a:t>
            </a:r>
          </a:p>
          <a:p>
            <a:pPr>
              <a:lnSpc>
                <a:spcPct val="105000"/>
              </a:lnSpc>
              <a:spcAft>
                <a:spcPts val="1000"/>
              </a:spcAft>
              <a:defRPr sz="1800">
                <a:solidFill>
                  <a:srgbClr val="404040"/>
                </a:solidFill>
                <a:latin typeface="Aptos"/>
              </a:defRPr>
            </a:pPr>
            <a:r>
              <a:t>Good example for faculty lab assessment</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900">
                <a:solidFill>
                  <a:srgbClr val="F5F5F5"/>
                </a:solidFill>
                <a:latin typeface="Consolas"/>
              </a:defRPr>
            </a:pPr>
            <a:r>
              <a:t>@Test</a:t>
            </a:r>
          </a:p>
          <a:p>
            <a:pPr>
              <a:spcAft>
                <a:spcPts val="0"/>
              </a:spcAft>
              <a:defRPr sz="900">
                <a:solidFill>
                  <a:srgbClr val="F5F5F5"/>
                </a:solidFill>
                <a:latin typeface="Consolas"/>
              </a:defRPr>
            </a:pPr>
            <a:r>
              <a:t>void shouldRejectDuplicateAttendance() {</a:t>
            </a:r>
          </a:p>
          <a:p>
            <a:pPr>
              <a:spcAft>
                <a:spcPts val="0"/>
              </a:spcAft>
              <a:defRPr sz="900">
                <a:solidFill>
                  <a:srgbClr val="F5F5F5"/>
                </a:solidFill>
                <a:latin typeface="Consolas"/>
              </a:defRPr>
            </a:pPr>
            <a:r>
              <a:t>  given(repo.existsByStudentIdAndSessionId("S101", "CS101-2026-07-03"))</a:t>
            </a:r>
          </a:p>
          <a:p>
            <a:pPr>
              <a:spcAft>
                <a:spcPts val="0"/>
              </a:spcAft>
              <a:defRPr sz="900">
                <a:solidFill>
                  <a:srgbClr val="F5F5F5"/>
                </a:solidFill>
                <a:latin typeface="Consolas"/>
              </a:defRPr>
            </a:pPr>
            <a:r>
              <a:t>      .willReturn(true);</a:t>
            </a:r>
          </a:p>
          <a:p>
            <a:pPr>
              <a:spcAft>
                <a:spcPts val="0"/>
              </a:spcAft>
              <a:defRPr sz="900">
                <a:solidFill>
                  <a:srgbClr val="F5F5F5"/>
                </a:solidFill>
                <a:latin typeface="Consolas"/>
              </a:defRPr>
            </a:pPr>
            <a:endParaRPr/>
          </a:p>
          <a:p>
            <a:pPr>
              <a:spcAft>
                <a:spcPts val="0"/>
              </a:spcAft>
              <a:defRPr sz="900">
                <a:solidFill>
                  <a:srgbClr val="F5F5F5"/>
                </a:solidFill>
                <a:latin typeface="Consolas"/>
              </a:defRPr>
            </a:pPr>
            <a:r>
              <a:t>  assertThrows(DuplicateAttendanceException.class,</a:t>
            </a:r>
          </a:p>
          <a:p>
            <a:pPr>
              <a:spcAft>
                <a:spcPts val="0"/>
              </a:spcAft>
              <a:defRPr sz="900">
                <a:solidFill>
                  <a:srgbClr val="F5F5F5"/>
                </a:solidFill>
                <a:latin typeface="Consolas"/>
              </a:defRPr>
            </a:pPr>
            <a:r>
              <a:t>      () -&gt; service.markAttendance(request, "FAC001"));</a:t>
            </a:r>
          </a:p>
          <a:p>
            <a:pPr>
              <a:spcAft>
                <a:spcPts val="0"/>
              </a:spcAft>
              <a:defRPr sz="900">
                <a:solidFill>
                  <a:srgbClr val="F5F5F5"/>
                </a:solidFill>
                <a:latin typeface="Consolas"/>
              </a:defRPr>
            </a:pPr>
            <a:r>
              <a:t>}</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Quality</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DAEEF3"/>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Integration Testing the REST API</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Verify request/response behavior</a:t>
            </a:r>
          </a:p>
          <a:p>
            <a:pPr>
              <a:lnSpc>
                <a:spcPct val="105000"/>
              </a:lnSpc>
              <a:spcAft>
                <a:spcPts val="1000"/>
              </a:spcAft>
              <a:defRPr sz="1800">
                <a:solidFill>
                  <a:srgbClr val="404040"/>
                </a:solidFill>
                <a:latin typeface="Aptos"/>
              </a:defRPr>
            </a:pPr>
            <a:r>
              <a:t>Check status codes and error payloads</a:t>
            </a:r>
          </a:p>
          <a:p>
            <a:pPr>
              <a:lnSpc>
                <a:spcPct val="105000"/>
              </a:lnSpc>
              <a:spcAft>
                <a:spcPts val="1000"/>
              </a:spcAft>
              <a:defRPr sz="1800">
                <a:solidFill>
                  <a:srgbClr val="404040"/>
                </a:solidFill>
                <a:latin typeface="Aptos"/>
              </a:defRPr>
            </a:pPr>
            <a:r>
              <a:t>Use test database or containers where possible</a:t>
            </a:r>
          </a:p>
          <a:p>
            <a:pPr>
              <a:lnSpc>
                <a:spcPct val="105000"/>
              </a:lnSpc>
              <a:spcAft>
                <a:spcPts val="1000"/>
              </a:spcAft>
              <a:defRPr sz="1800">
                <a:solidFill>
                  <a:srgbClr val="404040"/>
                </a:solidFill>
                <a:latin typeface="Aptos"/>
              </a:defRPr>
            </a:pPr>
            <a:r>
              <a:t>Run in CI for every commit</a:t>
            </a:r>
          </a:p>
        </p:txBody>
      </p:sp>
      <p:sp>
        <p:nvSpPr>
          <p:cNvPr id="5" name="Rounded Rectangle 4"/>
          <p:cNvSpPr/>
          <p:nvPr/>
        </p:nvSpPr>
        <p:spPr>
          <a:xfrm>
            <a:off x="6446520" y="1554480"/>
            <a:ext cx="5074920" cy="685800"/>
          </a:xfrm>
          <a:prstGeom prst="round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08B8B"/>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Quality</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AEEF3"/>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End-to-End Testing with Playwright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Validate the actual user path</a:t>
            </a:r>
          </a:p>
          <a:p>
            <a:pPr>
              <a:lnSpc>
                <a:spcPct val="105000"/>
              </a:lnSpc>
              <a:spcAft>
                <a:spcPts val="1000"/>
              </a:spcAft>
              <a:defRPr sz="1800">
                <a:solidFill>
                  <a:srgbClr val="404040"/>
                </a:solidFill>
                <a:latin typeface="Aptos"/>
              </a:defRPr>
            </a:pPr>
            <a:r>
              <a:t>Useful for smoke tests after deployment</a:t>
            </a:r>
          </a:p>
          <a:p>
            <a:pPr>
              <a:lnSpc>
                <a:spcPct val="105000"/>
              </a:lnSpc>
              <a:spcAft>
                <a:spcPts val="1000"/>
              </a:spcAft>
              <a:defRPr sz="1800">
                <a:solidFill>
                  <a:srgbClr val="404040"/>
                </a:solidFill>
                <a:latin typeface="Aptos"/>
              </a:defRPr>
            </a:pPr>
            <a:r>
              <a:t>Keep E2E tests few and high-value</a:t>
            </a:r>
          </a:p>
          <a:p>
            <a:pPr>
              <a:lnSpc>
                <a:spcPct val="105000"/>
              </a:lnSpc>
              <a:spcAft>
                <a:spcPts val="1000"/>
              </a:spcAft>
              <a:defRPr sz="1800">
                <a:solidFill>
                  <a:srgbClr val="404040"/>
                </a:solidFill>
                <a:latin typeface="Aptos"/>
              </a:defRPr>
            </a:pPr>
            <a:r>
              <a:t>Avoid duplicating every unit test in UI automation</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900">
                <a:solidFill>
                  <a:srgbClr val="F5F5F5"/>
                </a:solidFill>
                <a:latin typeface="Consolas"/>
              </a:defRPr>
            </a:pPr>
            <a:r>
              <a:t>test('faculty can mark attendance', async ({ page }) =&gt; {</a:t>
            </a:r>
          </a:p>
          <a:p>
            <a:pPr>
              <a:spcAft>
                <a:spcPts val="0"/>
              </a:spcAft>
              <a:defRPr sz="900">
                <a:solidFill>
                  <a:srgbClr val="F5F5F5"/>
                </a:solidFill>
                <a:latin typeface="Consolas"/>
              </a:defRPr>
            </a:pPr>
            <a:r>
              <a:t>  await page.goto('/attendance');</a:t>
            </a:r>
          </a:p>
          <a:p>
            <a:pPr>
              <a:spcAft>
                <a:spcPts val="0"/>
              </a:spcAft>
              <a:defRPr sz="900">
                <a:solidFill>
                  <a:srgbClr val="F5F5F5"/>
                </a:solidFill>
                <a:latin typeface="Consolas"/>
              </a:defRPr>
            </a:pPr>
            <a:r>
              <a:t>  await page.selectOption('#course', 'CS101');</a:t>
            </a:r>
          </a:p>
          <a:p>
            <a:pPr>
              <a:spcAft>
                <a:spcPts val="0"/>
              </a:spcAft>
              <a:defRPr sz="900">
                <a:solidFill>
                  <a:srgbClr val="F5F5F5"/>
                </a:solidFill>
                <a:latin typeface="Consolas"/>
              </a:defRPr>
            </a:pPr>
            <a:r>
              <a:t>  await page.getByText('Asha Rao').click();</a:t>
            </a:r>
          </a:p>
          <a:p>
            <a:pPr>
              <a:spcAft>
                <a:spcPts val="0"/>
              </a:spcAft>
              <a:defRPr sz="900">
                <a:solidFill>
                  <a:srgbClr val="F5F5F5"/>
                </a:solidFill>
                <a:latin typeface="Consolas"/>
              </a:defRPr>
            </a:pPr>
            <a:r>
              <a:t>  await page.getByRole('button', { name: 'Mark Present' }).click();</a:t>
            </a:r>
          </a:p>
          <a:p>
            <a:pPr>
              <a:spcAft>
                <a:spcPts val="0"/>
              </a:spcAft>
              <a:defRPr sz="900">
                <a:solidFill>
                  <a:srgbClr val="F5F5F5"/>
                </a:solidFill>
                <a:latin typeface="Consolas"/>
              </a:defRPr>
            </a:pPr>
            <a:r>
              <a:t>  await expect(page.getByText('Attendance saved')).toBeVisible();</a:t>
            </a:r>
          </a:p>
          <a:p>
            <a:pPr>
              <a:spcAft>
                <a:spcPts val="0"/>
              </a:spcAft>
              <a:defRPr sz="900">
                <a:solidFill>
                  <a:srgbClr val="F5F5F5"/>
                </a:solidFill>
                <a:latin typeface="Consolas"/>
              </a:defRPr>
            </a:pPr>
            <a:r>
              <a:t>});</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Quality</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DAEEF3"/>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Validation Matrix</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Requirements validation: do we build the right thing?</a:t>
            </a:r>
          </a:p>
          <a:p>
            <a:pPr>
              <a:lnSpc>
                <a:spcPct val="105000"/>
              </a:lnSpc>
              <a:spcAft>
                <a:spcPts val="1000"/>
              </a:spcAft>
              <a:defRPr sz="1800">
                <a:solidFill>
                  <a:srgbClr val="404040"/>
                </a:solidFill>
                <a:latin typeface="Aptos"/>
              </a:defRPr>
            </a:pPr>
            <a:r>
              <a:t>Functional validation: does the feature work?</a:t>
            </a:r>
          </a:p>
          <a:p>
            <a:pPr>
              <a:lnSpc>
                <a:spcPct val="105000"/>
              </a:lnSpc>
              <a:spcAft>
                <a:spcPts val="1000"/>
              </a:spcAft>
              <a:defRPr sz="1800">
                <a:solidFill>
                  <a:srgbClr val="404040"/>
                </a:solidFill>
                <a:latin typeface="Aptos"/>
              </a:defRPr>
            </a:pPr>
            <a:r>
              <a:t>Security validation: is access controlled?</a:t>
            </a:r>
          </a:p>
          <a:p>
            <a:pPr>
              <a:lnSpc>
                <a:spcPct val="105000"/>
              </a:lnSpc>
              <a:spcAft>
                <a:spcPts val="1000"/>
              </a:spcAft>
              <a:defRPr sz="1800">
                <a:solidFill>
                  <a:srgbClr val="404040"/>
                </a:solidFill>
                <a:latin typeface="Aptos"/>
              </a:defRPr>
            </a:pPr>
            <a:r>
              <a:t>Operational validation: does it deploy and run?</a:t>
            </a:r>
          </a:p>
        </p:txBody>
      </p:sp>
      <p:sp>
        <p:nvSpPr>
          <p:cNvPr id="5" name="Rounded Rectangle 4"/>
          <p:cNvSpPr/>
          <p:nvPr/>
        </p:nvSpPr>
        <p:spPr>
          <a:xfrm>
            <a:off x="6446520" y="1554480"/>
            <a:ext cx="5074920" cy="685800"/>
          </a:xfrm>
          <a:prstGeom prst="round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08B8B"/>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Quality</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E4D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Security in AI-Generated Software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Generated code can include insecure defaults</a:t>
            </a:r>
          </a:p>
          <a:p>
            <a:pPr>
              <a:lnSpc>
                <a:spcPct val="105000"/>
              </a:lnSpc>
              <a:spcAft>
                <a:spcPts val="1000"/>
              </a:spcAft>
              <a:defRPr sz="1800">
                <a:solidFill>
                  <a:srgbClr val="404040"/>
                </a:solidFill>
                <a:latin typeface="Aptos"/>
              </a:defRPr>
            </a:pPr>
            <a:r>
              <a:t>Do not expose secrets in prompts or repositories</a:t>
            </a:r>
          </a:p>
          <a:p>
            <a:pPr>
              <a:lnSpc>
                <a:spcPct val="105000"/>
              </a:lnSpc>
              <a:spcAft>
                <a:spcPts val="1000"/>
              </a:spcAft>
              <a:defRPr sz="1800">
                <a:solidFill>
                  <a:srgbClr val="404040"/>
                </a:solidFill>
                <a:latin typeface="Aptos"/>
              </a:defRPr>
            </a:pPr>
            <a:r>
              <a:t>Verify authentication and authorization paths</a:t>
            </a:r>
          </a:p>
          <a:p>
            <a:pPr>
              <a:lnSpc>
                <a:spcPct val="105000"/>
              </a:lnSpc>
              <a:spcAft>
                <a:spcPts val="1000"/>
              </a:spcAft>
              <a:defRPr sz="1800">
                <a:solidFill>
                  <a:srgbClr val="404040"/>
                </a:solidFill>
                <a:latin typeface="Aptos"/>
              </a:defRPr>
            </a:pPr>
            <a:r>
              <a:t>Scan dependencies and container images</a:t>
            </a:r>
          </a:p>
        </p:txBody>
      </p:sp>
      <p:sp>
        <p:nvSpPr>
          <p:cNvPr id="5" name="Rounded Rectangle 4"/>
          <p:cNvSpPr/>
          <p:nvPr/>
        </p:nvSpPr>
        <p:spPr>
          <a:xfrm>
            <a:off x="6446520" y="1554480"/>
            <a:ext cx="5074920" cy="685800"/>
          </a:xfrm>
          <a:prstGeom prst="roundRect">
            <a:avLst/>
          </a:prstGeom>
          <a:solidFill>
            <a:srgbClr val="FFFFFF"/>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C00000"/>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Security</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CE4D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OWASP-Oriented Review Checklist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Broken access control: check role boundaries</a:t>
            </a:r>
          </a:p>
          <a:p>
            <a:pPr>
              <a:lnSpc>
                <a:spcPct val="105000"/>
              </a:lnSpc>
              <a:spcAft>
                <a:spcPts val="1000"/>
              </a:spcAft>
              <a:defRPr sz="1800">
                <a:solidFill>
                  <a:srgbClr val="404040"/>
                </a:solidFill>
                <a:latin typeface="Aptos"/>
              </a:defRPr>
            </a:pPr>
            <a:r>
              <a:t>Injection: use parameterized access and validation</a:t>
            </a:r>
          </a:p>
          <a:p>
            <a:pPr>
              <a:lnSpc>
                <a:spcPct val="105000"/>
              </a:lnSpc>
              <a:spcAft>
                <a:spcPts val="1000"/>
              </a:spcAft>
              <a:defRPr sz="1800">
                <a:solidFill>
                  <a:srgbClr val="404040"/>
                </a:solidFill>
                <a:latin typeface="Aptos"/>
              </a:defRPr>
            </a:pPr>
            <a:r>
              <a:t>Security misconfiguration: avoid permissive defaults</a:t>
            </a:r>
          </a:p>
          <a:p>
            <a:pPr>
              <a:lnSpc>
                <a:spcPct val="105000"/>
              </a:lnSpc>
              <a:spcAft>
                <a:spcPts val="1000"/>
              </a:spcAft>
              <a:defRPr sz="1800">
                <a:solidFill>
                  <a:srgbClr val="404040"/>
                </a:solidFill>
                <a:latin typeface="Aptos"/>
              </a:defRPr>
            </a:pPr>
            <a:r>
              <a:t>Vulnerable dependencies: scan continuously</a:t>
            </a:r>
          </a:p>
        </p:txBody>
      </p:sp>
      <p:sp>
        <p:nvSpPr>
          <p:cNvPr id="5" name="Rounded Rectangle 4"/>
          <p:cNvSpPr/>
          <p:nvPr/>
        </p:nvSpPr>
        <p:spPr>
          <a:xfrm>
            <a:off x="6446520" y="1554480"/>
            <a:ext cx="5074920" cy="685800"/>
          </a:xfrm>
          <a:prstGeom prst="roundRect">
            <a:avLst/>
          </a:prstGeom>
          <a:solidFill>
            <a:srgbClr val="FFFFFF"/>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C00000"/>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Security</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E4D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Threat Modeling the Attendance Feature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Asset: attendance records and audit history</a:t>
            </a:r>
          </a:p>
          <a:p>
            <a:pPr>
              <a:lnSpc>
                <a:spcPct val="105000"/>
              </a:lnSpc>
              <a:spcAft>
                <a:spcPts val="1000"/>
              </a:spcAft>
              <a:defRPr sz="1800">
                <a:solidFill>
                  <a:srgbClr val="404040"/>
                </a:solidFill>
                <a:latin typeface="Aptos"/>
              </a:defRPr>
            </a:pPr>
            <a:r>
              <a:t>Threat: unauthorized update or report access</a:t>
            </a:r>
          </a:p>
          <a:p>
            <a:pPr>
              <a:lnSpc>
                <a:spcPct val="105000"/>
              </a:lnSpc>
              <a:spcAft>
                <a:spcPts val="1000"/>
              </a:spcAft>
              <a:defRPr sz="1800">
                <a:solidFill>
                  <a:srgbClr val="404040"/>
                </a:solidFill>
                <a:latin typeface="Aptos"/>
              </a:defRPr>
            </a:pPr>
            <a:r>
              <a:t>Control: role-based authorization and audit logging</a:t>
            </a:r>
          </a:p>
          <a:p>
            <a:pPr>
              <a:lnSpc>
                <a:spcPct val="105000"/>
              </a:lnSpc>
              <a:spcAft>
                <a:spcPts val="1000"/>
              </a:spcAft>
              <a:defRPr sz="1800">
                <a:solidFill>
                  <a:srgbClr val="404040"/>
                </a:solidFill>
                <a:latin typeface="Aptos"/>
              </a:defRPr>
            </a:pPr>
            <a:r>
              <a:t>Evidence: tests and security scan results</a:t>
            </a:r>
          </a:p>
        </p:txBody>
      </p:sp>
      <p:sp>
        <p:nvSpPr>
          <p:cNvPr id="5" name="Rounded Rectangle 4"/>
          <p:cNvSpPr/>
          <p:nvPr/>
        </p:nvSpPr>
        <p:spPr>
          <a:xfrm>
            <a:off x="6446520" y="1554480"/>
            <a:ext cx="5074920" cy="685800"/>
          </a:xfrm>
          <a:prstGeom prst="roundRect">
            <a:avLst/>
          </a:prstGeom>
          <a:solidFill>
            <a:srgbClr val="FFFFFF"/>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C00000"/>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Security</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CE4D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Important Security Code: Method-Level Authorization</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Protect sensitive operations at service/API layer</a:t>
            </a:r>
          </a:p>
          <a:p>
            <a:pPr>
              <a:lnSpc>
                <a:spcPct val="105000"/>
              </a:lnSpc>
              <a:spcAft>
                <a:spcPts val="1000"/>
              </a:spcAft>
              <a:defRPr sz="1800">
                <a:solidFill>
                  <a:srgbClr val="404040"/>
                </a:solidFill>
                <a:latin typeface="Aptos"/>
              </a:defRPr>
            </a:pPr>
            <a:r>
              <a:t>Use roles and ownership checks</a:t>
            </a:r>
          </a:p>
          <a:p>
            <a:pPr>
              <a:lnSpc>
                <a:spcPct val="105000"/>
              </a:lnSpc>
              <a:spcAft>
                <a:spcPts val="1000"/>
              </a:spcAft>
              <a:defRPr sz="1800">
                <a:solidFill>
                  <a:srgbClr val="404040"/>
                </a:solidFill>
                <a:latin typeface="Aptos"/>
              </a:defRPr>
            </a:pPr>
            <a:r>
              <a:t>Do not rely only on UI hiding buttons</a:t>
            </a:r>
          </a:p>
          <a:p>
            <a:pPr>
              <a:lnSpc>
                <a:spcPct val="105000"/>
              </a:lnSpc>
              <a:spcAft>
                <a:spcPts val="1000"/>
              </a:spcAft>
              <a:defRPr sz="1800">
                <a:solidFill>
                  <a:srgbClr val="404040"/>
                </a:solidFill>
                <a:latin typeface="Aptos"/>
              </a:defRPr>
            </a:pPr>
            <a:r>
              <a:t>Test both allowed and denied paths</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900">
                <a:solidFill>
                  <a:srgbClr val="F5F5F5"/>
                </a:solidFill>
                <a:latin typeface="Consolas"/>
              </a:defRPr>
            </a:pPr>
            <a:r>
              <a:t>@PreAuthorize("hasRole('FACULTY')")</a:t>
            </a:r>
          </a:p>
          <a:p>
            <a:pPr>
              <a:spcAft>
                <a:spcPts val="0"/>
              </a:spcAft>
              <a:defRPr sz="900">
                <a:solidFill>
                  <a:srgbClr val="F5F5F5"/>
                </a:solidFill>
                <a:latin typeface="Consolas"/>
              </a:defRPr>
            </a:pPr>
            <a:r>
              <a:t>@PostMapping("/api/attendance")</a:t>
            </a:r>
          </a:p>
          <a:p>
            <a:pPr>
              <a:spcAft>
                <a:spcPts val="0"/>
              </a:spcAft>
              <a:defRPr sz="900">
                <a:solidFill>
                  <a:srgbClr val="F5F5F5"/>
                </a:solidFill>
                <a:latin typeface="Consolas"/>
              </a:defRPr>
            </a:pPr>
            <a:r>
              <a:t>public ResponseEntity&lt;AttendanceResponse&gt; mark(@RequestBody MarkAttendanceRequest req) {</a:t>
            </a:r>
          </a:p>
          <a:p>
            <a:pPr>
              <a:spcAft>
                <a:spcPts val="0"/>
              </a:spcAft>
              <a:defRPr sz="900">
                <a:solidFill>
                  <a:srgbClr val="F5F5F5"/>
                </a:solidFill>
                <a:latin typeface="Consolas"/>
              </a:defRPr>
            </a:pPr>
            <a:r>
              <a:t>  // Service also verifies course ownership.</a:t>
            </a:r>
          </a:p>
          <a:p>
            <a:pPr>
              <a:spcAft>
                <a:spcPts val="0"/>
              </a:spcAft>
              <a:defRPr sz="900">
                <a:solidFill>
                  <a:srgbClr val="F5F5F5"/>
                </a:solidFill>
                <a:latin typeface="Consolas"/>
              </a:defRPr>
            </a:pPr>
            <a:r>
              <a:t>  return ResponseEntity.status(HttpStatus.CREATED).body(service.markAttendance(req));</a:t>
            </a:r>
          </a:p>
          <a:p>
            <a:pPr>
              <a:spcAft>
                <a:spcPts val="0"/>
              </a:spcAft>
              <a:defRPr sz="900">
                <a:solidFill>
                  <a:srgbClr val="F5F5F5"/>
                </a:solidFill>
                <a:latin typeface="Consolas"/>
              </a:defRPr>
            </a:pPr>
            <a:r>
              <a:t>}</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Security</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E4D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Secrets and Data Handling</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Never paste secrets, tokens or private student data into prompts</a:t>
            </a:r>
          </a:p>
          <a:p>
            <a:pPr>
              <a:lnSpc>
                <a:spcPct val="105000"/>
              </a:lnSpc>
              <a:spcAft>
                <a:spcPts val="1000"/>
              </a:spcAft>
              <a:defRPr sz="1800">
                <a:solidFill>
                  <a:srgbClr val="404040"/>
                </a:solidFill>
                <a:latin typeface="Aptos"/>
              </a:defRPr>
            </a:pPr>
            <a:r>
              <a:t>Use environment variables or secret managers</a:t>
            </a:r>
          </a:p>
          <a:p>
            <a:pPr>
              <a:lnSpc>
                <a:spcPct val="105000"/>
              </a:lnSpc>
              <a:spcAft>
                <a:spcPts val="1000"/>
              </a:spcAft>
              <a:defRPr sz="1800">
                <a:solidFill>
                  <a:srgbClr val="404040"/>
                </a:solidFill>
                <a:latin typeface="Aptos"/>
              </a:defRPr>
            </a:pPr>
            <a:r>
              <a:t>Mask logs and error messages</a:t>
            </a:r>
          </a:p>
          <a:p>
            <a:pPr>
              <a:lnSpc>
                <a:spcPct val="105000"/>
              </a:lnSpc>
              <a:spcAft>
                <a:spcPts val="1000"/>
              </a:spcAft>
              <a:defRPr sz="1800">
                <a:solidFill>
                  <a:srgbClr val="404040"/>
                </a:solidFill>
                <a:latin typeface="Aptos"/>
              </a:defRPr>
            </a:pPr>
            <a:r>
              <a:t>Use synthetic data in classroom labs</a:t>
            </a:r>
          </a:p>
        </p:txBody>
      </p:sp>
      <p:sp>
        <p:nvSpPr>
          <p:cNvPr id="5" name="Rounded Rectangle 4"/>
          <p:cNvSpPr/>
          <p:nvPr/>
        </p:nvSpPr>
        <p:spPr>
          <a:xfrm>
            <a:off x="6446520" y="1554480"/>
            <a:ext cx="5074920" cy="685800"/>
          </a:xfrm>
          <a:prstGeom prst="roundRect">
            <a:avLst/>
          </a:prstGeom>
          <a:solidFill>
            <a:srgbClr val="FFFFFF"/>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C00000"/>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Security</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CI/CD Integration Overview</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Every push should build, test and scan</a:t>
            </a:r>
          </a:p>
          <a:p>
            <a:pPr>
              <a:lnSpc>
                <a:spcPct val="105000"/>
              </a:lnSpc>
              <a:spcAft>
                <a:spcPts val="1000"/>
              </a:spcAft>
              <a:defRPr sz="1800">
                <a:solidFill>
                  <a:srgbClr val="404040"/>
                </a:solidFill>
                <a:latin typeface="Aptos"/>
              </a:defRPr>
            </a:pPr>
            <a:r>
              <a:t>Pipeline should fail on critical quality gates</a:t>
            </a:r>
          </a:p>
          <a:p>
            <a:pPr>
              <a:lnSpc>
                <a:spcPct val="105000"/>
              </a:lnSpc>
              <a:spcAft>
                <a:spcPts val="1000"/>
              </a:spcAft>
              <a:defRPr sz="1800">
                <a:solidFill>
                  <a:srgbClr val="404040"/>
                </a:solidFill>
                <a:latin typeface="Aptos"/>
              </a:defRPr>
            </a:pPr>
            <a:r>
              <a:t>Deployment should be repeatable and observable</a:t>
            </a:r>
          </a:p>
          <a:p>
            <a:pPr>
              <a:lnSpc>
                <a:spcPct val="105000"/>
              </a:lnSpc>
              <a:spcAft>
                <a:spcPts val="1000"/>
              </a:spcAft>
              <a:defRPr sz="1800">
                <a:solidFill>
                  <a:srgbClr val="404040"/>
                </a:solidFill>
                <a:latin typeface="Aptos"/>
              </a:defRPr>
            </a:pPr>
            <a:r>
              <a:t>Rollback path must be planned</a:t>
            </a:r>
          </a:p>
        </p:txBody>
      </p:sp>
      <p:sp>
        <p:nvSpPr>
          <p:cNvPr id="5" name="Rounded Rectangle 4"/>
          <p:cNvSpPr/>
          <p:nvPr/>
        </p:nvSpPr>
        <p:spPr>
          <a:xfrm>
            <a:off x="62179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Commit</a:t>
            </a:r>
          </a:p>
        </p:txBody>
      </p:sp>
      <p:cxnSp>
        <p:nvCxnSpPr>
          <p:cNvPr id="6" name="Connector 5"/>
          <p:cNvCxnSpPr/>
          <p:nvPr/>
        </p:nvCxnSpPr>
        <p:spPr>
          <a:xfrm>
            <a:off x="6995159" y="1929384"/>
            <a:ext cx="137161"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1323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Build</a:t>
            </a:r>
          </a:p>
        </p:txBody>
      </p:sp>
      <p:cxnSp>
        <p:nvCxnSpPr>
          <p:cNvPr id="8" name="Connector 7"/>
          <p:cNvCxnSpPr/>
          <p:nvPr/>
        </p:nvCxnSpPr>
        <p:spPr>
          <a:xfrm>
            <a:off x="79095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467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Unit</a:t>
            </a:r>
            <a:br/>
            <a:r>
              <a:t>Tests</a:t>
            </a:r>
          </a:p>
        </p:txBody>
      </p:sp>
      <p:cxnSp>
        <p:nvCxnSpPr>
          <p:cNvPr id="10" name="Connector 9"/>
          <p:cNvCxnSpPr/>
          <p:nvPr/>
        </p:nvCxnSpPr>
        <p:spPr>
          <a:xfrm>
            <a:off x="88239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611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SAST</a:t>
            </a:r>
          </a:p>
        </p:txBody>
      </p:sp>
      <p:cxnSp>
        <p:nvCxnSpPr>
          <p:cNvPr id="12" name="Connector 11"/>
          <p:cNvCxnSpPr/>
          <p:nvPr/>
        </p:nvCxnSpPr>
        <p:spPr>
          <a:xfrm>
            <a:off x="97383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8755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Docker</a:t>
            </a:r>
            <a:br/>
            <a:r>
              <a:t>Image</a:t>
            </a:r>
          </a:p>
        </p:txBody>
      </p:sp>
      <p:cxnSp>
        <p:nvCxnSpPr>
          <p:cNvPr id="14" name="Connector 13"/>
          <p:cNvCxnSpPr/>
          <p:nvPr/>
        </p:nvCxnSpPr>
        <p:spPr>
          <a:xfrm>
            <a:off x="106527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7899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Deploy</a:t>
            </a:r>
          </a:p>
        </p:txBody>
      </p:sp>
      <p:cxnSp>
        <p:nvCxnSpPr>
          <p:cNvPr id="16" name="Connector 15"/>
          <p:cNvCxnSpPr/>
          <p:nvPr/>
        </p:nvCxnSpPr>
        <p:spPr>
          <a:xfrm>
            <a:off x="115671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77295"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Smoke</a:t>
            </a:r>
            <a:br/>
            <a:r>
              <a:t>Tests</a:t>
            </a:r>
          </a:p>
        </p:txBody>
      </p:sp>
      <p:sp>
        <p:nvSpPr>
          <p:cNvPr id="18" name="Rounded Rectangle 17"/>
          <p:cNvSpPr/>
          <p:nvPr/>
        </p:nvSpPr>
        <p:spPr>
          <a:xfrm>
            <a:off x="6446520" y="2788920"/>
            <a:ext cx="4983480" cy="594360"/>
          </a:xfrm>
          <a:prstGeom prst="roundRect">
            <a:avLst/>
          </a:prstGeom>
          <a:solidFill>
            <a:srgbClr val="FFF2CC"/>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Quality gates: coverage, vulnerabilities, linting, performance budget</a:t>
            </a:r>
          </a:p>
        </p:txBody>
      </p:sp>
      <p:sp>
        <p:nvSpPr>
          <p:cNvPr id="19" name="Rounded Rectangle 18"/>
          <p:cNvSpPr/>
          <p:nvPr/>
        </p:nvSpPr>
        <p:spPr>
          <a:xfrm>
            <a:off x="6446520" y="3703320"/>
            <a:ext cx="4983480" cy="594360"/>
          </a:xfrm>
          <a:prstGeom prst="roundRect">
            <a:avLst/>
          </a:prstGeom>
          <a:solidFill>
            <a:srgbClr val="E2EFDA"/>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Release strategy: staging → approval → production → rollback plan</a:t>
            </a:r>
          </a:p>
        </p:txBody>
      </p:sp>
      <p:sp>
        <p:nvSpPr>
          <p:cNvPr id="20" name="Rectangle 19"/>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DevOps</a:t>
            </a:r>
          </a:p>
        </p:txBody>
      </p:sp>
      <p:sp>
        <p:nvSpPr>
          <p:cNvPr id="22" name="TextBox 21"/>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Expanded CI/CD Stages for the Lab</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Build backend and frontend</a:t>
            </a:r>
          </a:p>
          <a:p>
            <a:pPr>
              <a:lnSpc>
                <a:spcPct val="105000"/>
              </a:lnSpc>
              <a:spcAft>
                <a:spcPts val="1000"/>
              </a:spcAft>
              <a:defRPr sz="1800">
                <a:solidFill>
                  <a:srgbClr val="404040"/>
                </a:solidFill>
                <a:latin typeface="Aptos"/>
              </a:defRPr>
            </a:pPr>
            <a:r>
              <a:t>Run unit, integration and API tests</a:t>
            </a:r>
          </a:p>
          <a:p>
            <a:pPr>
              <a:lnSpc>
                <a:spcPct val="105000"/>
              </a:lnSpc>
              <a:spcAft>
                <a:spcPts val="1000"/>
              </a:spcAft>
              <a:defRPr sz="1800">
                <a:solidFill>
                  <a:srgbClr val="404040"/>
                </a:solidFill>
                <a:latin typeface="Aptos"/>
              </a:defRPr>
            </a:pPr>
            <a:r>
              <a:t>Run linting, SAST and dependency scanning</a:t>
            </a:r>
          </a:p>
          <a:p>
            <a:pPr>
              <a:lnSpc>
                <a:spcPct val="105000"/>
              </a:lnSpc>
              <a:spcAft>
                <a:spcPts val="1000"/>
              </a:spcAft>
              <a:defRPr sz="1800">
                <a:solidFill>
                  <a:srgbClr val="404040"/>
                </a:solidFill>
                <a:latin typeface="Aptos"/>
              </a:defRPr>
            </a:pPr>
            <a:r>
              <a:t>Build container image and deploy to staging</a:t>
            </a:r>
          </a:p>
        </p:txBody>
      </p:sp>
      <p:sp>
        <p:nvSpPr>
          <p:cNvPr id="5" name="Rounded Rectangle 4"/>
          <p:cNvSpPr/>
          <p:nvPr/>
        </p:nvSpPr>
        <p:spPr>
          <a:xfrm>
            <a:off x="62179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Commit</a:t>
            </a:r>
          </a:p>
        </p:txBody>
      </p:sp>
      <p:cxnSp>
        <p:nvCxnSpPr>
          <p:cNvPr id="6" name="Connector 5"/>
          <p:cNvCxnSpPr/>
          <p:nvPr/>
        </p:nvCxnSpPr>
        <p:spPr>
          <a:xfrm>
            <a:off x="6995159" y="1929384"/>
            <a:ext cx="137161"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1323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Build</a:t>
            </a:r>
          </a:p>
        </p:txBody>
      </p:sp>
      <p:cxnSp>
        <p:nvCxnSpPr>
          <p:cNvPr id="8" name="Connector 7"/>
          <p:cNvCxnSpPr/>
          <p:nvPr/>
        </p:nvCxnSpPr>
        <p:spPr>
          <a:xfrm>
            <a:off x="79095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467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Unit</a:t>
            </a:r>
            <a:br/>
            <a:r>
              <a:t>Tests</a:t>
            </a:r>
          </a:p>
        </p:txBody>
      </p:sp>
      <p:cxnSp>
        <p:nvCxnSpPr>
          <p:cNvPr id="10" name="Connector 9"/>
          <p:cNvCxnSpPr/>
          <p:nvPr/>
        </p:nvCxnSpPr>
        <p:spPr>
          <a:xfrm>
            <a:off x="88239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611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SAST</a:t>
            </a:r>
          </a:p>
        </p:txBody>
      </p:sp>
      <p:cxnSp>
        <p:nvCxnSpPr>
          <p:cNvPr id="12" name="Connector 11"/>
          <p:cNvCxnSpPr/>
          <p:nvPr/>
        </p:nvCxnSpPr>
        <p:spPr>
          <a:xfrm>
            <a:off x="97383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8755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Docker</a:t>
            </a:r>
            <a:br/>
            <a:r>
              <a:t>Image</a:t>
            </a:r>
          </a:p>
        </p:txBody>
      </p:sp>
      <p:cxnSp>
        <p:nvCxnSpPr>
          <p:cNvPr id="14" name="Connector 13"/>
          <p:cNvCxnSpPr/>
          <p:nvPr/>
        </p:nvCxnSpPr>
        <p:spPr>
          <a:xfrm>
            <a:off x="106527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7899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Deploy</a:t>
            </a:r>
          </a:p>
        </p:txBody>
      </p:sp>
      <p:cxnSp>
        <p:nvCxnSpPr>
          <p:cNvPr id="16" name="Connector 15"/>
          <p:cNvCxnSpPr/>
          <p:nvPr/>
        </p:nvCxnSpPr>
        <p:spPr>
          <a:xfrm>
            <a:off x="115671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77295"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Smoke</a:t>
            </a:r>
            <a:br/>
            <a:r>
              <a:t>Tests</a:t>
            </a:r>
          </a:p>
        </p:txBody>
      </p:sp>
      <p:sp>
        <p:nvSpPr>
          <p:cNvPr id="18" name="Rounded Rectangle 17"/>
          <p:cNvSpPr/>
          <p:nvPr/>
        </p:nvSpPr>
        <p:spPr>
          <a:xfrm>
            <a:off x="6446520" y="2788920"/>
            <a:ext cx="4983480" cy="594360"/>
          </a:xfrm>
          <a:prstGeom prst="roundRect">
            <a:avLst/>
          </a:prstGeom>
          <a:solidFill>
            <a:srgbClr val="FFF2CC"/>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Quality gates: coverage, vulnerabilities, linting, performance budget</a:t>
            </a:r>
          </a:p>
        </p:txBody>
      </p:sp>
      <p:sp>
        <p:nvSpPr>
          <p:cNvPr id="19" name="Rounded Rectangle 18"/>
          <p:cNvSpPr/>
          <p:nvPr/>
        </p:nvSpPr>
        <p:spPr>
          <a:xfrm>
            <a:off x="6446520" y="3703320"/>
            <a:ext cx="4983480" cy="594360"/>
          </a:xfrm>
          <a:prstGeom prst="roundRect">
            <a:avLst/>
          </a:prstGeom>
          <a:solidFill>
            <a:srgbClr val="E2EFDA"/>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Release strategy: staging → approval → production → rollback plan</a:t>
            </a:r>
          </a:p>
        </p:txBody>
      </p:sp>
      <p:sp>
        <p:nvSpPr>
          <p:cNvPr id="20" name="Rectangle 19"/>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DevOps</a:t>
            </a:r>
          </a:p>
        </p:txBody>
      </p:sp>
      <p:sp>
        <p:nvSpPr>
          <p:cNvPr id="22" name="TextBox 21"/>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Important CI/CD Code: GitHub Actions Pipeline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Minimal pipeline for build, test and package</a:t>
            </a:r>
          </a:p>
          <a:p>
            <a:pPr>
              <a:lnSpc>
                <a:spcPct val="105000"/>
              </a:lnSpc>
              <a:spcAft>
                <a:spcPts val="1000"/>
              </a:spcAft>
              <a:defRPr sz="1800">
                <a:solidFill>
                  <a:srgbClr val="404040"/>
                </a:solidFill>
                <a:latin typeface="Aptos"/>
              </a:defRPr>
            </a:pPr>
            <a:r>
              <a:t>Can be extended with SonarQube, Trivy and deployment</a:t>
            </a:r>
          </a:p>
          <a:p>
            <a:pPr>
              <a:lnSpc>
                <a:spcPct val="105000"/>
              </a:lnSpc>
              <a:spcAft>
                <a:spcPts val="1000"/>
              </a:spcAft>
              <a:defRPr sz="1800">
                <a:solidFill>
                  <a:srgbClr val="404040"/>
                </a:solidFill>
                <a:latin typeface="Aptos"/>
              </a:defRPr>
            </a:pPr>
            <a:r>
              <a:t>Good classroom artifact because YAML is readable</a:t>
            </a:r>
          </a:p>
          <a:p>
            <a:pPr>
              <a:lnSpc>
                <a:spcPct val="105000"/>
              </a:lnSpc>
              <a:spcAft>
                <a:spcPts val="1000"/>
              </a:spcAft>
              <a:defRPr sz="1800">
                <a:solidFill>
                  <a:srgbClr val="404040"/>
                </a:solidFill>
                <a:latin typeface="Aptos"/>
              </a:defRPr>
            </a:pPr>
            <a:r>
              <a:t>Students can modify gates as an exercise</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850">
                <a:solidFill>
                  <a:srgbClr val="F5F5F5"/>
                </a:solidFill>
                <a:latin typeface="Consolas"/>
              </a:defRPr>
            </a:pPr>
            <a:r>
              <a:t>name: ai-native-ci</a:t>
            </a:r>
          </a:p>
          <a:p>
            <a:pPr>
              <a:spcAft>
                <a:spcPts val="0"/>
              </a:spcAft>
              <a:defRPr sz="850">
                <a:solidFill>
                  <a:srgbClr val="F5F5F5"/>
                </a:solidFill>
                <a:latin typeface="Consolas"/>
              </a:defRPr>
            </a:pPr>
            <a:r>
              <a:t>on: [push, pull_request]</a:t>
            </a:r>
          </a:p>
          <a:p>
            <a:pPr>
              <a:spcAft>
                <a:spcPts val="0"/>
              </a:spcAft>
              <a:defRPr sz="850">
                <a:solidFill>
                  <a:srgbClr val="F5F5F5"/>
                </a:solidFill>
                <a:latin typeface="Consolas"/>
              </a:defRPr>
            </a:pPr>
            <a:endParaRPr/>
          </a:p>
          <a:p>
            <a:pPr>
              <a:spcAft>
                <a:spcPts val="0"/>
              </a:spcAft>
              <a:defRPr sz="850">
                <a:solidFill>
                  <a:srgbClr val="F5F5F5"/>
                </a:solidFill>
                <a:latin typeface="Consolas"/>
              </a:defRPr>
            </a:pPr>
            <a:r>
              <a:t>jobs:</a:t>
            </a:r>
          </a:p>
          <a:p>
            <a:pPr>
              <a:spcAft>
                <a:spcPts val="0"/>
              </a:spcAft>
              <a:defRPr sz="850">
                <a:solidFill>
                  <a:srgbClr val="F5F5F5"/>
                </a:solidFill>
                <a:latin typeface="Consolas"/>
              </a:defRPr>
            </a:pPr>
            <a:r>
              <a:t>  build-test-scan:</a:t>
            </a:r>
          </a:p>
          <a:p>
            <a:pPr>
              <a:spcAft>
                <a:spcPts val="0"/>
              </a:spcAft>
              <a:defRPr sz="850">
                <a:solidFill>
                  <a:srgbClr val="F5F5F5"/>
                </a:solidFill>
                <a:latin typeface="Consolas"/>
              </a:defRPr>
            </a:pPr>
            <a:r>
              <a:t>    runs-on: ubuntu-latest</a:t>
            </a:r>
          </a:p>
          <a:p>
            <a:pPr>
              <a:spcAft>
                <a:spcPts val="0"/>
              </a:spcAft>
              <a:defRPr sz="850">
                <a:solidFill>
                  <a:srgbClr val="F5F5F5"/>
                </a:solidFill>
                <a:latin typeface="Consolas"/>
              </a:defRPr>
            </a:pPr>
            <a:r>
              <a:t>    steps:</a:t>
            </a:r>
          </a:p>
          <a:p>
            <a:pPr>
              <a:spcAft>
                <a:spcPts val="0"/>
              </a:spcAft>
              <a:defRPr sz="850">
                <a:solidFill>
                  <a:srgbClr val="F5F5F5"/>
                </a:solidFill>
                <a:latin typeface="Consolas"/>
              </a:defRPr>
            </a:pPr>
            <a:r>
              <a:t>      - uses: actions/checkout@v4</a:t>
            </a:r>
          </a:p>
          <a:p>
            <a:pPr>
              <a:spcAft>
                <a:spcPts val="0"/>
              </a:spcAft>
              <a:defRPr sz="850">
                <a:solidFill>
                  <a:srgbClr val="F5F5F5"/>
                </a:solidFill>
                <a:latin typeface="Consolas"/>
              </a:defRPr>
            </a:pPr>
            <a:r>
              <a:t>      - uses: actions/setup-java@v4</a:t>
            </a:r>
          </a:p>
          <a:p>
            <a:pPr>
              <a:spcAft>
                <a:spcPts val="0"/>
              </a:spcAft>
              <a:defRPr sz="850">
                <a:solidFill>
                  <a:srgbClr val="F5F5F5"/>
                </a:solidFill>
                <a:latin typeface="Consolas"/>
              </a:defRPr>
            </a:pPr>
            <a:r>
              <a:t>        with: { java-version: '21', distribution: 'temurin' }</a:t>
            </a:r>
          </a:p>
          <a:p>
            <a:pPr>
              <a:spcAft>
                <a:spcPts val="0"/>
              </a:spcAft>
              <a:defRPr sz="850">
                <a:solidFill>
                  <a:srgbClr val="F5F5F5"/>
                </a:solidFill>
                <a:latin typeface="Consolas"/>
              </a:defRPr>
            </a:pPr>
            <a:r>
              <a:t>      - run: ./mvnw clean verify</a:t>
            </a:r>
          </a:p>
          <a:p>
            <a:pPr>
              <a:spcAft>
                <a:spcPts val="0"/>
              </a:spcAft>
              <a:defRPr sz="850">
                <a:solidFill>
                  <a:srgbClr val="F5F5F5"/>
                </a:solidFill>
                <a:latin typeface="Consolas"/>
              </a:defRPr>
            </a:pPr>
            <a:r>
              <a:t>      - run: npm ci &amp;&amp; npm test -- --watch=false</a:t>
            </a:r>
          </a:p>
          <a:p>
            <a:pPr>
              <a:spcAft>
                <a:spcPts val="0"/>
              </a:spcAft>
              <a:defRPr sz="850">
                <a:solidFill>
                  <a:srgbClr val="F5F5F5"/>
                </a:solidFill>
                <a:latin typeface="Consolas"/>
              </a:defRPr>
            </a:pPr>
            <a:r>
              <a:t>      - run: docker build -t attendance-app:${{ github.sha }} .</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DevOps</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Docker Packaging</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Container image makes runtime environment repeatable</a:t>
            </a:r>
          </a:p>
          <a:p>
            <a:pPr>
              <a:lnSpc>
                <a:spcPct val="105000"/>
              </a:lnSpc>
              <a:spcAft>
                <a:spcPts val="1000"/>
              </a:spcAft>
              <a:defRPr sz="1800">
                <a:solidFill>
                  <a:srgbClr val="404040"/>
                </a:solidFill>
                <a:latin typeface="Aptos"/>
              </a:defRPr>
            </a:pPr>
            <a:r>
              <a:t>Use slim base images and non-root users where possible</a:t>
            </a:r>
          </a:p>
          <a:p>
            <a:pPr>
              <a:lnSpc>
                <a:spcPct val="105000"/>
              </a:lnSpc>
              <a:spcAft>
                <a:spcPts val="1000"/>
              </a:spcAft>
              <a:defRPr sz="1800">
                <a:solidFill>
                  <a:srgbClr val="404040"/>
                </a:solidFill>
                <a:latin typeface="Aptos"/>
              </a:defRPr>
            </a:pPr>
            <a:r>
              <a:t>Do not copy secrets into images</a:t>
            </a:r>
          </a:p>
          <a:p>
            <a:pPr>
              <a:lnSpc>
                <a:spcPct val="105000"/>
              </a:lnSpc>
              <a:spcAft>
                <a:spcPts val="1000"/>
              </a:spcAft>
              <a:defRPr sz="1800">
                <a:solidFill>
                  <a:srgbClr val="404040"/>
                </a:solidFill>
                <a:latin typeface="Aptos"/>
              </a:defRPr>
            </a:pPr>
            <a:r>
              <a:t>Image scanning becomes part of DevSecOps</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900">
                <a:solidFill>
                  <a:srgbClr val="F5F5F5"/>
                </a:solidFill>
                <a:latin typeface="Consolas"/>
              </a:defRPr>
            </a:pPr>
            <a:r>
              <a:t>FROM eclipse-temurin:21-jre</a:t>
            </a:r>
          </a:p>
          <a:p>
            <a:pPr>
              <a:spcAft>
                <a:spcPts val="0"/>
              </a:spcAft>
              <a:defRPr sz="900">
                <a:solidFill>
                  <a:srgbClr val="F5F5F5"/>
                </a:solidFill>
                <a:latin typeface="Consolas"/>
              </a:defRPr>
            </a:pPr>
            <a:r>
              <a:t>WORKDIR /app</a:t>
            </a:r>
          </a:p>
          <a:p>
            <a:pPr>
              <a:spcAft>
                <a:spcPts val="0"/>
              </a:spcAft>
              <a:defRPr sz="900">
                <a:solidFill>
                  <a:srgbClr val="F5F5F5"/>
                </a:solidFill>
                <a:latin typeface="Consolas"/>
              </a:defRPr>
            </a:pPr>
            <a:r>
              <a:t>COPY target/attendance-api.jar app.jar</a:t>
            </a:r>
          </a:p>
          <a:p>
            <a:pPr>
              <a:spcAft>
                <a:spcPts val="0"/>
              </a:spcAft>
              <a:defRPr sz="900">
                <a:solidFill>
                  <a:srgbClr val="F5F5F5"/>
                </a:solidFill>
                <a:latin typeface="Consolas"/>
              </a:defRPr>
            </a:pPr>
            <a:r>
              <a:t>EXPOSE 8080</a:t>
            </a:r>
          </a:p>
          <a:p>
            <a:pPr>
              <a:spcAft>
                <a:spcPts val="0"/>
              </a:spcAft>
              <a:defRPr sz="900">
                <a:solidFill>
                  <a:srgbClr val="F5F5F5"/>
                </a:solidFill>
                <a:latin typeface="Consolas"/>
              </a:defRPr>
            </a:pPr>
            <a:r>
              <a:t>USER 1001</a:t>
            </a:r>
          </a:p>
          <a:p>
            <a:pPr>
              <a:spcAft>
                <a:spcPts val="0"/>
              </a:spcAft>
              <a:defRPr sz="900">
                <a:solidFill>
                  <a:srgbClr val="F5F5F5"/>
                </a:solidFill>
                <a:latin typeface="Consolas"/>
              </a:defRPr>
            </a:pPr>
            <a:r>
              <a:t>ENTRYPOINT ["java", "-jar", "app.jar"]</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DevOps</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Kubernetes Deployment View</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Deployment manages application replicas</a:t>
            </a:r>
          </a:p>
          <a:p>
            <a:pPr>
              <a:lnSpc>
                <a:spcPct val="105000"/>
              </a:lnSpc>
              <a:spcAft>
                <a:spcPts val="1000"/>
              </a:spcAft>
              <a:defRPr sz="1800">
                <a:solidFill>
                  <a:srgbClr val="404040"/>
                </a:solidFill>
                <a:latin typeface="Aptos"/>
              </a:defRPr>
            </a:pPr>
            <a:r>
              <a:t>Service exposes the application inside cluster</a:t>
            </a:r>
          </a:p>
          <a:p>
            <a:pPr>
              <a:lnSpc>
                <a:spcPct val="105000"/>
              </a:lnSpc>
              <a:spcAft>
                <a:spcPts val="1000"/>
              </a:spcAft>
              <a:defRPr sz="1800">
                <a:solidFill>
                  <a:srgbClr val="404040"/>
                </a:solidFill>
                <a:latin typeface="Aptos"/>
              </a:defRPr>
            </a:pPr>
            <a:r>
              <a:t>ConfigMap and Secret externalize configuration</a:t>
            </a:r>
          </a:p>
          <a:p>
            <a:pPr>
              <a:lnSpc>
                <a:spcPct val="105000"/>
              </a:lnSpc>
              <a:spcAft>
                <a:spcPts val="1000"/>
              </a:spcAft>
              <a:defRPr sz="1800">
                <a:solidFill>
                  <a:srgbClr val="404040"/>
                </a:solidFill>
                <a:latin typeface="Aptos"/>
              </a:defRPr>
            </a:pPr>
            <a:r>
              <a:t>Readiness and liveness probes support resilience</a:t>
            </a:r>
          </a:p>
        </p:txBody>
      </p:sp>
      <p:sp>
        <p:nvSpPr>
          <p:cNvPr id="5" name="Rounded Rectangle 4"/>
          <p:cNvSpPr/>
          <p:nvPr/>
        </p:nvSpPr>
        <p:spPr>
          <a:xfrm>
            <a:off x="6446520" y="1554480"/>
            <a:ext cx="5074920" cy="685800"/>
          </a:xfrm>
          <a:prstGeom prst="roundRect">
            <a:avLst/>
          </a:prstGeom>
          <a:solidFill>
            <a:srgbClr val="FFFFFF"/>
          </a:solidFill>
          <a:ln w="19050">
            <a:solidFill>
              <a:srgbClr val="7030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30A0"/>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DevOps</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AE6F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DevSecOps Quality Gates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Minimum test coverage threshold</a:t>
            </a:r>
          </a:p>
          <a:p>
            <a:pPr>
              <a:lnSpc>
                <a:spcPct val="105000"/>
              </a:lnSpc>
              <a:spcAft>
                <a:spcPts val="1000"/>
              </a:spcAft>
              <a:defRPr sz="1800">
                <a:solidFill>
                  <a:srgbClr val="404040"/>
                </a:solidFill>
                <a:latin typeface="Aptos"/>
              </a:defRPr>
            </a:pPr>
            <a:r>
              <a:t>No critical or high vulnerabilities</a:t>
            </a:r>
          </a:p>
          <a:p>
            <a:pPr>
              <a:lnSpc>
                <a:spcPct val="105000"/>
              </a:lnSpc>
              <a:spcAft>
                <a:spcPts val="1000"/>
              </a:spcAft>
              <a:defRPr sz="1800">
                <a:solidFill>
                  <a:srgbClr val="404040"/>
                </a:solidFill>
                <a:latin typeface="Aptos"/>
              </a:defRPr>
            </a:pPr>
            <a:r>
              <a:t>Static analysis issues reviewed</a:t>
            </a:r>
          </a:p>
          <a:p>
            <a:pPr>
              <a:lnSpc>
                <a:spcPct val="105000"/>
              </a:lnSpc>
              <a:spcAft>
                <a:spcPts val="1000"/>
              </a:spcAft>
              <a:defRPr sz="1800">
                <a:solidFill>
                  <a:srgbClr val="404040"/>
                </a:solidFill>
                <a:latin typeface="Aptos"/>
              </a:defRPr>
            </a:pPr>
            <a:r>
              <a:t>Performance budget checked before release</a:t>
            </a:r>
          </a:p>
        </p:txBody>
      </p:sp>
      <p:sp>
        <p:nvSpPr>
          <p:cNvPr id="5" name="Rounded Rectangle 4"/>
          <p:cNvSpPr/>
          <p:nvPr/>
        </p:nvSpPr>
        <p:spPr>
          <a:xfrm>
            <a:off x="62179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Commit</a:t>
            </a:r>
          </a:p>
        </p:txBody>
      </p:sp>
      <p:cxnSp>
        <p:nvCxnSpPr>
          <p:cNvPr id="6" name="Connector 5"/>
          <p:cNvCxnSpPr/>
          <p:nvPr/>
        </p:nvCxnSpPr>
        <p:spPr>
          <a:xfrm>
            <a:off x="6995159" y="1929384"/>
            <a:ext cx="137161"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1323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Build</a:t>
            </a:r>
          </a:p>
        </p:txBody>
      </p:sp>
      <p:cxnSp>
        <p:nvCxnSpPr>
          <p:cNvPr id="8" name="Connector 7"/>
          <p:cNvCxnSpPr/>
          <p:nvPr/>
        </p:nvCxnSpPr>
        <p:spPr>
          <a:xfrm>
            <a:off x="79095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467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Unit</a:t>
            </a:r>
            <a:br/>
            <a:r>
              <a:t>Tests</a:t>
            </a:r>
          </a:p>
        </p:txBody>
      </p:sp>
      <p:cxnSp>
        <p:nvCxnSpPr>
          <p:cNvPr id="10" name="Connector 9"/>
          <p:cNvCxnSpPr/>
          <p:nvPr/>
        </p:nvCxnSpPr>
        <p:spPr>
          <a:xfrm>
            <a:off x="88239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611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SAST</a:t>
            </a:r>
          </a:p>
        </p:txBody>
      </p:sp>
      <p:cxnSp>
        <p:nvCxnSpPr>
          <p:cNvPr id="12" name="Connector 11"/>
          <p:cNvCxnSpPr/>
          <p:nvPr/>
        </p:nvCxnSpPr>
        <p:spPr>
          <a:xfrm>
            <a:off x="97383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8755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Docker</a:t>
            </a:r>
            <a:br/>
            <a:r>
              <a:t>Image</a:t>
            </a:r>
          </a:p>
        </p:txBody>
      </p:sp>
      <p:cxnSp>
        <p:nvCxnSpPr>
          <p:cNvPr id="14" name="Connector 13"/>
          <p:cNvCxnSpPr/>
          <p:nvPr/>
        </p:nvCxnSpPr>
        <p:spPr>
          <a:xfrm>
            <a:off x="106527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789920"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Deploy</a:t>
            </a:r>
          </a:p>
        </p:txBody>
      </p:sp>
      <p:cxnSp>
        <p:nvCxnSpPr>
          <p:cNvPr id="16" name="Connector 15"/>
          <p:cNvCxnSpPr/>
          <p:nvPr/>
        </p:nvCxnSpPr>
        <p:spPr>
          <a:xfrm>
            <a:off x="115671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77295" y="1600200"/>
            <a:ext cx="777240" cy="658368"/>
          </a:xfrm>
          <a:prstGeom prst="roundRect">
            <a:avLst/>
          </a:prstGeom>
          <a:solidFill>
            <a:srgbClr val="FFFFFF"/>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Smoke</a:t>
            </a:r>
            <a:br/>
            <a:r>
              <a:t>Tests</a:t>
            </a:r>
          </a:p>
        </p:txBody>
      </p:sp>
      <p:sp>
        <p:nvSpPr>
          <p:cNvPr id="18" name="Rounded Rectangle 17"/>
          <p:cNvSpPr/>
          <p:nvPr/>
        </p:nvSpPr>
        <p:spPr>
          <a:xfrm>
            <a:off x="6446520" y="2788920"/>
            <a:ext cx="4983480" cy="594360"/>
          </a:xfrm>
          <a:prstGeom prst="roundRect">
            <a:avLst/>
          </a:prstGeom>
          <a:solidFill>
            <a:srgbClr val="FFF2CC"/>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Quality gates: coverage, vulnerabilities, linting, performance budget</a:t>
            </a:r>
          </a:p>
        </p:txBody>
      </p:sp>
      <p:sp>
        <p:nvSpPr>
          <p:cNvPr id="19" name="Rounded Rectangle 18"/>
          <p:cNvSpPr/>
          <p:nvPr/>
        </p:nvSpPr>
        <p:spPr>
          <a:xfrm>
            <a:off x="6446520" y="3703320"/>
            <a:ext cx="4983480" cy="594360"/>
          </a:xfrm>
          <a:prstGeom prst="roundRect">
            <a:avLst/>
          </a:prstGeom>
          <a:solidFill>
            <a:srgbClr val="E2EFDA"/>
          </a:solidFill>
          <a:ln>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Release strategy: staging → approval → production → rollback plan</a:t>
            </a:r>
          </a:p>
        </p:txBody>
      </p:sp>
      <p:sp>
        <p:nvSpPr>
          <p:cNvPr id="20" name="Rectangle 19"/>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DevOps</a:t>
            </a:r>
          </a:p>
        </p:txBody>
      </p:sp>
      <p:sp>
        <p:nvSpPr>
          <p:cNvPr id="22" name="TextBox 21"/>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DAEEF3"/>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Performance and Scale Considerations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AI-generated code may over-fetch or create inefficient queries</a:t>
            </a:r>
          </a:p>
          <a:p>
            <a:pPr>
              <a:lnSpc>
                <a:spcPct val="105000"/>
              </a:lnSpc>
              <a:spcAft>
                <a:spcPts val="1000"/>
              </a:spcAft>
              <a:defRPr sz="1800">
                <a:solidFill>
                  <a:srgbClr val="404040"/>
                </a:solidFill>
                <a:latin typeface="Aptos"/>
              </a:defRPr>
            </a:pPr>
            <a:r>
              <a:t>Indexes matter for report generation</a:t>
            </a:r>
          </a:p>
          <a:p>
            <a:pPr>
              <a:lnSpc>
                <a:spcPct val="105000"/>
              </a:lnSpc>
              <a:spcAft>
                <a:spcPts val="1000"/>
              </a:spcAft>
              <a:defRPr sz="1800">
                <a:solidFill>
                  <a:srgbClr val="404040"/>
                </a:solidFill>
                <a:latin typeface="Aptos"/>
              </a:defRPr>
            </a:pPr>
            <a:r>
              <a:t>Cache only after measuring bottlenecks</a:t>
            </a:r>
          </a:p>
          <a:p>
            <a:pPr>
              <a:lnSpc>
                <a:spcPct val="105000"/>
              </a:lnSpc>
              <a:spcAft>
                <a:spcPts val="1000"/>
              </a:spcAft>
              <a:defRPr sz="1800">
                <a:solidFill>
                  <a:srgbClr val="404040"/>
                </a:solidFill>
                <a:latin typeface="Aptos"/>
              </a:defRPr>
            </a:pPr>
            <a:r>
              <a:t>Set measurable response-time goals</a:t>
            </a:r>
          </a:p>
        </p:txBody>
      </p:sp>
      <p:sp>
        <p:nvSpPr>
          <p:cNvPr id="5" name="Rounded Rectangle 4"/>
          <p:cNvSpPr/>
          <p:nvPr/>
        </p:nvSpPr>
        <p:spPr>
          <a:xfrm>
            <a:off x="6446520" y="1554480"/>
            <a:ext cx="5074920" cy="685800"/>
          </a:xfrm>
          <a:prstGeom prst="round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08B8B"/>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Performance</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DAEEF3"/>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Important Performance Test: k6 Smoke Load</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Simple load test validates response under concurrent users</a:t>
            </a:r>
          </a:p>
          <a:p>
            <a:pPr>
              <a:lnSpc>
                <a:spcPct val="105000"/>
              </a:lnSpc>
              <a:spcAft>
                <a:spcPts val="1000"/>
              </a:spcAft>
              <a:defRPr sz="1800">
                <a:solidFill>
                  <a:srgbClr val="404040"/>
                </a:solidFill>
                <a:latin typeface="Aptos"/>
              </a:defRPr>
            </a:pPr>
            <a:r>
              <a:t>Useful after deployment or major refactor</a:t>
            </a:r>
          </a:p>
          <a:p>
            <a:pPr>
              <a:lnSpc>
                <a:spcPct val="105000"/>
              </a:lnSpc>
              <a:spcAft>
                <a:spcPts val="1000"/>
              </a:spcAft>
              <a:defRPr sz="1800">
                <a:solidFill>
                  <a:srgbClr val="404040"/>
                </a:solidFill>
                <a:latin typeface="Aptos"/>
              </a:defRPr>
            </a:pPr>
            <a:r>
              <a:t>Track latency, error rate and throughput</a:t>
            </a:r>
          </a:p>
          <a:p>
            <a:pPr>
              <a:lnSpc>
                <a:spcPct val="105000"/>
              </a:lnSpc>
              <a:spcAft>
                <a:spcPts val="1000"/>
              </a:spcAft>
              <a:defRPr sz="1800">
                <a:solidFill>
                  <a:srgbClr val="404040"/>
                </a:solidFill>
                <a:latin typeface="Aptos"/>
              </a:defRPr>
            </a:pPr>
            <a:r>
              <a:t>Keep thresholds realistic for lab environment</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850">
                <a:solidFill>
                  <a:srgbClr val="F5F5F5"/>
                </a:solidFill>
                <a:latin typeface="Consolas"/>
              </a:defRPr>
            </a:pPr>
            <a:r>
              <a:t>import http from 'k6/http';</a:t>
            </a:r>
          </a:p>
          <a:p>
            <a:pPr>
              <a:spcAft>
                <a:spcPts val="0"/>
              </a:spcAft>
              <a:defRPr sz="850">
                <a:solidFill>
                  <a:srgbClr val="F5F5F5"/>
                </a:solidFill>
                <a:latin typeface="Consolas"/>
              </a:defRPr>
            </a:pPr>
            <a:r>
              <a:t>import { check } from 'k6';</a:t>
            </a:r>
          </a:p>
          <a:p>
            <a:pPr>
              <a:spcAft>
                <a:spcPts val="0"/>
              </a:spcAft>
              <a:defRPr sz="850">
                <a:solidFill>
                  <a:srgbClr val="F5F5F5"/>
                </a:solidFill>
                <a:latin typeface="Consolas"/>
              </a:defRPr>
            </a:pPr>
            <a:endParaRPr/>
          </a:p>
          <a:p>
            <a:pPr>
              <a:spcAft>
                <a:spcPts val="0"/>
              </a:spcAft>
              <a:defRPr sz="850">
                <a:solidFill>
                  <a:srgbClr val="F5F5F5"/>
                </a:solidFill>
                <a:latin typeface="Consolas"/>
              </a:defRPr>
            </a:pPr>
            <a:r>
              <a:t>export const options = {</a:t>
            </a:r>
          </a:p>
          <a:p>
            <a:pPr>
              <a:spcAft>
                <a:spcPts val="0"/>
              </a:spcAft>
              <a:defRPr sz="850">
                <a:solidFill>
                  <a:srgbClr val="F5F5F5"/>
                </a:solidFill>
                <a:latin typeface="Consolas"/>
              </a:defRPr>
            </a:pPr>
            <a:r>
              <a:t>  vus: 20,</a:t>
            </a:r>
          </a:p>
          <a:p>
            <a:pPr>
              <a:spcAft>
                <a:spcPts val="0"/>
              </a:spcAft>
              <a:defRPr sz="850">
                <a:solidFill>
                  <a:srgbClr val="F5F5F5"/>
                </a:solidFill>
                <a:latin typeface="Consolas"/>
              </a:defRPr>
            </a:pPr>
            <a:r>
              <a:t>  duration: '1m',</a:t>
            </a:r>
          </a:p>
          <a:p>
            <a:pPr>
              <a:spcAft>
                <a:spcPts val="0"/>
              </a:spcAft>
              <a:defRPr sz="850">
                <a:solidFill>
                  <a:srgbClr val="F5F5F5"/>
                </a:solidFill>
                <a:latin typeface="Consolas"/>
              </a:defRPr>
            </a:pPr>
            <a:r>
              <a:t>  thresholds: { http_req_duration: ['p(95)&lt;500'] }</a:t>
            </a:r>
          </a:p>
          <a:p>
            <a:pPr>
              <a:spcAft>
                <a:spcPts val="0"/>
              </a:spcAft>
              <a:defRPr sz="850">
                <a:solidFill>
                  <a:srgbClr val="F5F5F5"/>
                </a:solidFill>
                <a:latin typeface="Consolas"/>
              </a:defRPr>
            </a:pPr>
            <a:r>
              <a:t>};</a:t>
            </a:r>
          </a:p>
          <a:p>
            <a:pPr>
              <a:spcAft>
                <a:spcPts val="0"/>
              </a:spcAft>
              <a:defRPr sz="850">
                <a:solidFill>
                  <a:srgbClr val="F5F5F5"/>
                </a:solidFill>
                <a:latin typeface="Consolas"/>
              </a:defRPr>
            </a:pPr>
            <a:endParaRPr/>
          </a:p>
          <a:p>
            <a:pPr>
              <a:spcAft>
                <a:spcPts val="0"/>
              </a:spcAft>
              <a:defRPr sz="850">
                <a:solidFill>
                  <a:srgbClr val="F5F5F5"/>
                </a:solidFill>
                <a:latin typeface="Consolas"/>
              </a:defRPr>
            </a:pPr>
            <a:r>
              <a:t>export default function () {</a:t>
            </a:r>
          </a:p>
          <a:p>
            <a:pPr>
              <a:spcAft>
                <a:spcPts val="0"/>
              </a:spcAft>
              <a:defRPr sz="850">
                <a:solidFill>
                  <a:srgbClr val="F5F5F5"/>
                </a:solidFill>
                <a:latin typeface="Consolas"/>
              </a:defRPr>
            </a:pPr>
            <a:r>
              <a:t>  const res = http.get('http://localhost:8080/api/reports/course/CS101');</a:t>
            </a:r>
          </a:p>
          <a:p>
            <a:pPr>
              <a:spcAft>
                <a:spcPts val="0"/>
              </a:spcAft>
              <a:defRPr sz="850">
                <a:solidFill>
                  <a:srgbClr val="F5F5F5"/>
                </a:solidFill>
                <a:latin typeface="Consolas"/>
              </a:defRPr>
            </a:pPr>
            <a:r>
              <a:t>  check(res, { 'status is 200': r =&gt; r.status === 200 });</a:t>
            </a:r>
          </a:p>
          <a:p>
            <a:pPr>
              <a:spcAft>
                <a:spcPts val="0"/>
              </a:spcAft>
              <a:defRPr sz="850">
                <a:solidFill>
                  <a:srgbClr val="F5F5F5"/>
                </a:solidFill>
                <a:latin typeface="Consolas"/>
              </a:defRPr>
            </a:pPr>
            <a:r>
              <a:t>}</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Performance</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DAEEF3"/>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Observability Basics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Logs explain what happened</a:t>
            </a:r>
          </a:p>
          <a:p>
            <a:pPr>
              <a:lnSpc>
                <a:spcPct val="105000"/>
              </a:lnSpc>
              <a:spcAft>
                <a:spcPts val="1000"/>
              </a:spcAft>
              <a:defRPr sz="1800">
                <a:solidFill>
                  <a:srgbClr val="404040"/>
                </a:solidFill>
                <a:latin typeface="Aptos"/>
              </a:defRPr>
            </a:pPr>
            <a:r>
              <a:t>Metrics show trends and health</a:t>
            </a:r>
          </a:p>
          <a:p>
            <a:pPr>
              <a:lnSpc>
                <a:spcPct val="105000"/>
              </a:lnSpc>
              <a:spcAft>
                <a:spcPts val="1000"/>
              </a:spcAft>
              <a:defRPr sz="1800">
                <a:solidFill>
                  <a:srgbClr val="404040"/>
                </a:solidFill>
                <a:latin typeface="Aptos"/>
              </a:defRPr>
            </a:pPr>
            <a:r>
              <a:t>Traces show request flow across components</a:t>
            </a:r>
          </a:p>
          <a:p>
            <a:pPr>
              <a:lnSpc>
                <a:spcPct val="105000"/>
              </a:lnSpc>
              <a:spcAft>
                <a:spcPts val="1000"/>
              </a:spcAft>
              <a:defRPr sz="1800">
                <a:solidFill>
                  <a:srgbClr val="404040"/>
                </a:solidFill>
                <a:latin typeface="Aptos"/>
              </a:defRPr>
            </a:pPr>
            <a:r>
              <a:t>Alerts turn telemetry into action</a:t>
            </a:r>
          </a:p>
        </p:txBody>
      </p:sp>
      <p:sp>
        <p:nvSpPr>
          <p:cNvPr id="5" name="Rounded Rectangle 4"/>
          <p:cNvSpPr/>
          <p:nvPr/>
        </p:nvSpPr>
        <p:spPr>
          <a:xfrm>
            <a:off x="6446520" y="1554480"/>
            <a:ext cx="5074920" cy="685800"/>
          </a:xfrm>
          <a:prstGeom prst="round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08B8B"/>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Performance</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DAEEF3"/>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OpenTelemetry and Monitoring Architecture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Instrument application with standard telemetry</a:t>
            </a:r>
          </a:p>
          <a:p>
            <a:pPr>
              <a:lnSpc>
                <a:spcPct val="105000"/>
              </a:lnSpc>
              <a:spcAft>
                <a:spcPts val="1000"/>
              </a:spcAft>
              <a:defRPr sz="1800">
                <a:solidFill>
                  <a:srgbClr val="404040"/>
                </a:solidFill>
                <a:latin typeface="Aptos"/>
              </a:defRPr>
            </a:pPr>
            <a:r>
              <a:t>Export traces and metrics to monitoring backend</a:t>
            </a:r>
          </a:p>
          <a:p>
            <a:pPr>
              <a:lnSpc>
                <a:spcPct val="105000"/>
              </a:lnSpc>
              <a:spcAft>
                <a:spcPts val="1000"/>
              </a:spcAft>
              <a:defRPr sz="1800">
                <a:solidFill>
                  <a:srgbClr val="404040"/>
                </a:solidFill>
                <a:latin typeface="Aptos"/>
              </a:defRPr>
            </a:pPr>
            <a:r>
              <a:t>Use dashboards for API latency and error rate</a:t>
            </a:r>
          </a:p>
          <a:p>
            <a:pPr>
              <a:lnSpc>
                <a:spcPct val="105000"/>
              </a:lnSpc>
              <a:spcAft>
                <a:spcPts val="1000"/>
              </a:spcAft>
              <a:defRPr sz="1800">
                <a:solidFill>
                  <a:srgbClr val="404040"/>
                </a:solidFill>
                <a:latin typeface="Aptos"/>
              </a:defRPr>
            </a:pPr>
            <a:r>
              <a:t>Use alerts for deployment regressions</a:t>
            </a:r>
          </a:p>
        </p:txBody>
      </p:sp>
      <p:sp>
        <p:nvSpPr>
          <p:cNvPr id="5" name="Rounded Rectangle 4"/>
          <p:cNvSpPr/>
          <p:nvPr/>
        </p:nvSpPr>
        <p:spPr>
          <a:xfrm>
            <a:off x="6400800" y="1508760"/>
            <a:ext cx="1828800" cy="6400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Faculty / Student</a:t>
            </a:r>
            <a:br/>
            <a:r>
              <a:t>React UI</a:t>
            </a:r>
          </a:p>
        </p:txBody>
      </p:sp>
      <p:sp>
        <p:nvSpPr>
          <p:cNvPr id="6" name="Rounded Rectangle 5"/>
          <p:cNvSpPr/>
          <p:nvPr/>
        </p:nvSpPr>
        <p:spPr>
          <a:xfrm>
            <a:off x="9052560" y="1508760"/>
            <a:ext cx="1828800" cy="640080"/>
          </a:xfrm>
          <a:prstGeom prst="roundRect">
            <a:avLst/>
          </a:prstGeom>
          <a:solidFill>
            <a:srgbClr val="FFFFFF"/>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API Gateway</a:t>
            </a:r>
            <a:br/>
            <a:r>
              <a:t>Auth + Routing</a:t>
            </a:r>
          </a:p>
        </p:txBody>
      </p:sp>
      <p:sp>
        <p:nvSpPr>
          <p:cNvPr id="7" name="Rounded Rectangle 6"/>
          <p:cNvSpPr/>
          <p:nvPr/>
        </p:nvSpPr>
        <p:spPr>
          <a:xfrm>
            <a:off x="6400800" y="2743200"/>
            <a:ext cx="1828800" cy="731520"/>
          </a:xfrm>
          <a:prstGeom prst="roundRect">
            <a:avLst/>
          </a:prstGeom>
          <a:solidFill>
            <a:srgbClr val="DDEBF7"/>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Attendance Service</a:t>
            </a:r>
            <a:br/>
            <a:r>
              <a:t>Spring Boot</a:t>
            </a:r>
          </a:p>
        </p:txBody>
      </p:sp>
      <p:sp>
        <p:nvSpPr>
          <p:cNvPr id="8" name="Rounded Rectangle 7"/>
          <p:cNvSpPr/>
          <p:nvPr/>
        </p:nvSpPr>
        <p:spPr>
          <a:xfrm>
            <a:off x="9052560" y="2743200"/>
            <a:ext cx="1828800" cy="731520"/>
          </a:xfrm>
          <a:prstGeom prst="roundRect">
            <a:avLst/>
          </a:prstGeom>
          <a:solidFill>
            <a:srgbClr val="DDEBF7"/>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Reporting Service</a:t>
            </a:r>
            <a:br/>
            <a:r>
              <a:t>Spring Boot</a:t>
            </a:r>
          </a:p>
        </p:txBody>
      </p:sp>
      <p:sp>
        <p:nvSpPr>
          <p:cNvPr id="9" name="Rounded Rectangle 8"/>
          <p:cNvSpPr/>
          <p:nvPr/>
        </p:nvSpPr>
        <p:spPr>
          <a:xfrm>
            <a:off x="6400800" y="4160520"/>
            <a:ext cx="1828800" cy="731520"/>
          </a:xfrm>
          <a:prstGeom prst="roundRect">
            <a:avLst/>
          </a:prstGeom>
          <a:solidFill>
            <a:srgbClr val="E2EFDA"/>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PostgreSQL</a:t>
            </a:r>
            <a:br/>
            <a:r>
              <a:t>Students/Courses</a:t>
            </a:r>
          </a:p>
        </p:txBody>
      </p:sp>
      <p:sp>
        <p:nvSpPr>
          <p:cNvPr id="10" name="Rounded Rectangle 9"/>
          <p:cNvSpPr/>
          <p:nvPr/>
        </p:nvSpPr>
        <p:spPr>
          <a:xfrm>
            <a:off x="9052560" y="4160520"/>
            <a:ext cx="1828800" cy="731520"/>
          </a:xfrm>
          <a:prstGeom prst="roundRect">
            <a:avLst/>
          </a:prstGeom>
          <a:solidFill>
            <a:srgbClr val="E2EFDA"/>
          </a:solidFill>
          <a:ln>
            <a:solidFill>
              <a:srgbClr val="008B8B"/>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Redis Cache</a:t>
            </a:r>
            <a:br/>
            <a:r>
              <a:t>Sessions/Reports</a:t>
            </a:r>
          </a:p>
        </p:txBody>
      </p:sp>
      <p:cxnSp>
        <p:nvCxnSpPr>
          <p:cNvPr id="11" name="Connector 10"/>
          <p:cNvCxnSpPr/>
          <p:nvPr/>
        </p:nvCxnSpPr>
        <p:spPr>
          <a:xfrm>
            <a:off x="8229600" y="1828800"/>
            <a:ext cx="8229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1520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96696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96696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46520" y="5257800"/>
            <a:ext cx="5074920" cy="548640"/>
          </a:xfrm>
          <a:prstGeom prst="roundRect">
            <a:avLst/>
          </a:prstGeom>
          <a:solidFill>
            <a:srgbClr val="FFFFFF"/>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08B8B"/>
                </a:solidFill>
                <a:latin typeface="Aptos"/>
              </a:defRPr>
            </a:pPr>
            <a:r>
              <a:t>Block diagram: separate UI, API, services, data and cache boundaries</a:t>
            </a:r>
          </a:p>
        </p:txBody>
      </p:sp>
      <p:sp>
        <p:nvSpPr>
          <p:cNvPr id="17" name="Rectangle 16"/>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Performance</a:t>
            </a:r>
          </a:p>
        </p:txBody>
      </p:sp>
      <p:sp>
        <p:nvSpPr>
          <p:cNvPr id="19" name="TextBox 18"/>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Multi-Agent Development: Big Picture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Multiple specialized AI agents collaborate on SDLC tasks</a:t>
            </a:r>
          </a:p>
          <a:p>
            <a:pPr>
              <a:lnSpc>
                <a:spcPct val="105000"/>
              </a:lnSpc>
              <a:spcAft>
                <a:spcPts val="1000"/>
              </a:spcAft>
              <a:defRPr sz="1800">
                <a:solidFill>
                  <a:srgbClr val="404040"/>
                </a:solidFill>
                <a:latin typeface="Aptos"/>
              </a:defRPr>
            </a:pPr>
            <a:r>
              <a:t>Each agent has a role, tool access and boundaries</a:t>
            </a:r>
          </a:p>
          <a:p>
            <a:pPr>
              <a:lnSpc>
                <a:spcPct val="105000"/>
              </a:lnSpc>
              <a:spcAft>
                <a:spcPts val="1000"/>
              </a:spcAft>
              <a:defRPr sz="1800">
                <a:solidFill>
                  <a:srgbClr val="404040"/>
                </a:solidFill>
                <a:latin typeface="Aptos"/>
              </a:defRPr>
            </a:pPr>
            <a:r>
              <a:t>An orchestrator coordinates plans and handoffs</a:t>
            </a:r>
          </a:p>
          <a:p>
            <a:pPr>
              <a:lnSpc>
                <a:spcPct val="105000"/>
              </a:lnSpc>
              <a:spcAft>
                <a:spcPts val="1000"/>
              </a:spcAft>
              <a:defRPr sz="1800">
                <a:solidFill>
                  <a:srgbClr val="404040"/>
                </a:solidFill>
                <a:latin typeface="Aptos"/>
              </a:defRPr>
            </a:pPr>
            <a:r>
              <a:t>Human reviewers approve major decisions</a:t>
            </a:r>
          </a:p>
        </p:txBody>
      </p:sp>
      <p:sp>
        <p:nvSpPr>
          <p:cNvPr id="5" name="Rounded Rectangle 4"/>
          <p:cNvSpPr/>
          <p:nvPr/>
        </p:nvSpPr>
        <p:spPr>
          <a:xfrm>
            <a:off x="8458200" y="2880360"/>
            <a:ext cx="1554480" cy="68580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Orchestrator</a:t>
            </a:r>
            <a:br/>
            <a:r>
              <a:t>Planner + Memory</a:t>
            </a:r>
          </a:p>
        </p:txBody>
      </p:sp>
      <p:sp>
        <p:nvSpPr>
          <p:cNvPr id="6" name="Rounded Rectangle 5"/>
          <p:cNvSpPr/>
          <p:nvPr/>
        </p:nvSpPr>
        <p:spPr>
          <a:xfrm>
            <a:off x="6537960" y="150876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Requirements</a:t>
            </a:r>
          </a:p>
        </p:txBody>
      </p:sp>
      <p:cxnSp>
        <p:nvCxnSpPr>
          <p:cNvPr id="7" name="Connector 6"/>
          <p:cNvCxnSpPr/>
          <p:nvPr/>
        </p:nvCxnSpPr>
        <p:spPr>
          <a:xfrm>
            <a:off x="7155180" y="2011680"/>
            <a:ext cx="2080260" cy="86868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458200" y="128016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Architect</a:t>
            </a:r>
          </a:p>
        </p:txBody>
      </p:sp>
      <p:cxnSp>
        <p:nvCxnSpPr>
          <p:cNvPr id="9" name="Connector 8"/>
          <p:cNvCxnSpPr/>
          <p:nvPr/>
        </p:nvCxnSpPr>
        <p:spPr>
          <a:xfrm>
            <a:off x="9075420" y="1783080"/>
            <a:ext cx="160020" cy="109728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0378440" y="150876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Coder</a:t>
            </a:r>
          </a:p>
        </p:txBody>
      </p:sp>
      <p:cxnSp>
        <p:nvCxnSpPr>
          <p:cNvPr id="11" name="Connector 10"/>
          <p:cNvCxnSpPr/>
          <p:nvPr/>
        </p:nvCxnSpPr>
        <p:spPr>
          <a:xfrm flipH="1">
            <a:off x="9235440" y="2011680"/>
            <a:ext cx="1760220" cy="86868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537960" y="457200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Tester</a:t>
            </a:r>
          </a:p>
        </p:txBody>
      </p:sp>
      <p:cxnSp>
        <p:nvCxnSpPr>
          <p:cNvPr id="13" name="Connector 12"/>
          <p:cNvCxnSpPr/>
          <p:nvPr/>
        </p:nvCxnSpPr>
        <p:spPr>
          <a:xfrm flipV="1">
            <a:off x="7155180" y="3566160"/>
            <a:ext cx="2080260" cy="15087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458200" y="480060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Security</a:t>
            </a:r>
          </a:p>
        </p:txBody>
      </p:sp>
      <p:cxnSp>
        <p:nvCxnSpPr>
          <p:cNvPr id="15" name="Connector 14"/>
          <p:cNvCxnSpPr/>
          <p:nvPr/>
        </p:nvCxnSpPr>
        <p:spPr>
          <a:xfrm flipV="1">
            <a:off x="9075420" y="3566160"/>
            <a:ext cx="160020" cy="1737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378440" y="457200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DevOps</a:t>
            </a:r>
          </a:p>
        </p:txBody>
      </p:sp>
      <p:cxnSp>
        <p:nvCxnSpPr>
          <p:cNvPr id="17" name="Connector 16"/>
          <p:cNvCxnSpPr/>
          <p:nvPr/>
        </p:nvCxnSpPr>
        <p:spPr>
          <a:xfrm flipH="1" flipV="1">
            <a:off x="9235440" y="3566160"/>
            <a:ext cx="1760220" cy="15087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20" name="TextBox 1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Agent Roles in AI-Native SDLC</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Requirements Agent clarifies scope and acceptance criteria</a:t>
            </a:r>
          </a:p>
          <a:p>
            <a:pPr>
              <a:lnSpc>
                <a:spcPct val="105000"/>
              </a:lnSpc>
              <a:spcAft>
                <a:spcPts val="1000"/>
              </a:spcAft>
              <a:defRPr sz="1800">
                <a:solidFill>
                  <a:srgbClr val="404040"/>
                </a:solidFill>
                <a:latin typeface="Aptos"/>
              </a:defRPr>
            </a:pPr>
            <a:r>
              <a:t>Architect Agent proposes design and trade-offs</a:t>
            </a:r>
          </a:p>
          <a:p>
            <a:pPr>
              <a:lnSpc>
                <a:spcPct val="105000"/>
              </a:lnSpc>
              <a:spcAft>
                <a:spcPts val="1000"/>
              </a:spcAft>
              <a:defRPr sz="1800">
                <a:solidFill>
                  <a:srgbClr val="404040"/>
                </a:solidFill>
                <a:latin typeface="Aptos"/>
              </a:defRPr>
            </a:pPr>
            <a:r>
              <a:t>Coding Agent implements small tasks</a:t>
            </a:r>
          </a:p>
          <a:p>
            <a:pPr>
              <a:lnSpc>
                <a:spcPct val="105000"/>
              </a:lnSpc>
              <a:spcAft>
                <a:spcPts val="1000"/>
              </a:spcAft>
              <a:defRPr sz="1800">
                <a:solidFill>
                  <a:srgbClr val="404040"/>
                </a:solidFill>
                <a:latin typeface="Aptos"/>
              </a:defRPr>
            </a:pPr>
            <a:r>
              <a:t>Testing, Security and DevOps Agents validate outputs</a:t>
            </a:r>
          </a:p>
        </p:txBody>
      </p:sp>
      <p:sp>
        <p:nvSpPr>
          <p:cNvPr id="5" name="Rounded Rectangle 4"/>
          <p:cNvSpPr/>
          <p:nvPr/>
        </p:nvSpPr>
        <p:spPr>
          <a:xfrm>
            <a:off x="8458200" y="2880360"/>
            <a:ext cx="1554480" cy="68580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Orchestrator</a:t>
            </a:r>
            <a:br/>
            <a:r>
              <a:t>Planner + Memory</a:t>
            </a:r>
          </a:p>
        </p:txBody>
      </p:sp>
      <p:sp>
        <p:nvSpPr>
          <p:cNvPr id="6" name="Rounded Rectangle 5"/>
          <p:cNvSpPr/>
          <p:nvPr/>
        </p:nvSpPr>
        <p:spPr>
          <a:xfrm>
            <a:off x="6537960" y="150876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Requirements</a:t>
            </a:r>
          </a:p>
        </p:txBody>
      </p:sp>
      <p:cxnSp>
        <p:nvCxnSpPr>
          <p:cNvPr id="7" name="Connector 6"/>
          <p:cNvCxnSpPr/>
          <p:nvPr/>
        </p:nvCxnSpPr>
        <p:spPr>
          <a:xfrm>
            <a:off x="7155180" y="2011680"/>
            <a:ext cx="2080260" cy="86868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458200" y="128016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Architect</a:t>
            </a:r>
          </a:p>
        </p:txBody>
      </p:sp>
      <p:cxnSp>
        <p:nvCxnSpPr>
          <p:cNvPr id="9" name="Connector 8"/>
          <p:cNvCxnSpPr/>
          <p:nvPr/>
        </p:nvCxnSpPr>
        <p:spPr>
          <a:xfrm>
            <a:off x="9075420" y="1783080"/>
            <a:ext cx="160020" cy="109728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0378440" y="150876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Coder</a:t>
            </a:r>
          </a:p>
        </p:txBody>
      </p:sp>
      <p:cxnSp>
        <p:nvCxnSpPr>
          <p:cNvPr id="11" name="Connector 10"/>
          <p:cNvCxnSpPr/>
          <p:nvPr/>
        </p:nvCxnSpPr>
        <p:spPr>
          <a:xfrm flipH="1">
            <a:off x="9235440" y="2011680"/>
            <a:ext cx="1760220" cy="86868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537960" y="457200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Tester</a:t>
            </a:r>
          </a:p>
        </p:txBody>
      </p:sp>
      <p:cxnSp>
        <p:nvCxnSpPr>
          <p:cNvPr id="13" name="Connector 12"/>
          <p:cNvCxnSpPr/>
          <p:nvPr/>
        </p:nvCxnSpPr>
        <p:spPr>
          <a:xfrm flipV="1">
            <a:off x="7155180" y="3566160"/>
            <a:ext cx="2080260" cy="15087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458200" y="480060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Security</a:t>
            </a:r>
          </a:p>
        </p:txBody>
      </p:sp>
      <p:cxnSp>
        <p:nvCxnSpPr>
          <p:cNvPr id="15" name="Connector 14"/>
          <p:cNvCxnSpPr/>
          <p:nvPr/>
        </p:nvCxnSpPr>
        <p:spPr>
          <a:xfrm flipV="1">
            <a:off x="9075420" y="3566160"/>
            <a:ext cx="160020" cy="1737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378440" y="457200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DevOps</a:t>
            </a:r>
          </a:p>
        </p:txBody>
      </p:sp>
      <p:cxnSp>
        <p:nvCxnSpPr>
          <p:cNvPr id="17" name="Connector 16"/>
          <p:cNvCxnSpPr/>
          <p:nvPr/>
        </p:nvCxnSpPr>
        <p:spPr>
          <a:xfrm flipH="1" flipV="1">
            <a:off x="9235440" y="3566160"/>
            <a:ext cx="1760220" cy="15087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20" name="TextBox 1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Requirements Agent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Converts vague ideas into structured requirements</a:t>
            </a:r>
          </a:p>
          <a:p>
            <a:pPr>
              <a:lnSpc>
                <a:spcPct val="105000"/>
              </a:lnSpc>
              <a:spcAft>
                <a:spcPts val="1000"/>
              </a:spcAft>
              <a:defRPr sz="1800">
                <a:solidFill>
                  <a:srgbClr val="404040"/>
                </a:solidFill>
                <a:latin typeface="Aptos"/>
              </a:defRPr>
            </a:pPr>
            <a:r>
              <a:t>Identifies missing actors, rules and constraints</a:t>
            </a:r>
          </a:p>
          <a:p>
            <a:pPr>
              <a:lnSpc>
                <a:spcPct val="105000"/>
              </a:lnSpc>
              <a:spcAft>
                <a:spcPts val="1000"/>
              </a:spcAft>
              <a:defRPr sz="1800">
                <a:solidFill>
                  <a:srgbClr val="404040"/>
                </a:solidFill>
                <a:latin typeface="Aptos"/>
              </a:defRPr>
            </a:pPr>
            <a:r>
              <a:t>Creates acceptance criteria and edge cases</a:t>
            </a:r>
          </a:p>
          <a:p>
            <a:pPr>
              <a:lnSpc>
                <a:spcPct val="105000"/>
              </a:lnSpc>
              <a:spcAft>
                <a:spcPts val="1000"/>
              </a:spcAft>
              <a:defRPr sz="1800">
                <a:solidFill>
                  <a:srgbClr val="404040"/>
                </a:solidFill>
                <a:latin typeface="Aptos"/>
              </a:defRPr>
            </a:pPr>
            <a:r>
              <a:t>Outputs a reviewable requirement document</a:t>
            </a:r>
          </a:p>
        </p:txBody>
      </p:sp>
      <p:sp>
        <p:nvSpPr>
          <p:cNvPr id="5" name="Rounded Rectangle 4"/>
          <p:cNvSpPr/>
          <p:nvPr/>
        </p:nvSpPr>
        <p:spPr>
          <a:xfrm>
            <a:off x="6446520" y="1554480"/>
            <a:ext cx="5074920" cy="68580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Architect Agent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Translates requirements into architecture options</a:t>
            </a:r>
          </a:p>
          <a:p>
            <a:pPr>
              <a:lnSpc>
                <a:spcPct val="105000"/>
              </a:lnSpc>
              <a:spcAft>
                <a:spcPts val="1000"/>
              </a:spcAft>
              <a:defRPr sz="1800">
                <a:solidFill>
                  <a:srgbClr val="404040"/>
                </a:solidFill>
                <a:latin typeface="Aptos"/>
              </a:defRPr>
            </a:pPr>
            <a:r>
              <a:t>Produces diagrams, API contracts and ADRs</a:t>
            </a:r>
          </a:p>
          <a:p>
            <a:pPr>
              <a:lnSpc>
                <a:spcPct val="105000"/>
              </a:lnSpc>
              <a:spcAft>
                <a:spcPts val="1000"/>
              </a:spcAft>
              <a:defRPr sz="1800">
                <a:solidFill>
                  <a:srgbClr val="404040"/>
                </a:solidFill>
                <a:latin typeface="Aptos"/>
              </a:defRPr>
            </a:pPr>
            <a:r>
              <a:t>Evaluates trade-offs such as simplicity vs scalability</a:t>
            </a:r>
          </a:p>
          <a:p>
            <a:pPr>
              <a:lnSpc>
                <a:spcPct val="105000"/>
              </a:lnSpc>
              <a:spcAft>
                <a:spcPts val="1000"/>
              </a:spcAft>
              <a:defRPr sz="1800">
                <a:solidFill>
                  <a:srgbClr val="404040"/>
                </a:solidFill>
                <a:latin typeface="Aptos"/>
              </a:defRPr>
            </a:pPr>
            <a:r>
              <a:t>Flags risks before implementation begins</a:t>
            </a:r>
          </a:p>
        </p:txBody>
      </p:sp>
      <p:sp>
        <p:nvSpPr>
          <p:cNvPr id="5" name="Rounded Rectangle 4"/>
          <p:cNvSpPr/>
          <p:nvPr/>
        </p:nvSpPr>
        <p:spPr>
          <a:xfrm>
            <a:off x="6400800" y="1508760"/>
            <a:ext cx="1828800" cy="6400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Faculty / Student</a:t>
            </a:r>
            <a:br/>
            <a:r>
              <a:t>React UI</a:t>
            </a:r>
          </a:p>
        </p:txBody>
      </p:sp>
      <p:sp>
        <p:nvSpPr>
          <p:cNvPr id="6" name="Rounded Rectangle 5"/>
          <p:cNvSpPr/>
          <p:nvPr/>
        </p:nvSpPr>
        <p:spPr>
          <a:xfrm>
            <a:off x="9052560" y="1508760"/>
            <a:ext cx="1828800" cy="6400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API Gateway</a:t>
            </a:r>
            <a:br/>
            <a:r>
              <a:t>Auth + Routing</a:t>
            </a:r>
          </a:p>
        </p:txBody>
      </p:sp>
      <p:sp>
        <p:nvSpPr>
          <p:cNvPr id="7" name="Rounded Rectangle 6"/>
          <p:cNvSpPr/>
          <p:nvPr/>
        </p:nvSpPr>
        <p:spPr>
          <a:xfrm>
            <a:off x="6400800" y="2743200"/>
            <a:ext cx="1828800" cy="731520"/>
          </a:xfrm>
          <a:prstGeom prst="roundRect">
            <a:avLst/>
          </a:prstGeom>
          <a:solidFill>
            <a:srgbClr val="DDEBF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Attendance Service</a:t>
            </a:r>
            <a:br/>
            <a:r>
              <a:t>Spring Boot</a:t>
            </a:r>
          </a:p>
        </p:txBody>
      </p:sp>
      <p:sp>
        <p:nvSpPr>
          <p:cNvPr id="8" name="Rounded Rectangle 7"/>
          <p:cNvSpPr/>
          <p:nvPr/>
        </p:nvSpPr>
        <p:spPr>
          <a:xfrm>
            <a:off x="9052560" y="2743200"/>
            <a:ext cx="1828800" cy="731520"/>
          </a:xfrm>
          <a:prstGeom prst="roundRect">
            <a:avLst/>
          </a:prstGeom>
          <a:solidFill>
            <a:srgbClr val="DDEBF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Reporting Service</a:t>
            </a:r>
            <a:br/>
            <a:r>
              <a:t>Spring Boot</a:t>
            </a:r>
          </a:p>
        </p:txBody>
      </p:sp>
      <p:sp>
        <p:nvSpPr>
          <p:cNvPr id="9" name="Rounded Rectangle 8"/>
          <p:cNvSpPr/>
          <p:nvPr/>
        </p:nvSpPr>
        <p:spPr>
          <a:xfrm>
            <a:off x="6400800" y="4160520"/>
            <a:ext cx="1828800" cy="7315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PostgreSQL</a:t>
            </a:r>
            <a:br/>
            <a:r>
              <a:t>Students/Courses</a:t>
            </a:r>
          </a:p>
        </p:txBody>
      </p:sp>
      <p:sp>
        <p:nvSpPr>
          <p:cNvPr id="10" name="Rounded Rectangle 9"/>
          <p:cNvSpPr/>
          <p:nvPr/>
        </p:nvSpPr>
        <p:spPr>
          <a:xfrm>
            <a:off x="9052560" y="4160520"/>
            <a:ext cx="1828800" cy="7315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Redis Cache</a:t>
            </a:r>
            <a:br/>
            <a:r>
              <a:t>Sessions/Reports</a:t>
            </a:r>
          </a:p>
        </p:txBody>
      </p:sp>
      <p:cxnSp>
        <p:nvCxnSpPr>
          <p:cNvPr id="11" name="Connector 10"/>
          <p:cNvCxnSpPr/>
          <p:nvPr/>
        </p:nvCxnSpPr>
        <p:spPr>
          <a:xfrm>
            <a:off x="8229600" y="1828800"/>
            <a:ext cx="8229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1520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966960" y="2148840"/>
            <a:ext cx="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966960" y="3474720"/>
            <a:ext cx="0" cy="68580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46520" y="5257800"/>
            <a:ext cx="5074920" cy="54864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Block diagram: separate UI, API, services, data and cache boundaries</a:t>
            </a:r>
          </a:p>
        </p:txBody>
      </p:sp>
      <p:sp>
        <p:nvSpPr>
          <p:cNvPr id="17" name="Rectangle 16"/>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19" name="TextBox 18"/>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Coding Agent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Implements one task at a time</a:t>
            </a:r>
          </a:p>
          <a:p>
            <a:pPr>
              <a:lnSpc>
                <a:spcPct val="105000"/>
              </a:lnSpc>
              <a:spcAft>
                <a:spcPts val="1000"/>
              </a:spcAft>
              <a:defRPr sz="1800">
                <a:solidFill>
                  <a:srgbClr val="404040"/>
                </a:solidFill>
                <a:latin typeface="Aptos"/>
              </a:defRPr>
            </a:pPr>
            <a:r>
              <a:t>Uses existing project structure and coding standards</a:t>
            </a:r>
          </a:p>
          <a:p>
            <a:pPr>
              <a:lnSpc>
                <a:spcPct val="105000"/>
              </a:lnSpc>
              <a:spcAft>
                <a:spcPts val="1000"/>
              </a:spcAft>
              <a:defRPr sz="1800">
                <a:solidFill>
                  <a:srgbClr val="404040"/>
                </a:solidFill>
                <a:latin typeface="Aptos"/>
              </a:defRPr>
            </a:pPr>
            <a:r>
              <a:t>Creates small commits with explanations</a:t>
            </a:r>
          </a:p>
          <a:p>
            <a:pPr>
              <a:lnSpc>
                <a:spcPct val="105000"/>
              </a:lnSpc>
              <a:spcAft>
                <a:spcPts val="1000"/>
              </a:spcAft>
              <a:defRPr sz="1800">
                <a:solidFill>
                  <a:srgbClr val="404040"/>
                </a:solidFill>
                <a:latin typeface="Aptos"/>
              </a:defRPr>
            </a:pPr>
            <a:r>
              <a:t>Does not bypass tests or review</a:t>
            </a:r>
          </a:p>
        </p:txBody>
      </p:sp>
      <p:sp>
        <p:nvSpPr>
          <p:cNvPr id="5" name="Rounded Rectangle 4"/>
          <p:cNvSpPr/>
          <p:nvPr/>
        </p:nvSpPr>
        <p:spPr>
          <a:xfrm>
            <a:off x="6446520" y="1554480"/>
            <a:ext cx="5074920" cy="68580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Testing Agent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Derives tests from acceptance criteria</a:t>
            </a:r>
          </a:p>
          <a:p>
            <a:pPr>
              <a:lnSpc>
                <a:spcPct val="105000"/>
              </a:lnSpc>
              <a:spcAft>
                <a:spcPts val="1000"/>
              </a:spcAft>
              <a:defRPr sz="1800">
                <a:solidFill>
                  <a:srgbClr val="404040"/>
                </a:solidFill>
                <a:latin typeface="Aptos"/>
              </a:defRPr>
            </a:pPr>
            <a:r>
              <a:t>Prioritizes boundary and negative cases</a:t>
            </a:r>
          </a:p>
          <a:p>
            <a:pPr>
              <a:lnSpc>
                <a:spcPct val="105000"/>
              </a:lnSpc>
              <a:spcAft>
                <a:spcPts val="1000"/>
              </a:spcAft>
              <a:defRPr sz="1800">
                <a:solidFill>
                  <a:srgbClr val="404040"/>
                </a:solidFill>
                <a:latin typeface="Aptos"/>
              </a:defRPr>
            </a:pPr>
            <a:r>
              <a:t>Checks coverage gaps after implementation</a:t>
            </a:r>
          </a:p>
          <a:p>
            <a:pPr>
              <a:lnSpc>
                <a:spcPct val="105000"/>
              </a:lnSpc>
              <a:spcAft>
                <a:spcPts val="1000"/>
              </a:spcAft>
              <a:defRPr sz="1800">
                <a:solidFill>
                  <a:srgbClr val="404040"/>
                </a:solidFill>
                <a:latin typeface="Aptos"/>
              </a:defRPr>
            </a:pPr>
            <a:r>
              <a:t>Generates regression tests for bug fixes</a:t>
            </a:r>
          </a:p>
        </p:txBody>
      </p:sp>
      <p:sp>
        <p:nvSpPr>
          <p:cNvPr id="5" name="Rounded Rectangle 4"/>
          <p:cNvSpPr/>
          <p:nvPr/>
        </p:nvSpPr>
        <p:spPr>
          <a:xfrm>
            <a:off x="6446520" y="1554480"/>
            <a:ext cx="5074920" cy="68580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Security Agent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Performs threat modeling and secure code review</a:t>
            </a:r>
          </a:p>
          <a:p>
            <a:pPr>
              <a:lnSpc>
                <a:spcPct val="105000"/>
              </a:lnSpc>
              <a:spcAft>
                <a:spcPts val="1000"/>
              </a:spcAft>
              <a:defRPr sz="1800">
                <a:solidFill>
                  <a:srgbClr val="404040"/>
                </a:solidFill>
                <a:latin typeface="Aptos"/>
              </a:defRPr>
            </a:pPr>
            <a:r>
              <a:t>Checks authorization and data exposure</a:t>
            </a:r>
          </a:p>
          <a:p>
            <a:pPr>
              <a:lnSpc>
                <a:spcPct val="105000"/>
              </a:lnSpc>
              <a:spcAft>
                <a:spcPts val="1000"/>
              </a:spcAft>
              <a:defRPr sz="1800">
                <a:solidFill>
                  <a:srgbClr val="404040"/>
                </a:solidFill>
                <a:latin typeface="Aptos"/>
              </a:defRPr>
            </a:pPr>
            <a:r>
              <a:t>Reviews dependencies and configuration</a:t>
            </a:r>
          </a:p>
          <a:p>
            <a:pPr>
              <a:lnSpc>
                <a:spcPct val="105000"/>
              </a:lnSpc>
              <a:spcAft>
                <a:spcPts val="1000"/>
              </a:spcAft>
              <a:defRPr sz="1800">
                <a:solidFill>
                  <a:srgbClr val="404040"/>
                </a:solidFill>
                <a:latin typeface="Aptos"/>
              </a:defRPr>
            </a:pPr>
            <a:r>
              <a:t>Produces remediation tasks and evidence</a:t>
            </a:r>
          </a:p>
        </p:txBody>
      </p:sp>
      <p:sp>
        <p:nvSpPr>
          <p:cNvPr id="5" name="Rounded Rectangle 4"/>
          <p:cNvSpPr/>
          <p:nvPr/>
        </p:nvSpPr>
        <p:spPr>
          <a:xfrm>
            <a:off x="6446520" y="1554480"/>
            <a:ext cx="5074920" cy="68580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DevOps Agent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Creates CI/CD pipeline drafts</a:t>
            </a:r>
          </a:p>
          <a:p>
            <a:pPr>
              <a:lnSpc>
                <a:spcPct val="105000"/>
              </a:lnSpc>
              <a:spcAft>
                <a:spcPts val="1000"/>
              </a:spcAft>
              <a:defRPr sz="1800">
                <a:solidFill>
                  <a:srgbClr val="404040"/>
                </a:solidFill>
                <a:latin typeface="Aptos"/>
              </a:defRPr>
            </a:pPr>
            <a:r>
              <a:t>Adds build, test, scan and deployment automation</a:t>
            </a:r>
          </a:p>
          <a:p>
            <a:pPr>
              <a:lnSpc>
                <a:spcPct val="105000"/>
              </a:lnSpc>
              <a:spcAft>
                <a:spcPts val="1000"/>
              </a:spcAft>
              <a:defRPr sz="1800">
                <a:solidFill>
                  <a:srgbClr val="404040"/>
                </a:solidFill>
                <a:latin typeface="Aptos"/>
              </a:defRPr>
            </a:pPr>
            <a:r>
              <a:t>Checks environment configuration</a:t>
            </a:r>
          </a:p>
          <a:p>
            <a:pPr>
              <a:lnSpc>
                <a:spcPct val="105000"/>
              </a:lnSpc>
              <a:spcAft>
                <a:spcPts val="1000"/>
              </a:spcAft>
              <a:defRPr sz="1800">
                <a:solidFill>
                  <a:srgbClr val="404040"/>
                </a:solidFill>
                <a:latin typeface="Aptos"/>
              </a:defRPr>
            </a:pPr>
            <a:r>
              <a:t>Generates rollback and smoke-test plans</a:t>
            </a:r>
          </a:p>
        </p:txBody>
      </p:sp>
      <p:sp>
        <p:nvSpPr>
          <p:cNvPr id="5" name="Rounded Rectangle 4"/>
          <p:cNvSpPr/>
          <p:nvPr/>
        </p:nvSpPr>
        <p:spPr>
          <a:xfrm>
            <a:off x="6217920" y="1600200"/>
            <a:ext cx="777240" cy="658368"/>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Commit</a:t>
            </a:r>
          </a:p>
        </p:txBody>
      </p:sp>
      <p:cxnSp>
        <p:nvCxnSpPr>
          <p:cNvPr id="6" name="Connector 5"/>
          <p:cNvCxnSpPr/>
          <p:nvPr/>
        </p:nvCxnSpPr>
        <p:spPr>
          <a:xfrm>
            <a:off x="6995159" y="1929384"/>
            <a:ext cx="137161"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132320" y="1600200"/>
            <a:ext cx="777240" cy="658368"/>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Build</a:t>
            </a:r>
          </a:p>
        </p:txBody>
      </p:sp>
      <p:cxnSp>
        <p:nvCxnSpPr>
          <p:cNvPr id="8" name="Connector 7"/>
          <p:cNvCxnSpPr/>
          <p:nvPr/>
        </p:nvCxnSpPr>
        <p:spPr>
          <a:xfrm>
            <a:off x="79095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46720" y="1600200"/>
            <a:ext cx="777240" cy="658368"/>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Unit</a:t>
            </a:r>
            <a:br/>
            <a:r>
              <a:t>Tests</a:t>
            </a:r>
          </a:p>
        </p:txBody>
      </p:sp>
      <p:cxnSp>
        <p:nvCxnSpPr>
          <p:cNvPr id="10" name="Connector 9"/>
          <p:cNvCxnSpPr/>
          <p:nvPr/>
        </p:nvCxnSpPr>
        <p:spPr>
          <a:xfrm>
            <a:off x="88239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61120" y="1600200"/>
            <a:ext cx="777240" cy="658368"/>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SAST</a:t>
            </a:r>
          </a:p>
        </p:txBody>
      </p:sp>
      <p:cxnSp>
        <p:nvCxnSpPr>
          <p:cNvPr id="12" name="Connector 11"/>
          <p:cNvCxnSpPr/>
          <p:nvPr/>
        </p:nvCxnSpPr>
        <p:spPr>
          <a:xfrm>
            <a:off x="97383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875520" y="1600200"/>
            <a:ext cx="777240" cy="658368"/>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Docker</a:t>
            </a:r>
            <a:br/>
            <a:r>
              <a:t>Image</a:t>
            </a:r>
          </a:p>
        </p:txBody>
      </p:sp>
      <p:cxnSp>
        <p:nvCxnSpPr>
          <p:cNvPr id="14" name="Connector 13"/>
          <p:cNvCxnSpPr/>
          <p:nvPr/>
        </p:nvCxnSpPr>
        <p:spPr>
          <a:xfrm>
            <a:off x="106527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789920" y="1600200"/>
            <a:ext cx="777240" cy="658368"/>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Deploy</a:t>
            </a:r>
          </a:p>
        </p:txBody>
      </p:sp>
      <p:cxnSp>
        <p:nvCxnSpPr>
          <p:cNvPr id="16" name="Connector 15"/>
          <p:cNvCxnSpPr/>
          <p:nvPr/>
        </p:nvCxnSpPr>
        <p:spPr>
          <a:xfrm>
            <a:off x="115671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77295" y="1600200"/>
            <a:ext cx="777240" cy="658368"/>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Smoke</a:t>
            </a:r>
            <a:br/>
            <a:r>
              <a:t>Tests</a:t>
            </a:r>
          </a:p>
        </p:txBody>
      </p:sp>
      <p:sp>
        <p:nvSpPr>
          <p:cNvPr id="18" name="Rounded Rectangle 17"/>
          <p:cNvSpPr/>
          <p:nvPr/>
        </p:nvSpPr>
        <p:spPr>
          <a:xfrm>
            <a:off x="6446520" y="2788920"/>
            <a:ext cx="4983480" cy="594360"/>
          </a:xfrm>
          <a:prstGeom prst="roundRect">
            <a:avLst/>
          </a:prstGeom>
          <a:solidFill>
            <a:srgbClr val="FFF2CC"/>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Quality gates: coverage, vulnerabilities, linting, performance budget</a:t>
            </a:r>
          </a:p>
        </p:txBody>
      </p:sp>
      <p:sp>
        <p:nvSpPr>
          <p:cNvPr id="19" name="Rounded Rectangle 18"/>
          <p:cNvSpPr/>
          <p:nvPr/>
        </p:nvSpPr>
        <p:spPr>
          <a:xfrm>
            <a:off x="6446520" y="3703320"/>
            <a:ext cx="4983480" cy="59436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Release strategy: staging → approval → production → rollback plan</a:t>
            </a:r>
          </a:p>
        </p:txBody>
      </p:sp>
      <p:sp>
        <p:nvSpPr>
          <p:cNvPr id="20" name="Rectangle 19"/>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22" name="TextBox 21"/>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Agent Orchestration Workflow</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Planner breaks the goal into tasks</a:t>
            </a:r>
          </a:p>
          <a:p>
            <a:pPr>
              <a:lnSpc>
                <a:spcPct val="105000"/>
              </a:lnSpc>
              <a:spcAft>
                <a:spcPts val="1000"/>
              </a:spcAft>
              <a:defRPr sz="1800">
                <a:solidFill>
                  <a:srgbClr val="404040"/>
                </a:solidFill>
                <a:latin typeface="Aptos"/>
              </a:defRPr>
            </a:pPr>
            <a:r>
              <a:t>Specialist agents produce artifacts</a:t>
            </a:r>
          </a:p>
          <a:p>
            <a:pPr>
              <a:lnSpc>
                <a:spcPct val="105000"/>
              </a:lnSpc>
              <a:spcAft>
                <a:spcPts val="1000"/>
              </a:spcAft>
              <a:defRPr sz="1800">
                <a:solidFill>
                  <a:srgbClr val="404040"/>
                </a:solidFill>
                <a:latin typeface="Aptos"/>
              </a:defRPr>
            </a:pPr>
            <a:r>
              <a:t>Reviewer agents challenge assumptions</a:t>
            </a:r>
          </a:p>
          <a:p>
            <a:pPr>
              <a:lnSpc>
                <a:spcPct val="105000"/>
              </a:lnSpc>
              <a:spcAft>
                <a:spcPts val="1000"/>
              </a:spcAft>
              <a:defRPr sz="1800">
                <a:solidFill>
                  <a:srgbClr val="404040"/>
                </a:solidFill>
                <a:latin typeface="Aptos"/>
              </a:defRPr>
            </a:pPr>
            <a:r>
              <a:t>Human approves specs, security and release</a:t>
            </a:r>
          </a:p>
        </p:txBody>
      </p:sp>
      <p:sp>
        <p:nvSpPr>
          <p:cNvPr id="5" name="Rounded Rectangle 4"/>
          <p:cNvSpPr/>
          <p:nvPr/>
        </p:nvSpPr>
        <p:spPr>
          <a:xfrm>
            <a:off x="8458200" y="2880360"/>
            <a:ext cx="1554480" cy="68580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Orchestrator</a:t>
            </a:r>
            <a:br/>
            <a:r>
              <a:t>Planner + Memory</a:t>
            </a:r>
          </a:p>
        </p:txBody>
      </p:sp>
      <p:sp>
        <p:nvSpPr>
          <p:cNvPr id="6" name="Rounded Rectangle 5"/>
          <p:cNvSpPr/>
          <p:nvPr/>
        </p:nvSpPr>
        <p:spPr>
          <a:xfrm>
            <a:off x="6537960" y="150876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Requirements</a:t>
            </a:r>
          </a:p>
        </p:txBody>
      </p:sp>
      <p:cxnSp>
        <p:nvCxnSpPr>
          <p:cNvPr id="7" name="Connector 6"/>
          <p:cNvCxnSpPr/>
          <p:nvPr/>
        </p:nvCxnSpPr>
        <p:spPr>
          <a:xfrm>
            <a:off x="7155180" y="2011680"/>
            <a:ext cx="2080260" cy="86868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458200" y="128016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Architect</a:t>
            </a:r>
          </a:p>
        </p:txBody>
      </p:sp>
      <p:cxnSp>
        <p:nvCxnSpPr>
          <p:cNvPr id="9" name="Connector 8"/>
          <p:cNvCxnSpPr/>
          <p:nvPr/>
        </p:nvCxnSpPr>
        <p:spPr>
          <a:xfrm>
            <a:off x="9075420" y="1783080"/>
            <a:ext cx="160020" cy="109728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0378440" y="150876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Coder</a:t>
            </a:r>
          </a:p>
        </p:txBody>
      </p:sp>
      <p:cxnSp>
        <p:nvCxnSpPr>
          <p:cNvPr id="11" name="Connector 10"/>
          <p:cNvCxnSpPr/>
          <p:nvPr/>
        </p:nvCxnSpPr>
        <p:spPr>
          <a:xfrm flipH="1">
            <a:off x="9235440" y="2011680"/>
            <a:ext cx="1760220" cy="86868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537960" y="457200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Tester</a:t>
            </a:r>
          </a:p>
        </p:txBody>
      </p:sp>
      <p:cxnSp>
        <p:nvCxnSpPr>
          <p:cNvPr id="13" name="Connector 12"/>
          <p:cNvCxnSpPr/>
          <p:nvPr/>
        </p:nvCxnSpPr>
        <p:spPr>
          <a:xfrm flipV="1">
            <a:off x="7155180" y="3566160"/>
            <a:ext cx="2080260" cy="15087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458200" y="480060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Security</a:t>
            </a:r>
          </a:p>
        </p:txBody>
      </p:sp>
      <p:cxnSp>
        <p:nvCxnSpPr>
          <p:cNvPr id="15" name="Connector 14"/>
          <p:cNvCxnSpPr/>
          <p:nvPr/>
        </p:nvCxnSpPr>
        <p:spPr>
          <a:xfrm flipV="1">
            <a:off x="9075420" y="3566160"/>
            <a:ext cx="160020" cy="1737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378440" y="4572000"/>
            <a:ext cx="1234440" cy="502920"/>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1">
                <a:solidFill>
                  <a:srgbClr val="404040"/>
                </a:solidFill>
                <a:latin typeface="Aptos"/>
              </a:defRPr>
            </a:pPr>
            <a:r>
              <a:t>DevOps</a:t>
            </a:r>
          </a:p>
        </p:txBody>
      </p:sp>
      <p:cxnSp>
        <p:nvCxnSpPr>
          <p:cNvPr id="17" name="Connector 16"/>
          <p:cNvCxnSpPr/>
          <p:nvPr/>
        </p:nvCxnSpPr>
        <p:spPr>
          <a:xfrm flipH="1" flipV="1">
            <a:off x="9235440" y="3566160"/>
            <a:ext cx="1760220" cy="15087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20" name="TextBox 1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E2EFDA"/>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Model Context Protocol and Tool Connectivity</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Agents need controlled access to tools and context</a:t>
            </a:r>
          </a:p>
          <a:p>
            <a:pPr>
              <a:lnSpc>
                <a:spcPct val="105000"/>
              </a:lnSpc>
              <a:spcAft>
                <a:spcPts val="1000"/>
              </a:spcAft>
              <a:defRPr sz="1800">
                <a:solidFill>
                  <a:srgbClr val="404040"/>
                </a:solidFill>
                <a:latin typeface="Aptos"/>
              </a:defRPr>
            </a:pPr>
            <a:r>
              <a:t>Context may include repository, specs, issues and test results</a:t>
            </a:r>
          </a:p>
          <a:p>
            <a:pPr>
              <a:lnSpc>
                <a:spcPct val="105000"/>
              </a:lnSpc>
              <a:spcAft>
                <a:spcPts val="1000"/>
              </a:spcAft>
              <a:defRPr sz="1800">
                <a:solidFill>
                  <a:srgbClr val="404040"/>
                </a:solidFill>
                <a:latin typeface="Aptos"/>
              </a:defRPr>
            </a:pPr>
            <a:r>
              <a:t>Tool access must be permissioned and auditable</a:t>
            </a:r>
          </a:p>
          <a:p>
            <a:pPr>
              <a:lnSpc>
                <a:spcPct val="105000"/>
              </a:lnSpc>
              <a:spcAft>
                <a:spcPts val="1000"/>
              </a:spcAft>
              <a:defRPr sz="1800">
                <a:solidFill>
                  <a:srgbClr val="404040"/>
                </a:solidFill>
                <a:latin typeface="Aptos"/>
              </a:defRPr>
            </a:pPr>
            <a:r>
              <a:t>Good context improves output quality and reduces hallucination</a:t>
            </a:r>
          </a:p>
        </p:txBody>
      </p:sp>
      <p:sp>
        <p:nvSpPr>
          <p:cNvPr id="5" name="Rounded Rectangle 4"/>
          <p:cNvSpPr/>
          <p:nvPr/>
        </p:nvSpPr>
        <p:spPr>
          <a:xfrm>
            <a:off x="6446520" y="1554480"/>
            <a:ext cx="5074920" cy="685800"/>
          </a:xfrm>
          <a:prstGeom prst="round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70AD47"/>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Multi-Agent</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CE4D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AI Governance for Software Development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Define acceptable AI use in teaching and projects</a:t>
            </a:r>
          </a:p>
          <a:p>
            <a:pPr>
              <a:lnSpc>
                <a:spcPct val="105000"/>
              </a:lnSpc>
              <a:spcAft>
                <a:spcPts val="1000"/>
              </a:spcAft>
              <a:defRPr sz="1800">
                <a:solidFill>
                  <a:srgbClr val="404040"/>
                </a:solidFill>
                <a:latin typeface="Aptos"/>
              </a:defRPr>
            </a:pPr>
            <a:r>
              <a:t>Protect data, privacy and intellectual property</a:t>
            </a:r>
          </a:p>
          <a:p>
            <a:pPr>
              <a:lnSpc>
                <a:spcPct val="105000"/>
              </a:lnSpc>
              <a:spcAft>
                <a:spcPts val="1000"/>
              </a:spcAft>
              <a:defRPr sz="1800">
                <a:solidFill>
                  <a:srgbClr val="404040"/>
                </a:solidFill>
                <a:latin typeface="Aptos"/>
              </a:defRPr>
            </a:pPr>
            <a:r>
              <a:t>Require human review for critical decisions</a:t>
            </a:r>
          </a:p>
          <a:p>
            <a:pPr>
              <a:lnSpc>
                <a:spcPct val="105000"/>
              </a:lnSpc>
              <a:spcAft>
                <a:spcPts val="1000"/>
              </a:spcAft>
              <a:defRPr sz="1800">
                <a:solidFill>
                  <a:srgbClr val="404040"/>
                </a:solidFill>
                <a:latin typeface="Aptos"/>
              </a:defRPr>
            </a:pPr>
            <a:r>
              <a:t>Maintain audit trails for generated artifacts</a:t>
            </a:r>
          </a:p>
        </p:txBody>
      </p:sp>
      <p:sp>
        <p:nvSpPr>
          <p:cNvPr id="5" name="Rounded Rectangle 4"/>
          <p:cNvSpPr/>
          <p:nvPr/>
        </p:nvSpPr>
        <p:spPr>
          <a:xfrm>
            <a:off x="6400800" y="1508760"/>
            <a:ext cx="1234440" cy="54864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Policy</a:t>
            </a:r>
          </a:p>
        </p:txBody>
      </p:sp>
      <p:sp>
        <p:nvSpPr>
          <p:cNvPr id="6" name="Rounded Rectangle 5"/>
          <p:cNvSpPr/>
          <p:nvPr/>
        </p:nvSpPr>
        <p:spPr>
          <a:xfrm>
            <a:off x="8229600" y="1508760"/>
            <a:ext cx="1234440" cy="54864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Data</a:t>
            </a:r>
          </a:p>
        </p:txBody>
      </p:sp>
      <p:sp>
        <p:nvSpPr>
          <p:cNvPr id="7" name="Rounded Rectangle 6"/>
          <p:cNvSpPr/>
          <p:nvPr/>
        </p:nvSpPr>
        <p:spPr>
          <a:xfrm>
            <a:off x="10058400" y="1508760"/>
            <a:ext cx="1234440" cy="54864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Model</a:t>
            </a:r>
          </a:p>
        </p:txBody>
      </p:sp>
      <p:sp>
        <p:nvSpPr>
          <p:cNvPr id="8" name="Rounded Rectangle 7"/>
          <p:cNvSpPr/>
          <p:nvPr/>
        </p:nvSpPr>
        <p:spPr>
          <a:xfrm>
            <a:off x="7315200" y="2788920"/>
            <a:ext cx="1417320" cy="548640"/>
          </a:xfrm>
          <a:prstGeom prst="roundRect">
            <a:avLst/>
          </a:prstGeom>
          <a:solidFill>
            <a:srgbClr val="FFF2CC"/>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Human Review</a:t>
            </a:r>
          </a:p>
        </p:txBody>
      </p:sp>
      <p:sp>
        <p:nvSpPr>
          <p:cNvPr id="9" name="Rounded Rectangle 8"/>
          <p:cNvSpPr/>
          <p:nvPr/>
        </p:nvSpPr>
        <p:spPr>
          <a:xfrm>
            <a:off x="9144000" y="2788920"/>
            <a:ext cx="1417320" cy="548640"/>
          </a:xfrm>
          <a:prstGeom prst="roundRect">
            <a:avLst/>
          </a:prstGeom>
          <a:solidFill>
            <a:srgbClr val="FFF2CC"/>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Audit Trail</a:t>
            </a:r>
          </a:p>
        </p:txBody>
      </p:sp>
      <p:sp>
        <p:nvSpPr>
          <p:cNvPr id="10" name="Rounded Rectangle 9"/>
          <p:cNvSpPr/>
          <p:nvPr/>
        </p:nvSpPr>
        <p:spPr>
          <a:xfrm>
            <a:off x="7498079" y="4160520"/>
            <a:ext cx="2926080" cy="685800"/>
          </a:xfrm>
          <a:prstGeom prst="roundRect">
            <a:avLst/>
          </a:prstGeom>
          <a:solidFill>
            <a:srgbClr val="FCE4D6"/>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Responsible AI Practice</a:t>
            </a:r>
          </a:p>
        </p:txBody>
      </p:sp>
      <p:cxnSp>
        <p:nvCxnSpPr>
          <p:cNvPr id="11" name="Connector 10"/>
          <p:cNvCxnSpPr/>
          <p:nvPr/>
        </p:nvCxnSpPr>
        <p:spPr>
          <a:xfrm>
            <a:off x="7018020" y="2057400"/>
            <a:ext cx="1005840" cy="73152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8023860" y="2057400"/>
            <a:ext cx="822960" cy="73152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9852660" y="2057400"/>
            <a:ext cx="822960" cy="73152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023860" y="3337560"/>
            <a:ext cx="937260" cy="8229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8961120" y="3337560"/>
            <a:ext cx="891540" cy="8229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Governance</a:t>
            </a:r>
          </a:p>
        </p:txBody>
      </p:sp>
      <p:sp>
        <p:nvSpPr>
          <p:cNvPr id="18" name="TextBox 1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CE4D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Responsible AI Principles in Practice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Fairness: avoid biased assumptions in generated systems</a:t>
            </a:r>
          </a:p>
          <a:p>
            <a:pPr>
              <a:lnSpc>
                <a:spcPct val="105000"/>
              </a:lnSpc>
              <a:spcAft>
                <a:spcPts val="1000"/>
              </a:spcAft>
              <a:defRPr sz="1800">
                <a:solidFill>
                  <a:srgbClr val="404040"/>
                </a:solidFill>
                <a:latin typeface="Aptos"/>
              </a:defRPr>
            </a:pPr>
            <a:r>
              <a:t>Reliability: validate outputs with tests and evidence</a:t>
            </a:r>
          </a:p>
          <a:p>
            <a:pPr>
              <a:lnSpc>
                <a:spcPct val="105000"/>
              </a:lnSpc>
              <a:spcAft>
                <a:spcPts val="1000"/>
              </a:spcAft>
              <a:defRPr sz="1800">
                <a:solidFill>
                  <a:srgbClr val="404040"/>
                </a:solidFill>
                <a:latin typeface="Aptos"/>
              </a:defRPr>
            </a:pPr>
            <a:r>
              <a:t>Privacy: minimize sensitive data exposure</a:t>
            </a:r>
          </a:p>
          <a:p>
            <a:pPr>
              <a:lnSpc>
                <a:spcPct val="105000"/>
              </a:lnSpc>
              <a:spcAft>
                <a:spcPts val="1000"/>
              </a:spcAft>
              <a:defRPr sz="1800">
                <a:solidFill>
                  <a:srgbClr val="404040"/>
                </a:solidFill>
                <a:latin typeface="Aptos"/>
              </a:defRPr>
            </a:pPr>
            <a:r>
              <a:t>Transparency: document AI usage and limitations</a:t>
            </a:r>
          </a:p>
        </p:txBody>
      </p:sp>
      <p:sp>
        <p:nvSpPr>
          <p:cNvPr id="5" name="Rounded Rectangle 4"/>
          <p:cNvSpPr/>
          <p:nvPr/>
        </p:nvSpPr>
        <p:spPr>
          <a:xfrm>
            <a:off x="6400800" y="1508760"/>
            <a:ext cx="1234440" cy="54864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Policy</a:t>
            </a:r>
          </a:p>
        </p:txBody>
      </p:sp>
      <p:sp>
        <p:nvSpPr>
          <p:cNvPr id="6" name="Rounded Rectangle 5"/>
          <p:cNvSpPr/>
          <p:nvPr/>
        </p:nvSpPr>
        <p:spPr>
          <a:xfrm>
            <a:off x="8229600" y="1508760"/>
            <a:ext cx="1234440" cy="54864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Data</a:t>
            </a:r>
          </a:p>
        </p:txBody>
      </p:sp>
      <p:sp>
        <p:nvSpPr>
          <p:cNvPr id="7" name="Rounded Rectangle 6"/>
          <p:cNvSpPr/>
          <p:nvPr/>
        </p:nvSpPr>
        <p:spPr>
          <a:xfrm>
            <a:off x="10058400" y="1508760"/>
            <a:ext cx="1234440" cy="54864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Model</a:t>
            </a:r>
          </a:p>
        </p:txBody>
      </p:sp>
      <p:sp>
        <p:nvSpPr>
          <p:cNvPr id="8" name="Rounded Rectangle 7"/>
          <p:cNvSpPr/>
          <p:nvPr/>
        </p:nvSpPr>
        <p:spPr>
          <a:xfrm>
            <a:off x="7315200" y="2788920"/>
            <a:ext cx="1417320" cy="548640"/>
          </a:xfrm>
          <a:prstGeom prst="roundRect">
            <a:avLst/>
          </a:prstGeom>
          <a:solidFill>
            <a:srgbClr val="FFF2CC"/>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Human Review</a:t>
            </a:r>
          </a:p>
        </p:txBody>
      </p:sp>
      <p:sp>
        <p:nvSpPr>
          <p:cNvPr id="9" name="Rounded Rectangle 8"/>
          <p:cNvSpPr/>
          <p:nvPr/>
        </p:nvSpPr>
        <p:spPr>
          <a:xfrm>
            <a:off x="9144000" y="2788920"/>
            <a:ext cx="1417320" cy="548640"/>
          </a:xfrm>
          <a:prstGeom prst="roundRect">
            <a:avLst/>
          </a:prstGeom>
          <a:solidFill>
            <a:srgbClr val="FFF2CC"/>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100" b="1">
                <a:solidFill>
                  <a:srgbClr val="404040"/>
                </a:solidFill>
                <a:latin typeface="Aptos"/>
              </a:defRPr>
            </a:pPr>
            <a:r>
              <a:t>Audit Trail</a:t>
            </a:r>
          </a:p>
        </p:txBody>
      </p:sp>
      <p:sp>
        <p:nvSpPr>
          <p:cNvPr id="10" name="Rounded Rectangle 9"/>
          <p:cNvSpPr/>
          <p:nvPr/>
        </p:nvSpPr>
        <p:spPr>
          <a:xfrm>
            <a:off x="7498079" y="4160520"/>
            <a:ext cx="2926080" cy="685800"/>
          </a:xfrm>
          <a:prstGeom prst="roundRect">
            <a:avLst/>
          </a:prstGeom>
          <a:solidFill>
            <a:srgbClr val="FCE4D6"/>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Responsible AI Practice</a:t>
            </a:r>
          </a:p>
        </p:txBody>
      </p:sp>
      <p:cxnSp>
        <p:nvCxnSpPr>
          <p:cNvPr id="11" name="Connector 10"/>
          <p:cNvCxnSpPr/>
          <p:nvPr/>
        </p:nvCxnSpPr>
        <p:spPr>
          <a:xfrm>
            <a:off x="7018020" y="2057400"/>
            <a:ext cx="1005840" cy="73152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8023860" y="2057400"/>
            <a:ext cx="822960" cy="73152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9852660" y="2057400"/>
            <a:ext cx="822960" cy="73152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023860" y="3337560"/>
            <a:ext cx="937260" cy="8229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8961120" y="3337560"/>
            <a:ext cx="891540" cy="8229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Governance</a:t>
            </a:r>
          </a:p>
        </p:txBody>
      </p:sp>
      <p:sp>
        <p:nvSpPr>
          <p:cNvPr id="18" name="TextBox 1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CE4D6"/>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Academic Integrity and Assessment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Assess understanding, not only final code</a:t>
            </a:r>
          </a:p>
          <a:p>
            <a:pPr>
              <a:lnSpc>
                <a:spcPct val="105000"/>
              </a:lnSpc>
              <a:spcAft>
                <a:spcPts val="1000"/>
              </a:spcAft>
              <a:defRPr sz="1800">
                <a:solidFill>
                  <a:srgbClr val="404040"/>
                </a:solidFill>
                <a:latin typeface="Aptos"/>
              </a:defRPr>
            </a:pPr>
            <a:r>
              <a:t>Require prompts, specs, tests and reflection notes</a:t>
            </a:r>
          </a:p>
          <a:p>
            <a:pPr>
              <a:lnSpc>
                <a:spcPct val="105000"/>
              </a:lnSpc>
              <a:spcAft>
                <a:spcPts val="1000"/>
              </a:spcAft>
              <a:defRPr sz="1800">
                <a:solidFill>
                  <a:srgbClr val="404040"/>
                </a:solidFill>
                <a:latin typeface="Aptos"/>
              </a:defRPr>
            </a:pPr>
            <a:r>
              <a:t>Use viva-style explanation for generated code</a:t>
            </a:r>
          </a:p>
          <a:p>
            <a:pPr>
              <a:lnSpc>
                <a:spcPct val="105000"/>
              </a:lnSpc>
              <a:spcAft>
                <a:spcPts val="1000"/>
              </a:spcAft>
              <a:defRPr sz="1800">
                <a:solidFill>
                  <a:srgbClr val="404040"/>
                </a:solidFill>
                <a:latin typeface="Aptos"/>
              </a:defRPr>
            </a:pPr>
            <a:r>
              <a:t>Reward validation and critical review</a:t>
            </a:r>
          </a:p>
        </p:txBody>
      </p:sp>
      <p:sp>
        <p:nvSpPr>
          <p:cNvPr id="5" name="Rounded Rectangle 4"/>
          <p:cNvSpPr/>
          <p:nvPr/>
        </p:nvSpPr>
        <p:spPr>
          <a:xfrm>
            <a:off x="6446520" y="1554480"/>
            <a:ext cx="5074920" cy="685800"/>
          </a:xfrm>
          <a:prstGeom prst="roundRect">
            <a:avLst/>
          </a:prstGeom>
          <a:solidFill>
            <a:srgbClr val="FFFFFF"/>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C00000"/>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Governance</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Hands-On Lab Structure: 2–3 Hours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600">
                <a:solidFill>
                  <a:srgbClr val="404040"/>
                </a:solidFill>
                <a:latin typeface="Aptos"/>
              </a:defRPr>
            </a:pPr>
            <a:r>
              <a:t>30 min: requirements, prompts and architecture</a:t>
            </a:r>
          </a:p>
          <a:p>
            <a:pPr>
              <a:lnSpc>
                <a:spcPct val="105000"/>
              </a:lnSpc>
              <a:spcAft>
                <a:spcPts val="1000"/>
              </a:spcAft>
              <a:defRPr sz="1600">
                <a:solidFill>
                  <a:srgbClr val="404040"/>
                </a:solidFill>
                <a:latin typeface="Aptos"/>
              </a:defRPr>
            </a:pPr>
            <a:r>
              <a:t>45 min: backend vertical slice</a:t>
            </a:r>
          </a:p>
          <a:p>
            <a:pPr>
              <a:lnSpc>
                <a:spcPct val="105000"/>
              </a:lnSpc>
              <a:spcAft>
                <a:spcPts val="1000"/>
              </a:spcAft>
              <a:defRPr sz="1600">
                <a:solidFill>
                  <a:srgbClr val="404040"/>
                </a:solidFill>
                <a:latin typeface="Aptos"/>
              </a:defRPr>
            </a:pPr>
            <a:r>
              <a:t>30 min: frontend/API integration</a:t>
            </a:r>
          </a:p>
          <a:p>
            <a:pPr>
              <a:lnSpc>
                <a:spcPct val="105000"/>
              </a:lnSpc>
              <a:spcAft>
                <a:spcPts val="1000"/>
              </a:spcAft>
              <a:defRPr sz="1600">
                <a:solidFill>
                  <a:srgbClr val="404040"/>
                </a:solidFill>
                <a:latin typeface="Aptos"/>
              </a:defRPr>
            </a:pPr>
            <a:r>
              <a:t>30 min: tests and review</a:t>
            </a:r>
          </a:p>
          <a:p>
            <a:pPr>
              <a:lnSpc>
                <a:spcPct val="105000"/>
              </a:lnSpc>
              <a:spcAft>
                <a:spcPts val="1000"/>
              </a:spcAft>
              <a:defRPr sz="1600">
                <a:solidFill>
                  <a:srgbClr val="404040"/>
                </a:solidFill>
                <a:latin typeface="Aptos"/>
              </a:defRPr>
            </a:pPr>
            <a:r>
              <a:t>30 min: CI/CD, security and performance extension</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Teaching</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66</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Lab Exercise 1: Create the Specification</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Participants draft requirements using the prompt template</a:t>
            </a:r>
          </a:p>
          <a:p>
            <a:pPr>
              <a:lnSpc>
                <a:spcPct val="105000"/>
              </a:lnSpc>
              <a:spcAft>
                <a:spcPts val="1000"/>
              </a:spcAft>
              <a:defRPr sz="1800">
                <a:solidFill>
                  <a:srgbClr val="404040"/>
                </a:solidFill>
                <a:latin typeface="Aptos"/>
              </a:defRPr>
            </a:pPr>
            <a:r>
              <a:t>AI refines actors, rules and acceptance criteria</a:t>
            </a:r>
          </a:p>
          <a:p>
            <a:pPr>
              <a:lnSpc>
                <a:spcPct val="105000"/>
              </a:lnSpc>
              <a:spcAft>
                <a:spcPts val="1000"/>
              </a:spcAft>
              <a:defRPr sz="1800">
                <a:solidFill>
                  <a:srgbClr val="404040"/>
                </a:solidFill>
                <a:latin typeface="Aptos"/>
              </a:defRPr>
            </a:pPr>
            <a:r>
              <a:t>Group reviews ambiguity and missing cases</a:t>
            </a:r>
          </a:p>
          <a:p>
            <a:pPr>
              <a:lnSpc>
                <a:spcPct val="105000"/>
              </a:lnSpc>
              <a:spcAft>
                <a:spcPts val="1000"/>
              </a:spcAft>
              <a:defRPr sz="1800">
                <a:solidFill>
                  <a:srgbClr val="404040"/>
                </a:solidFill>
                <a:latin typeface="Aptos"/>
              </a:defRPr>
            </a:pPr>
            <a:r>
              <a:t>Final spec becomes input to architecture</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Teaching</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Lab Exercise 2: Generate Architecture and APIs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Create block diagram and UML class model</a:t>
            </a:r>
          </a:p>
          <a:p>
            <a:pPr>
              <a:lnSpc>
                <a:spcPct val="105000"/>
              </a:lnSpc>
              <a:spcAft>
                <a:spcPts val="1000"/>
              </a:spcAft>
              <a:defRPr sz="1800">
                <a:solidFill>
                  <a:srgbClr val="404040"/>
                </a:solidFill>
                <a:latin typeface="Aptos"/>
              </a:defRPr>
            </a:pPr>
            <a:r>
              <a:t>Draft API contract for mark attendance</a:t>
            </a:r>
          </a:p>
          <a:p>
            <a:pPr>
              <a:lnSpc>
                <a:spcPct val="105000"/>
              </a:lnSpc>
              <a:spcAft>
                <a:spcPts val="1000"/>
              </a:spcAft>
              <a:defRPr sz="1800">
                <a:solidFill>
                  <a:srgbClr val="404040"/>
                </a:solidFill>
                <a:latin typeface="Aptos"/>
              </a:defRPr>
            </a:pPr>
            <a:r>
              <a:t>Review error handling and status codes</a:t>
            </a:r>
          </a:p>
          <a:p>
            <a:pPr>
              <a:lnSpc>
                <a:spcPct val="105000"/>
              </a:lnSpc>
              <a:spcAft>
                <a:spcPts val="1000"/>
              </a:spcAft>
              <a:defRPr sz="1800">
                <a:solidFill>
                  <a:srgbClr val="404040"/>
                </a:solidFill>
                <a:latin typeface="Aptos"/>
              </a:defRPr>
            </a:pPr>
            <a:r>
              <a:t>Approve architecture before implementation</a:t>
            </a:r>
          </a:p>
        </p:txBody>
      </p:sp>
      <p:sp>
        <p:nvSpPr>
          <p:cNvPr id="5" name="Rounded Rectangle 4"/>
          <p:cNvSpPr/>
          <p:nvPr/>
        </p:nvSpPr>
        <p:spPr>
          <a:xfrm>
            <a:off x="6400800" y="1417320"/>
            <a:ext cx="1874519" cy="96012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Student</a:t>
            </a:r>
            <a:br/>
            <a:r>
              <a:t>────────</a:t>
            </a:r>
            <a:br/>
            <a:r>
              <a:t>id</a:t>
            </a:r>
            <a:br/>
            <a:r>
              <a:t>name</a:t>
            </a:r>
            <a:br/>
            <a:r>
              <a:t>rollNo</a:t>
            </a:r>
          </a:p>
        </p:txBody>
      </p:sp>
      <p:sp>
        <p:nvSpPr>
          <p:cNvPr id="6" name="Rounded Rectangle 5"/>
          <p:cNvSpPr/>
          <p:nvPr/>
        </p:nvSpPr>
        <p:spPr>
          <a:xfrm>
            <a:off x="8961120" y="1417320"/>
            <a:ext cx="1874519" cy="96012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Course</a:t>
            </a:r>
            <a:br/>
            <a:r>
              <a:t>────────</a:t>
            </a:r>
            <a:br/>
            <a:r>
              <a:t>id</a:t>
            </a:r>
            <a:br/>
            <a:r>
              <a:t>code</a:t>
            </a:r>
            <a:br/>
            <a:r>
              <a:t>title</a:t>
            </a:r>
          </a:p>
        </p:txBody>
      </p:sp>
      <p:sp>
        <p:nvSpPr>
          <p:cNvPr id="7" name="Rounded Rectangle 6"/>
          <p:cNvSpPr/>
          <p:nvPr/>
        </p:nvSpPr>
        <p:spPr>
          <a:xfrm>
            <a:off x="7680960" y="2971800"/>
            <a:ext cx="1874519" cy="96012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Attendance</a:t>
            </a:r>
            <a:br/>
            <a:r>
              <a:t>────────</a:t>
            </a:r>
            <a:br/>
            <a:r>
              <a:t>id</a:t>
            </a:r>
            <a:br/>
            <a:r>
              <a:t>date</a:t>
            </a:r>
            <a:br/>
            <a:r>
              <a:t>status</a:t>
            </a:r>
          </a:p>
        </p:txBody>
      </p:sp>
      <p:sp>
        <p:nvSpPr>
          <p:cNvPr id="8" name="Rounded Rectangle 7"/>
          <p:cNvSpPr/>
          <p:nvPr/>
        </p:nvSpPr>
        <p:spPr>
          <a:xfrm>
            <a:off x="6400800" y="4480560"/>
            <a:ext cx="1874519" cy="96012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Faculty</a:t>
            </a:r>
            <a:br/>
            <a:r>
              <a:t>────────</a:t>
            </a:r>
            <a:br/>
            <a:r>
              <a:t>id</a:t>
            </a:r>
            <a:br/>
            <a:r>
              <a:t>name</a:t>
            </a:r>
            <a:br/>
            <a:r>
              <a:t>department</a:t>
            </a:r>
          </a:p>
        </p:txBody>
      </p:sp>
      <p:sp>
        <p:nvSpPr>
          <p:cNvPr id="9" name="Rounded Rectangle 8"/>
          <p:cNvSpPr/>
          <p:nvPr/>
        </p:nvSpPr>
        <p:spPr>
          <a:xfrm>
            <a:off x="8961120" y="4480560"/>
            <a:ext cx="1874519" cy="96012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000" b="0">
                <a:solidFill>
                  <a:srgbClr val="404040"/>
                </a:solidFill>
                <a:latin typeface="Aptos"/>
              </a:defRPr>
            </a:pPr>
            <a:r>
              <a:t>Report</a:t>
            </a:r>
            <a:br/>
            <a:r>
              <a:t>────────</a:t>
            </a:r>
            <a:br/>
            <a:r>
              <a:t>courseId</a:t>
            </a:r>
            <a:br/>
            <a:r>
              <a:t>period</a:t>
            </a:r>
            <a:br/>
            <a:r>
              <a:t>percentage</a:t>
            </a:r>
          </a:p>
        </p:txBody>
      </p:sp>
      <p:cxnSp>
        <p:nvCxnSpPr>
          <p:cNvPr id="10" name="Connector 9"/>
          <p:cNvCxnSpPr/>
          <p:nvPr/>
        </p:nvCxnSpPr>
        <p:spPr>
          <a:xfrm>
            <a:off x="7315200" y="2377440"/>
            <a:ext cx="91440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686800" y="2377440"/>
            <a:ext cx="1188720" cy="59436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315200" y="3931920"/>
            <a:ext cx="914400" cy="54864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8686800" y="3931920"/>
            <a:ext cx="1188720" cy="54864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Teaching</a:t>
            </a:r>
          </a:p>
        </p:txBody>
      </p:sp>
      <p:sp>
        <p:nvSpPr>
          <p:cNvPr id="16" name="TextBox 15"/>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68</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Lab Exercise 3: Implement Backend Vertical Slice</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Generate controller, service and repository for one feature</a:t>
            </a:r>
          </a:p>
          <a:p>
            <a:pPr>
              <a:lnSpc>
                <a:spcPct val="105000"/>
              </a:lnSpc>
              <a:spcAft>
                <a:spcPts val="1000"/>
              </a:spcAft>
              <a:defRPr sz="1800">
                <a:solidFill>
                  <a:srgbClr val="404040"/>
                </a:solidFill>
                <a:latin typeface="Aptos"/>
              </a:defRPr>
            </a:pPr>
            <a:r>
              <a:t>Compile and run locally</a:t>
            </a:r>
          </a:p>
          <a:p>
            <a:pPr>
              <a:lnSpc>
                <a:spcPct val="105000"/>
              </a:lnSpc>
              <a:spcAft>
                <a:spcPts val="1000"/>
              </a:spcAft>
              <a:defRPr sz="1800">
                <a:solidFill>
                  <a:srgbClr val="404040"/>
                </a:solidFill>
                <a:latin typeface="Aptos"/>
              </a:defRPr>
            </a:pPr>
            <a:r>
              <a:t>Add one positive and one negative unit test</a:t>
            </a:r>
          </a:p>
          <a:p>
            <a:pPr>
              <a:lnSpc>
                <a:spcPct val="105000"/>
              </a:lnSpc>
              <a:spcAft>
                <a:spcPts val="1000"/>
              </a:spcAft>
              <a:defRPr sz="1800">
                <a:solidFill>
                  <a:srgbClr val="404040"/>
                </a:solidFill>
                <a:latin typeface="Aptos"/>
              </a:defRPr>
            </a:pPr>
            <a:r>
              <a:t>Refactor naming and structure</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900">
                <a:solidFill>
                  <a:srgbClr val="F5F5F5"/>
                </a:solidFill>
                <a:latin typeface="Consolas"/>
              </a:defRPr>
            </a:pPr>
            <a:r>
              <a:t>@Service</a:t>
            </a:r>
          </a:p>
          <a:p>
            <a:pPr>
              <a:spcAft>
                <a:spcPts val="0"/>
              </a:spcAft>
              <a:defRPr sz="900">
                <a:solidFill>
                  <a:srgbClr val="F5F5F5"/>
                </a:solidFill>
                <a:latin typeface="Consolas"/>
              </a:defRPr>
            </a:pPr>
            <a:r>
              <a:t>@RequiredArgsConstructor</a:t>
            </a:r>
          </a:p>
          <a:p>
            <a:pPr>
              <a:spcAft>
                <a:spcPts val="0"/>
              </a:spcAft>
              <a:defRPr sz="900">
                <a:solidFill>
                  <a:srgbClr val="F5F5F5"/>
                </a:solidFill>
                <a:latin typeface="Consolas"/>
              </a:defRPr>
            </a:pPr>
            <a:r>
              <a:t>class AttendanceService {</a:t>
            </a:r>
          </a:p>
          <a:p>
            <a:pPr>
              <a:spcAft>
                <a:spcPts val="0"/>
              </a:spcAft>
              <a:defRPr sz="900">
                <a:solidFill>
                  <a:srgbClr val="F5F5F5"/>
                </a:solidFill>
                <a:latin typeface="Consolas"/>
              </a:defRPr>
            </a:pPr>
            <a:r>
              <a:t>  public AttendanceResponse markAttendance(MarkAttendanceRequest req, String facultyId) {</a:t>
            </a:r>
          </a:p>
          <a:p>
            <a:pPr>
              <a:spcAft>
                <a:spcPts val="0"/>
              </a:spcAft>
              <a:defRPr sz="900">
                <a:solidFill>
                  <a:srgbClr val="F5F5F5"/>
                </a:solidFill>
                <a:latin typeface="Consolas"/>
              </a:defRPr>
            </a:pPr>
            <a:r>
              <a:t>    if (!courseService.isAssignedFaculty(req.courseId(), facultyId)) {</a:t>
            </a:r>
          </a:p>
          <a:p>
            <a:pPr>
              <a:spcAft>
                <a:spcPts val="0"/>
              </a:spcAft>
              <a:defRPr sz="900">
                <a:solidFill>
                  <a:srgbClr val="F5F5F5"/>
                </a:solidFill>
                <a:latin typeface="Consolas"/>
              </a:defRPr>
            </a:pPr>
            <a:r>
              <a:t>      throw new AccessDeniedException("Faculty is not assigned to this course");</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r>
              <a:t>    if (repo.existsByStudentIdAndSessionId(req.studentId(), req.sessionId())) {</a:t>
            </a:r>
          </a:p>
          <a:p>
            <a:pPr>
              <a:spcAft>
                <a:spcPts val="0"/>
              </a:spcAft>
              <a:defRPr sz="900">
                <a:solidFill>
                  <a:srgbClr val="F5F5F5"/>
                </a:solidFill>
                <a:latin typeface="Consolas"/>
              </a:defRPr>
            </a:pPr>
            <a:r>
              <a:t>      throw new DuplicateAttendanceException("Attendance already marked");</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r>
              <a:t>    var entity = Attendance.from(req, facultyId);</a:t>
            </a:r>
          </a:p>
          <a:p>
            <a:pPr>
              <a:spcAft>
                <a:spcPts val="0"/>
              </a:spcAft>
              <a:defRPr sz="900">
                <a:solidFill>
                  <a:srgbClr val="F5F5F5"/>
                </a:solidFill>
                <a:latin typeface="Consolas"/>
              </a:defRPr>
            </a:pPr>
            <a:r>
              <a:t>    return AttendanceResponse.from(repo.save(entity));</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r>
              <a:t>}</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Teaching</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69</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Lab Exercise 4: UI and API Integration</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Create a simple attendance marking form</a:t>
            </a:r>
          </a:p>
          <a:p>
            <a:pPr>
              <a:lnSpc>
                <a:spcPct val="105000"/>
              </a:lnSpc>
              <a:spcAft>
                <a:spcPts val="1000"/>
              </a:spcAft>
              <a:defRPr sz="1800">
                <a:solidFill>
                  <a:srgbClr val="404040"/>
                </a:solidFill>
                <a:latin typeface="Aptos"/>
              </a:defRPr>
            </a:pPr>
            <a:r>
              <a:t>Call backend API using the API client</a:t>
            </a:r>
          </a:p>
          <a:p>
            <a:pPr>
              <a:lnSpc>
                <a:spcPct val="105000"/>
              </a:lnSpc>
              <a:spcAft>
                <a:spcPts val="1000"/>
              </a:spcAft>
              <a:defRPr sz="1800">
                <a:solidFill>
                  <a:srgbClr val="404040"/>
                </a:solidFill>
                <a:latin typeface="Aptos"/>
              </a:defRPr>
            </a:pPr>
            <a:r>
              <a:t>Show success and validation errors</a:t>
            </a:r>
          </a:p>
          <a:p>
            <a:pPr>
              <a:lnSpc>
                <a:spcPct val="105000"/>
              </a:lnSpc>
              <a:spcAft>
                <a:spcPts val="1000"/>
              </a:spcAft>
              <a:defRPr sz="1800">
                <a:solidFill>
                  <a:srgbClr val="404040"/>
                </a:solidFill>
                <a:latin typeface="Aptos"/>
              </a:defRPr>
            </a:pPr>
            <a:r>
              <a:t>Keep visual polish secondary to correctness</a:t>
            </a:r>
          </a:p>
        </p:txBody>
      </p:sp>
      <p:sp>
        <p:nvSpPr>
          <p:cNvPr id="5" name="Rounded Rectangle 4"/>
          <p:cNvSpPr/>
          <p:nvPr/>
        </p:nvSpPr>
        <p:spPr>
          <a:xfrm>
            <a:off x="6263640" y="1463040"/>
            <a:ext cx="5257800" cy="4434840"/>
          </a:xfrm>
          <a:prstGeom prst="roundRect">
            <a:avLst/>
          </a:prstGeom>
          <a:solidFill>
            <a:srgbClr val="262626"/>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109728" tIns="73152" rIns="73152" bIns="73152" rtlCol="0" anchor="ctr"/>
          <a:lstStyle/>
          <a:p>
            <a:pPr algn="ctr">
              <a:spcAft>
                <a:spcPts val="0"/>
              </a:spcAft>
              <a:defRPr sz="900">
                <a:solidFill>
                  <a:srgbClr val="F5F5F5"/>
                </a:solidFill>
                <a:latin typeface="Consolas"/>
              </a:defRPr>
            </a:pPr>
            <a:r>
              <a:t>export async function markAttendance(request) {</a:t>
            </a:r>
          </a:p>
          <a:p>
            <a:pPr>
              <a:spcAft>
                <a:spcPts val="0"/>
              </a:spcAft>
              <a:defRPr sz="900">
                <a:solidFill>
                  <a:srgbClr val="F5F5F5"/>
                </a:solidFill>
                <a:latin typeface="Consolas"/>
              </a:defRPr>
            </a:pPr>
            <a:r>
              <a:t>  const res = await fetch('/api/attendance', {</a:t>
            </a:r>
          </a:p>
          <a:p>
            <a:pPr>
              <a:spcAft>
                <a:spcPts val="0"/>
              </a:spcAft>
              <a:defRPr sz="900">
                <a:solidFill>
                  <a:srgbClr val="F5F5F5"/>
                </a:solidFill>
                <a:latin typeface="Consolas"/>
              </a:defRPr>
            </a:pPr>
            <a:r>
              <a:t>    method: 'POST',</a:t>
            </a:r>
          </a:p>
          <a:p>
            <a:pPr>
              <a:spcAft>
                <a:spcPts val="0"/>
              </a:spcAft>
              <a:defRPr sz="900">
                <a:solidFill>
                  <a:srgbClr val="F5F5F5"/>
                </a:solidFill>
                <a:latin typeface="Consolas"/>
              </a:defRPr>
            </a:pPr>
            <a:r>
              <a:t>    headers: { 'Content-Type': 'application/json' },</a:t>
            </a:r>
          </a:p>
          <a:p>
            <a:pPr>
              <a:spcAft>
                <a:spcPts val="0"/>
              </a:spcAft>
              <a:defRPr sz="900">
                <a:solidFill>
                  <a:srgbClr val="F5F5F5"/>
                </a:solidFill>
                <a:latin typeface="Consolas"/>
              </a:defRPr>
            </a:pPr>
            <a:r>
              <a:t>    body: JSON.stringify(request)</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endParaRPr/>
          </a:p>
          <a:p>
            <a:pPr>
              <a:spcAft>
                <a:spcPts val="0"/>
              </a:spcAft>
              <a:defRPr sz="900">
                <a:solidFill>
                  <a:srgbClr val="F5F5F5"/>
                </a:solidFill>
                <a:latin typeface="Consolas"/>
              </a:defRPr>
            </a:pPr>
            <a:r>
              <a:t>  if (!res.ok) {</a:t>
            </a:r>
          </a:p>
          <a:p>
            <a:pPr>
              <a:spcAft>
                <a:spcPts val="0"/>
              </a:spcAft>
              <a:defRPr sz="900">
                <a:solidFill>
                  <a:srgbClr val="F5F5F5"/>
                </a:solidFill>
                <a:latin typeface="Consolas"/>
              </a:defRPr>
            </a:pPr>
            <a:r>
              <a:t>    const error = await res.json();</a:t>
            </a:r>
          </a:p>
          <a:p>
            <a:pPr>
              <a:spcAft>
                <a:spcPts val="0"/>
              </a:spcAft>
              <a:defRPr sz="900">
                <a:solidFill>
                  <a:srgbClr val="F5F5F5"/>
                </a:solidFill>
                <a:latin typeface="Consolas"/>
              </a:defRPr>
            </a:pPr>
            <a:r>
              <a:t>    throw new Error(error.message ?? 'Unable to mark attendance');</a:t>
            </a:r>
          </a:p>
          <a:p>
            <a:pPr>
              <a:spcAft>
                <a:spcPts val="0"/>
              </a:spcAft>
              <a:defRPr sz="900">
                <a:solidFill>
                  <a:srgbClr val="F5F5F5"/>
                </a:solidFill>
                <a:latin typeface="Consolas"/>
              </a:defRPr>
            </a:pPr>
            <a:r>
              <a:t>  }</a:t>
            </a:r>
          </a:p>
          <a:p>
            <a:pPr>
              <a:spcAft>
                <a:spcPts val="0"/>
              </a:spcAft>
              <a:defRPr sz="900">
                <a:solidFill>
                  <a:srgbClr val="F5F5F5"/>
                </a:solidFill>
                <a:latin typeface="Consolas"/>
              </a:defRPr>
            </a:pPr>
            <a:r>
              <a:t>  return res.json();</a:t>
            </a:r>
          </a:p>
          <a:p>
            <a:pPr>
              <a:spcAft>
                <a:spcPts val="0"/>
              </a:spcAft>
              <a:defRPr sz="900">
                <a:solidFill>
                  <a:srgbClr val="F5F5F5"/>
                </a:solidFill>
                <a:latin typeface="Consolas"/>
              </a:defRPr>
            </a:pPr>
            <a:r>
              <a:t>}</a:t>
            </a:r>
          </a:p>
        </p:txBody>
      </p:sp>
      <p:sp>
        <p:nvSpPr>
          <p:cNvPr id="6" name="Rectangle 5"/>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Teaching</a:t>
            </a:r>
          </a:p>
        </p:txBody>
      </p:sp>
      <p:sp>
        <p:nvSpPr>
          <p:cNvPr id="8" name="TextBox 7"/>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70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Lab Exercise 5: CI/CD and Validation</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Add GitHub Actions pipeline</a:t>
            </a:r>
          </a:p>
          <a:p>
            <a:pPr>
              <a:lnSpc>
                <a:spcPct val="105000"/>
              </a:lnSpc>
              <a:spcAft>
                <a:spcPts val="1000"/>
              </a:spcAft>
              <a:defRPr sz="1800">
                <a:solidFill>
                  <a:srgbClr val="404040"/>
                </a:solidFill>
                <a:latin typeface="Aptos"/>
              </a:defRPr>
            </a:pPr>
            <a:r>
              <a:t>Run tests on every push</a:t>
            </a:r>
          </a:p>
          <a:p>
            <a:pPr>
              <a:lnSpc>
                <a:spcPct val="105000"/>
              </a:lnSpc>
              <a:spcAft>
                <a:spcPts val="1000"/>
              </a:spcAft>
              <a:defRPr sz="1800">
                <a:solidFill>
                  <a:srgbClr val="404040"/>
                </a:solidFill>
                <a:latin typeface="Aptos"/>
              </a:defRPr>
            </a:pPr>
            <a:r>
              <a:t>Add dependency or container scan as optional extension</a:t>
            </a:r>
          </a:p>
          <a:p>
            <a:pPr>
              <a:lnSpc>
                <a:spcPct val="105000"/>
              </a:lnSpc>
              <a:spcAft>
                <a:spcPts val="1000"/>
              </a:spcAft>
              <a:defRPr sz="1800">
                <a:solidFill>
                  <a:srgbClr val="404040"/>
                </a:solidFill>
                <a:latin typeface="Aptos"/>
              </a:defRPr>
            </a:pPr>
            <a:r>
              <a:t>Run smoke test after deployment</a:t>
            </a:r>
          </a:p>
        </p:txBody>
      </p:sp>
      <p:sp>
        <p:nvSpPr>
          <p:cNvPr id="5" name="Rounded Rectangle 4"/>
          <p:cNvSpPr/>
          <p:nvPr/>
        </p:nvSpPr>
        <p:spPr>
          <a:xfrm>
            <a:off x="6217920" y="1600200"/>
            <a:ext cx="777240" cy="658368"/>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Commit</a:t>
            </a:r>
          </a:p>
        </p:txBody>
      </p:sp>
      <p:cxnSp>
        <p:nvCxnSpPr>
          <p:cNvPr id="6" name="Connector 5"/>
          <p:cNvCxnSpPr/>
          <p:nvPr/>
        </p:nvCxnSpPr>
        <p:spPr>
          <a:xfrm>
            <a:off x="6995159" y="1929384"/>
            <a:ext cx="137161"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132320" y="1600200"/>
            <a:ext cx="777240" cy="658368"/>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Build</a:t>
            </a:r>
          </a:p>
        </p:txBody>
      </p:sp>
      <p:cxnSp>
        <p:nvCxnSpPr>
          <p:cNvPr id="8" name="Connector 7"/>
          <p:cNvCxnSpPr/>
          <p:nvPr/>
        </p:nvCxnSpPr>
        <p:spPr>
          <a:xfrm>
            <a:off x="79095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46720" y="1600200"/>
            <a:ext cx="777240" cy="658368"/>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Unit</a:t>
            </a:r>
            <a:br/>
            <a:r>
              <a:t>Tests</a:t>
            </a:r>
          </a:p>
        </p:txBody>
      </p:sp>
      <p:cxnSp>
        <p:nvCxnSpPr>
          <p:cNvPr id="10" name="Connector 9"/>
          <p:cNvCxnSpPr/>
          <p:nvPr/>
        </p:nvCxnSpPr>
        <p:spPr>
          <a:xfrm>
            <a:off x="88239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961120" y="1600200"/>
            <a:ext cx="777240" cy="658368"/>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SAST</a:t>
            </a:r>
          </a:p>
        </p:txBody>
      </p:sp>
      <p:cxnSp>
        <p:nvCxnSpPr>
          <p:cNvPr id="12" name="Connector 11"/>
          <p:cNvCxnSpPr/>
          <p:nvPr/>
        </p:nvCxnSpPr>
        <p:spPr>
          <a:xfrm>
            <a:off x="97383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875520" y="1600200"/>
            <a:ext cx="777240" cy="658368"/>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Docker</a:t>
            </a:r>
            <a:br/>
            <a:r>
              <a:t>Image</a:t>
            </a:r>
          </a:p>
        </p:txBody>
      </p:sp>
      <p:cxnSp>
        <p:nvCxnSpPr>
          <p:cNvPr id="14" name="Connector 13"/>
          <p:cNvCxnSpPr/>
          <p:nvPr/>
        </p:nvCxnSpPr>
        <p:spPr>
          <a:xfrm>
            <a:off x="106527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789920" y="1600200"/>
            <a:ext cx="777240" cy="658368"/>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Deploy</a:t>
            </a:r>
          </a:p>
        </p:txBody>
      </p:sp>
      <p:cxnSp>
        <p:nvCxnSpPr>
          <p:cNvPr id="16" name="Connector 15"/>
          <p:cNvCxnSpPr/>
          <p:nvPr/>
        </p:nvCxnSpPr>
        <p:spPr>
          <a:xfrm>
            <a:off x="11567160" y="1929384"/>
            <a:ext cx="137160"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77295" y="1600200"/>
            <a:ext cx="777240" cy="658368"/>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Smoke</a:t>
            </a:r>
            <a:br/>
            <a:r>
              <a:t>Tests</a:t>
            </a:r>
          </a:p>
        </p:txBody>
      </p:sp>
      <p:sp>
        <p:nvSpPr>
          <p:cNvPr id="18" name="Rounded Rectangle 17"/>
          <p:cNvSpPr/>
          <p:nvPr/>
        </p:nvSpPr>
        <p:spPr>
          <a:xfrm>
            <a:off x="6446520" y="2788920"/>
            <a:ext cx="4983480" cy="594360"/>
          </a:xfrm>
          <a:prstGeom prst="roundRect">
            <a:avLst/>
          </a:prstGeom>
          <a:solidFill>
            <a:srgbClr val="FFF2CC"/>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Quality gates: coverage, vulnerabilities, linting, performance budget</a:t>
            </a:r>
          </a:p>
        </p:txBody>
      </p:sp>
      <p:sp>
        <p:nvSpPr>
          <p:cNvPr id="19" name="Rounded Rectangle 18"/>
          <p:cNvSpPr/>
          <p:nvPr/>
        </p:nvSpPr>
        <p:spPr>
          <a:xfrm>
            <a:off x="6446520" y="3703320"/>
            <a:ext cx="4983480" cy="594360"/>
          </a:xfrm>
          <a:prstGeom prst="roundRect">
            <a:avLst/>
          </a:prstGeom>
          <a:solidFill>
            <a:srgbClr val="E2EFDA"/>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200" b="1">
                <a:solidFill>
                  <a:srgbClr val="404040"/>
                </a:solidFill>
                <a:latin typeface="Aptos"/>
              </a:defRPr>
            </a:pPr>
            <a:r>
              <a:t>Release strategy: staging → approval → production → rollback plan</a:t>
            </a:r>
          </a:p>
        </p:txBody>
      </p:sp>
      <p:sp>
        <p:nvSpPr>
          <p:cNvPr id="20" name="Rectangle 19"/>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Teaching</a:t>
            </a:r>
          </a:p>
        </p:txBody>
      </p:sp>
      <p:sp>
        <p:nvSpPr>
          <p:cNvPr id="22" name="TextBox 21"/>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71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Instructor Guide: Common Pitfalls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Participants may ask AI for too much at once</a:t>
            </a:r>
          </a:p>
          <a:p>
            <a:pPr>
              <a:lnSpc>
                <a:spcPct val="105000"/>
              </a:lnSpc>
              <a:spcAft>
                <a:spcPts val="1000"/>
              </a:spcAft>
              <a:defRPr sz="1800">
                <a:solidFill>
                  <a:srgbClr val="404040"/>
                </a:solidFill>
                <a:latin typeface="Aptos"/>
              </a:defRPr>
            </a:pPr>
            <a:r>
              <a:t>Generated code may not compile on first attempt</a:t>
            </a:r>
          </a:p>
          <a:p>
            <a:pPr>
              <a:lnSpc>
                <a:spcPct val="105000"/>
              </a:lnSpc>
              <a:spcAft>
                <a:spcPts val="1000"/>
              </a:spcAft>
              <a:defRPr sz="1800">
                <a:solidFill>
                  <a:srgbClr val="404040"/>
                </a:solidFill>
                <a:latin typeface="Aptos"/>
              </a:defRPr>
            </a:pPr>
            <a:r>
              <a:t>Tests may be shallow unless prompted with rules</a:t>
            </a:r>
          </a:p>
          <a:p>
            <a:pPr>
              <a:lnSpc>
                <a:spcPct val="105000"/>
              </a:lnSpc>
              <a:spcAft>
                <a:spcPts val="1000"/>
              </a:spcAft>
              <a:defRPr sz="1800">
                <a:solidFill>
                  <a:srgbClr val="404040"/>
                </a:solidFill>
                <a:latin typeface="Aptos"/>
              </a:defRPr>
            </a:pPr>
            <a:r>
              <a:t>Security checks are often forgotten unless required</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Teaching</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72</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Suggested Faculty Assignment</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Extend attendance system with report export</a:t>
            </a:r>
          </a:p>
          <a:p>
            <a:pPr>
              <a:lnSpc>
                <a:spcPct val="105000"/>
              </a:lnSpc>
              <a:spcAft>
                <a:spcPts val="1000"/>
              </a:spcAft>
              <a:defRPr sz="1800">
                <a:solidFill>
                  <a:srgbClr val="404040"/>
                </a:solidFill>
                <a:latin typeface="Aptos"/>
              </a:defRPr>
            </a:pPr>
            <a:r>
              <a:t>Submit spec, architecture, code, tests and AI usage log</a:t>
            </a:r>
          </a:p>
          <a:p>
            <a:pPr>
              <a:lnSpc>
                <a:spcPct val="105000"/>
              </a:lnSpc>
              <a:spcAft>
                <a:spcPts val="1000"/>
              </a:spcAft>
              <a:defRPr sz="1800">
                <a:solidFill>
                  <a:srgbClr val="404040"/>
                </a:solidFill>
                <a:latin typeface="Aptos"/>
              </a:defRPr>
            </a:pPr>
            <a:r>
              <a:t>Include security review and CI/CD evidence</a:t>
            </a:r>
          </a:p>
          <a:p>
            <a:pPr>
              <a:lnSpc>
                <a:spcPct val="105000"/>
              </a:lnSpc>
              <a:spcAft>
                <a:spcPts val="1000"/>
              </a:spcAft>
              <a:defRPr sz="1800">
                <a:solidFill>
                  <a:srgbClr val="404040"/>
                </a:solidFill>
                <a:latin typeface="Aptos"/>
              </a:defRPr>
            </a:pPr>
            <a:r>
              <a:t>Present lessons learned in a short viva</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Teaching</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73</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Research Opportunities for Faculty</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AI-assisted software engineering education</a:t>
            </a:r>
          </a:p>
          <a:p>
            <a:pPr>
              <a:lnSpc>
                <a:spcPct val="105000"/>
              </a:lnSpc>
              <a:spcAft>
                <a:spcPts val="1000"/>
              </a:spcAft>
              <a:defRPr sz="1800">
                <a:solidFill>
                  <a:srgbClr val="404040"/>
                </a:solidFill>
                <a:latin typeface="Aptos"/>
              </a:defRPr>
            </a:pPr>
            <a:r>
              <a:t>Spec-to-code traceability and quality metrics</a:t>
            </a:r>
          </a:p>
          <a:p>
            <a:pPr>
              <a:lnSpc>
                <a:spcPct val="105000"/>
              </a:lnSpc>
              <a:spcAft>
                <a:spcPts val="1000"/>
              </a:spcAft>
              <a:defRPr sz="1800">
                <a:solidFill>
                  <a:srgbClr val="404040"/>
                </a:solidFill>
                <a:latin typeface="Aptos"/>
              </a:defRPr>
            </a:pPr>
            <a:r>
              <a:t>Agentic SDLC orchestration</a:t>
            </a:r>
          </a:p>
          <a:p>
            <a:pPr>
              <a:lnSpc>
                <a:spcPct val="105000"/>
              </a:lnSpc>
              <a:spcAft>
                <a:spcPts val="1000"/>
              </a:spcAft>
              <a:defRPr sz="1800">
                <a:solidFill>
                  <a:srgbClr val="404040"/>
                </a:solidFill>
                <a:latin typeface="Aptos"/>
              </a:defRPr>
            </a:pPr>
            <a:r>
              <a:t>Security and governance of generated software</a:t>
            </a:r>
          </a:p>
        </p:txBody>
      </p:sp>
      <p:sp>
        <p:nvSpPr>
          <p:cNvPr id="5" name="Rounded Rectangle 4"/>
          <p:cNvSpPr/>
          <p:nvPr/>
        </p:nvSpPr>
        <p:spPr>
          <a:xfrm>
            <a:off x="6446520" y="1554480"/>
            <a:ext cx="5074920" cy="685800"/>
          </a:xfrm>
          <a:prstGeom prst="roundRect">
            <a:avLst/>
          </a:prstGeom>
          <a:solidFill>
            <a:srgbClr val="FFFFFF"/>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ED7D31"/>
                </a:solidFill>
                <a:latin typeface="Aptos"/>
              </a:defRPr>
            </a:pPr>
            <a:r>
              <a:t>Teaching focus: explain → demonstrate → validate → reflect</a:t>
            </a:r>
          </a:p>
        </p:txBody>
      </p:sp>
      <p:sp>
        <p:nvSpPr>
          <p:cNvPr id="6" name="Rounded Rectangle 5"/>
          <p:cNvSpPr/>
          <p:nvPr/>
        </p:nvSpPr>
        <p:spPr>
          <a:xfrm>
            <a:off x="7360920" y="2743200"/>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500" b="1">
                <a:solidFill>
                  <a:srgbClr val="404040"/>
                </a:solidFill>
                <a:latin typeface="Aptos"/>
              </a:defRPr>
            </a:pPr>
            <a:r>
              <a:t>Running example:</a:t>
            </a:r>
            <a:br/>
            <a:r>
              <a:t>Faculty Attendance System</a:t>
            </a:r>
          </a:p>
        </p:txBody>
      </p:sp>
      <p:sp>
        <p:nvSpPr>
          <p:cNvPr id="7" name="Rounded Rectangle 6"/>
          <p:cNvSpPr/>
          <p:nvPr/>
        </p:nvSpPr>
        <p:spPr>
          <a:xfrm>
            <a:off x="7360920" y="3977639"/>
            <a:ext cx="3246120" cy="868680"/>
          </a:xfrm>
          <a:prstGeom prst="roundRect">
            <a:avLst/>
          </a:prstGeom>
          <a:solidFill>
            <a:srgbClr val="FFFFFF"/>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1300" b="1">
                <a:solidFill>
                  <a:srgbClr val="404040"/>
                </a:solidFill>
                <a:latin typeface="Aptos"/>
              </a:defRPr>
            </a:pPr>
            <a:r>
              <a:t>Artifacts:</a:t>
            </a:r>
            <a:br/>
            <a:r>
              <a:t>Spec • API • Code • Tests • Pipeline</a:t>
            </a:r>
          </a:p>
        </p:txBody>
      </p:sp>
      <p:sp>
        <p:nvSpPr>
          <p:cNvPr id="8" name="Rectangle 7"/>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Teaching</a:t>
            </a:r>
          </a:p>
        </p:txBody>
      </p:sp>
      <p:sp>
        <p:nvSpPr>
          <p:cNvPr id="10" name="TextBox 9"/>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74</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Rectangle 1"/>
          <p:cNvSpPr/>
          <p:nvPr/>
        </p:nvSpPr>
        <p:spPr>
          <a:xfrm>
            <a:off x="320040" y="320040"/>
            <a:ext cx="109728" cy="6858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822960"/>
          </a:xfrm>
          <a:prstGeom prst="rect">
            <a:avLst/>
          </a:prstGeom>
          <a:noFill/>
        </p:spPr>
        <p:txBody>
          <a:bodyPr wrap="square">
            <a:normAutofit/>
          </a:bodyPr>
          <a:lstStyle/>
          <a:p>
            <a:pPr>
              <a:defRPr sz="2800" b="1">
                <a:solidFill>
                  <a:srgbClr val="404040"/>
                </a:solidFill>
                <a:latin typeface="Aptos Display"/>
              </a:defRPr>
            </a:pPr>
            <a:r>
              <a:t>Key Takeaways</a:t>
            </a:r>
          </a:p>
        </p:txBody>
      </p:sp>
      <p:sp>
        <p:nvSpPr>
          <p:cNvPr id="4" name="TextBox 3"/>
          <p:cNvSpPr txBox="1"/>
          <p:nvPr/>
        </p:nvSpPr>
        <p:spPr>
          <a:xfrm>
            <a:off x="685800" y="1325880"/>
            <a:ext cx="5257800" cy="4526280"/>
          </a:xfrm>
          <a:prstGeom prst="rect">
            <a:avLst/>
          </a:prstGeom>
          <a:noFill/>
        </p:spPr>
        <p:txBody>
          <a:bodyPr wrap="square" lIns="45720" rIns="45720">
            <a:spAutoFit/>
          </a:bodyPr>
          <a:lstStyle/>
          <a:p>
            <a:pPr>
              <a:lnSpc>
                <a:spcPct val="105000"/>
              </a:lnSpc>
              <a:spcAft>
                <a:spcPts val="1000"/>
              </a:spcAft>
              <a:defRPr sz="1800">
                <a:solidFill>
                  <a:srgbClr val="404040"/>
                </a:solidFill>
                <a:latin typeface="Aptos"/>
              </a:defRPr>
            </a:pPr>
            <a:r>
              <a:t>AI-native development starts with clear specifications</a:t>
            </a:r>
          </a:p>
          <a:p>
            <a:pPr>
              <a:lnSpc>
                <a:spcPct val="105000"/>
              </a:lnSpc>
              <a:spcAft>
                <a:spcPts val="1000"/>
              </a:spcAft>
              <a:defRPr sz="1800">
                <a:solidFill>
                  <a:srgbClr val="404040"/>
                </a:solidFill>
                <a:latin typeface="Aptos"/>
              </a:defRPr>
            </a:pPr>
            <a:r>
              <a:t>Code generation is useful only with review and validation</a:t>
            </a:r>
          </a:p>
          <a:p>
            <a:pPr>
              <a:lnSpc>
                <a:spcPct val="105000"/>
              </a:lnSpc>
              <a:spcAft>
                <a:spcPts val="1000"/>
              </a:spcAft>
              <a:defRPr sz="1800">
                <a:solidFill>
                  <a:srgbClr val="404040"/>
                </a:solidFill>
                <a:latin typeface="Aptos"/>
              </a:defRPr>
            </a:pPr>
            <a:r>
              <a:t>Security, testing and CI/CD are mandatory guardrails</a:t>
            </a:r>
          </a:p>
          <a:p>
            <a:pPr>
              <a:lnSpc>
                <a:spcPct val="105000"/>
              </a:lnSpc>
              <a:spcAft>
                <a:spcPts val="1000"/>
              </a:spcAft>
              <a:defRPr sz="1800">
                <a:solidFill>
                  <a:srgbClr val="404040"/>
                </a:solidFill>
                <a:latin typeface="Aptos"/>
              </a:defRPr>
            </a:pPr>
            <a:r>
              <a:t>Faculty can teach AI as an engineering discipline, not a shortcut</a:t>
            </a:r>
          </a:p>
        </p:txBody>
      </p:sp>
      <p:sp>
        <p:nvSpPr>
          <p:cNvPr id="5" name="Rounded Rectangle 4"/>
          <p:cNvSpPr/>
          <p:nvPr/>
        </p:nvSpPr>
        <p:spPr>
          <a:xfrm>
            <a:off x="6355080" y="1874519"/>
            <a:ext cx="804672" cy="658368"/>
          </a:xfrm>
          <a:prstGeom prst="roundRect">
            <a:avLst/>
          </a:prstGeom>
          <a:solidFill>
            <a:srgbClr val="E7F2F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Intent</a:t>
            </a:r>
          </a:p>
        </p:txBody>
      </p:sp>
      <p:cxnSp>
        <p:nvCxnSpPr>
          <p:cNvPr id="6" name="Connector 5"/>
          <p:cNvCxnSpPr/>
          <p:nvPr/>
        </p:nvCxnSpPr>
        <p:spPr>
          <a:xfrm>
            <a:off x="7159752"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24344" y="1874519"/>
            <a:ext cx="804672" cy="658368"/>
          </a:xfrm>
          <a:prstGeom prst="roundRect">
            <a:avLst/>
          </a:prstGeom>
          <a:solidFill>
            <a:srgbClr val="FFF7DD"/>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Specification</a:t>
            </a:r>
          </a:p>
        </p:txBody>
      </p:sp>
      <p:cxnSp>
        <p:nvCxnSpPr>
          <p:cNvPr id="8" name="Connector 7"/>
          <p:cNvCxnSpPr/>
          <p:nvPr/>
        </p:nvCxnSpPr>
        <p:spPr>
          <a:xfrm>
            <a:off x="8129016"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93608" y="1874519"/>
            <a:ext cx="804672" cy="658368"/>
          </a:xfrm>
          <a:prstGeom prst="roundRect">
            <a:avLst/>
          </a:prstGeom>
          <a:solidFill>
            <a:srgbClr val="EFE8F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AI-assisted Design</a:t>
            </a:r>
          </a:p>
        </p:txBody>
      </p:sp>
      <p:cxnSp>
        <p:nvCxnSpPr>
          <p:cNvPr id="10" name="Connector 9"/>
          <p:cNvCxnSpPr/>
          <p:nvPr/>
        </p:nvCxnSpPr>
        <p:spPr>
          <a:xfrm>
            <a:off x="9098280"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262872" y="1874519"/>
            <a:ext cx="804672" cy="658368"/>
          </a:xfrm>
          <a:prstGeom prst="roundRect">
            <a:avLst/>
          </a:prstGeom>
          <a:solidFill>
            <a:srgbClr val="E7F2F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Generated Code</a:t>
            </a:r>
          </a:p>
        </p:txBody>
      </p:sp>
      <p:cxnSp>
        <p:nvCxnSpPr>
          <p:cNvPr id="12" name="Connector 11"/>
          <p:cNvCxnSpPr/>
          <p:nvPr/>
        </p:nvCxnSpPr>
        <p:spPr>
          <a:xfrm>
            <a:off x="10067544"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232136" y="1874519"/>
            <a:ext cx="804672" cy="658368"/>
          </a:xfrm>
          <a:prstGeom prst="roundRect">
            <a:avLst/>
          </a:prstGeom>
          <a:solidFill>
            <a:srgbClr val="E0F7F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Tests</a:t>
            </a:r>
          </a:p>
        </p:txBody>
      </p:sp>
      <p:cxnSp>
        <p:nvCxnSpPr>
          <p:cNvPr id="14" name="Connector 13"/>
          <p:cNvCxnSpPr/>
          <p:nvPr/>
        </p:nvCxnSpPr>
        <p:spPr>
          <a:xfrm>
            <a:off x="11036808"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1201400" y="1874519"/>
            <a:ext cx="804672" cy="658368"/>
          </a:xfrm>
          <a:prstGeom prst="roundRect">
            <a:avLst/>
          </a:prstGeom>
          <a:solidFill>
            <a:srgbClr val="EFE8F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CI/CD</a:t>
            </a:r>
          </a:p>
        </p:txBody>
      </p:sp>
      <p:cxnSp>
        <p:nvCxnSpPr>
          <p:cNvPr id="16" name="Connector 15"/>
          <p:cNvCxnSpPr/>
          <p:nvPr/>
        </p:nvCxnSpPr>
        <p:spPr>
          <a:xfrm>
            <a:off x="11889943" y="2203703"/>
            <a:ext cx="164592" cy="0"/>
          </a:xfrm>
          <a:prstGeom prst="line">
            <a:avLst/>
          </a:prstGeom>
          <a:ln w="15240">
            <a:solidFill>
              <a:srgbClr val="7F7F7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249863" y="1874519"/>
            <a:ext cx="804672" cy="658368"/>
          </a:xfrm>
          <a:prstGeom prst="roundRect">
            <a:avLst/>
          </a:prstGeom>
          <a:solidFill>
            <a:srgbClr val="E2EFD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defRPr sz="900" b="1">
                <a:solidFill>
                  <a:srgbClr val="404040"/>
                </a:solidFill>
                <a:latin typeface="Aptos"/>
              </a:defRPr>
            </a:pPr>
            <a:r>
              <a:t>Feedback</a:t>
            </a:r>
          </a:p>
        </p:txBody>
      </p:sp>
      <p:sp>
        <p:nvSpPr>
          <p:cNvPr id="18" name="Rounded Rectangle 17"/>
          <p:cNvSpPr/>
          <p:nvPr/>
        </p:nvSpPr>
        <p:spPr>
          <a:xfrm>
            <a:off x="6446520" y="3063240"/>
            <a:ext cx="5074920" cy="777240"/>
          </a:xfrm>
          <a:prstGeom prst="roundRect">
            <a:avLst/>
          </a:prstGeom>
          <a:solidFill>
            <a:srgbClr val="FFFFFF"/>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F4E79"/>
                </a:solidFill>
                <a:latin typeface="Aptos"/>
              </a:defRPr>
            </a:pPr>
            <a:r>
              <a:t>AI-native = human intent + executable specification + automated feedback</a:t>
            </a:r>
          </a:p>
        </p:txBody>
      </p:sp>
      <p:sp>
        <p:nvSpPr>
          <p:cNvPr id="19" name="Rectangle 18"/>
          <p:cNvSpPr/>
          <p:nvPr/>
        </p:nvSpPr>
        <p:spPr>
          <a:xfrm>
            <a:off x="0" y="6400800"/>
            <a:ext cx="12191695" cy="320040"/>
          </a:xfrm>
          <a:prstGeom prst="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6492240"/>
            <a:ext cx="6858000" cy="228600"/>
          </a:xfrm>
          <a:prstGeom prst="rect">
            <a:avLst/>
          </a:prstGeom>
          <a:noFill/>
        </p:spPr>
        <p:txBody>
          <a:bodyPr wrap="none">
            <a:spAutoFit/>
          </a:bodyPr>
          <a:lstStyle/>
          <a:p>
            <a:pPr>
              <a:defRPr sz="900">
                <a:solidFill>
                  <a:srgbClr val="595959"/>
                </a:solidFill>
                <a:latin typeface="Aptos"/>
              </a:defRPr>
            </a:pPr>
            <a:r>
              <a:t>AI-Native Software Development • Closing</a:t>
            </a:r>
          </a:p>
        </p:txBody>
      </p:sp>
      <p:sp>
        <p:nvSpPr>
          <p:cNvPr id="21" name="TextBox 20"/>
          <p:cNvSpPr txBox="1"/>
          <p:nvPr/>
        </p:nvSpPr>
        <p:spPr>
          <a:xfrm>
            <a:off x="11292840" y="6492240"/>
            <a:ext cx="502920" cy="228600"/>
          </a:xfrm>
          <a:prstGeom prst="rect">
            <a:avLst/>
          </a:prstGeom>
          <a:noFill/>
        </p:spPr>
        <p:txBody>
          <a:bodyPr wrap="none">
            <a:spAutoFit/>
          </a:bodyPr>
          <a:lstStyle/>
          <a:p>
            <a:pPr algn="r">
              <a:defRPr sz="900">
                <a:solidFill>
                  <a:srgbClr val="595959"/>
                </a:solidFill>
                <a:latin typeface="Aptos"/>
              </a:defRPr>
            </a:pPr>
            <a:r>
              <a:t>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14894</Words>
  <Application>Microsoft Office PowerPoint</Application>
  <PresentationFormat>Widescreen</PresentationFormat>
  <Paragraphs>1237</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Kulkarni, Gururaj</dc:creator>
  <cp:keywords/>
  <dc:description>generated using python-pptx</dc:description>
  <cp:lastModifiedBy>Kulkarni, Gururaj</cp:lastModifiedBy>
  <cp:revision>2</cp:revision>
  <dcterms:created xsi:type="dcterms:W3CDTF">2026-07-03T11:40:42Z</dcterms:created>
  <dcterms:modified xsi:type="dcterms:W3CDTF">2026-07-03T12:07:09Z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ad3be33-4108-4738-9e07-d8656a181486_Enabled">
    <vt:lpwstr>true</vt:lpwstr>
  </property>
  <property fmtid="{D5CDD505-2E9C-101B-9397-08002B2CF9AE}" pid="3" name="MSIP_Label_dad3be33-4108-4738-9e07-d8656a181486_SetDate">
    <vt:lpwstr>2026-07-03T12:06:01Z</vt:lpwstr>
  </property>
  <property fmtid="{D5CDD505-2E9C-101B-9397-08002B2CF9AE}" pid="4" name="MSIP_Label_dad3be33-4108-4738-9e07-d8656a181486_Method">
    <vt:lpwstr>Privileged</vt:lpwstr>
  </property>
  <property fmtid="{D5CDD505-2E9C-101B-9397-08002B2CF9AE}" pid="5" name="MSIP_Label_dad3be33-4108-4738-9e07-d8656a181486_Name">
    <vt:lpwstr>Public No Visual Label</vt:lpwstr>
  </property>
  <property fmtid="{D5CDD505-2E9C-101B-9397-08002B2CF9AE}" pid="6" name="MSIP_Label_dad3be33-4108-4738-9e07-d8656a181486_SiteId">
    <vt:lpwstr>945c199a-83a2-4e80-9f8c-5a91be5752dd</vt:lpwstr>
  </property>
  <property fmtid="{D5CDD505-2E9C-101B-9397-08002B2CF9AE}" pid="7" name="MSIP_Label_dad3be33-4108-4738-9e07-d8656a181486_ActionId">
    <vt:lpwstr>28aeb14d-5460-4d86-ab63-4ce5400d16e3</vt:lpwstr>
  </property>
  <property fmtid="{D5CDD505-2E9C-101B-9397-08002B2CF9AE}" pid="8" name="MSIP_Label_dad3be33-4108-4738-9e07-d8656a181486_ContentBits">
    <vt:lpwstr>0</vt:lpwstr>
  </property>
  <property fmtid="{D5CDD505-2E9C-101B-9397-08002B2CF9AE}" pid="9" name="MSIP_Label_dad3be33-4108-4738-9e07-d8656a181486_Tag">
    <vt:lpwstr>10, 0, 1, 1</vt:lpwstr>
  </property>
</Properties>
</file>