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1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479" autoAdjust="0"/>
  </p:normalViewPr>
  <p:slideViewPr>
    <p:cSldViewPr snapToGrid="0" snapToObjects="1">
      <p:cViewPr varScale="1">
        <p:scale>
          <a:sx n="73" d="100"/>
          <a:sy n="73" d="100"/>
        </p:scale>
        <p:origin x="1032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karni, Gururaj" userId="82b4ce32-1b49-494f-8f97-b0ef087946bb" providerId="ADAL" clId="{0C187F94-9251-45EF-B17D-512D0E1B6881}"/>
    <pc:docChg chg="modSld">
      <pc:chgData name="Kulkarni, Gururaj" userId="82b4ce32-1b49-494f-8f97-b0ef087946bb" providerId="ADAL" clId="{0C187F94-9251-45EF-B17D-512D0E1B6881}" dt="2026-07-22T06:22:23.882" v="26" actId="6549"/>
      <pc:docMkLst>
        <pc:docMk/>
      </pc:docMkLst>
      <pc:sldChg chg="modNotesTx">
        <pc:chgData name="Kulkarni, Gururaj" userId="82b4ce32-1b49-494f-8f97-b0ef087946bb" providerId="ADAL" clId="{0C187F94-9251-45EF-B17D-512D0E1B6881}" dt="2026-07-22T06:19:00.187" v="0" actId="6549"/>
        <pc:sldMkLst>
          <pc:docMk/>
          <pc:sldMk cId="0" sldId="256"/>
        </pc:sldMkLst>
      </pc:sldChg>
      <pc:sldChg chg="modNotesTx">
        <pc:chgData name="Kulkarni, Gururaj" userId="82b4ce32-1b49-494f-8f97-b0ef087946bb" providerId="ADAL" clId="{0C187F94-9251-45EF-B17D-512D0E1B6881}" dt="2026-07-22T06:19:05.598" v="1" actId="6549"/>
        <pc:sldMkLst>
          <pc:docMk/>
          <pc:sldMk cId="0" sldId="257"/>
        </pc:sldMkLst>
      </pc:sldChg>
      <pc:sldChg chg="modNotesTx">
        <pc:chgData name="Kulkarni, Gururaj" userId="82b4ce32-1b49-494f-8f97-b0ef087946bb" providerId="ADAL" clId="{0C187F94-9251-45EF-B17D-512D0E1B6881}" dt="2026-07-22T06:19:10.465" v="2" actId="6549"/>
        <pc:sldMkLst>
          <pc:docMk/>
          <pc:sldMk cId="0" sldId="258"/>
        </pc:sldMkLst>
      </pc:sldChg>
      <pc:sldChg chg="modNotesTx">
        <pc:chgData name="Kulkarni, Gururaj" userId="82b4ce32-1b49-494f-8f97-b0ef087946bb" providerId="ADAL" clId="{0C187F94-9251-45EF-B17D-512D0E1B6881}" dt="2026-07-22T06:19:16.371" v="4" actId="20577"/>
        <pc:sldMkLst>
          <pc:docMk/>
          <pc:sldMk cId="0" sldId="259"/>
        </pc:sldMkLst>
      </pc:sldChg>
      <pc:sldChg chg="modNotesTx">
        <pc:chgData name="Kulkarni, Gururaj" userId="82b4ce32-1b49-494f-8f97-b0ef087946bb" providerId="ADAL" clId="{0C187F94-9251-45EF-B17D-512D0E1B6881}" dt="2026-07-22T06:19:22.619" v="5" actId="6549"/>
        <pc:sldMkLst>
          <pc:docMk/>
          <pc:sldMk cId="0" sldId="260"/>
        </pc:sldMkLst>
      </pc:sldChg>
      <pc:sldChg chg="modNotesTx">
        <pc:chgData name="Kulkarni, Gururaj" userId="82b4ce32-1b49-494f-8f97-b0ef087946bb" providerId="ADAL" clId="{0C187F94-9251-45EF-B17D-512D0E1B6881}" dt="2026-07-22T06:19:33.198" v="6" actId="6549"/>
        <pc:sldMkLst>
          <pc:docMk/>
          <pc:sldMk cId="0" sldId="261"/>
        </pc:sldMkLst>
      </pc:sldChg>
      <pc:sldChg chg="modNotesTx">
        <pc:chgData name="Kulkarni, Gururaj" userId="82b4ce32-1b49-494f-8f97-b0ef087946bb" providerId="ADAL" clId="{0C187F94-9251-45EF-B17D-512D0E1B6881}" dt="2026-07-22T06:19:41.330" v="7" actId="6549"/>
        <pc:sldMkLst>
          <pc:docMk/>
          <pc:sldMk cId="0" sldId="262"/>
        </pc:sldMkLst>
      </pc:sldChg>
      <pc:sldChg chg="modNotesTx">
        <pc:chgData name="Kulkarni, Gururaj" userId="82b4ce32-1b49-494f-8f97-b0ef087946bb" providerId="ADAL" clId="{0C187F94-9251-45EF-B17D-512D0E1B6881}" dt="2026-07-22T06:19:47.979" v="8" actId="6549"/>
        <pc:sldMkLst>
          <pc:docMk/>
          <pc:sldMk cId="0" sldId="263"/>
        </pc:sldMkLst>
      </pc:sldChg>
      <pc:sldChg chg="modNotesTx">
        <pc:chgData name="Kulkarni, Gururaj" userId="82b4ce32-1b49-494f-8f97-b0ef087946bb" providerId="ADAL" clId="{0C187F94-9251-45EF-B17D-512D0E1B6881}" dt="2026-07-22T06:19:52.648" v="9" actId="6549"/>
        <pc:sldMkLst>
          <pc:docMk/>
          <pc:sldMk cId="0" sldId="264"/>
        </pc:sldMkLst>
      </pc:sldChg>
      <pc:sldChg chg="modNotesTx">
        <pc:chgData name="Kulkarni, Gururaj" userId="82b4ce32-1b49-494f-8f97-b0ef087946bb" providerId="ADAL" clId="{0C187F94-9251-45EF-B17D-512D0E1B6881}" dt="2026-07-22T06:19:58.692" v="10" actId="6549"/>
        <pc:sldMkLst>
          <pc:docMk/>
          <pc:sldMk cId="0" sldId="265"/>
        </pc:sldMkLst>
      </pc:sldChg>
      <pc:sldChg chg="modNotesTx">
        <pc:chgData name="Kulkarni, Gururaj" userId="82b4ce32-1b49-494f-8f97-b0ef087946bb" providerId="ADAL" clId="{0C187F94-9251-45EF-B17D-512D0E1B6881}" dt="2026-07-22T06:20:12.515" v="11" actId="6549"/>
        <pc:sldMkLst>
          <pc:docMk/>
          <pc:sldMk cId="0" sldId="266"/>
        </pc:sldMkLst>
      </pc:sldChg>
      <pc:sldChg chg="modNotesTx">
        <pc:chgData name="Kulkarni, Gururaj" userId="82b4ce32-1b49-494f-8f97-b0ef087946bb" providerId="ADAL" clId="{0C187F94-9251-45EF-B17D-512D0E1B6881}" dt="2026-07-22T06:20:21.515" v="12" actId="6549"/>
        <pc:sldMkLst>
          <pc:docMk/>
          <pc:sldMk cId="0" sldId="267"/>
        </pc:sldMkLst>
      </pc:sldChg>
      <pc:sldChg chg="modNotesTx">
        <pc:chgData name="Kulkarni, Gururaj" userId="82b4ce32-1b49-494f-8f97-b0ef087946bb" providerId="ADAL" clId="{0C187F94-9251-45EF-B17D-512D0E1B6881}" dt="2026-07-22T06:20:26.738" v="13" actId="6549"/>
        <pc:sldMkLst>
          <pc:docMk/>
          <pc:sldMk cId="0" sldId="268"/>
        </pc:sldMkLst>
      </pc:sldChg>
      <pc:sldChg chg="modNotesTx">
        <pc:chgData name="Kulkarni, Gururaj" userId="82b4ce32-1b49-494f-8f97-b0ef087946bb" providerId="ADAL" clId="{0C187F94-9251-45EF-B17D-512D0E1B6881}" dt="2026-07-22T06:20:31.762" v="14" actId="6549"/>
        <pc:sldMkLst>
          <pc:docMk/>
          <pc:sldMk cId="0" sldId="269"/>
        </pc:sldMkLst>
      </pc:sldChg>
      <pc:sldChg chg="modNotesTx">
        <pc:chgData name="Kulkarni, Gururaj" userId="82b4ce32-1b49-494f-8f97-b0ef087946bb" providerId="ADAL" clId="{0C187F94-9251-45EF-B17D-512D0E1B6881}" dt="2026-07-22T06:20:36.699" v="15" actId="6549"/>
        <pc:sldMkLst>
          <pc:docMk/>
          <pc:sldMk cId="0" sldId="270"/>
        </pc:sldMkLst>
      </pc:sldChg>
      <pc:sldChg chg="modNotesTx">
        <pc:chgData name="Kulkarni, Gururaj" userId="82b4ce32-1b49-494f-8f97-b0ef087946bb" providerId="ADAL" clId="{0C187F94-9251-45EF-B17D-512D0E1B6881}" dt="2026-07-22T06:20:44.513" v="16" actId="6549"/>
        <pc:sldMkLst>
          <pc:docMk/>
          <pc:sldMk cId="0" sldId="271"/>
        </pc:sldMkLst>
      </pc:sldChg>
      <pc:sldChg chg="modNotesTx">
        <pc:chgData name="Kulkarni, Gururaj" userId="82b4ce32-1b49-494f-8f97-b0ef087946bb" providerId="ADAL" clId="{0C187F94-9251-45EF-B17D-512D0E1B6881}" dt="2026-07-22T06:20:49.656" v="17" actId="6549"/>
        <pc:sldMkLst>
          <pc:docMk/>
          <pc:sldMk cId="0" sldId="272"/>
        </pc:sldMkLst>
      </pc:sldChg>
      <pc:sldChg chg="modNotesTx">
        <pc:chgData name="Kulkarni, Gururaj" userId="82b4ce32-1b49-494f-8f97-b0ef087946bb" providerId="ADAL" clId="{0C187F94-9251-45EF-B17D-512D0E1B6881}" dt="2026-07-22T06:21:00.702" v="18" actId="6549"/>
        <pc:sldMkLst>
          <pc:docMk/>
          <pc:sldMk cId="0" sldId="273"/>
        </pc:sldMkLst>
      </pc:sldChg>
      <pc:sldChg chg="modNotesTx">
        <pc:chgData name="Kulkarni, Gururaj" userId="82b4ce32-1b49-494f-8f97-b0ef087946bb" providerId="ADAL" clId="{0C187F94-9251-45EF-B17D-512D0E1B6881}" dt="2026-07-22T06:21:07.211" v="19" actId="6549"/>
        <pc:sldMkLst>
          <pc:docMk/>
          <pc:sldMk cId="0" sldId="274"/>
        </pc:sldMkLst>
      </pc:sldChg>
      <pc:sldChg chg="modNotesTx">
        <pc:chgData name="Kulkarni, Gururaj" userId="82b4ce32-1b49-494f-8f97-b0ef087946bb" providerId="ADAL" clId="{0C187F94-9251-45EF-B17D-512D0E1B6881}" dt="2026-07-22T06:21:13.709" v="20" actId="6549"/>
        <pc:sldMkLst>
          <pc:docMk/>
          <pc:sldMk cId="0" sldId="275"/>
        </pc:sldMkLst>
      </pc:sldChg>
      <pc:sldChg chg="modNotesTx">
        <pc:chgData name="Kulkarni, Gururaj" userId="82b4ce32-1b49-494f-8f97-b0ef087946bb" providerId="ADAL" clId="{0C187F94-9251-45EF-B17D-512D0E1B6881}" dt="2026-07-22T06:21:36.332" v="21" actId="6549"/>
        <pc:sldMkLst>
          <pc:docMk/>
          <pc:sldMk cId="0" sldId="276"/>
        </pc:sldMkLst>
      </pc:sldChg>
      <pc:sldChg chg="modNotesTx">
        <pc:chgData name="Kulkarni, Gururaj" userId="82b4ce32-1b49-494f-8f97-b0ef087946bb" providerId="ADAL" clId="{0C187F94-9251-45EF-B17D-512D0E1B6881}" dt="2026-07-22T06:21:48.890" v="22" actId="6549"/>
        <pc:sldMkLst>
          <pc:docMk/>
          <pc:sldMk cId="0" sldId="277"/>
        </pc:sldMkLst>
      </pc:sldChg>
      <pc:sldChg chg="modNotesTx">
        <pc:chgData name="Kulkarni, Gururaj" userId="82b4ce32-1b49-494f-8f97-b0ef087946bb" providerId="ADAL" clId="{0C187F94-9251-45EF-B17D-512D0E1B6881}" dt="2026-07-22T06:21:58.895" v="23" actId="6549"/>
        <pc:sldMkLst>
          <pc:docMk/>
          <pc:sldMk cId="0" sldId="278"/>
        </pc:sldMkLst>
      </pc:sldChg>
      <pc:sldChg chg="modNotesTx">
        <pc:chgData name="Kulkarni, Gururaj" userId="82b4ce32-1b49-494f-8f97-b0ef087946bb" providerId="ADAL" clId="{0C187F94-9251-45EF-B17D-512D0E1B6881}" dt="2026-07-22T06:22:07.852" v="24" actId="6549"/>
        <pc:sldMkLst>
          <pc:docMk/>
          <pc:sldMk cId="0" sldId="279"/>
        </pc:sldMkLst>
      </pc:sldChg>
      <pc:sldChg chg="modNotesTx">
        <pc:chgData name="Kulkarni, Gururaj" userId="82b4ce32-1b49-494f-8f97-b0ef087946bb" providerId="ADAL" clId="{0C187F94-9251-45EF-B17D-512D0E1B6881}" dt="2026-07-22T06:22:15.660" v="25" actId="6549"/>
        <pc:sldMkLst>
          <pc:docMk/>
          <pc:sldMk cId="0" sldId="280"/>
        </pc:sldMkLst>
      </pc:sldChg>
      <pc:sldChg chg="modNotesTx">
        <pc:chgData name="Kulkarni, Gururaj" userId="82b4ce32-1b49-494f-8f97-b0ef087946bb" providerId="ADAL" clId="{0C187F94-9251-45EF-B17D-512D0E1B6881}" dt="2026-07-22T06:22:23.882" v="26" actId="6549"/>
        <pc:sldMkLst>
          <pc:docMk/>
          <pc:sldMk cId="13011087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58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4E03-F587-12FD-34FC-B1B89AF21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9355F-5C41-70B5-06C2-D0EC0D2DE1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47897-71C3-E289-9605-7BF2F5039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25EEC-426C-168A-1BE1-FF12D5EB3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35225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799141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dirty="0">
                <a:solidFill>
                  <a:srgbClr val="FFFFFF"/>
                </a:solidFill>
              </a:rPr>
              <a:t>AI-Native Software Development</a:t>
            </a:r>
            <a:endParaRPr lang="en-US" sz="3600" b="1" dirty="0">
              <a:solidFill>
                <a:srgbClr val="FFFFFF"/>
              </a:solidFill>
            </a:endParaRPr>
          </a:p>
          <a:p>
            <a:pPr algn="ctr"/>
            <a:r>
              <a:rPr lang="en-US" sz="3200" b="1" dirty="0">
                <a:solidFill>
                  <a:srgbClr val="FFFFFF"/>
                </a:solidFill>
              </a:rPr>
              <a:t>By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Gururaj Kulkarni, Technical Staff, Dell Technologies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77440" y="2340864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dirty="0">
                <a:solidFill>
                  <a:srgbClr val="BBDEFB"/>
                </a:solidFill>
              </a:rPr>
              <a:t>Theory, Methodology &amp; Hands-On Practical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3716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Human
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3840480"/>
            <a:ext cx="1371600" cy="8229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Executable
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3840480"/>
            <a:ext cx="137160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AI-Assisted
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840480"/>
            <a:ext cx="13716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Code
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840480"/>
            <a:ext cx="137160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Automated
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840480"/>
            <a:ext cx="13716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CI/CD
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3840480"/>
            <a:ext cx="13716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Continuous
Feedback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E74B5"/>
                </a:solidFill>
              </a:rPr>
              <a:t>AI-Native = Human Intent  +  Executable Specification  +  AI Generation  +  Automated Validation  + 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From foundational concepts to advanced AI-native engineering
Includes guided practical labs, spec-driven development &amp; multi-agent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AI-Native Software Development  |  Faculty Development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Session Agenda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3657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Part 1: Theory &amp;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dirty="0">
                <a:solidFill>
                  <a:srgbClr val="2C3E50"/>
                </a:solidFill>
              </a:rPr>
              <a:t>• AI-Native concepts &amp;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7276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Spec-driven development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7393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Architecture, testing &amp;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7510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Multi-agent &amp; AI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256032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Part 2: Guided Practical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90779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dirty="0">
                <a:solidFill>
                  <a:srgbClr val="2C3E50"/>
                </a:solidFill>
              </a:rPr>
              <a:t>• Hands-on spec 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10896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AI code generation &amp;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31012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Testing 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51129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CI/CD pipeline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3716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Learning Outcomes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92024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202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dirty="0">
                <a:solidFill>
                  <a:srgbClr val="2C3E50"/>
                </a:solidFill>
              </a:rPr>
              <a:t>AI-Native SDLC vs traditional approaches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42316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2316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Spec-driven development methodology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92608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92608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AI-assisted code generation &amp;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42900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Implement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429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Automated testing from specifications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93192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9319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CI/CD pipelines with AI quality gates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443484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4348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Multi-agent systems &amp; AI 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3-Hour Interactive Workshop  |  Faculty Development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Why AI-Native Software Development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2800" b="1">
                <a:solidFill>
                  <a:srgbClr val="2E74B5"/>
                </a:solidFill>
              </a:rPr>
              <a:t>92%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of developers use
AI coding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2800" b="1">
                <a:solidFill>
                  <a:srgbClr val="27AE60"/>
                </a:solidFill>
              </a:rPr>
              <a:t>55%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faster code
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2800" b="1">
                <a:solidFill>
                  <a:srgbClr val="2E86AB"/>
                </a:solidFill>
              </a:rPr>
              <a:t>$50B+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AI dev tools
market by 2028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2800" b="1">
                <a:solidFill>
                  <a:srgbClr val="8E44AD"/>
                </a:solidFill>
              </a:rPr>
              <a:t>40%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of new code will be
AI-generated by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E74B5"/>
                </a:solidFill>
              </a:rPr>
              <a:t>The Paradigm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• LLMs have reached production-quality code generation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• Organizations adopting AI-native see 30-50% faster delivery cycles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1129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• Software engineering is evolving from 'writing code' to 'curating intent'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2C3E50"/>
                </a:solidFill>
              </a:rPr>
              <a:t>• Academic curricula must prepare students for AI-augmented workplaces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" y="42336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2C3E50"/>
                </a:solidFill>
              </a:rPr>
              <a:t>• Companies that don't adopt risk falling behind in talent and productivity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603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Industry Adoption Drivers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548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7" name="Rectangle 16"/>
          <p:cNvSpPr/>
          <p:nvPr/>
        </p:nvSpPr>
        <p:spPr>
          <a:xfrm>
            <a:off x="6912864" y="292608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Developer Productivity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AI tools reduce boilerplate, accelerate prototyping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703320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9" name="Rectangle 18"/>
          <p:cNvSpPr/>
          <p:nvPr/>
        </p:nvSpPr>
        <p:spPr>
          <a:xfrm>
            <a:off x="6912864" y="370332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Quality at Scale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Automated testing, review, and security scanning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480560"/>
            <a:ext cx="54864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1" name="Rectangle 20"/>
          <p:cNvSpPr/>
          <p:nvPr/>
        </p:nvSpPr>
        <p:spPr>
          <a:xfrm>
            <a:off x="6912864" y="448056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Talent Transformation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Engineers become architects and spec writers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5257800"/>
            <a:ext cx="54864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3" name="Rectangle 22"/>
          <p:cNvSpPr/>
          <p:nvPr/>
        </p:nvSpPr>
        <p:spPr>
          <a:xfrm>
            <a:off x="6912864" y="525780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Competitive Pressure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Faster time-to-market, reduced development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Sources: GitHub Survey 2025, Gartner Predictions, McKinsey Digital Report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E61D0D-00DD-3B65-B0D8-EB4F8A480884}"/>
              </a:ext>
            </a:extLst>
          </p:cNvPr>
          <p:cNvSpPr txBox="1"/>
          <p:nvPr/>
        </p:nvSpPr>
        <p:spPr>
          <a:xfrm>
            <a:off x="167563" y="5404104"/>
            <a:ext cx="6248553" cy="755033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 b="0" dirty="0">
                <a:solidFill>
                  <a:srgbClr val="2C3E50"/>
                </a:solidFill>
              </a:rPr>
              <a:t>Question: </a:t>
            </a:r>
            <a:r>
              <a:rPr lang="en-US" sz="1400" dirty="0"/>
              <a:t>If 40% of code is AI-generated, then what you think students need to learn? Share your views.</a:t>
            </a:r>
            <a:endParaRPr sz="1400" b="0" dirty="0">
              <a:solidFill>
                <a:srgbClr val="2C3E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is AI-Native Software Development?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7F8C8D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E74B5"/>
                </a:solidFill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• AI participates across the ENTIRE lifecycle, not just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• Specifications become the primary control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• Humans review intent, architecture, safety &amp; fitness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• Continuous feedback loops improve every iteration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• Code is a generated artifact — specs are the 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E74B5"/>
                </a:solidFill>
              </a:rPr>
              <a:t>Core Principles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>
                <a:solidFill>
                  <a:srgbClr val="2E74B5"/>
                </a:solidFill>
              </a:rPr>
              <a:t>Spec-First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7F8C8D"/>
                </a:solidFill>
              </a:rPr>
              <a:t>Specifications before code.
AI refines, humans approve.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566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>
                <a:solidFill>
                  <a:srgbClr val="2E86AB"/>
                </a:solidFill>
              </a:rPr>
              <a:t>Human-in-the-Loop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7F8C8D"/>
                </a:solidFill>
              </a:rPr>
              <a:t>Critical decisions require
human judgment &amp;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566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>
                <a:solidFill>
                  <a:srgbClr val="27AE60"/>
                </a:solidFill>
              </a:rPr>
              <a:t>Automated Validation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7F8C8D"/>
                </a:solidFill>
              </a:rPr>
              <a:t>Tests, scans &amp; CI/CD verify
every generated artifact.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566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>
                <a:solidFill>
                  <a:srgbClr val="8E44AD"/>
                </a:solidFill>
              </a:rPr>
              <a:t>Continuous Learning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7F8C8D"/>
                </a:solidFill>
              </a:rPr>
              <a:t>Feedback from production
improves future generations.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>
                <a:solidFill>
                  <a:srgbClr val="2E74B5"/>
                </a:solidFill>
              </a:rPr>
              <a:t>AI-Assisted vs AI-Native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54480"/>
            <a:ext cx="54864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6912864" y="155448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 dirty="0">
                <a:solidFill>
                  <a:srgbClr val="2C3E50"/>
                </a:solidFill>
              </a:rPr>
              <a:t>AI-Assisted 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7F8C8D"/>
                </a:solidFill>
              </a:rPr>
              <a:t>AI helps with autocomplete &amp; suggestions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7F8C8D"/>
                </a:solidFill>
              </a:rPr>
              <a:t>Human writes most code, AI fills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377440"/>
            <a:ext cx="548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6912864" y="237744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 dirty="0">
                <a:solidFill>
                  <a:srgbClr val="2C3E50"/>
                </a:solidFill>
              </a:rPr>
              <a:t>AI-Native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7F8C8D"/>
                </a:solidFill>
              </a:rPr>
              <a:t>AI generates from </a:t>
            </a:r>
            <a:r>
              <a:rPr sz="1600" dirty="0">
                <a:solidFill>
                  <a:srgbClr val="7F8C8D"/>
                </a:solidFill>
              </a:rPr>
              <a:t>specs</a:t>
            </a:r>
            <a:r>
              <a:rPr sz="1100" dirty="0">
                <a:solidFill>
                  <a:srgbClr val="7F8C8D"/>
                </a:solidFill>
              </a:rPr>
              <a:t>; human reviews &amp; governs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7F8C8D"/>
                </a:solidFill>
              </a:rPr>
              <a:t>Specs are source of truth, code is derived artifact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20640"/>
            <a:ext cx="112471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E74B5"/>
                </a:solidFill>
              </a:rPr>
              <a:t>AI-Native  =  Human Intent  +  Executable Specification  +  AI Generation  +  Automated Validation  + 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Key Insight: In AI-native development, specifications and tests are MORE important than code itself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Traditional SDLC vs AI-Native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7F8C8D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188720"/>
            <a:ext cx="384048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Traditional SDLC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188720"/>
            <a:ext cx="411480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AI-Native SDLC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7432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38404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7589520" y="1645920"/>
            <a:ext cx="41148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solidFill>
                  <a:srgbClr val="2C3E50"/>
                </a:solidFill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6420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7F8C8D"/>
                </a:solidFill>
              </a:rPr>
              <a:t>Natural language docs,
often 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66420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dirty="0">
                <a:solidFill>
                  <a:srgbClr val="27AE60"/>
                </a:solidFill>
              </a:rPr>
              <a:t>Structured executable specs,
machine-readable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3474720" y="219456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7589520" y="219456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548640" y="221284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21284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7F8C8D"/>
                </a:solidFill>
              </a:rPr>
              <a:t>Manual UML, whiteboard
sketches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21284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7AE60"/>
                </a:solidFill>
              </a:rPr>
              <a:t>AI-generated diagrams from
spec descriptions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43200"/>
            <a:ext cx="27432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3474720" y="2743200"/>
            <a:ext cx="38404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7589520" y="2743200"/>
            <a:ext cx="41148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548640" y="276148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</a:rPr>
              <a:t>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76148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7F8C8D"/>
                </a:solidFill>
              </a:rPr>
              <a:t>Hand-written by developers
line by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6148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7AE60"/>
                </a:solidFill>
              </a:rPr>
              <a:t>AI-generated from specs,
human-reviewed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91839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26"/>
          <p:cNvSpPr/>
          <p:nvPr/>
        </p:nvSpPr>
        <p:spPr>
          <a:xfrm>
            <a:off x="3474720" y="3291839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7589520" y="3291839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548640" y="331012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</a:rP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310127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7F8C8D"/>
                </a:solidFill>
              </a:rPr>
              <a:t>Tests written after code,
often incomplete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310127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7AE60"/>
                </a:solidFill>
              </a:rPr>
              <a:t>Tests generated from specs
BEFORE 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0480"/>
            <a:ext cx="27432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/>
          <p:cNvSpPr/>
          <p:nvPr/>
        </p:nvSpPr>
        <p:spPr>
          <a:xfrm>
            <a:off x="3474720" y="3840480"/>
            <a:ext cx="38404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7589520" y="3840480"/>
            <a:ext cx="41148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548640" y="385876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</a:rPr>
              <a:t>Code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385876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7F8C8D"/>
                </a:solidFill>
              </a:rPr>
              <a:t>Manual peer review,
time-consuming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85876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7AE60"/>
                </a:solidFill>
              </a:rPr>
              <a:t>AI-assisted review + human
judgment for critical paths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8912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ectangle 38"/>
          <p:cNvSpPr/>
          <p:nvPr/>
        </p:nvSpPr>
        <p:spPr>
          <a:xfrm>
            <a:off x="3474720" y="438912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Rectangle 39"/>
          <p:cNvSpPr/>
          <p:nvPr/>
        </p:nvSpPr>
        <p:spPr>
          <a:xfrm>
            <a:off x="7589520" y="438912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548640" y="440740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</a:rPr>
              <a:t>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40740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7F8C8D"/>
                </a:solidFill>
              </a:rPr>
              <a:t>Manual pipeline config,
basic checks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40740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7AE60"/>
                </a:solidFill>
              </a:rPr>
              <a:t>AI-optimized pipelines with
intelligent quality gates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37759"/>
            <a:ext cx="27432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Rectangle 44"/>
          <p:cNvSpPr/>
          <p:nvPr/>
        </p:nvSpPr>
        <p:spPr>
          <a:xfrm>
            <a:off x="3474720" y="4937759"/>
            <a:ext cx="38404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Rectangle 45"/>
          <p:cNvSpPr/>
          <p:nvPr/>
        </p:nvSpPr>
        <p:spPr>
          <a:xfrm>
            <a:off x="7589520" y="4937759"/>
            <a:ext cx="41148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548640" y="495604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</a:rPr>
              <a:t>Documentation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4956047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7F8C8D"/>
                </a:solidFill>
              </a:rPr>
              <a:t>Written separately, often
outdated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956047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7AE60"/>
                </a:solidFill>
              </a:rPr>
              <a:t>Auto-generated from specs,
always current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Rectangle 50"/>
          <p:cNvSpPr/>
          <p:nvPr/>
        </p:nvSpPr>
        <p:spPr>
          <a:xfrm>
            <a:off x="3474720" y="548640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Rectangle 51"/>
          <p:cNvSpPr/>
          <p:nvPr/>
        </p:nvSpPr>
        <p:spPr>
          <a:xfrm>
            <a:off x="7589520" y="548640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Box 52"/>
          <p:cNvSpPr txBox="1"/>
          <p:nvPr/>
        </p:nvSpPr>
        <p:spPr>
          <a:xfrm>
            <a:off x="548640" y="550468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</a:rPr>
              <a:t>Source of Truth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5532119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solidFill>
                  <a:srgbClr val="7F8C8D"/>
                </a:solidFill>
              </a:rPr>
              <a:t>Code is the source of truth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50468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7AE60"/>
                </a:solidFill>
              </a:rPr>
              <a:t>Specification is the
source of truth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6035040"/>
            <a:ext cx="11247120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7AE60"/>
                </a:solidFill>
              </a:rPr>
              <a:t>Key Insight: In AI-native development, specifications and tests are MORE important than code itself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The shift from code-centric to spec-centric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AI-Native SDLC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>
                <a:solidFill>
                  <a:srgbClr val="7F8C8D"/>
                </a:solidFill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2860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1. Capture
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6304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2286000" cy="8229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 Write
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6304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28600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3. AI-Assisted
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80160"/>
            <a:ext cx="22860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4. Generate
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228600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5. Automated
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560320"/>
            <a:ext cx="22860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6. CI/CD
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432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22860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7. Monitor &amp;
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217420"/>
            <a:ext cx="256032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E74B5"/>
                </a:solidFill>
              </a:rPr>
              <a:t>AI-Native
SDLC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E74B5"/>
                </a:solidFill>
              </a:rPr>
              <a:t>What Happens at Each 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200" b="1">
                <a:solidFill>
                  <a:srgbClr val="2E86AB"/>
                </a:solidFill>
              </a:rPr>
              <a:t>Intent Capture:  </a:t>
            </a:r>
            <a:r>
              <a:rPr sz="1200">
                <a:solidFill>
                  <a:srgbClr val="2C3E50"/>
                </a:solidFill>
              </a:rPr>
              <a:t>Stakeholder needs converted to structured requirements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70832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200" b="1">
                <a:solidFill>
                  <a:srgbClr val="2E74B5"/>
                </a:solidFill>
              </a:rPr>
              <a:t>Specification:  </a:t>
            </a:r>
            <a:r>
              <a:rPr sz="1200">
                <a:solidFill>
                  <a:srgbClr val="2C3E50"/>
                </a:solidFill>
              </a:rPr>
              <a:t>Functional/non-functional reqs, API contracts, acceptance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18304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200" b="1">
                <a:solidFill>
                  <a:srgbClr val="8E44AD"/>
                </a:solidFill>
              </a:rPr>
              <a:t>AI Design:  </a:t>
            </a:r>
            <a:r>
              <a:rPr sz="1200">
                <a:solidFill>
                  <a:srgbClr val="2C3E50"/>
                </a:solidFill>
              </a:rPr>
              <a:t>Architecture proposals, trade-off analysis, UML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65776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200" b="1">
                <a:solidFill>
                  <a:srgbClr val="27AE60"/>
                </a:solidFill>
              </a:rPr>
              <a:t>Code Generation:  </a:t>
            </a:r>
            <a:r>
              <a:rPr sz="1200">
                <a:solidFill>
                  <a:srgbClr val="2C3E50"/>
                </a:solidFill>
              </a:rPr>
              <a:t>AI generates implementation; humans review &amp; refine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13248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200" b="1">
                <a:solidFill>
                  <a:srgbClr val="F39C12"/>
                </a:solidFill>
              </a:rPr>
              <a:t>Testing:  </a:t>
            </a:r>
            <a:r>
              <a:rPr sz="1200">
                <a:solidFill>
                  <a:srgbClr val="2C3E50"/>
                </a:solidFill>
              </a:rPr>
              <a:t>Unit, integration, E2E tests generated from specs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760720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200" b="1">
                <a:solidFill>
                  <a:srgbClr val="E74C3C"/>
                </a:solidFill>
              </a:rPr>
              <a:t>CI/CD Deploy:  </a:t>
            </a:r>
            <a:r>
              <a:rPr sz="1200">
                <a:solidFill>
                  <a:srgbClr val="2C3E50"/>
                </a:solidFill>
              </a:rPr>
              <a:t>Automated build, scan, deploy with quality gates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08192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200" b="1">
                <a:solidFill>
                  <a:srgbClr val="2E86AB"/>
                </a:solidFill>
              </a:rPr>
              <a:t>Feedback:  </a:t>
            </a:r>
            <a:r>
              <a:rPr sz="1200">
                <a:solidFill>
                  <a:srgbClr val="2C3E50"/>
                </a:solidFill>
              </a:rPr>
              <a:t>Telemetry, bug reports, and metrics feed next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7F8C8D"/>
                </a:solidFill>
              </a:rPr>
              <a:t>Each stage involves AI assistance with human oversight at decision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AI Tool Ecosystem for Software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>
                <a:solidFill>
                  <a:srgbClr val="2E74B5"/>
                </a:solidFill>
              </a:rPr>
              <a:t>Categorized Landscape of AI-Powered Development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512064" y="1508760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IDE Assistants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GitHub Copilot | Cursor | Windsurf | JetBrains AI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Inline code completion, refactoring, chat-in-editor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39"/>
            <a:ext cx="54864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512064" y="2377439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Chat / LLM Interfaces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ChatGPT | Claude | Gemini | Devin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Conversational coding, explanation, brainstorming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54864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512064" y="3246120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Workflow &amp; Agent Frameworks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LangChain | CrewAI | AutoGen | Semantic Kernel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Orchestrate multi-step AI pipelines &amp; agent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512064" y="4114800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DevOps &amp; CI/CD Intelligence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GitHub Actions AI | SonarQube AI | Snyk AI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Automated quality gates, vulnerability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79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512064" y="4983479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Code Review &amp; PR Analysis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CodeRabbit | Copilot PR Review | Qodo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Automated code review, PR summaries, test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>
                <a:solidFill>
                  <a:srgbClr val="2E74B5"/>
                </a:solidFill>
              </a:rPr>
              <a:t>IDE Assistant Comparison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08760"/>
            <a:ext cx="5303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600" b="1">
                <a:solidFill>
                  <a:srgbClr val="2E74B5"/>
                </a:solidFill>
              </a:rPr>
              <a:t>GitHub Copilot</a:t>
            </a:r>
          </a:p>
          <a:p>
            <a:r>
              <a:rPr sz="1050">
                <a:solidFill>
                  <a:srgbClr val="7F8C8D"/>
                </a:solidFill>
              </a:rPr>
              <a:t>Strengths: Widest IDE support, strong autocomplete, enterprise features</a:t>
            </a:r>
          </a:p>
          <a:p>
            <a:r>
              <a:rPr sz="1050">
                <a:solidFill>
                  <a:srgbClr val="7F8C8D"/>
                </a:solidFill>
              </a:rPr>
              <a:t>Best for: General-purpose coding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88920"/>
            <a:ext cx="5303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600" b="1">
                <a:solidFill>
                  <a:srgbClr val="2E86AB"/>
                </a:solidFill>
              </a:rPr>
              <a:t>Cursor</a:t>
            </a:r>
          </a:p>
          <a:p>
            <a:r>
              <a:rPr sz="1050">
                <a:solidFill>
                  <a:srgbClr val="7F8C8D"/>
                </a:solidFill>
              </a:rPr>
              <a:t>Strengths: Codebase-aware context, Composer mode, multi-file edits</a:t>
            </a:r>
          </a:p>
          <a:p>
            <a:r>
              <a:rPr sz="1050">
                <a:solidFill>
                  <a:srgbClr val="7F8C8D"/>
                </a:solidFill>
              </a:rPr>
              <a:t>Best for: Complex refactors, full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69079"/>
            <a:ext cx="5303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600" b="1">
                <a:solidFill>
                  <a:srgbClr val="27AE60"/>
                </a:solidFill>
              </a:rPr>
              <a:t>Devin / Windsurf</a:t>
            </a:r>
          </a:p>
          <a:p>
            <a:r>
              <a:rPr sz="1050">
                <a:solidFill>
                  <a:srgbClr val="7F8C8D"/>
                </a:solidFill>
              </a:rPr>
              <a:t>Strengths: Autonomous execution, end-to-end implementation, planning loops</a:t>
            </a:r>
          </a:p>
          <a:p>
            <a:r>
              <a:rPr sz="1050">
                <a:solidFill>
                  <a:srgbClr val="7F8C8D"/>
                </a:solidFill>
              </a:rPr>
              <a:t>Best for: Complete feature implementation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52160"/>
            <a:ext cx="112471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E74B5"/>
                </a:solidFill>
              </a:rPr>
              <a:t>Practical Tip:  Use Copilot for quick completions  |  Cursor for complex multi-file work  |  Devin for end-to-end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No single tool covers everything — build a complementary toolchain across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LLM Capabilities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What AI Does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✓ Code pattern generation &amp; boilerplate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✓ Test scaffolding from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✓ Documentation &amp; comment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✓ Explaining and summarizing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✓ Refactoring suggestions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✓ CRUD operations &amp; REST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✓ Regex, SQL queries, config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✓ Converting between languages/frameworks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41148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What AI Struggles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9164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✗ Novel / unique 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✗ Complex business logic &amp; domain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✗ Security guarantees &amp; crypto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146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✗ Performance optimization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8892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✗ System-level architecture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6324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✗ Cross-service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375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✗ Legacy system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118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✗ Regulatory / compliance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E74B5"/>
                </a:solidFill>
              </a:rPr>
              <a:t>Critical Thinking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/>
          <p:cNvSpPr/>
          <p:nvPr/>
        </p:nvSpPr>
        <p:spPr>
          <a:xfrm>
            <a:off x="512064" y="4480560"/>
            <a:ext cx="25968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>
                <a:solidFill>
                  <a:srgbClr val="2C3E50"/>
                </a:solidFill>
              </a:rPr>
              <a:t>Always Verify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AI-generated code can contain subtle bugs, hallucinated APIs, or security vulnerabilities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480560"/>
            <a:ext cx="54864" cy="1005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Rectangle 26"/>
          <p:cNvSpPr/>
          <p:nvPr/>
        </p:nvSpPr>
        <p:spPr>
          <a:xfrm>
            <a:off x="3346704" y="4480560"/>
            <a:ext cx="25968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>
                <a:solidFill>
                  <a:srgbClr val="2C3E50"/>
                </a:solidFill>
              </a:rPr>
              <a:t>Provide Context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Better input = better output. Include specs, constraints, existing code in prompts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48056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6181344" y="4480560"/>
            <a:ext cx="25968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>
                <a:solidFill>
                  <a:srgbClr val="2C3E50"/>
                </a:solidFill>
              </a:rPr>
              <a:t>Iterate &amp; Refine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First generation is rarely perfect. Review, adjust prompt, regenerate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448056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Rectangle 30"/>
          <p:cNvSpPr/>
          <p:nvPr/>
        </p:nvSpPr>
        <p:spPr>
          <a:xfrm>
            <a:off x="9015984" y="4480560"/>
            <a:ext cx="25968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600" b="1">
                <a:solidFill>
                  <a:srgbClr val="2C3E50"/>
                </a:solidFill>
              </a:rPr>
              <a:t>Know the Boundaries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Use AI for what it does well; apply human expertise where it struggles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Golden Rule: Trust but verify — AI is a powerful assistant, not an infallible oracle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Spec-Driven Development (SDD)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E74B5"/>
                </a:solidFill>
              </a:rPr>
              <a:t>What is Spec-Driven Development?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• Write a complete, structured specification BEFORE any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• Specification includes: FRs, NFRs, acceptance criteria, edge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825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• AI generates implementation directly from the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4086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• Tests are derived from the same spec — spec = single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• Changes flow through specs, not through code patches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022134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dirty="0">
                <a:solidFill>
                  <a:srgbClr val="2E74B5"/>
                </a:solidFill>
              </a:rPr>
              <a:t>SDD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" y="4387894"/>
            <a:ext cx="164592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Define
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2640" y="4570774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46960" y="4387894"/>
            <a:ext cx="1645920" cy="8229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Write
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2880" y="4570774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7200" y="4387894"/>
            <a:ext cx="164592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Review &amp;
Approve 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3120" y="4570774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440" y="4387894"/>
            <a:ext cx="16459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Generate
Code from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3360" y="4570774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680" y="4387894"/>
            <a:ext cx="164592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Generate
Tests from 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600" y="4570774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27920" y="4387894"/>
            <a:ext cx="164592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Run &amp;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097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>
                <a:solidFill>
                  <a:srgbClr val="2E74B5"/>
                </a:solidFill>
              </a:rPr>
              <a:t>Anatomy of an SDD Specification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463040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 Functional Requirements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760220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 Non-Functional Requirements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2928" y="2045758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3. Acceptance Criteria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4380" y="2342938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 Edge Cases &amp; Error Handling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12864" y="2651147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 Domain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12864" y="2971187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 API Contract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12864" y="3294526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7. Data Model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3609004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 Test Strategy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" y="621792"/>
            <a:ext cx="112471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27AE60"/>
                </a:solidFill>
              </a:rPr>
              <a:t>SDD Principle:  A well-written spec is the highest-leverage artifact in AI-native development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37D85B-0EAC-3F1A-87C2-0AB96967687A}"/>
              </a:ext>
            </a:extLst>
          </p:cNvPr>
          <p:cNvSpPr txBox="1"/>
          <p:nvPr/>
        </p:nvSpPr>
        <p:spPr>
          <a:xfrm>
            <a:off x="455894" y="3039185"/>
            <a:ext cx="6530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Traditional: think -&gt; code -&gt; test -&gt; document</a:t>
            </a:r>
          </a:p>
          <a:p>
            <a:r>
              <a:rPr lang="en-US" sz="1400" dirty="0"/>
              <a:t>SDD: think -&gt; SPECIFY -&gt; generate code -&gt; generate tests -&gt; validate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AB0B0F-0EEC-2A0A-675C-AEBDDAEA8858}"/>
              </a:ext>
            </a:extLst>
          </p:cNvPr>
          <p:cNvSpPr txBox="1"/>
          <p:nvPr/>
        </p:nvSpPr>
        <p:spPr>
          <a:xfrm>
            <a:off x="457200" y="3623540"/>
            <a:ext cx="6136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Think of the spec as a detailed blueprint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E482D4-F4B7-EDDC-DB20-DA2ABC3D513E}"/>
              </a:ext>
            </a:extLst>
          </p:cNvPr>
          <p:cNvSpPr/>
          <p:nvPr/>
        </p:nvSpPr>
        <p:spPr>
          <a:xfrm>
            <a:off x="455894" y="5668476"/>
            <a:ext cx="155448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3B69F8-D77C-D3BC-135E-E7C460BB42B1}"/>
              </a:ext>
            </a:extLst>
          </p:cNvPr>
          <p:cNvSpPr txBox="1"/>
          <p:nvPr/>
        </p:nvSpPr>
        <p:spPr>
          <a:xfrm>
            <a:off x="501614" y="574162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aramond"/>
              </a:defRPr>
            </a:pPr>
            <a:r>
              <a:rPr sz="1200"/>
              <a:t>Constitution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F0AAB-5165-8DD0-C60B-B5290E485A59}"/>
              </a:ext>
            </a:extLst>
          </p:cNvPr>
          <p:cNvSpPr txBox="1"/>
          <p:nvPr/>
        </p:nvSpPr>
        <p:spPr>
          <a:xfrm>
            <a:off x="501614" y="6125676"/>
            <a:ext cx="146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Garamond"/>
              </a:defRPr>
            </a:pPr>
            <a:r>
              <a:rPr sz="1200"/>
              <a:t>Governance</a:t>
            </a:r>
            <a:br>
              <a:rPr sz="1200"/>
            </a:br>
            <a:r>
              <a:rPr sz="1200"/>
              <a:t>principles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AC9317-403C-75B9-41CB-3F653FC2FD3D}"/>
              </a:ext>
            </a:extLst>
          </p:cNvPr>
          <p:cNvSpPr txBox="1"/>
          <p:nvPr/>
        </p:nvSpPr>
        <p:spPr>
          <a:xfrm>
            <a:off x="1964654" y="59885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F9B30"/>
                </a:solidFill>
                <a:latin typeface="Garamond"/>
              </a:defRPr>
            </a:pPr>
            <a:r>
              <a:t>&gt;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3C8F7E9-2F01-537F-52DB-E180B4B70FCD}"/>
              </a:ext>
            </a:extLst>
          </p:cNvPr>
          <p:cNvSpPr/>
          <p:nvPr/>
        </p:nvSpPr>
        <p:spPr>
          <a:xfrm>
            <a:off x="2174966" y="5668476"/>
            <a:ext cx="1554480" cy="1051560"/>
          </a:xfrm>
          <a:prstGeom prst="rect">
            <a:avLst/>
          </a:prstGeom>
          <a:solidFill>
            <a:srgbClr val="6B2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4E1763-6814-E2C3-BA79-0318B0B5EDE1}"/>
              </a:ext>
            </a:extLst>
          </p:cNvPr>
          <p:cNvSpPr txBox="1"/>
          <p:nvPr/>
        </p:nvSpPr>
        <p:spPr>
          <a:xfrm>
            <a:off x="2220686" y="574162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aramond"/>
              </a:defRPr>
            </a:pPr>
            <a:r>
              <a:rPr sz="1200"/>
              <a:t>Specify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BDE7F7-2E50-135E-A9E9-0F09529C3077}"/>
              </a:ext>
            </a:extLst>
          </p:cNvPr>
          <p:cNvSpPr txBox="1"/>
          <p:nvPr/>
        </p:nvSpPr>
        <p:spPr>
          <a:xfrm>
            <a:off x="2220686" y="6125676"/>
            <a:ext cx="146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Garamond"/>
              </a:defRPr>
            </a:pPr>
            <a:r>
              <a:rPr sz="1200"/>
              <a:t>Feature</a:t>
            </a:r>
            <a:br>
              <a:rPr sz="1200"/>
            </a:br>
            <a:r>
              <a:rPr sz="1200"/>
              <a:t>specification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CC4A58-1331-493A-D0FF-752E56FA6855}"/>
              </a:ext>
            </a:extLst>
          </p:cNvPr>
          <p:cNvSpPr txBox="1"/>
          <p:nvPr/>
        </p:nvSpPr>
        <p:spPr>
          <a:xfrm>
            <a:off x="3683726" y="59885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F9B30"/>
                </a:solidFill>
                <a:latin typeface="Garamond"/>
              </a:defRPr>
            </a:pPr>
            <a:r>
              <a:t>&gt;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F4D6E63-BD78-476E-1999-7392C7AEFA75}"/>
              </a:ext>
            </a:extLst>
          </p:cNvPr>
          <p:cNvSpPr/>
          <p:nvPr/>
        </p:nvSpPr>
        <p:spPr>
          <a:xfrm>
            <a:off x="3894038" y="5668476"/>
            <a:ext cx="1554480" cy="1051560"/>
          </a:xfrm>
          <a:prstGeom prst="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66A3F5-ED7B-B4CB-71E3-D92FDD3E2DB7}"/>
              </a:ext>
            </a:extLst>
          </p:cNvPr>
          <p:cNvSpPr txBox="1"/>
          <p:nvPr/>
        </p:nvSpPr>
        <p:spPr>
          <a:xfrm>
            <a:off x="3939758" y="574162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aramond"/>
              </a:defRPr>
            </a:pPr>
            <a:r>
              <a:rPr sz="1200"/>
              <a:t>Plan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0A27BE-DF43-8651-C87D-B58FB338976E}"/>
              </a:ext>
            </a:extLst>
          </p:cNvPr>
          <p:cNvSpPr txBox="1"/>
          <p:nvPr/>
        </p:nvSpPr>
        <p:spPr>
          <a:xfrm>
            <a:off x="3939758" y="6125676"/>
            <a:ext cx="146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Garamond"/>
              </a:defRPr>
            </a:pPr>
            <a:r>
              <a:rPr sz="1200"/>
              <a:t>Architecture</a:t>
            </a:r>
            <a:br>
              <a:rPr sz="1200"/>
            </a:br>
            <a:r>
              <a:rPr sz="1200"/>
              <a:t>&amp; data flow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EDE1AE-2798-0F02-7791-898F72B252B8}"/>
              </a:ext>
            </a:extLst>
          </p:cNvPr>
          <p:cNvSpPr txBox="1"/>
          <p:nvPr/>
        </p:nvSpPr>
        <p:spPr>
          <a:xfrm>
            <a:off x="5402798" y="59885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F9B30"/>
                </a:solidFill>
                <a:latin typeface="Garamond"/>
              </a:defRPr>
            </a:pPr>
            <a:r>
              <a:t>&gt;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F07BC4F-AECA-D29E-6FE2-F8C5808F32BB}"/>
              </a:ext>
            </a:extLst>
          </p:cNvPr>
          <p:cNvSpPr/>
          <p:nvPr/>
        </p:nvSpPr>
        <p:spPr>
          <a:xfrm>
            <a:off x="5613110" y="5668476"/>
            <a:ext cx="1554480" cy="1051560"/>
          </a:xfrm>
          <a:prstGeom prst="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740660-74C0-CD16-439B-06E161D3046A}"/>
              </a:ext>
            </a:extLst>
          </p:cNvPr>
          <p:cNvSpPr txBox="1"/>
          <p:nvPr/>
        </p:nvSpPr>
        <p:spPr>
          <a:xfrm>
            <a:off x="5658830" y="574162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aramond"/>
              </a:defRPr>
            </a:pPr>
            <a:r>
              <a:rPr sz="1200"/>
              <a:t>Tasks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BA725F-0FBF-C54A-1B40-6CF7E7829F12}"/>
              </a:ext>
            </a:extLst>
          </p:cNvPr>
          <p:cNvSpPr txBox="1"/>
          <p:nvPr/>
        </p:nvSpPr>
        <p:spPr>
          <a:xfrm>
            <a:off x="5658830" y="6125676"/>
            <a:ext cx="146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Garamond"/>
              </a:defRPr>
            </a:pPr>
            <a:r>
              <a:rPr sz="1200"/>
              <a:t>Phased task</a:t>
            </a:r>
            <a:br>
              <a:rPr sz="1200"/>
            </a:br>
            <a:r>
              <a:rPr sz="1200"/>
              <a:t>breakdown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696078-1112-F50C-F17D-FEA02968D10E}"/>
              </a:ext>
            </a:extLst>
          </p:cNvPr>
          <p:cNvSpPr txBox="1"/>
          <p:nvPr/>
        </p:nvSpPr>
        <p:spPr>
          <a:xfrm>
            <a:off x="7121870" y="59885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F9B30"/>
                </a:solidFill>
                <a:latin typeface="Garamond"/>
              </a:defRPr>
            </a:pPr>
            <a:r>
              <a:t>&gt;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CB4EB0E-81C5-70B2-152B-B7986A65A54D}"/>
              </a:ext>
            </a:extLst>
          </p:cNvPr>
          <p:cNvSpPr/>
          <p:nvPr/>
        </p:nvSpPr>
        <p:spPr>
          <a:xfrm>
            <a:off x="7332182" y="5668476"/>
            <a:ext cx="1554480" cy="105156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F037CD-6E39-0C4F-20E5-07360A914E60}"/>
              </a:ext>
            </a:extLst>
          </p:cNvPr>
          <p:cNvSpPr txBox="1"/>
          <p:nvPr/>
        </p:nvSpPr>
        <p:spPr>
          <a:xfrm>
            <a:off x="7377902" y="574162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aramond"/>
              </a:defRPr>
            </a:pPr>
            <a:r>
              <a:rPr sz="1200"/>
              <a:t>Implement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22A478-A304-7C27-C357-1661E0335272}"/>
              </a:ext>
            </a:extLst>
          </p:cNvPr>
          <p:cNvSpPr txBox="1"/>
          <p:nvPr/>
        </p:nvSpPr>
        <p:spPr>
          <a:xfrm>
            <a:off x="7377902" y="6125676"/>
            <a:ext cx="146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Garamond"/>
              </a:defRPr>
            </a:pPr>
            <a:r>
              <a:rPr sz="1200"/>
              <a:t>Code using</a:t>
            </a:r>
            <a:br>
              <a:rPr sz="1200"/>
            </a:br>
            <a:r>
              <a:rPr sz="1200"/>
              <a:t>patterns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E284D9-4CD0-B463-01B0-239D463D2A22}"/>
              </a:ext>
            </a:extLst>
          </p:cNvPr>
          <p:cNvSpPr txBox="1"/>
          <p:nvPr/>
        </p:nvSpPr>
        <p:spPr>
          <a:xfrm>
            <a:off x="8840942" y="59885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F9B30"/>
                </a:solidFill>
                <a:latin typeface="Garamond"/>
              </a:defRPr>
            </a:pPr>
            <a:r>
              <a:t>&gt;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45C344-8375-42AD-1B1F-50690748B714}"/>
              </a:ext>
            </a:extLst>
          </p:cNvPr>
          <p:cNvSpPr/>
          <p:nvPr/>
        </p:nvSpPr>
        <p:spPr>
          <a:xfrm>
            <a:off x="9051254" y="5668476"/>
            <a:ext cx="1554480" cy="1051560"/>
          </a:xfrm>
          <a:prstGeom prst="rect">
            <a:avLst/>
          </a:prstGeom>
          <a:solidFill>
            <a:srgbClr val="BF9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466D9D-6FE0-9884-F62C-A9D5CD6B2165}"/>
              </a:ext>
            </a:extLst>
          </p:cNvPr>
          <p:cNvSpPr txBox="1"/>
          <p:nvPr/>
        </p:nvSpPr>
        <p:spPr>
          <a:xfrm>
            <a:off x="9096974" y="574162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aramond"/>
              </a:defRPr>
            </a:pPr>
            <a:r>
              <a:rPr sz="1200"/>
              <a:t>Analyze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BE04F7-C2AC-7D21-7AFE-1A7A311FA283}"/>
              </a:ext>
            </a:extLst>
          </p:cNvPr>
          <p:cNvSpPr txBox="1"/>
          <p:nvPr/>
        </p:nvSpPr>
        <p:spPr>
          <a:xfrm>
            <a:off x="9096974" y="6125676"/>
            <a:ext cx="146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E8E8"/>
                </a:solidFill>
                <a:latin typeface="Garamond"/>
              </a:defRPr>
            </a:pPr>
            <a:r>
              <a:rPr sz="1200"/>
              <a:t>Validate &amp;</a:t>
            </a:r>
            <a:br>
              <a:rPr sz="1200"/>
            </a:br>
            <a:r>
              <a:rPr sz="1200"/>
              <a:t>assess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CD89E3-121E-FB26-82F9-40AC22C97747}"/>
              </a:ext>
            </a:extLst>
          </p:cNvPr>
          <p:cNvSpPr txBox="1"/>
          <p:nvPr/>
        </p:nvSpPr>
        <p:spPr>
          <a:xfrm>
            <a:off x="426720" y="5331556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1" dirty="0" err="1">
                <a:solidFill>
                  <a:srgbClr val="2E74B5"/>
                </a:solidFill>
              </a:rPr>
              <a:t>Github</a:t>
            </a:r>
            <a:r>
              <a:rPr lang="en-US" sz="1400" b="1" dirty="0">
                <a:solidFill>
                  <a:srgbClr val="2E74B5"/>
                </a:solidFill>
              </a:rPr>
              <a:t> </a:t>
            </a:r>
            <a:r>
              <a:rPr lang="en-US" sz="1400" b="1" dirty="0" err="1">
                <a:solidFill>
                  <a:srgbClr val="2E74B5"/>
                </a:solidFill>
              </a:rPr>
              <a:t>Speckit</a:t>
            </a:r>
            <a:r>
              <a:rPr lang="en-US" sz="1400" b="1" dirty="0">
                <a:solidFill>
                  <a:srgbClr val="2E74B5"/>
                </a:solidFill>
              </a:rPr>
              <a:t> Flow</a:t>
            </a:r>
            <a:endParaRPr sz="1400" b="1" dirty="0">
              <a:solidFill>
                <a:srgbClr val="2E74B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Writing an Executable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 dirty="0">
                <a:solidFill>
                  <a:srgbClr val="2E74B5"/>
                </a:solidFill>
              </a:rPr>
              <a:t>Example: FR-1 Create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669280" cy="3840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050" b="1" dirty="0">
                <a:solidFill>
                  <a:srgbClr val="2E74B5"/>
                </a:solidFill>
                <a:latin typeface="Consolas"/>
              </a:rPr>
              <a:t>FR-1: Create a New Task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───────────────────────</a:t>
            </a:r>
          </a:p>
          <a:p>
            <a:r>
              <a:rPr sz="1050" b="1" dirty="0">
                <a:solidFill>
                  <a:srgbClr val="2E74B5"/>
                </a:solidFill>
                <a:latin typeface="Consolas"/>
              </a:rPr>
              <a:t>Description: Users can create a new task with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title, description, priority, and category.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Status defaults to OPEN.</a:t>
            </a:r>
          </a:p>
          <a:p>
            <a:endParaRPr sz="1050" dirty="0">
              <a:solidFill>
                <a:srgbClr val="2C3E50"/>
              </a:solidFill>
              <a:latin typeface="Consolas"/>
            </a:endParaRPr>
          </a:p>
          <a:p>
            <a:r>
              <a:rPr sz="1050" b="1" dirty="0">
                <a:solidFill>
                  <a:srgbClr val="2E74B5"/>
                </a:solidFill>
                <a:latin typeface="Consolas"/>
              </a:rPr>
              <a:t>Acceptance Criteria: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1. Valid request → task created with status OPEN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2. Response includes task ID + creation timestamp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3. Title: required, 3-200 characters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4. Priority: LOW | MEDIUM | HIGH (default MEDIUM)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5. Category ID: optional, must exist if provided</a:t>
            </a:r>
          </a:p>
          <a:p>
            <a:endParaRPr sz="1050" dirty="0">
              <a:solidFill>
                <a:srgbClr val="2C3E50"/>
              </a:solidFill>
              <a:latin typeface="Consolas"/>
            </a:endParaRPr>
          </a:p>
          <a:p>
            <a:r>
              <a:rPr sz="1050" b="1" dirty="0">
                <a:solidFill>
                  <a:srgbClr val="2E74B5"/>
                </a:solidFill>
                <a:latin typeface="Consolas"/>
              </a:rPr>
              <a:t>Edge Cases: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• Empty title → 400 Bad Request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• Title &gt; 200 chars → 400 + validation msg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• Invalid category → 400 "Category not found"</a:t>
            </a:r>
          </a:p>
          <a:p>
            <a:r>
              <a:rPr sz="1050" dirty="0">
                <a:solidFill>
                  <a:srgbClr val="2C3E50"/>
                </a:solidFill>
                <a:latin typeface="Consolas"/>
              </a:rPr>
              <a:t>  • Unauthenticated → 401 Unauthorized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1">
                <a:solidFill>
                  <a:srgbClr val="2E74B5"/>
                </a:solidFill>
              </a:rPr>
              <a:t>Spec Writing Best Practices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6455664" y="14630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Be Specific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Use exact data types, ranges, and formats.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'Integer 0-100' not 'a number'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3774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6455664" y="23774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Define Boundaries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State min/max values, character limits,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allowed enum values explicitly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6455664" y="32918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Cover Error Paths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Every happy path needs corresponding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error scenarios with HTTP status codes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2062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6455664" y="42062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Use Given/When/Then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Acceptance criteria should be directly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translatable to test assertions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1206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6455664" y="51206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400" b="1">
                <a:solidFill>
                  <a:srgbClr val="2C3E50"/>
                </a:solidFill>
              </a:rPr>
              <a:t>Include Examples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Provide sample request/response JSON.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AI generates better code from examples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B42DA29C-BD48-7146-D1C0-943FAD37AF7F}"/>
              </a:ext>
            </a:extLst>
          </p:cNvPr>
          <p:cNvSpPr/>
          <p:nvPr/>
        </p:nvSpPr>
        <p:spPr>
          <a:xfrm>
            <a:off x="426567" y="5394960"/>
            <a:ext cx="5669280" cy="1080734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050" b="1" dirty="0">
                <a:solidFill>
                  <a:schemeClr val="tx1"/>
                </a:solidFill>
                <a:latin typeface="Consolas"/>
              </a:rPr>
              <a:t>FR-</a:t>
            </a:r>
            <a:r>
              <a:rPr lang="en-US" sz="1050" b="1" dirty="0">
                <a:solidFill>
                  <a:schemeClr val="tx1"/>
                </a:solidFill>
                <a:latin typeface="Consolas"/>
              </a:rPr>
              <a:t>2</a:t>
            </a:r>
            <a:r>
              <a:rPr sz="1050" b="1" dirty="0">
                <a:solidFill>
                  <a:schemeClr val="tx1"/>
                </a:solidFill>
                <a:latin typeface="Consolas"/>
              </a:rPr>
              <a:t>: </a:t>
            </a:r>
            <a:r>
              <a:rPr lang="en-US" sz="1200" dirty="0">
                <a:solidFill>
                  <a:schemeClr val="tx1"/>
                </a:solidFill>
              </a:rPr>
              <a:t>List and Filter Tasks </a:t>
            </a:r>
            <a:endParaRPr sz="1200" b="1" dirty="0">
              <a:solidFill>
                <a:schemeClr val="tx1"/>
              </a:solidFill>
              <a:latin typeface="Consolas"/>
            </a:endParaRPr>
          </a:p>
          <a:p>
            <a:endParaRPr sz="1050" dirty="0">
              <a:solidFill>
                <a:srgbClr val="2C3E50"/>
              </a:solidFill>
              <a:latin typeface="Consolas"/>
            </a:endParaRPr>
          </a:p>
          <a:p>
            <a:r>
              <a:rPr sz="1050" b="1" dirty="0">
                <a:solidFill>
                  <a:srgbClr val="2E74B5"/>
                </a:solidFill>
                <a:latin typeface="Consolas"/>
              </a:rPr>
              <a:t>Description: </a:t>
            </a:r>
            <a:r>
              <a:rPr lang="en-US" sz="1100" dirty="0">
                <a:solidFill>
                  <a:schemeClr val="tx1"/>
                </a:solidFill>
                <a:latin typeface="Consolas"/>
              </a:rPr>
              <a:t>Users can retrieve a paginated list of tasks with optional filters for status, priority, and category. Soft-deleted tasks are excluded by default.</a:t>
            </a:r>
            <a:endParaRPr sz="1100" dirty="0">
              <a:solidFill>
                <a:schemeClr val="tx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Architecture: Domain Model &amp; API Contract-First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UML Class Diagram: Task Management Domain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E74B5"/>
                </a:solidFill>
              </a:rPr>
              <a:t>Task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id: UUID (PK)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title: String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description: Text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status: Enum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priority: Enum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assigneeId: UUID (FK)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categoryId: UUID (FK)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createdAt: DateTime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5544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2E74B5"/>
                </a:solidFill>
              </a:rPr>
              <a:t>User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id: UUID (PK)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name: String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email: String (UNIQUE)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role: Enum</a:t>
            </a:r>
          </a:p>
          <a:p>
            <a:r>
              <a:rPr sz="1100" dirty="0" err="1">
                <a:solidFill>
                  <a:srgbClr val="2C3E50"/>
                </a:solidFill>
                <a:latin typeface="Consolas"/>
              </a:rPr>
              <a:t>createdAt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DateTime</a:t>
            </a:r>
            <a:endParaRPr sz="1100" dirty="0">
              <a:solidFill>
                <a:srgbClr val="2C3E50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E74B5"/>
                </a:solidFill>
              </a:rPr>
              <a:t>Category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id: UUID (PK)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name: String</a:t>
            </a:r>
          </a:p>
          <a:p>
            <a:r>
              <a:rPr sz="1200">
                <a:solidFill>
                  <a:srgbClr val="2C3E50"/>
                </a:solidFill>
                <a:latin typeface="Consolas"/>
              </a:rPr>
              <a:t>description: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1148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E74B5"/>
                </a:solidFill>
              </a:rPr>
              <a:t>Comment</a:t>
            </a:r>
          </a:p>
          <a:p>
            <a:r>
              <a:rPr sz="1100">
                <a:solidFill>
                  <a:srgbClr val="2C3E50"/>
                </a:solidFill>
                <a:latin typeface="Consolas"/>
              </a:rPr>
              <a:t>id: UUID (PK)</a:t>
            </a:r>
          </a:p>
          <a:p>
            <a:r>
              <a:rPr sz="1100">
                <a:solidFill>
                  <a:srgbClr val="2C3E50"/>
                </a:solidFill>
                <a:latin typeface="Consolas"/>
              </a:rPr>
              <a:t>taskId: UUID (FK)</a:t>
            </a:r>
          </a:p>
          <a:p>
            <a:r>
              <a:rPr sz="1100">
                <a:solidFill>
                  <a:srgbClr val="2C3E50"/>
                </a:solidFill>
                <a:latin typeface="Consolas"/>
              </a:rPr>
              <a:t>userId: UUID (FK)</a:t>
            </a:r>
          </a:p>
          <a:p>
            <a:r>
              <a:rPr sz="1100">
                <a:solidFill>
                  <a:srgbClr val="2C3E50"/>
                </a:solidFill>
                <a:latin typeface="Consolas"/>
              </a:rPr>
              <a:t>content: Text</a:t>
            </a:r>
          </a:p>
          <a:p>
            <a:r>
              <a:rPr sz="1100">
                <a:solidFill>
                  <a:srgbClr val="2C3E50"/>
                </a:solidFill>
                <a:latin typeface="Consolas"/>
              </a:rPr>
              <a:t>createdAt: DateTime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3375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dirty="0"/>
              <a:t>1    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7548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74C3C"/>
                </a:solidFill>
              </a:rPr>
              <a:t>1    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Contract-First API Design (OpenAPI)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303520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dirty="0" err="1">
                <a:solidFill>
                  <a:srgbClr val="2C3E50"/>
                </a:solidFill>
                <a:latin typeface="Consolas"/>
              </a:rPr>
              <a:t>openapi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: 3.0.3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paths: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/</a:t>
            </a:r>
            <a:r>
              <a:rPr sz="1000" dirty="0" err="1">
                <a:solidFill>
                  <a:srgbClr val="2C3E50"/>
                </a:solidFill>
                <a:latin typeface="Consolas"/>
              </a:rPr>
              <a:t>api</a:t>
            </a:r>
            <a:r>
              <a:rPr sz="1000" dirty="0">
                <a:solidFill>
                  <a:srgbClr val="2C3E50"/>
                </a:solidFill>
                <a:latin typeface="Consolas"/>
              </a:rPr>
              <a:t>/tasks: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post: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summary: Create a new task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2C3E50"/>
                </a:solidFill>
                <a:latin typeface="Consolas"/>
              </a:rPr>
              <a:t>operationId</a:t>
            </a:r>
            <a:r>
              <a:rPr sz="1000" dirty="0">
                <a:solidFill>
                  <a:srgbClr val="2C3E50"/>
                </a:solidFill>
                <a:latin typeface="Consolas"/>
              </a:rPr>
              <a:t>: </a:t>
            </a:r>
            <a:r>
              <a:rPr sz="1000" dirty="0" err="1">
                <a:solidFill>
                  <a:srgbClr val="2C3E50"/>
                </a:solidFill>
                <a:latin typeface="Consolas"/>
              </a:rPr>
              <a:t>createTask</a:t>
            </a:r>
            <a:endParaRPr sz="1000" dirty="0">
              <a:solidFill>
                <a:srgbClr val="2C3E50"/>
              </a:solidFill>
              <a:latin typeface="Consolas"/>
            </a:endParaRP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</a:t>
            </a:r>
            <a:r>
              <a:rPr sz="1000" dirty="0" err="1">
                <a:solidFill>
                  <a:srgbClr val="2C3E50"/>
                </a:solidFill>
                <a:latin typeface="Consolas"/>
              </a:rPr>
              <a:t>requestBody</a:t>
            </a:r>
            <a:r>
              <a:rPr sz="1000" dirty="0">
                <a:solidFill>
                  <a:srgbClr val="2C3E50"/>
                </a:solidFill>
                <a:latin typeface="Consolas"/>
              </a:rPr>
              <a:t>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required: true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content: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  application/</a:t>
            </a:r>
            <a:r>
              <a:rPr sz="1000" dirty="0" err="1">
                <a:solidFill>
                  <a:srgbClr val="2C3E50"/>
                </a:solidFill>
                <a:latin typeface="Consolas"/>
              </a:rPr>
              <a:t>json</a:t>
            </a:r>
            <a:r>
              <a:rPr sz="1000" dirty="0">
                <a:solidFill>
                  <a:srgbClr val="2C3E50"/>
                </a:solidFill>
                <a:latin typeface="Consolas"/>
              </a:rPr>
              <a:t>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    schema: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      $ref: '#/.../</a:t>
            </a:r>
            <a:r>
              <a:rPr sz="1000" dirty="0" err="1">
                <a:solidFill>
                  <a:srgbClr val="2C3E50"/>
                </a:solidFill>
                <a:latin typeface="Consolas"/>
              </a:rPr>
              <a:t>CreateTaskDTO</a:t>
            </a:r>
            <a:r>
              <a:rPr sz="1000" dirty="0">
                <a:solidFill>
                  <a:srgbClr val="2C3E50"/>
                </a:solidFill>
                <a:latin typeface="Consolas"/>
              </a:rPr>
              <a:t>'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responses: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'201':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  description: Task created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'400':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  description: Validation error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'401':</a:t>
            </a:r>
          </a:p>
          <a:p>
            <a:r>
              <a:rPr sz="1000" dirty="0">
                <a:solidFill>
                  <a:srgbClr val="2C3E50"/>
                </a:solidFill>
                <a:latin typeface="Consolas"/>
              </a:rPr>
              <a:t>          description: Unauthorized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Contract-First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892040"/>
            <a:ext cx="914400" cy="6400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Write
OpenAPI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892040"/>
            <a:ext cx="91440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Review &amp;
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4892040"/>
            <a:ext cx="91440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
Stubs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4892040"/>
            <a:ext cx="9144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Implement
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0" y="4892040"/>
            <a:ext cx="9144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Contract
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Domain model + API contract = complete interface specification for AI code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AI Code Generation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69879"/>
            <a:ext cx="164592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Approved
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07039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92839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Start with reviewed,
approved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969879"/>
            <a:ext cx="16459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Prompt
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07039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92839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Build context-rich prompt
with spec +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969879"/>
            <a:ext cx="16459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
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107039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792839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AI generates code
from prompt + 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69879"/>
            <a:ext cx="164592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Human
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07039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792839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Developer reviews for
correctness &amp;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69879"/>
            <a:ext cx="164592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Refactor &amp;
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107039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92839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Clean up, optimize,
handle edge cases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1969879"/>
            <a:ext cx="164592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Commit
&amp;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792839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Version control +
trigger CI/CD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24359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solidFill>
                  <a:srgbClr val="2E74B5"/>
                </a:solidFill>
              </a:rPr>
              <a:t>Generation Order (Layer-by-Layer)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890119"/>
            <a:ext cx="1691640" cy="9144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1
Domain Entities
(Task, User, Category)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3890119"/>
            <a:ext cx="169164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2
Repository Interfaces
(TaskRepository, etc.)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3890119"/>
            <a:ext cx="169164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3
Service Layer
(Business logic, validation)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890119"/>
            <a:ext cx="1691640" cy="914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4
REST Controllers
(Endpoints, DTOs, error handling)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890119"/>
            <a:ext cx="169164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5
Tests
(Unit, Integration, E2E)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3890119"/>
            <a:ext cx="169164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6
Config &amp; CI/CD
(Docker, pipeline YAML)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Disciplined workflow prevents the 'generate-everything-at-once' anti-pattern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Code Review &amp; Security in AI-Native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7F8C8D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AI Code Review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Spec 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63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Does the code implement ALL acceptance criteria?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Edge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47088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Are all documented error paths handled?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Input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3113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Are all inputs validated at boundaries?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SQL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15184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Parameterized queries? No string concatenation?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Auth &amp; AuthZ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9923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Authentication checked? Role permissions enforced?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Error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8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No sensitive data in error responses?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6732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67328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No secrets/PII in logs? Sufficient audit trail?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5137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Dependencies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5137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Known vulnerabilities in imported libraries?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E74C3C"/>
                </a:solidFill>
              </a:rPr>
              <a:t>OWASP Top 10 for AI-Generated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463040"/>
            <a:ext cx="54864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4" name="Rectangle 23"/>
          <p:cNvSpPr/>
          <p:nvPr/>
        </p:nvSpPr>
        <p:spPr>
          <a:xfrm>
            <a:off x="6455664" y="146304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OWASP: Injection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AI may generate string-concatenated SQL. Always use parameterized queries.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4864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6" name="Rectangle 25"/>
          <p:cNvSpPr/>
          <p:nvPr/>
        </p:nvSpPr>
        <p:spPr>
          <a:xfrm>
            <a:off x="6455664" y="246888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OWASP: Broken Auth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AI-generated auth is often incomplete. Verify token validation, session management.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74720"/>
            <a:ext cx="54864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Rectangle 27"/>
          <p:cNvSpPr/>
          <p:nvPr/>
        </p:nvSpPr>
        <p:spPr>
          <a:xfrm>
            <a:off x="6455664" y="347472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OWASP: Sensitive Data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AI may log or expose sensitive fields. Review all error responses and logs.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480560"/>
            <a:ext cx="54864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0" name="Rectangle 29"/>
          <p:cNvSpPr/>
          <p:nvPr/>
        </p:nvSpPr>
        <p:spPr>
          <a:xfrm>
            <a:off x="6455664" y="448056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OWASP: Insecure Dependencies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AI picks popular libraries, not necessarily secure ones. Run Snyk/Dependabot.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8251" y="544068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Automated Security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251" y="5715000"/>
            <a:ext cx="1280160" cy="6400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SAST
SonarQube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95571" y="5715000"/>
            <a:ext cx="128016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SCA
Snyk/Dependabot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12891" y="5715000"/>
            <a:ext cx="128016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DAST
OWASP ZAP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30211" y="5715000"/>
            <a:ext cx="128016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Secrets
GitGuardian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AI generates code quickly — security review ensures it's generated SAFELY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Testing Strategy: From Specification to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2E74B5"/>
                </a:solidFill>
              </a:rPr>
              <a:t>Test Pyramid for AI-Native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41148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E2E / UI Tests  —  Few, slow, high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77440"/>
            <a:ext cx="32004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Integration Tests  —  API contracts, DB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291840"/>
            <a:ext cx="228600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Unit Tests  —  Many, fast, isolated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9728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Spec → Test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087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Acceptance Criteria 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50876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Unit test: testCreateTask_validRequest_returnsCreated()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2E74B5"/>
                </a:solidFill>
              </a:rPr>
              <a:t>Acceptance Criteria #</a:t>
            </a:r>
            <a:r>
              <a:rPr lang="en-US" sz="1100" b="1" dirty="0">
                <a:solidFill>
                  <a:srgbClr val="2E74B5"/>
                </a:solidFill>
              </a:rPr>
              <a:t>2</a:t>
            </a:r>
            <a:endParaRPr sz="1100" b="1" dirty="0">
              <a:solidFill>
                <a:srgbClr val="2E74B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Unit test: testCreateTask_titleTooShort_returns400()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146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Edge Case: empty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146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14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Unit test: testCreateTask_emptyTitle_returns400()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0175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NFR: P95 &lt; 200ms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175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0175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Load test: k6 scenario with 50 concurrent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204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API Contract: POST 201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52044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5204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Integration test: POST /api/tasks returns 201 + 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23875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2E74B5"/>
                </a:solidFill>
              </a:rPr>
              <a:t>AI-Generated Test 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62925"/>
            <a:ext cx="6400800" cy="1709275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100" dirty="0">
                <a:solidFill>
                  <a:srgbClr val="2C3E50"/>
                </a:solidFill>
                <a:latin typeface="Consolas"/>
              </a:rPr>
              <a:t>@Test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void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createTask_validRequest_returnsCreated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() {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CreateTaskDTO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dto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 = new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CreateTaskDTO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("Fix login bug", "HIGH");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ResponseEntity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&lt;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TaskDTO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&gt; response =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restTemplate.postForEntity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("/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api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/tasks",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dto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TaskDTO.class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);</a:t>
            </a:r>
          </a:p>
          <a:p>
            <a:endParaRPr sz="1100" dirty="0">
              <a:solidFill>
                <a:srgbClr val="2C3E50"/>
              </a:solidFill>
              <a:latin typeface="Consolas"/>
            </a:endParaRP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assertThat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response.getStatusCode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()).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isEqualTo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HttpStatus.CREATED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);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assertThat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response.getBody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().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getTitle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()).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isEqualTo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("Fix login bug");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assertThat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response.getBody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().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getStatus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()).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isEqualTo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("OPEN");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709160"/>
            <a:ext cx="54864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Rectangle 27"/>
          <p:cNvSpPr/>
          <p:nvPr/>
        </p:nvSpPr>
        <p:spPr>
          <a:xfrm>
            <a:off x="7370064" y="4709160"/>
            <a:ext cx="433425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Key Testing Principles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Tests derived from acceptance criteria, not code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Each criterion = at least one test method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Edge cases from spec = negative test cases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AI generates test skeleton; human verifies assertions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Tests generated from specs verify INTENT, not just implementation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CI/CD Pipeline with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136261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0448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AI-Enhanced CI/CD Pipeline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" y="1236208"/>
            <a:ext cx="123444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Code
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19088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236208"/>
            <a:ext cx="123444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Build &amp;
Compile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19088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236208"/>
            <a:ext cx="123444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Unit
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419088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236208"/>
            <a:ext cx="123444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SAST
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419088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236208"/>
            <a:ext cx="123444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Integration
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419088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39" y="1236208"/>
            <a:ext cx="123444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
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419088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236208"/>
            <a:ext cx="123444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Deploy
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1419088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1236208"/>
            <a:ext cx="123444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Smoke
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2150608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74C3C"/>
                </a:solidFill>
              </a:rPr>
              <a:t>Quality Gates (automated checks that must pass)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470648"/>
            <a:ext cx="54864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3" name="Rectangle 22"/>
          <p:cNvSpPr/>
          <p:nvPr/>
        </p:nvSpPr>
        <p:spPr>
          <a:xfrm>
            <a:off x="283464" y="2470648"/>
            <a:ext cx="25968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 dirty="0">
                <a:solidFill>
                  <a:srgbClr val="2C3E50"/>
                </a:solidFill>
              </a:rPr>
              <a:t>Gate 1: Tests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7F8C8D"/>
                </a:solidFill>
              </a:rPr>
              <a:t>All unit + integration tests pass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7F8C8D"/>
                </a:solidFill>
              </a:rPr>
              <a:t>Code coverage &gt; 80%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470648"/>
            <a:ext cx="54864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5" name="Rectangle 24"/>
          <p:cNvSpPr/>
          <p:nvPr/>
        </p:nvSpPr>
        <p:spPr>
          <a:xfrm>
            <a:off x="3118104" y="2470648"/>
            <a:ext cx="25968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 dirty="0">
                <a:solidFill>
                  <a:srgbClr val="2C3E50"/>
                </a:solidFill>
              </a:rPr>
              <a:t>Gate 2: Security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7F8C8D"/>
                </a:solidFill>
              </a:rPr>
              <a:t>Zero critical vulnerabilities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7F8C8D"/>
                </a:solidFill>
              </a:rPr>
              <a:t>Dependency scan clean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2470648"/>
            <a:ext cx="54864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7" name="Rectangle 26"/>
          <p:cNvSpPr/>
          <p:nvPr/>
        </p:nvSpPr>
        <p:spPr>
          <a:xfrm>
            <a:off x="5952744" y="2470648"/>
            <a:ext cx="25968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 dirty="0">
                <a:solidFill>
                  <a:srgbClr val="2C3E50"/>
                </a:solidFill>
              </a:rPr>
              <a:t>Gate 3: Quality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7F8C8D"/>
                </a:solidFill>
              </a:rPr>
              <a:t>SonarQube: no new bugs or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7F8C8D"/>
                </a:solidFill>
              </a:rPr>
              <a:t>code smells above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2470648"/>
            <a:ext cx="54864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9" name="Rectangle 28"/>
          <p:cNvSpPr/>
          <p:nvPr/>
        </p:nvSpPr>
        <p:spPr>
          <a:xfrm>
            <a:off x="8787384" y="2470648"/>
            <a:ext cx="25968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 dirty="0">
                <a:solidFill>
                  <a:srgbClr val="2C3E50"/>
                </a:solidFill>
              </a:rPr>
              <a:t>Gate 4: Contract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7F8C8D"/>
                </a:solidFill>
              </a:rPr>
              <a:t>API responses match </a:t>
            </a:r>
            <a:r>
              <a:rPr sz="1200" dirty="0" err="1">
                <a:solidFill>
                  <a:srgbClr val="7F8C8D"/>
                </a:solidFill>
              </a:rPr>
              <a:t>OpenAPI</a:t>
            </a:r>
            <a:endParaRPr sz="1200" dirty="0">
              <a:solidFill>
                <a:srgbClr val="7F8C8D"/>
              </a:solidFill>
            </a:endParaRP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7F8C8D"/>
                </a:solidFill>
              </a:rPr>
              <a:t>contract specification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693658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E74B5"/>
                </a:solidFill>
              </a:rPr>
              <a:t>GitHub Actions CI/CD (AI-generated)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548640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000">
                <a:solidFill>
                  <a:srgbClr val="2C3E50"/>
                </a:solidFill>
                <a:latin typeface="Consolas"/>
              </a:rPr>
              <a:t>name: ai-native-ci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on: [push, pull_request]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jobs: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build-test-scan: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runs-on: ubuntu-latest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steps: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  - uses: actions/checkout@v4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  - uses: actions/setup-java@v4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    with: { java-version: '21' }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  - run: ./mvnw verify        # Build + test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  - run: ./mvnw sonar:sonar   # Code quality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  - uses: snyk/actions/maven@v1  # Dep scan</a:t>
            </a:r>
          </a:p>
          <a:p>
            <a:r>
              <a:rPr sz="1000">
                <a:solidFill>
                  <a:srgbClr val="2C3E50"/>
                </a:solidFill>
                <a:latin typeface="Consolas"/>
              </a:rPr>
              <a:t>      - run: docker build -t app .   # Container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3567928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dirty="0">
                <a:solidFill>
                  <a:srgbClr val="2E74B5"/>
                </a:solidFill>
              </a:rPr>
              <a:t>How AI Enhances CI/CD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850261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4" name="Rectangle 33"/>
          <p:cNvSpPr/>
          <p:nvPr/>
        </p:nvSpPr>
        <p:spPr>
          <a:xfrm>
            <a:off x="6318504" y="3850261"/>
            <a:ext cx="52486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00" b="1">
                <a:solidFill>
                  <a:srgbClr val="2C3E50"/>
                </a:solidFill>
              </a:rPr>
              <a:t>Pipeline Generation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F8C8D"/>
                </a:solidFill>
              </a:rPr>
              <a:t>AI generates entire workflow YAML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F8C8D"/>
                </a:solidFill>
              </a:rPr>
              <a:t>from architecture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27500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6" name="Rectangle 35"/>
          <p:cNvSpPr/>
          <p:nvPr/>
        </p:nvSpPr>
        <p:spPr>
          <a:xfrm>
            <a:off x="6318504" y="4627500"/>
            <a:ext cx="52486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00" b="1">
                <a:solidFill>
                  <a:srgbClr val="2C3E50"/>
                </a:solidFill>
              </a:rPr>
              <a:t>Intelligent Test Selection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F8C8D"/>
                </a:solidFill>
              </a:rPr>
              <a:t>AI identifies which tests to run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F8C8D"/>
                </a:solidFill>
              </a:rPr>
              <a:t>based on changed files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404741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8" name="Rectangle 37"/>
          <p:cNvSpPr/>
          <p:nvPr/>
        </p:nvSpPr>
        <p:spPr>
          <a:xfrm>
            <a:off x="6318504" y="5404741"/>
            <a:ext cx="52486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00" b="1">
                <a:solidFill>
                  <a:srgbClr val="2C3E50"/>
                </a:solidFill>
              </a:rPr>
              <a:t>Auto-Fix Suggestions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F8C8D"/>
                </a:solidFill>
              </a:rPr>
              <a:t>AI suggests fixes for failed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7F8C8D"/>
                </a:solidFill>
              </a:rPr>
              <a:t>security scans or lint violations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6181980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0" name="Rectangle 39"/>
          <p:cNvSpPr/>
          <p:nvPr/>
        </p:nvSpPr>
        <p:spPr>
          <a:xfrm>
            <a:off x="6318504" y="6181980"/>
            <a:ext cx="5248656" cy="6760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00" b="1" dirty="0">
                <a:solidFill>
                  <a:srgbClr val="2C3E50"/>
                </a:solidFill>
              </a:rPr>
              <a:t>Deploy Decision Support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7F8C8D"/>
                </a:solidFill>
              </a:rPr>
              <a:t>AI analyzes metrics to recommend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7F8C8D"/>
                </a:solidFill>
              </a:rPr>
              <a:t>canary % or rollback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AI generates the pipeline | Quality gates enforce standards | Humans approve production deployments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Performance &amp; Scale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7F8C8D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E74C3C"/>
                </a:solidFill>
              </a:rPr>
              <a:t>Performance Risks in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" name="Rectangle 6"/>
          <p:cNvSpPr/>
          <p:nvPr/>
        </p:nvSpPr>
        <p:spPr>
          <a:xfrm>
            <a:off x="512064" y="1463040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N+1 Query Patterns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AI generates loops with individual DB queries instead of JOINs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Missing Indexes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No indexes on frequently queried columns (status, assigneeId)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1" name="Rectangle 10"/>
          <p:cNvSpPr/>
          <p:nvPr/>
        </p:nvSpPr>
        <p:spPr>
          <a:xfrm>
            <a:off x="512064" y="2743200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Over-Fetching Data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SELECT * instead of specific columns; no pagination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79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3" name="Rectangle 12"/>
          <p:cNvSpPr/>
          <p:nvPr/>
        </p:nvSpPr>
        <p:spPr>
          <a:xfrm>
            <a:off x="512064" y="3383279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No Caching Strategy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Every request hits the database; no Redis/in-memory 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Rectangle 14"/>
          <p:cNvSpPr/>
          <p:nvPr/>
        </p:nvSpPr>
        <p:spPr>
          <a:xfrm>
            <a:off x="512064" y="4023360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Inefficient Serialization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Deep object graphs serialized without DTOs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Performance Testing Approach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128016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P95 Latency
&lt; 200ms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63040"/>
            <a:ext cx="128016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Throughput
&gt; 500 req/s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463040"/>
            <a:ext cx="128016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Concurrent
100 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52760" y="1463040"/>
            <a:ext cx="128016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Error Rate
&lt; 0.1%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Monitoring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5176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3" name="Rectangle 22"/>
          <p:cNvSpPr/>
          <p:nvPr/>
        </p:nvSpPr>
        <p:spPr>
          <a:xfrm>
            <a:off x="6455664" y="2651760"/>
            <a:ext cx="524865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OpenTelemetry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Distributed tracing &amp;
metrics collection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8328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5" name="Rectangle 24"/>
          <p:cNvSpPr/>
          <p:nvPr/>
        </p:nvSpPr>
        <p:spPr>
          <a:xfrm>
            <a:off x="6455664" y="3383280"/>
            <a:ext cx="524865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Prometheus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Time-series metrics
storage &amp; alerting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11480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7" name="Rectangle 26"/>
          <p:cNvSpPr/>
          <p:nvPr/>
        </p:nvSpPr>
        <p:spPr>
          <a:xfrm>
            <a:off x="6455664" y="4114800"/>
            <a:ext cx="524865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Grafana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Real-time dashboards
&amp;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solidFill>
                  <a:srgbClr val="2E74B5"/>
                </a:solidFill>
              </a:rPr>
              <a:t>Load Test Example (k6)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74920"/>
            <a:ext cx="5669280" cy="1738666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100" dirty="0">
                <a:solidFill>
                  <a:srgbClr val="2C3E50"/>
                </a:solidFill>
                <a:latin typeface="Consolas"/>
              </a:rPr>
              <a:t>import http from 'k6/http';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export const options = {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vus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: 50, duration: '30s',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thresholds: {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http_req_duration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: ['p(95)&lt;500'] }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};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export default function() {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http.post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('http://localhost:8080/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api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/tasks',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JSON.stringify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({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title:'Test',priority:'HIGH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'}),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    {headers:{'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Content-Type':'application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/</a:t>
            </a:r>
            <a:r>
              <a:rPr sz="1100" dirty="0" err="1">
                <a:solidFill>
                  <a:srgbClr val="2C3E50"/>
                </a:solidFill>
                <a:latin typeface="Consolas"/>
              </a:rPr>
              <a:t>json</a:t>
            </a:r>
            <a:r>
              <a:rPr sz="1100" dirty="0">
                <a:solidFill>
                  <a:srgbClr val="2C3E50"/>
                </a:solidFill>
                <a:latin typeface="Consolas"/>
              </a:rPr>
              <a:t>'}});</a:t>
            </a:r>
          </a:p>
          <a:p>
            <a:r>
              <a:rPr sz="1100" dirty="0">
                <a:solidFill>
                  <a:srgbClr val="2C3E5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Multi-Agent AI Development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2974" y="6314585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7F8C8D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0174" y="919625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Multi-Agent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7774" y="1285385"/>
            <a:ext cx="365760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 (Planner + Shared Memory)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294" y="2382665"/>
            <a:ext cx="16459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Requirements
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8974" y="2382665"/>
            <a:ext cx="164592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Architect
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0654" y="2382665"/>
            <a:ext cx="16459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Coding
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2334" y="2382665"/>
            <a:ext cx="164592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Testing
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4014" y="2382665"/>
            <a:ext cx="164592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Security
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5694" y="2382665"/>
            <a:ext cx="16459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DevOps
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174" y="3388505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Agent Roles &amp; Responsibilities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174" y="3708545"/>
            <a:ext cx="54864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Rectangle 14"/>
          <p:cNvSpPr/>
          <p:nvPr/>
        </p:nvSpPr>
        <p:spPr>
          <a:xfrm>
            <a:off x="465038" y="3708545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Requirements Agent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Analyzes user stories, generates structured FRs/NFRs, validates completeness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0894" y="3708545"/>
            <a:ext cx="54864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7" name="Rectangle 16"/>
          <p:cNvSpPr/>
          <p:nvPr/>
        </p:nvSpPr>
        <p:spPr>
          <a:xfrm>
            <a:off x="6225758" y="3708545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Architect Agent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Proposes architecture, generates UML diagrams, evaluates trade-offs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0174" y="4348625"/>
            <a:ext cx="54864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9" name="Rectangle 18"/>
          <p:cNvSpPr/>
          <p:nvPr/>
        </p:nvSpPr>
        <p:spPr>
          <a:xfrm>
            <a:off x="465038" y="4348625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Coding Agent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Generates code from specs, implements patterns, refactors existing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0894" y="4348625"/>
            <a:ext cx="54864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1" name="Rectangle 20"/>
          <p:cNvSpPr/>
          <p:nvPr/>
        </p:nvSpPr>
        <p:spPr>
          <a:xfrm>
            <a:off x="6225758" y="4348625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Testing Agent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Generates tests from specs, runs mutation testing, coverage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0174" y="4988705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3" name="Rectangle 22"/>
          <p:cNvSpPr/>
          <p:nvPr/>
        </p:nvSpPr>
        <p:spPr>
          <a:xfrm>
            <a:off x="465038" y="4988705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Security Agent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SAST/DAST scans, OWASP compliance, dependency vulnerability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0894" y="4988705"/>
            <a:ext cx="54864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5" name="Rectangle 24"/>
          <p:cNvSpPr/>
          <p:nvPr/>
        </p:nvSpPr>
        <p:spPr>
          <a:xfrm>
            <a:off x="6225758" y="4988705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DevOps Agent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7F8C8D"/>
                </a:solidFill>
              </a:rPr>
              <a:t>Generates CI/CD pipelines, Dockerfiles, deployment manifests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0174" y="5765945"/>
            <a:ext cx="112471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8E44AD"/>
                </a:solidFill>
              </a:rPr>
              <a:t>Key Concept: Agents are specialized, orchestrated, and human-supervised — each has its own tools, permissions, and scope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AI Governance &amp;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>
                <a:solidFill>
                  <a:srgbClr val="7F8C8D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AI Governance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9601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Rectangle 6"/>
          <p:cNvSpPr/>
          <p:nvPr/>
        </p:nvSpPr>
        <p:spPr>
          <a:xfrm>
            <a:off x="512064" y="1463040"/>
            <a:ext cx="561441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2C3E50"/>
                </a:solidFill>
              </a:rPr>
              <a:t>Transparency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Document AI usage in development.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Log what was AI-generated vs human-written.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Maintain audit trail of AI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4864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512064" y="2514600"/>
            <a:ext cx="561441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2C3E50"/>
                </a:solidFill>
              </a:rPr>
              <a:t>Accountability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Human approvers for all AI output.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Clear ownership of generated code.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Review gates before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54864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512064" y="3566160"/>
            <a:ext cx="561441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2C3E50"/>
                </a:solidFill>
              </a:rPr>
              <a:t>Safety &amp; Security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Automated security scanning.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Vulnerability management.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Regular dependency audits.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17720"/>
            <a:ext cx="54864" cy="960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Rectangle 12"/>
          <p:cNvSpPr/>
          <p:nvPr/>
        </p:nvSpPr>
        <p:spPr>
          <a:xfrm>
            <a:off x="512064" y="4617720"/>
            <a:ext cx="561441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2C3E50"/>
                </a:solidFill>
              </a:rPr>
              <a:t>Fairness &amp; Bias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Review AI-generated UX for bias.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Test with diverse data sets.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Validate against accessibility standards.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Regulatory &amp; Industry Standards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4864" cy="9601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ectangle 15"/>
          <p:cNvSpPr/>
          <p:nvPr/>
        </p:nvSpPr>
        <p:spPr>
          <a:xfrm>
            <a:off x="6455664" y="1463040"/>
            <a:ext cx="524865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2C3E50"/>
                </a:solidFill>
              </a:rPr>
              <a:t>NIST AI RMF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Risk Management Framework for AI systems.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Govern, Map, Measure, Manage lifecycle.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514600"/>
            <a:ext cx="54864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6455664" y="2514600"/>
            <a:ext cx="524865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2C3E50"/>
                </a:solidFill>
              </a:rPr>
              <a:t>EU AI Act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Risk-based classification of AI systems.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High-risk requires conformity assessment.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66160"/>
            <a:ext cx="54864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6455664" y="3566160"/>
            <a:ext cx="524865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2C3E50"/>
                </a:solidFill>
              </a:rPr>
              <a:t>ISO/IEC 42001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AI Management System standard.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Requirements for responsible AI practices.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17720"/>
            <a:ext cx="54864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524865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2C3E50"/>
                </a:solidFill>
              </a:rPr>
              <a:t>OWASP AI Security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Top 10 security risks for AI/ML systems.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7F8C8D"/>
                </a:solidFill>
              </a:rPr>
              <a:t>Prompt injection, data poisoning, model theft.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Organizational AI Readiness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☐ AI usage policy documented &amp; communicated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9436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☐ Code provenance tracking (AI vs human)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9436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☐ Automated security gates in CI/CD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72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☐ Regular AI output quality audits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6172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☐ Developer training on responsible AI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6172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☐ IP &amp; licensing compliance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Organizational AI-Native Adoption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86308" y="62179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50" b="0">
                <a:solidFill>
                  <a:srgbClr val="7F8C8D"/>
                </a:solidFill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948" y="8686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>
                <a:solidFill>
                  <a:srgbClr val="2E74B5"/>
                </a:solidFill>
              </a:rPr>
              <a:t>AI-Native Maturity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2068" y="123444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E74C3C"/>
                </a:solidFill>
              </a:rPr>
              <a:t>Level 1
Ad-hoc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Individual developers use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AI tools informally.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No standardization.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3828" y="18745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8148" y="123444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F39C12"/>
                </a:solidFill>
              </a:rPr>
              <a:t>Level 2
Guided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AI tools standardized.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Prompt libraries shared.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Basic review processes.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9908" y="18745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4228" y="123444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E74B5"/>
                </a:solidFill>
              </a:rPr>
              <a:t>Level 3
Integrated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SDD methodology adopted.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AI in CI/CD pipeline.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Governance established.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5988" y="18745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308" y="123444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7AE60"/>
                </a:solidFill>
              </a:rPr>
              <a:t>Level 4
Optimized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Multi-agent systems.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Full spec-driven workflow.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7F8C8D"/>
                </a:solidFill>
              </a:rPr>
              <a:t>Continuous improvement.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508" y="3383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>
                <a:solidFill>
                  <a:srgbClr val="E74C3C"/>
                </a:solidFill>
              </a:rPr>
              <a:t>Common Adoption Challenges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508" y="374904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5" name="Rectangle 14"/>
          <p:cNvSpPr/>
          <p:nvPr/>
        </p:nvSpPr>
        <p:spPr>
          <a:xfrm>
            <a:off x="368372" y="3749040"/>
            <a:ext cx="56144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C3E50"/>
                </a:solidFill>
              </a:rPr>
              <a:t>Resistance to Change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Developers fear job displacement.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Frame AI as amplification, not replacement.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508" y="443484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7" name="Rectangle 16"/>
          <p:cNvSpPr/>
          <p:nvPr/>
        </p:nvSpPr>
        <p:spPr>
          <a:xfrm>
            <a:off x="368372" y="4434840"/>
            <a:ext cx="56144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C3E50"/>
                </a:solidFill>
              </a:rPr>
              <a:t>Quality Concerns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AI output varies in quality.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Establish review gates and quality metrics.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508" y="512064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9" name="Rectangle 18"/>
          <p:cNvSpPr/>
          <p:nvPr/>
        </p:nvSpPr>
        <p:spPr>
          <a:xfrm>
            <a:off x="368372" y="5120640"/>
            <a:ext cx="56144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C3E50"/>
                </a:solidFill>
              </a:rPr>
              <a:t>IP &amp; Legal Risk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AI-generated code licensing unclear.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Establish IP policies and training data 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508" y="580644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Rectangle 20"/>
          <p:cNvSpPr/>
          <p:nvPr/>
        </p:nvSpPr>
        <p:spPr>
          <a:xfrm>
            <a:off x="368372" y="5806440"/>
            <a:ext cx="56144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 dirty="0">
                <a:solidFill>
                  <a:srgbClr val="2C3E50"/>
                </a:solidFill>
              </a:rPr>
              <a:t>Skill Gaps</a:t>
            </a: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7F8C8D"/>
                </a:solidFill>
              </a:rPr>
              <a:t>Teams lack spec-writing and AI-prompting skills.</a:t>
            </a:r>
          </a:p>
          <a:p>
            <a:pPr>
              <a:spcBef>
                <a:spcPts val="200"/>
              </a:spcBef>
            </a:pPr>
            <a:r>
              <a:rPr sz="1050" dirty="0">
                <a:solidFill>
                  <a:srgbClr val="7F8C8D"/>
                </a:solidFill>
              </a:rPr>
              <a:t>Invest in training and mentoring.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7108" y="3383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>
                <a:solidFill>
                  <a:srgbClr val="27AE60"/>
                </a:solidFill>
              </a:rPr>
              <a:t>Success Factors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7108" y="374904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4" name="Rectangle 23"/>
          <p:cNvSpPr/>
          <p:nvPr/>
        </p:nvSpPr>
        <p:spPr>
          <a:xfrm>
            <a:off x="6311972" y="374904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C3E50"/>
                </a:solidFill>
              </a:rPr>
              <a:t>Executive Sponsorship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Leadership commitment to AI-native transformation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7108" y="434340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Rectangle 25"/>
          <p:cNvSpPr/>
          <p:nvPr/>
        </p:nvSpPr>
        <p:spPr>
          <a:xfrm>
            <a:off x="6311972" y="434340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C3E50"/>
                </a:solidFill>
              </a:rPr>
              <a:t>Start Small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Pilot with one team, one project, measure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7108" y="493776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8" name="Rectangle 27"/>
          <p:cNvSpPr/>
          <p:nvPr/>
        </p:nvSpPr>
        <p:spPr>
          <a:xfrm>
            <a:off x="6311972" y="493776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C3E50"/>
                </a:solidFill>
              </a:rPr>
              <a:t>Measure Impact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Track: velocity, quality, developer satisfaction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7108" y="553212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0" name="Rectangle 29"/>
          <p:cNvSpPr/>
          <p:nvPr/>
        </p:nvSpPr>
        <p:spPr>
          <a:xfrm>
            <a:off x="6311972" y="553212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C3E50"/>
                </a:solidFill>
              </a:rPr>
              <a:t>Community of Practice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Internal champions, knowledge sharing, best practices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7108" y="612648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2" name="Rectangle 31"/>
          <p:cNvSpPr/>
          <p:nvPr/>
        </p:nvSpPr>
        <p:spPr>
          <a:xfrm>
            <a:off x="6311972" y="612648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050" b="1">
                <a:solidFill>
                  <a:srgbClr val="2C3E50"/>
                </a:solidFill>
              </a:rPr>
              <a:t>Continuous Learning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7F8C8D"/>
                </a:solidFill>
              </a:rPr>
              <a:t>Regular training, tool updates, methodology evolution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Practical Labs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Hands-On Lab Exercises (Choose based on comfort level)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657600" cy="32004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Lab 1: Task Management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08760"/>
            <a:ext cx="109728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1.5-2 hrs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508760"/>
            <a:ext cx="20116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Tech: Java 21 + Spring Boot + PostgreSQL +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Full CRUD API with auth, categories, comments, filtering, pagination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39"/>
            <a:ext cx="3657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Lab 2: Student Grade Calculator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06039"/>
            <a:ext cx="109728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1-1.5 hrs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606039"/>
            <a:ext cx="20116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Beginner-Intermediate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79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Tech: Python 3.12 + FastAPI + 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399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Grade calculation, GPA computation, class statistics,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365760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Lab 3: E-Commerce Product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03320"/>
            <a:ext cx="109728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1.5-2 hrs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3703320"/>
            <a:ext cx="20116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Tech: Node.js + Express + 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Product CRUD, search/filter, inventory tracking, image URLs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00600"/>
            <a:ext cx="365760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Lab 4: Weather Dashboard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800600"/>
            <a:ext cx="109728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1-1.5 hrs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4800600"/>
            <a:ext cx="20116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Beginner-Intermediate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663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Tech: Python + Flask + External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949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External API integration, data aggregation, caching,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Every Lab Follows the Same SDD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6035040"/>
            <a:ext cx="1645920" cy="5943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Read
Spec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6035040"/>
            <a:ext cx="1645920" cy="5943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Write
Acceptance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6035040"/>
            <a:ext cx="1645920" cy="594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
Code (AI)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6035040"/>
            <a:ext cx="1645920" cy="5943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Review &amp;
Refine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6035040"/>
            <a:ext cx="164592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
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6035040"/>
            <a:ext cx="1645920" cy="5943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Run &amp;
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All labs use AI tools (Cursor, Copilot, or Claude) for code generation from the provided SDD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Lab 1: Task Management REST API (Java/Spring Boot)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6 Functional Requirements (CRUD + Categories + Comments)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Role-based access (Admin vs User)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Pagination, filtering, soft deletes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JWT authentication, audit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Docker Compose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Java 21 + Spring Boot 3.x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PostgreSQL 16 + Spring Data JPA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JUnit 5 + Testcontainers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Docker + 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97280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Implementation Phases (90 min)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84064" y="146304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1 (20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Read spec → Generate entities + repository interfaces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240280"/>
            <a:ext cx="54864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84064" y="224028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2 (25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 service layer with business logic +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3017520"/>
            <a:ext cx="548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84064" y="301752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3 (20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 REST controllers, DTOs, error handling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794760"/>
            <a:ext cx="54864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84064" y="379476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4 (15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 unit + integration tests from acceptance criteria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572000"/>
            <a:ext cx="54864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84064" y="457200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5 (10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Docker Compose setup + CI/CD pipeline YAML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8912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Key API Endpoints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411480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800">
                <a:solidFill>
                  <a:srgbClr val="2C3E50"/>
                </a:solidFill>
                <a:latin typeface="Consolas"/>
              </a:rPr>
              <a:t>POST   /api/tasks          Create 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GET    /api/tasks          List + filter + paginate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GET    /api/tasks/{id}     Get task by ID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PUT    /api/tasks/{id}     Update 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DELETE /api/tasks/{id}     Soft delete 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POST   /api/tasks/{id}/comments  Add comment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Full SDD specification provided in: SDD_Task_Management_API.md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Lab 2: Student Grade Calculator (Python/FastAPI)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6 FRs: Students, Scores, Grades, GPA, Reports, Bulk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Business logic focus: grade thresholds, GPA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Statistical reports: per-subject averages, min/max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Zero Docker dependency (SQLite built-in)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Automatic OpenAPI docs via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09728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Grade Thresholds (from spec)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63040"/>
            <a:ext cx="100584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
90-100
GPA: 4.0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463040"/>
            <a:ext cx="100584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
80-89
GPA: 3.0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100584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
70-79
GPA: 2.0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63040"/>
            <a:ext cx="100584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
60-69
GPA: 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98480" y="1463040"/>
            <a:ext cx="100584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
0-59
GPA: 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Implementation Phases (60 min)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54864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291840"/>
            <a:ext cx="25968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1 (15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Models + DB schema: Student, Score entities with SQLAlchemy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91840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46704" y="3291840"/>
            <a:ext cx="25968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2 (20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Core business logic: grade calculation, GPA computation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291840"/>
            <a:ext cx="54864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1344" y="3291840"/>
            <a:ext cx="25968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3 (15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REST endpoints: CRUD + reports + bulk operations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291840"/>
            <a:ext cx="54864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15984" y="3291840"/>
            <a:ext cx="25968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4 (10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Tests: pytest for each FR's acceptance criteria + edge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Key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POST /students           Register student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POST /students/{id}/scores   Record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GET  /students/{id}/report   GPA + all grades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GET  /reports/class          Class statistics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389120"/>
            <a:ext cx="5943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7AE60"/>
                </a:solidFill>
              </a:rPr>
              <a:t>Why This Lab Works for AI-Native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663440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✓ Clear business rules → AI generates precise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919472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✓ Boundary conditions in spec → complete edge case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17550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✓ Simple stack (no Docker) → focus on methodology, not setup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431536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✓ Testable outputs → immediate validation of AI-generated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Full SDD specification provided in: SDD_Student_Grade_Calculator.md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Additional Practical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86AB"/>
                </a:solidFill>
              </a:rPr>
              <a:t>Lab 3: E-Commerce Product Catalog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E86AB"/>
                </a:solidFill>
              </a:rPr>
              <a:t>Node.js + Express + MongoDB  |  1.5-2 hrs  |  Intermediate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Product CRUD with categories, tags, and image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Full-text search across product name and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Inventory tracking with stock level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Price history and discount calculations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Pagination with cursor-based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MongoDB aggregation pipelines for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8E44AD"/>
                </a:solidFill>
              </a:rPr>
              <a:t>Lab 4: Weather Dashboard Microservice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4173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44AD"/>
                </a:solidFill>
              </a:rPr>
              <a:t>Python + Flask + External API  |  1-1.5 hrs  |  Beginner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External weather API integration (OpenWeatherMap)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Data aggregation: current, hourly, daily forecasts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In-memory caching with TTL (avoid API rate limits)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Temperature unit conversion (C/F/K)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060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Severe weather alerts with threshold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34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Response caching and error handling for API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All Projects Follow the Same SDD Methodology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54864" cy="5486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2064" y="384048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1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Read the SDD specification document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840480"/>
            <a:ext cx="54864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61104" y="384048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2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Identify FRs, acceptance criteria, edge cases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840480"/>
            <a:ext cx="54864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10143" y="384048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3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Use AI to generate code from spec sections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54864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2064" y="448056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4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Review generated code against the spec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480560"/>
            <a:ext cx="54864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61104" y="448056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5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 tests from acceptance criteria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48056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10143" y="448056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6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Run, validate, iterate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Project Selection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Strong business logic focus?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623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E74B5"/>
                </a:solidFill>
              </a:rPr>
              <a:t>→ Lab 2 (Grade Calculator)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23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Full enterprise API experience?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623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E74B5"/>
                </a:solidFill>
              </a:rPr>
              <a:t>→ Lab 1 (Task Management)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97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NoSQL &amp; search experience?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897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E74B5"/>
                </a:solidFill>
              </a:rPr>
              <a:t>→ Lab 3 (E-Commerce)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897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External API integration?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897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E74B5"/>
                </a:solidFill>
              </a:rPr>
              <a:t>→ Lab 4 (Weather Dashboard)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SDD specifications for Labs 3 &amp; 4 will be provided as separate markdown documents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Key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What We Covered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7315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146304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AI-Native is a Paradigm Shift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Not just 'use AI to code' — it's a fundamental change in how software is conceived, specified, built, and validated.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228600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Specifications are the Source of Truth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In AI-native development, the spec drives everything: code, tests, docs, and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2064" y="310896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AI is an Amplifier, Not a Replacement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Developers become architects, spec writers, and reviewers. AI handles the translation to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" y="393192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Quality Gates are Non-Negotiable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Automated testing, security scanning, and code review MUST be in every pipeline.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4864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475488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Governance Makes AI Safe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Transparency, accountability, and human oversight ensure responsible AI-native development.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Next Steps for Faculty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Complete the practical lab exercise you started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6035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Explore AI tools (Cursor, Copilot, Claude) for your own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6035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Apply spec-driven practices when designing assignments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Begin planning the 1-month faculty project (next slide)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62636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Share learnings with colleagues and students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Thank you! — Questions, discussion, and feedback welcome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1-Month Faculty Project 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solidFill>
                  <a:srgbClr val="2E74B5"/>
                </a:solidFill>
              </a:rPr>
              <a:t>Teams of 2-3  |  4 Weeks  |  Interim Milestones  |  AI-Native SDD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E74B5"/>
                </a:solidFill>
              </a:rPr>
              <a:t>Project A: University Course Registration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Multi-module: Student Service, Course Catalog,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    Registration Engine, Notification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93976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Microservices architecture with 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95144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Concurrent enrollment handling (race conditions)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Prerequisite validation, waitlist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Admin dashboard with real-time statistics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4864" cy="1005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1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SDD spec writing for all modules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API contracts + domain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017520"/>
            <a:ext cx="54864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8366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2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Core services: Student + Course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CRUD + basic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01752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526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3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Registration engine + concurrency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Integration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01752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2686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4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CI/CD pipeline + deployment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Load testing +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7160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E86AB"/>
                </a:solidFill>
              </a:rPr>
              <a:t>Project B: Smart Library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91640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Book catalog with ISBN lookup + cover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92808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Member management with borrowing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93976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Borrowing/returns with due date + fine calculation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95144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Search with full-text + filter by genre/author/year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96312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Recommendation engine (collaborative filtering)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Analytics dashboard: popular books, active members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017520"/>
            <a:ext cx="54864" cy="1005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7278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1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SDD specs + domain model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API contracts + DB schema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017520"/>
            <a:ext cx="54864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4438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2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Book catalog + member CRUD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Search implementation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01752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1598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3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Borrowing engine + fines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Recommendation algorithm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20" y="301752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38758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4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CI/CD + deployment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Performance testing +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Required Deliverables (Both Projects)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914400" cy="274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617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Complete SDD document (FRs, NFRs, API contracts, data model, test strategy)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59"/>
            <a:ext cx="914400" cy="274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4937759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Working core API with unit tests (min 80% coverage for core modules)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257800"/>
            <a:ext cx="914400" cy="274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57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Integration tests + security scan report + code review evidence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77840"/>
            <a:ext cx="914400" cy="274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55778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Deployed system + CI/CD pipeline + load test results + final presentation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98932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E74B5"/>
                </a:solidFill>
              </a:rPr>
              <a:t>Evaluation: SDD Quality (25%) + Code Quality (25%) + Test Coverage (20%) + CI/CD (15%) + Documentation (15%)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Full project specifications will be provided as detailed SDD markdown documents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0CA0-715F-72FE-827F-13BFF6E0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3590F3-D419-7204-D6D8-422EE0EA3507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AI Code Generation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E8E0E-FD89-A366-1FF8-F1B1C71B8185}"/>
              </a:ext>
            </a:extLst>
          </p:cNvPr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8DF845-4C1E-318A-36FD-4944388ACC26}"/>
              </a:ext>
            </a:extLst>
          </p:cNvPr>
          <p:cNvSpPr/>
          <p:nvPr/>
        </p:nvSpPr>
        <p:spPr>
          <a:xfrm>
            <a:off x="274320" y="1280160"/>
            <a:ext cx="164592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Approved
Spec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BF436-21DE-27DA-9978-B09D7CFD4D07}"/>
              </a:ext>
            </a:extLst>
          </p:cNvPr>
          <p:cNvSpPr txBox="1"/>
          <p:nvPr/>
        </p:nvSpPr>
        <p:spPr>
          <a:xfrm>
            <a:off x="192024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6E983-B926-2FAB-DE7B-B45F3C395E32}"/>
              </a:ext>
            </a:extLst>
          </p:cNvPr>
          <p:cNvSpPr txBox="1"/>
          <p:nvPr/>
        </p:nvSpPr>
        <p:spPr>
          <a:xfrm>
            <a:off x="27432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Start with reviewed,
approved specification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5F3FE2-C997-AC30-00CA-1C5CB7686F80}"/>
              </a:ext>
            </a:extLst>
          </p:cNvPr>
          <p:cNvSpPr/>
          <p:nvPr/>
        </p:nvSpPr>
        <p:spPr>
          <a:xfrm>
            <a:off x="2194560" y="1280160"/>
            <a:ext cx="16459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Prompt
Construction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3E7F1-61AE-3F3D-86B8-FFD0638B7733}"/>
              </a:ext>
            </a:extLst>
          </p:cNvPr>
          <p:cNvSpPr txBox="1"/>
          <p:nvPr/>
        </p:nvSpPr>
        <p:spPr>
          <a:xfrm>
            <a:off x="384048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5C8EB-7EC1-3F6C-E16B-4F422ACF262B}"/>
              </a:ext>
            </a:extLst>
          </p:cNvPr>
          <p:cNvSpPr txBox="1"/>
          <p:nvPr/>
        </p:nvSpPr>
        <p:spPr>
          <a:xfrm>
            <a:off x="219456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Build context-rich prompt
with spec + constraints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968CCB-8250-3F02-BFBA-1BE259C936F7}"/>
              </a:ext>
            </a:extLst>
          </p:cNvPr>
          <p:cNvSpPr/>
          <p:nvPr/>
        </p:nvSpPr>
        <p:spPr>
          <a:xfrm>
            <a:off x="4114800" y="1280160"/>
            <a:ext cx="16459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
Generation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4EEAC-68DC-CD07-F880-C4FF19A34733}"/>
              </a:ext>
            </a:extLst>
          </p:cNvPr>
          <p:cNvSpPr txBox="1"/>
          <p:nvPr/>
        </p:nvSpPr>
        <p:spPr>
          <a:xfrm>
            <a:off x="576072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44B42-5FC3-EF0A-BA16-A4197D2C8CD9}"/>
              </a:ext>
            </a:extLst>
          </p:cNvPr>
          <p:cNvSpPr txBox="1"/>
          <p:nvPr/>
        </p:nvSpPr>
        <p:spPr>
          <a:xfrm>
            <a:off x="411480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AI generates code
from prompt + spec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122A5E-0313-B670-AFAE-5B103E54E3D0}"/>
              </a:ext>
            </a:extLst>
          </p:cNvPr>
          <p:cNvSpPr/>
          <p:nvPr/>
        </p:nvSpPr>
        <p:spPr>
          <a:xfrm>
            <a:off x="6035040" y="1280160"/>
            <a:ext cx="164592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Human
Review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7030E5-450F-FA2C-C6FC-8AD263F6951B}"/>
              </a:ext>
            </a:extLst>
          </p:cNvPr>
          <p:cNvSpPr txBox="1"/>
          <p:nvPr/>
        </p:nvSpPr>
        <p:spPr>
          <a:xfrm>
            <a:off x="768096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D31AF-16EA-0C34-17BD-20CEFBCF8F72}"/>
              </a:ext>
            </a:extLst>
          </p:cNvPr>
          <p:cNvSpPr txBox="1"/>
          <p:nvPr/>
        </p:nvSpPr>
        <p:spPr>
          <a:xfrm>
            <a:off x="603504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Developer reviews for
correctness &amp; quality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5165AB1-ED84-CC3C-4BB4-19A81964C3C5}"/>
              </a:ext>
            </a:extLst>
          </p:cNvPr>
          <p:cNvSpPr/>
          <p:nvPr/>
        </p:nvSpPr>
        <p:spPr>
          <a:xfrm>
            <a:off x="7955280" y="1280160"/>
            <a:ext cx="164592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Refactor &amp;
Improve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5CC633-E341-7BB2-FB55-1BE50EBF7424}"/>
              </a:ext>
            </a:extLst>
          </p:cNvPr>
          <p:cNvSpPr txBox="1"/>
          <p:nvPr/>
        </p:nvSpPr>
        <p:spPr>
          <a:xfrm>
            <a:off x="960120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16B012-5E3B-09DD-38DB-665D6AA2297B}"/>
              </a:ext>
            </a:extLst>
          </p:cNvPr>
          <p:cNvSpPr txBox="1"/>
          <p:nvPr/>
        </p:nvSpPr>
        <p:spPr>
          <a:xfrm>
            <a:off x="795528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Clean up, optimize,
handle edge cases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8B1F52B-B601-8D81-14F6-CB554A0AD945}"/>
              </a:ext>
            </a:extLst>
          </p:cNvPr>
          <p:cNvSpPr/>
          <p:nvPr/>
        </p:nvSpPr>
        <p:spPr>
          <a:xfrm>
            <a:off x="9875520" y="1280160"/>
            <a:ext cx="164592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Commit
&amp; Push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19C942-3C59-6642-4DBD-0D3D37D40C34}"/>
              </a:ext>
            </a:extLst>
          </p:cNvPr>
          <p:cNvSpPr txBox="1"/>
          <p:nvPr/>
        </p:nvSpPr>
        <p:spPr>
          <a:xfrm>
            <a:off x="987552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Version control +
trigger CI/CD pipeline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557379-0F89-48A4-C90A-45B0A99EFE56}"/>
              </a:ext>
            </a:extLst>
          </p:cNvPr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solidFill>
                  <a:srgbClr val="2E74B5"/>
                </a:solidFill>
              </a:rPr>
              <a:t>Best Practices for AI Code Generation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A8F740-BB38-517B-6D6C-E10E53CF256F}"/>
              </a:ext>
            </a:extLst>
          </p:cNvPr>
          <p:cNvSpPr txBox="1"/>
          <p:nvPr/>
        </p:nvSpPr>
        <p:spPr>
          <a:xfrm>
            <a:off x="640080" y="32918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Generate ONE component/layer at a time (entity → repository → service → controller)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9EC0EA-5B55-77D1-243F-07898D36E903}"/>
              </a:ext>
            </a:extLst>
          </p:cNvPr>
          <p:cNvSpPr txBox="1"/>
          <p:nvPr/>
        </p:nvSpPr>
        <p:spPr>
          <a:xfrm>
            <a:off x="640080" y="35661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Review before asking AI for the next layer — errors compound across layers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EBEA03-0A76-4449-238C-41139E995283}"/>
              </a:ext>
            </a:extLst>
          </p:cNvPr>
          <p:cNvSpPr txBox="1"/>
          <p:nvPr/>
        </p:nvSpPr>
        <p:spPr>
          <a:xfrm>
            <a:off x="640080" y="38404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Keep prompts focused: include relevant spec section + existing code context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3B1413-7CB1-C1D0-DA53-EA54B3921BC8}"/>
              </a:ext>
            </a:extLst>
          </p:cNvPr>
          <p:cNvSpPr txBox="1"/>
          <p:nvPr/>
        </p:nvSpPr>
        <p:spPr>
          <a:xfrm>
            <a:off x="640080" y="41148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Prefer generating from spec sections over free-form descriptions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3129E9-B7CA-C231-E9C9-66081C11B976}"/>
              </a:ext>
            </a:extLst>
          </p:cNvPr>
          <p:cNvSpPr txBox="1"/>
          <p:nvPr/>
        </p:nvSpPr>
        <p:spPr>
          <a:xfrm>
            <a:off x="640080" y="43891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Use AI to generate tests from the SAME acceptance criteria that drove the 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BA63E4-C8E7-403E-E4AB-892456090159}"/>
              </a:ext>
            </a:extLst>
          </p:cNvPr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Generation Order (Layer-by-Layer)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73AFDB6-B1DC-B405-79EE-841B0D69CE53}"/>
              </a:ext>
            </a:extLst>
          </p:cNvPr>
          <p:cNvSpPr/>
          <p:nvPr/>
        </p:nvSpPr>
        <p:spPr>
          <a:xfrm>
            <a:off x="274320" y="5120640"/>
            <a:ext cx="1691640" cy="9144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1
Domain Entities
(Task, User, Category)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C7CC1AD-E635-E1C6-784F-EB191272AA22}"/>
              </a:ext>
            </a:extLst>
          </p:cNvPr>
          <p:cNvSpPr/>
          <p:nvPr/>
        </p:nvSpPr>
        <p:spPr>
          <a:xfrm>
            <a:off x="2194560" y="5120640"/>
            <a:ext cx="169164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2
Repository Interfaces
(TaskRepository, etc.)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D9BCE0C-6E88-6B8E-B649-7DB10E5E11AB}"/>
              </a:ext>
            </a:extLst>
          </p:cNvPr>
          <p:cNvSpPr/>
          <p:nvPr/>
        </p:nvSpPr>
        <p:spPr>
          <a:xfrm>
            <a:off x="4114800" y="5120640"/>
            <a:ext cx="169164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3
Service Layer
(Business logic, validation)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5E3DBAC-BF7B-5A3D-7532-20511D729DE5}"/>
              </a:ext>
            </a:extLst>
          </p:cNvPr>
          <p:cNvSpPr/>
          <p:nvPr/>
        </p:nvSpPr>
        <p:spPr>
          <a:xfrm>
            <a:off x="6035040" y="5120640"/>
            <a:ext cx="1691640" cy="914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4
REST Controllers
(Endpoints, DTOs, error handling)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9E1C036-AD21-5D4A-3455-D4F6351C9848}"/>
              </a:ext>
            </a:extLst>
          </p:cNvPr>
          <p:cNvSpPr/>
          <p:nvPr/>
        </p:nvSpPr>
        <p:spPr>
          <a:xfrm>
            <a:off x="7955280" y="5120640"/>
            <a:ext cx="169164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5
Tests
(Unit, Integration, E2E)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A6D0B38-B510-3505-3323-46C34B136C66}"/>
              </a:ext>
            </a:extLst>
          </p:cNvPr>
          <p:cNvSpPr/>
          <p:nvPr/>
        </p:nvSpPr>
        <p:spPr>
          <a:xfrm>
            <a:off x="9875520" y="5120640"/>
            <a:ext cx="169164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6
Config &amp; CI/CD
(Docker, pipeline YAML)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A2A21E-5A8C-65EC-1703-E7CC8DD384D0}"/>
              </a:ext>
            </a:extLst>
          </p:cNvPr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Disciplined workflow prevents the 'generate-everything-at-once' anti-pattern</a:t>
            </a:r>
          </a:p>
        </p:txBody>
      </p:sp>
    </p:spTree>
    <p:extLst>
      <p:ext uri="{BB962C8B-B14F-4D97-AF65-F5344CB8AC3E}">
        <p14:creationId xmlns:p14="http://schemas.microsoft.com/office/powerpoint/2010/main" val="13011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Prompt Engineering Templates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Requirements gathering prompt: assign ROLE, provide CONTEXT, specify OUTPUT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Code generation prompt: include spec section, language, patterns,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Test generation prompt: reference acceptance criteria, edge cases, mocking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Code review prompt: include checklist, security focus areas, quality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Architecture prompt: describe constraints, scale requirements, technology 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Tips: assign a ROLE, provide CONTEXT, be SPECIFIC, include EXAMPLES, ITERATE on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Kubernetes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Pods: smallest deployable unit — one or more containers sharing network and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Services: stable network endpoint — load-balances across pods, enables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Deployments: declarative updates — rolling upgrades with zero-downtime, auto-rollback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ConfigMaps &amp; Secrets: externalized configuration, encrypted sensitive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Ingress: external traffic routing with TLS termination and path-based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HPA (Horizontal Pod Autoscaler): auto-scale based on CPU/memory/custom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Observability with OpenTelemetry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Three pillars: Traces (request flow), Metrics (system health), Logs (event details)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OpenTelemetry Collector: vendor-neutral pipeline for collecting and exporting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Prometheus: time-series database for metrics storage, PromQL for querying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Jaeger/Zipkin: distributed tracing visualization and dependency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Grafana: unified dashboards combining metrics, traces, and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Key metrics: request latency (P50/P95/P99), error rate, throughput, saturation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Load Testing with k6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k6: modern load testing tool, JavaScript-based test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Ramp-up pattern: gradually increase virtual users (VUs) to find breaking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Thresholds: define pass/fail criteria (P95 &lt; 500ms, error rate &lt; 1%)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Scenarios: model realistic user behavior patterns (browse, search, checkout)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Integration with CI/CD: run load tests as pipeline stages, fail build on threshold breach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When to test: before production, after major changes, before expected traffic spikes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End-to-End Testing with Playwright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Playwright: cross-browser testing (Chromium, Firefox, WebKit) with single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Auto-waiting: built-in waiting for elements, no manual sleep/delay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Network interception: mock API responses for deterministic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Visual regression: screenshot comparison to detect UI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Code generation: Playwright Inspector records user actions as test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 can generate Playwright tests from user story 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Git Workflow for AI-Native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Feature branches: one branch per FR or spec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Commit messages: reference spec FR IDs (e.g., 'Implement FR-1: Create Task endpoint')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PR reviews: AI-assisted first pass + human review for architecture and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Branch protection: require passing CI/CD checks before 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Conventional commits: feat(task): add create endpoint, test(task): add FR-1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 generates commit messages from code diffs and spec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Error Handling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Global exception handler: @ControllerAdvice / @app.exception_handler for consistent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Problem Details (RFC 7807): standardized error response format with type, title, detail,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Validation errors: return field-level error details (field name, rejected value, message)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Business rule violations: custom exception classes mapped to appropriate HTTP status codes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External service failures: circuit breaker pattern (Resilience4j / tenacity) with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Logging: structured logging (JSON) with correlation IDs for distributed tracing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Data Model Design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Normalization to 3NF to reduce redundancy; each fact stored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UUID primary keys for globally unique identifiers (better for distributed systems)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Audit fields: created_at, updated_at, created_by on every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Soft deletes: deleted_at timestamp instead of permanent removal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Database migrations: Flyway or Alembic for versioned schema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Index strategy: index FK columns, filter columns (status, priority), unique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Testing Hierarchy Deep Dive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Unit tests: test single function/method in isolation, mock all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Integration tests: test component interactions (API + DB), use Testcontainers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Contract tests: verify API responses match OpenAPI spec (Pact, Spring Cloud Contract)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E2E tests: test complete user flows through the running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Performance tests: verify NFRs (latency, throughput) under realistic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Security tests: SAST (SonarQube), DAST (OWASP ZAP), dependency scan (Snyk)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Emerging Trends in AI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Autonomous AI Engineers: Devin, SWE-Agent -- AI that plans, codes, tests, deploys independently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AI-Generated UI: v0.dev, Vercel AI -- generate React/Vue components from descriptions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Specification languages: Formal spec languages optimized for AI consumption emerging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AI-Powered Debugging: AI analyzes stack traces, suggests fixes, writes regression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Continuous AI Integration: AI agents as permanent CI/CD pipeline 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Model Context Protocol (MCP): standardized protocol for AI agents to access tools and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</TotalTime>
  <Words>6291</Words>
  <Application>Microsoft Office PowerPoint</Application>
  <PresentationFormat>Widescreen</PresentationFormat>
  <Paragraphs>1016</Paragraphs>
  <Slides>36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Kulkarni, Gururaj</dc:creator>
  <cp:keywords/>
  <dc:description>generated using python-pptx</dc:description>
  <cp:lastModifiedBy>Kulkarni, Gururaj</cp:lastModifiedBy>
  <cp:revision>2</cp:revision>
  <dcterms:created xsi:type="dcterms:W3CDTF">2013-01-27T09:14:16Z</dcterms:created>
  <dcterms:modified xsi:type="dcterms:W3CDTF">2026-07-22T06:22:24Z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2026-07-17T12:45:36Z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b82bec2c-0a5a-4af2-bf89-6f396109b209</vt:lpwstr>
  </property>
  <property fmtid="{D5CDD505-2E9C-101B-9397-08002B2CF9AE}" pid="8" name="MSIP_Label_dad3be33-4108-4738-9e07-d8656a181486_ContentBits">
    <vt:lpwstr>0</vt:lpwstr>
  </property>
  <property fmtid="{D5CDD505-2E9C-101B-9397-08002B2CF9AE}" pid="9" name="MSIP_Label_dad3be33-4108-4738-9e07-d8656a181486_Tag">
    <vt:lpwstr>10, 0, 1, 1</vt:lpwstr>
  </property>
</Properties>
</file>