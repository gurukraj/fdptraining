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7: AI Tool Ecosystem for Software Development</a:t>
            </a:r>
          </a:p>
          <a:p>
            <a:r>
              <a:t>----------------------------------------------------------------------</a:t>
            </a:r>
          </a:p>
          <a:p>
            <a:r>
              <a:t>This slide gives a bird's-eye view of the AI-powered development tool landscape. The goal is to help faculty understand that there is no single "AI tool" - there is an entire ecosystem, and effective AI-native development requires choosing the right tools for each role.</a:t>
            </a:r>
          </a:p>
          <a:p/>
          <a:p>
            <a:r>
              <a:t>Walk through each category:</a:t>
            </a:r>
          </a:p>
          <a:p/>
          <a:p>
            <a:r>
              <a:t>1. IDE ASSISTANTS (Green box):</a:t>
            </a:r>
          </a:p>
          <a:p>
            <a:r>
              <a:t>- GitHub Copilot: The most widely adopted. Works inside VS Code, JetBrains, Neovim. Strong at code completion, inline suggestions, and chat-based refactoring.</a:t>
            </a:r>
          </a:p>
          <a:p>
            <a:r>
              <a:t>- Cursor: A fork of VS Code built from the ground up for AI-first development. Excellent at multi-file edits, codebase-aware context, and composer mode for complex changes.</a:t>
            </a:r>
          </a:p>
          <a:p>
            <a:r>
              <a:t>- JetBrains AI: Integrated into IntelliJ, PyCharm, etc. Leverages JetBrains deep code analysis with AI suggestions. Great for Java/Kotlin ecosystems.</a:t>
            </a:r>
          </a:p>
          <a:p>
            <a:r>
              <a:t>- Windsurf: Another AI-native IDE with Cascade (agentic) and autocomplete flows. Emphasizes deep contextual understanding.</a:t>
            </a:r>
          </a:p>
          <a:p>
            <a:r>
              <a:t>- WHEN TO USE: Always-on during coding. These are your primary coding companions. Best for implementation phase.</a:t>
            </a:r>
          </a:p>
          <a:p/>
          <a:p>
            <a:r>
              <a:t>2. CHAT / LLM INTERFACES (Orange box):</a:t>
            </a:r>
          </a:p>
          <a:p>
            <a:r>
              <a:t>- ChatGPT: General-purpose, great for brainstorming, explaining concepts, debugging complex issues.</a:t>
            </a:r>
          </a:p>
          <a:p>
            <a:r>
              <a:t>- Claude: Strong at long-context understanding, analysis, and careful reasoning. Excellent for reviewing specifications and architecture documents.</a:t>
            </a:r>
          </a:p>
          <a:p>
            <a:r>
              <a:t>- Gemini: Google's multimodal model. Strong integration with Google Cloud ecosystem.</a:t>
            </a:r>
          </a:p>
          <a:p>
            <a:r>
              <a:t>- M365 Copilot: Integrated into Microsoft tools - useful for documentation, project planning, and team communication.</a:t>
            </a:r>
          </a:p>
          <a:p>
            <a:r>
              <a:t>- WHEN TO USE: For exploration, learning, debugging complex issues, reviewing architecture decisions.</a:t>
            </a:r>
          </a:p>
          <a:p/>
          <a:p>
            <a:r>
              <a:t>3. WORKFLOW &amp; AGENT FRAMEWORKS (Purple box):</a:t>
            </a:r>
          </a:p>
          <a:p>
            <a:r>
              <a:t>- LangChain: The most popular framework for building LLM-powered applications. Chains, agents, retrieval-augmented generation.</a:t>
            </a:r>
          </a:p>
          <a:p>
            <a:r>
              <a:t>- Semantic Kernel: Microsoft's SDK for integrating AI into applications. Strong .NET integration.</a:t>
            </a:r>
          </a:p>
          <a:p>
            <a:r>
              <a:t>- CrewAI: Framework for orchestrating multiple AI agents that collaborate on tasks.</a:t>
            </a:r>
          </a:p>
          <a:p>
            <a:r>
              <a:t>- AutoGen: Microsoft Research framework for multi-agent conversations.</a:t>
            </a:r>
          </a:p>
          <a:p>
            <a:r>
              <a:t>- WHEN TO USE: When building AI-powered features in your applications, or when orchestrating multi-agent development workflows.</a:t>
            </a:r>
          </a:p>
          <a:p/>
          <a:p>
            <a:r>
              <a:t>4. DEVOPS &amp; CI/CD INTELLIGENCE (Teal box):</a:t>
            </a:r>
          </a:p>
          <a:p>
            <a:r>
              <a:t>- GitHub Actions AI: AI-powered workflow suggestions, automated PR checks.</a:t>
            </a:r>
          </a:p>
          <a:p>
            <a:r>
              <a:t>- SonarQube AI: AI-enhanced static analysis, code smell detection, and quality scoring.</a:t>
            </a:r>
          </a:p>
          <a:p>
            <a:r>
              <a:t>- Snyk AI: AI-powered security vulnerability detection, dependency scanning, and fix suggestions.</a:t>
            </a:r>
          </a:p>
          <a:p>
            <a:r>
              <a:t>- WHEN TO USE: Integrated into your CI/CD pipeline. These run automatically on every commit and PR.</a:t>
            </a:r>
          </a:p>
          <a:p/>
          <a:p>
            <a:r>
              <a:t>5. CODE REVIEW (Yellow box):</a:t>
            </a:r>
          </a:p>
          <a:p>
            <a:r>
              <a:t>- CodeRabbit: Automated PR review bot that provides detailed, contextual code review comments.</a:t>
            </a:r>
          </a:p>
          <a:p>
            <a:r>
              <a:t>- Copilot PR Review: GitHub's built-in PR review summarization.</a:t>
            </a:r>
          </a:p>
          <a:p>
            <a:r>
              <a:t>- Qodo: Focuses on test generation and code quality analysis.</a:t>
            </a:r>
          </a:p>
          <a:p>
            <a:r>
              <a:t>- WHEN TO USE: On every pull request. Augments human review, catches issues human reviewers miss.</a:t>
            </a:r>
          </a:p>
          <a:p/>
          <a:p>
            <a:r>
              <a:t>Emphasize: The best AI-native teams use tools from MULTIPLE categories. A typical stack might be: Cursor (IDE) + Claude (reasoning/review) + GitHub Actions (CI/CD) + CodeRabbit (PR review). The tools complement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8: IDE Assistants &amp; Code Generation Deep Dive</a:t>
            </a:r>
          </a:p>
          <a:p>
            <a:r>
              <a:t>----------------------------------------------------------------------</a:t>
            </a:r>
          </a:p>
          <a:p>
            <a:r>
              <a:t>This slide goes deeper into the IDE assistant category, which is what most developers interact with daily.</a:t>
            </a:r>
          </a:p>
          <a:p/>
          <a:p>
            <a:r>
              <a:t>LEFT SIDE - KEY CAPABILITIES:</a:t>
            </a:r>
          </a:p>
          <a:p>
            <a:r>
              <a:t>Walk through each capability with live examples if possible:</a:t>
            </a:r>
          </a:p>
          <a:p/>
          <a:p>
            <a:r>
              <a:t>1. INLINE CODE COMPLETION: The bread-and-butter feature. As you type, AI suggests completions - sometimes single lines, sometimes entire functions. The suggestions are context-aware, looking at your current file, open files, imports, and variable names. Tip: Write clear function signatures and docstrings FIRST, then let AI complete the implementation.</a:t>
            </a:r>
          </a:p>
          <a:p/>
          <a:p>
            <a:r>
              <a:t>2. EXPLAIN &amp; DOCUMENT CODE: Select a block of code and ask "explain this." The AI provides a plain-English explanation. Extremely valuable for onboarding to unfamiliar codebases, understanding legacy code, and generating documentation.</a:t>
            </a:r>
          </a:p>
          <a:p/>
          <a:p>
            <a:r>
              <a:t>3. REFACTORING SUGGESTIONS: AI can suggest renaming variables for clarity, extracting methods, converting imperative code to functional style. This goes beyond simple IDE refactoring because AI understands INTENT, not just syntax.</a:t>
            </a:r>
          </a:p>
          <a:p/>
          <a:p>
            <a:r>
              <a:t>4. TEST GENERATION: One of the highest-ROI features. Point AI at a method and ask it to generate unit tests. LIMITATION: AI-generated tests may have incorrect assertions if the AI misunderstands the business logic. Always review test assertions.</a:t>
            </a:r>
          </a:p>
          <a:p/>
          <a:p>
            <a:r>
              <a:t>5. CHAT-IN-EDITOR: Cursor's Composer and Copilot Chat let you describe what you want in natural language and get multi-file edits.</a:t>
            </a:r>
          </a:p>
          <a:p/>
          <a:p>
            <a:r>
              <a:t>RIGHT SIDE - TOOL COMPARISON:</a:t>
            </a:r>
          </a:p>
          <a:p>
            <a:r>
              <a:t>GITHUB COPILOT: Most mature and widely adopted. Enterprise tier offers organization-level policy controls, code reference tracking, and IP indemnity.</a:t>
            </a:r>
          </a:p>
          <a:p>
            <a:r>
              <a:t>CURSOR: Built specifically for AI-first development. Killer features: codebase indexing, Composer mode, better at complex multi-step tasks.</a:t>
            </a:r>
          </a:p>
          <a:p>
            <a:r>
              <a:t>DEVIN / AI AGENTS: Next evolution - autonomous AI agents that can plan, implement, test, and debug entire features. Still requires significant review.</a:t>
            </a:r>
          </a:p>
          <a:p/>
          <a:p>
            <a:r>
              <a:t>PRACTICAL GUIDANCE for faculty:</a:t>
            </a:r>
          </a:p>
          <a:p>
            <a:r>
              <a:t>- Start students with Copilot (most accessible, free for students)</a:t>
            </a:r>
          </a:p>
          <a:p>
            <a:r>
              <a:t>- Introduce Cursor for project work requiring multi-file changes</a:t>
            </a:r>
          </a:p>
          <a:p>
            <a:r>
              <a:t>- Discuss Devin/agents as the future direction</a:t>
            </a:r>
          </a:p>
          <a:p>
            <a:r>
              <a:t>- Emphasize that ALL tools require human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9: LLM Capabilities &amp; Limitations</a:t>
            </a:r>
          </a:p>
          <a:p>
            <a:r>
              <a:t>----------------------------------------------------------</a:t>
            </a:r>
          </a:p>
          <a:p>
            <a:r>
              <a:t>This is a critical reality-check slide. Faculty need to understand both what AI can and cannot do so they can set appropriate expectations for students.</a:t>
            </a:r>
          </a:p>
          <a:p/>
          <a:p>
            <a:r>
              <a:t>LEFT SIDE - WHAT AI DOES WELL:</a:t>
            </a:r>
          </a:p>
          <a:p>
            <a:r>
              <a:t>1. CODE PATTERN GENERATION: AI excels at generating standard patterns - design patterns (factory, singleton, observer), framework boilerplate (Spring Boot controllers, React components), and common algorithms.</a:t>
            </a:r>
          </a:p>
          <a:p>
            <a:r>
              <a:t>2. TEST SCAFFOLDING: Given a method signature and description, AI can generate comprehensive test structures: happy path, error cases, boundary conditions.</a:t>
            </a:r>
          </a:p>
          <a:p>
            <a:r>
              <a:t>3. DOCUMENTATION: AI can generate JavaDoc/JSDoc/docstrings, README files, API documentation, and inline comments.</a:t>
            </a:r>
          </a:p>
          <a:p>
            <a:r>
              <a:t>4. EXPLAINING CODE: Paste complex code and ask "explain this." AI will break it down step-by-step. Extremely valuable for teaching.</a:t>
            </a:r>
          </a:p>
          <a:p>
            <a:r>
              <a:t>5. REFACTORING: AI can suggest how to simplify complex methods, extract common logic, apply SOLID principles.</a:t>
            </a:r>
          </a:p>
          <a:p>
            <a:r>
              <a:t>6. LANGUAGE TRANSLATION: Convert Python to Java, SQL to ORM queries, REST to GraphQL.</a:t>
            </a:r>
          </a:p>
          <a:p/>
          <a:p>
            <a:r>
              <a:t>RIGHT SIDE - WHAT AI STRUGGLES WITH:</a:t>
            </a:r>
          </a:p>
          <a:p>
            <a:r>
              <a:t>1. NOVEL ALGORITHMS: If the problem requires a truly novel algorithm not well-represented in training data, AI will either fail or generate something plausible but wrong.</a:t>
            </a:r>
          </a:p>
          <a:p>
            <a:r>
              <a:t>2. COMPLEX BUSINESS LOGIC: AI may miss domain-specific rules. Domain expertise is still human territory.</a:t>
            </a:r>
          </a:p>
          <a:p>
            <a:r>
              <a:t>3. SECURITY: AI may generate code with SQL injection vulnerabilities, improper authentication, or insecure defaults.</a:t>
            </a:r>
          </a:p>
          <a:p>
            <a:r>
              <a:t>4. LARGE CODEBASE: Current context windows cannot hold an entire enterprise codebase. AI may generate code that conflicts with existing patterns.</a:t>
            </a:r>
          </a:p>
          <a:p>
            <a:r>
              <a:t>5. TRAINING CUTOFF: APIs change. Libraries release new versions. AI may suggest deprecated methods or non-existent API endpoints.</a:t>
            </a:r>
          </a:p>
          <a:p/>
          <a:p>
            <a:r>
              <a:t>BOTTOM BOX - CRITICAL CONSIDERATIONS:</a:t>
            </a:r>
          </a:p>
          <a:p>
            <a:r>
              <a:t>- Context windows are real constraints</a:t>
            </a:r>
          </a:p>
          <a:p>
            <a:r>
              <a:t>- Hallucinations are common and dangerous</a:t>
            </a:r>
          </a:p>
          <a:p>
            <a:r>
              <a:t>- Every AI output requires human verification - treat AI output like code from a junior developer</a:t>
            </a:r>
          </a:p>
          <a:p>
            <a:r>
              <a:t>- Prompt quality directly affects output quality</a:t>
            </a:r>
          </a:p>
          <a:p/>
          <a:p>
            <a:r>
              <a:t>Discussion prompt: "Has anyone experienced an AI hallucination in their work? What happened?" This generates great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10: Prompt Engineering for Software Engineering</a:t>
            </a:r>
          </a:p>
          <a:p>
            <a:r>
              <a:t>-----------------------------------------------------------------------</a:t>
            </a:r>
          </a:p>
          <a:p>
            <a:r>
              <a:t>This slide bridges general prompt engineering and SOFTWARE-SPECIFIC prompt engineering. The key insight: prompting for code is fundamentally different from prompting for essays or summaries.</a:t>
            </a:r>
          </a:p>
          <a:p/>
          <a:p>
            <a:r>
              <a:t>THE STRUCTURED PROMPT TEMPLATE:</a:t>
            </a:r>
          </a:p>
          <a:p>
            <a:r>
              <a:t>Walk through each section:</a:t>
            </a:r>
          </a:p>
          <a:p/>
          <a:p>
            <a:r>
              <a:t>1. ROLE: Setting a role dramatically improves output quality. "You are a senior backend engineer" produces different (better) code than "Write some code." The role establishes expertise level, domain context, and quality expectations.</a:t>
            </a:r>
          </a:p>
          <a:p>
            <a:r>
              <a:t>   Bad: "You are an AI assistant" (too generic)</a:t>
            </a:r>
          </a:p>
          <a:p>
            <a:r>
              <a:t>   Good: "You are a senior Java developer with 10 years of Spring Boot experience, specializing in microservices architecture"</a:t>
            </a:r>
          </a:p>
          <a:p/>
          <a:p>
            <a:r>
              <a:t>2. CONTEXT: Provide project-specific information: Tech stack and versions (Java 17, not just "Java"), architecture decisions already made, existing code patterns, database choice.</a:t>
            </a:r>
          </a:p>
          <a:p>
            <a:r>
              <a:t>   WHY IT MATTERS: Without context, AI will use its most common training patterns, which may not match your project.</a:t>
            </a:r>
          </a:p>
          <a:p/>
          <a:p>
            <a:r>
              <a:t>3. TASK: Be specific and bounded. Compare:</a:t>
            </a:r>
          </a:p>
          <a:p>
            <a:r>
              <a:t>   Bad: "Write a service class"</a:t>
            </a:r>
          </a:p>
          <a:p>
            <a:r>
              <a:t>   Good: "Create the TaskService class that implements CRUD operations for Task entities with validation and error handling"</a:t>
            </a:r>
          </a:p>
          <a:p/>
          <a:p>
            <a:r>
              <a:t>4. CONSTRAINTS: Non-negotiable engineering requirements: coding standards, dependency injection approach, error handling strategy, security requirements.</a:t>
            </a:r>
          </a:p>
          <a:p/>
          <a:p>
            <a:r>
              <a:t>5. OUTPUT FORMAT: Tell AI exactly what you want back: "Complete class with imports" vs "just the method body", "Include unit tests" vs "code only."</a:t>
            </a:r>
          </a:p>
          <a:p/>
          <a:p>
            <a:r>
              <a:t>ADVANCED TECHNIQUES:</a:t>
            </a:r>
          </a:p>
          <a:p>
            <a:r>
              <a:t>- CHAIN PROMPTING: Break complex tasks into steps. First: "Design the API contract." Second: "Given this API contract, generate the controller."</a:t>
            </a:r>
          </a:p>
          <a:p>
            <a:r>
              <a:t>- FEW-SHOT EXAMPLES: "Here is an example of our service pattern: [example]. Now generate TaskService following the same pattern."</a:t>
            </a:r>
          </a:p>
          <a:p>
            <a:r>
              <a:t>- ITERATIVE REFINEMENT: Start broad, then narrow. "Generate the service" -&gt; "Add error handling" -&gt; "Add logging" -&gt; "Add caching."</a:t>
            </a:r>
          </a:p>
          <a:p/>
          <a:p>
            <a:r>
              <a:t>DEMO IDEA: Show the same task prompted two ways - vaguely and with the structured template - and compare the output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11: Spec-Driven Development: Core Methodology</a:t>
            </a:r>
          </a:p>
          <a:p>
            <a:r>
              <a:t>----------------------------------------------------------------------</a:t>
            </a:r>
          </a:p>
          <a:p>
            <a:r>
              <a:t>This is one of the most important slides in the entire workshop. Spec-driven development is the METHODOLOGY that makes AI-native development reliable and repeatable.</a:t>
            </a:r>
          </a:p>
          <a:p/>
          <a:p>
            <a:r>
              <a:t>THE FLOW DIAGRAM:</a:t>
            </a:r>
          </a:p>
          <a:p>
            <a:r>
              <a:t>Walk through each step and explain why the ORDER matters:</a:t>
            </a:r>
          </a:p>
          <a:p/>
          <a:p>
            <a:r>
              <a:t>1. REQUIREMENTS: Start with structured requirements. Not "build a todo app" but specific functional and non-functional requirements with acceptance criteria.</a:t>
            </a:r>
          </a:p>
          <a:p/>
          <a:p>
            <a:r>
              <a:t>2. DOMAIN MODEL: Define the core entities, their attributes, relationships, and business rules. For a Task Management system: Task (id, title, description, status, priority, assignee, due_date). Status transitions: OPEN -&gt; IN_PROGRESS -&gt; DONE.</a:t>
            </a:r>
          </a:p>
          <a:p/>
          <a:p>
            <a:r>
              <a:t>3. API CONTRACT: Define endpoints, HTTP methods, request/response formats, status codes, and error responses. Use OpenAPI/Swagger format.</a:t>
            </a:r>
          </a:p>
          <a:p/>
          <a:p>
            <a:r>
              <a:t>4. ACCEPTANCE TESTS: Write test scenarios BEFORE code. "Given a user with create permission, when they POST a valid task, then the response is 201 and the task appears in GET /tasks."</a:t>
            </a:r>
          </a:p>
          <a:p/>
          <a:p>
            <a:r>
              <a:t>5. CODE GENERATION: NOW - and only now - feed the spec to AI and generate implementation. Output quality is dramatically better with a clear spec.</a:t>
            </a:r>
          </a:p>
          <a:p/>
          <a:p>
            <a:r>
              <a:t>6. REVIEW &amp; REFINE: Review generated code against the spec. Does it implement all requirements? Do all acceptance tests pass?</a:t>
            </a:r>
          </a:p>
          <a:p/>
          <a:p>
            <a:r>
              <a:t>KEY PRINCIPLES:</a:t>
            </a:r>
          </a:p>
          <a:p>
            <a:r>
              <a:t>"NEVER START WITH CODE GENERATION" - This is the number one mistake. Demo: Show what happens when you just say "build a task API" to an LLM vs when you provide a structured spec. The difference in output quality is dramatic.</a:t>
            </a:r>
          </a:p>
          <a:p/>
          <a:p>
            <a:r>
              <a:t>RIGHT SIDE COMPARISON:</a:t>
            </a:r>
          </a:p>
          <a:p>
            <a:r>
              <a:t>The Code-First anti-pattern produces: unclear scope, inconsistent logic, missing edge cases, and expensive rework.</a:t>
            </a:r>
          </a:p>
          <a:p>
            <a:r>
              <a:t>The Spec-First approach produces: clear scope, verified logic, predictable output, and reviewable artifacts at every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12: Software Design Document (SDD) Structure</a:t>
            </a:r>
          </a:p>
          <a:p>
            <a:r>
              <a:t>----------------------------------------------------------------------</a:t>
            </a:r>
          </a:p>
          <a:p>
            <a:r>
              <a:t>This slide provides the concrete template that participants will use in the practical exercise.</a:t>
            </a:r>
          </a:p>
          <a:p/>
          <a:p>
            <a:r>
              <a:t>SECTION 1 - OVERVIEW: Purpose, scope, definitions, stakeholders. Provides context that shapes all AI-generated output.</a:t>
            </a:r>
          </a:p>
          <a:p/>
          <a:p>
            <a:r>
              <a:t>SECTION 2 - FUNCTIONAL REQUIREMENTS: Features listed with acceptance criteria, user stories, actors and permissions, business rules and validation constraints. These directly map to controller endpoints, service methods, and test cases.</a:t>
            </a:r>
          </a:p>
          <a:p/>
          <a:p>
            <a:r>
              <a:t>SECTION 3 - NON-FUNCTIONAL REQUIREMENTS: Performance targets ("API response time &lt; 200ms at P95"), security policies, scalability targets, availability SLAs. These shape architectural decisions.</a:t>
            </a:r>
          </a:p>
          <a:p/>
          <a:p>
            <a:r>
              <a:t>SECTION 4 - ARCHITECTURE &amp; DESIGN: High-level system architecture, technology choices with rationale, design patterns, Architecture Decision Records (ADRs).</a:t>
            </a:r>
          </a:p>
          <a:p/>
          <a:p>
            <a:r>
              <a:t>SECTION 5 - API CONTRACTS: REST endpoints with HTTP methods, paths, descriptions. Request/response schemas with validation rules. Error response formats. Auth requirements per endpoint.</a:t>
            </a:r>
          </a:p>
          <a:p/>
          <a:p>
            <a:r>
              <a:t>SECTION 6 - DATA MODEL: Entity definitions with attributes and data types. Relationships, constraints, foreign keys. Database migration strategy.</a:t>
            </a:r>
          </a:p>
          <a:p/>
          <a:p>
            <a:r>
              <a:t>SECTION 7 - TEST STRATEGY: Unit test scope and coverage targets. Integration test approach. E2E test scenarios. Acceptance criteria mapped to test cases.</a:t>
            </a:r>
          </a:p>
          <a:p/>
          <a:p>
            <a:r>
              <a:t>SECTION 8 - DEPLOYMENT &amp; CI/CD: Pipeline stages, environment definitions, rollback strategy, monitoring configuration.</a:t>
            </a:r>
          </a:p>
          <a:p/>
          <a:p>
            <a:r>
              <a:t>IMPORTANT: Emphasize that students should fill in EVERY section before generating code. Incomplete SDDs produce incomplete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 Slide 13: Example Task Management API Specification</a:t>
            </a:r>
          </a:p>
          <a:p>
            <a:r>
              <a:t>----------------------------------------------------------------------</a:t>
            </a:r>
          </a:p>
          <a:p>
            <a:r>
              <a:t>This slide is the bridge to the practical exercise. It shows a CONCRETE, REALISTIC specification.</a:t>
            </a:r>
          </a:p>
          <a:p/>
          <a:p>
            <a:r>
              <a:t>LEFT SIDE - THE SPECIFICATION:</a:t>
            </a:r>
          </a:p>
          <a:p>
            <a:r>
              <a:t>Walk through each element:</a:t>
            </a:r>
          </a:p>
          <a:p/>
          <a:p>
            <a:r>
              <a:t>FEATURE DESCRIPTION: "Create and manage tasks with priority and status tracking." One-sentence summary.</a:t>
            </a:r>
          </a:p>
          <a:p/>
          <a:p>
            <a:r>
              <a:t>ACTORS: Two roles with different permissions:</a:t>
            </a:r>
          </a:p>
          <a:p>
            <a:r>
              <a:t>- Admin: Full CRUD plus administrative actions</a:t>
            </a:r>
          </a:p>
          <a:p>
            <a:r>
              <a:t>- User: Can create tasks, view all tasks, update own tasks</a:t>
            </a:r>
          </a:p>
          <a:p>
            <a:r>
              <a:t>NOTE: Ask the audience - "Should users see ALL tasks or only their own? This is exactly the kind of ambiguity that specs should resolve BEFORE coding."</a:t>
            </a:r>
          </a:p>
          <a:p/>
          <a:p>
            <a:r>
              <a:t>FUNCTIONAL RULES (FR-1 through FR-6):</a:t>
            </a:r>
          </a:p>
          <a:p>
            <a:r>
              <a:t>- FR-1 (Title validation): 3-100 characters. These numbers are design decisions that should be in the spec.</a:t>
            </a:r>
          </a:p>
          <a:p>
            <a:r>
              <a:t>- FR-2 (Priority enum): Exactly four values. This generates an enum class and validation logic.</a:t>
            </a:r>
          </a:p>
          <a:p>
            <a:r>
              <a:t>- FR-3 (Status transitions): OPEN -&gt; IN_PROGRESS -&gt; DONE. Ask: "Can a task go from DONE back to IN_PROGRESS?"</a:t>
            </a:r>
          </a:p>
          <a:p>
            <a:r>
              <a:t>- FR-4 (Delete permission): Only Admin can delete. Generates authorization checks.</a:t>
            </a:r>
          </a:p>
          <a:p>
            <a:r>
              <a:t>- FR-5 (Due date validation): Must be in the future. Generates validation logic.</a:t>
            </a:r>
          </a:p>
          <a:p>
            <a:r>
              <a:t>- FR-6 (Assignee validation): Must be a valid user. Creates foreign key relationship.</a:t>
            </a:r>
          </a:p>
          <a:p/>
          <a:p>
            <a:r>
              <a:t>ACCEPTANCE CRITERIA (BDD Format):</a:t>
            </a:r>
          </a:p>
          <a:p>
            <a:r>
              <a:t>Behavior-Driven Development format: Given/When/Then. Maps directly to test methods.</a:t>
            </a:r>
          </a:p>
          <a:p/>
          <a:p>
            <a:r>
              <a:t>RIGHT SIDE - HOW THE SPEC DRIVES DEVELOPMENT:</a:t>
            </a:r>
          </a:p>
          <a:p>
            <a:r>
              <a:t>1. DOMAIN MODEL: Spec defines Task entity attributes and enums</a:t>
            </a:r>
          </a:p>
          <a:p>
            <a:r>
              <a:t>2. API CONTRACT: From actors and rules, we derive endpoints</a:t>
            </a:r>
          </a:p>
          <a:p>
            <a:r>
              <a:t>3. GENERATED TESTS: From acceptance criteria, AI generates test methods</a:t>
            </a:r>
          </a:p>
          <a:p>
            <a:r>
              <a:t>4. CODE GENERATION: With all above defined, AI generates the full stack</a:t>
            </a:r>
          </a:p>
          <a:p/>
          <a:p>
            <a:r>
              <a:t>TRANSITION: "In our practical exercise, you will take this specification, expand it, and use it to generate a working API."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 Tool Ecosystem for Software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8B"/>
                </a:solidFill>
                <a:latin typeface="Calibri"/>
              </a:rPr>
              <a:t>Categorized Landscape of AI-Powered Development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11887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IDE Assistants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GitHub Copilot  |  Cursor  |  JetBrains AI  |  Windsurf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Inline code completion, refactoring, chat-in-editor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11887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Chat / LLM Interfaces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ChatGPT  |  Claude  |  Gemini  |  M365 Copilot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Conversational coding, explanation, brainstorming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486400" cy="118872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Workflow &amp; Agent Frameworks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LangChain  |  Semantic Kernel  |  CrewAI  |  AutoGen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Orchestrate multi-step AI pipelines &amp; agent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94960" cy="11887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DevOps &amp; CI/CD Intelligence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GitHub Actions AI  |  SonarQube AI  |  Snyk AI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Automated quality gates, vulnerability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297680"/>
            <a:ext cx="6309360" cy="9144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Code Review &amp; PR Analysis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CodeRabbit  |  Copilot PR Review  |  Qodo (formerly CodiumAI)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Automated code review, PR summaries, test suggestions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440680"/>
            <a:ext cx="9418320" cy="5029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Key Takeaway: No single tool covers everything — build a complementary toolchain across categories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IDE Assistants &amp; Code Generation Deep Dive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8B"/>
                </a:solidFill>
                <a:latin typeface="Calibri"/>
              </a:rPr>
              <a:t>Key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Inline Code Completion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Real-time suggestions as you type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Context-aware multi-line completions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Explain &amp; Document Code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Explain selected code in plain English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Generate docstrings and comments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Refactoring Suggestions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Rename, extract, restructure code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Convert patterns (e.g., loops to streams)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Test Generation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Generate unit tests from implementation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Suggest edge cases and boundary tests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Chat-in-Editor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Ask questions without leaving the IDE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Multi-file edits from natural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B8B"/>
                </a:solidFill>
                <a:latin typeface="Calibri"/>
              </a:rPr>
              <a:t>Tool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12344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GitHub Copilot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Strengths: Widest IDE support, strong autocomplete,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enterprise features, Copilot Chat &amp; Workspace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Best for: General-purpose coding across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5303520" cy="12344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Cursor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Strengths: Codebase-aware context, Composer mode,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multi-file edits, agentic workflows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Best for: Complex refactors, full-feature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297680"/>
            <a:ext cx="5303520" cy="123444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Devin / AI Agents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Strengths: Autonomous task execution, end-to-end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implementation, planning &amp; debugging loops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Best for: Complete feature implementation, boilerplate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1247120" cy="4114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Practical Tip:  Use Copilot for quick completions  |  Cursor for complex multi-file work  |  Devin for end-to-end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LLM Capabilities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45720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What AI Does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Code pattern generation &amp; boilerplate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Test scaffolding from descriptions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Documentation &amp; comment generation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Explaining and summarizing code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Suggesting refactoring approaches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Translating between languages/frameworks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Generating CRUD operations &amp; REST APIs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✓ Regex, SQL queries, config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30352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What AI Struggles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Novel / unique algorithms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Complex business logic &amp; domain rules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Security guarantees &amp; threat modeling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Large codebase holistic understanding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Up-to-date API knowledge (training cutoff)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Stateful debugging across sessions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Performance optimization trade-offs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✗ Architectural consistency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1247120" cy="10972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Critical Considerations for AI-Generated Code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• Context Windows: LLMs have finite context - large codebases exceed their memory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• Hallucinations: AI may generate plausible but non-existent APIs, libraries, or methods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• Verification Required: Every AI output must be reviewed, tested, and validated by humans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• Prompt Sensitivity: Small changes in prompts can dramatically change output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Prompt Engineering for Software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Spec-Driven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Structured Prompt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669280" cy="420624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## ROLE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You are a senior backend engineer with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expertise in Spring Boot and REST APIs.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## CONTEXT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We are building a Task Management API.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Tech stack: Java 17, Spring Boot 3,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PostgreSQL, JUnit 5.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## TASK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Create the TaskService class that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implements CRUD operations with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validation and error handling.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## CONSTRAINTS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Follow SOLID principles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Use constructor injection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Throw custom exceptions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Include input validation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## OUTPUT FORMAT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Complete Java class with annotations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Inline Javadoc comments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- Corresponding unit test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Why Each Section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08760"/>
            <a:ext cx="502920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Role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Sets the AI's expertise level and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domain knowledge persona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377439"/>
            <a:ext cx="502920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Context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Provides project background, tech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stack, and architectural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246120"/>
            <a:ext cx="5029200" cy="7315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Task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Defines the specific deliverable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with clear scope boundaries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114800"/>
            <a:ext cx="5029200" cy="73152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Constraints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Enforces coding standards, patterns,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and non-negotiable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983479"/>
            <a:ext cx="5029200" cy="7315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Output Format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Specifies structure, format, and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completeness expectations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4114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Golden Rule:  Vague prompts -&gt; vague code  |  Structured prompts -&gt; production-quality code  |  Iterate &amp; refine!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Spec-Driven Development: Core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Spec-Driven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The Spec-Driven Development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554480" cy="7772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29968" y="1755648"/>
            <a:ext cx="256032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1508760"/>
            <a:ext cx="1554480" cy="7772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Domain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04487" y="1755648"/>
            <a:ext cx="256032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06240" y="1508760"/>
            <a:ext cx="1554480" cy="7772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API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79007" y="1755648"/>
            <a:ext cx="256032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59" y="1508760"/>
            <a:ext cx="155448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Acceptance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653527" y="1755648"/>
            <a:ext cx="256032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1554480" cy="77724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Code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8047" y="1755648"/>
            <a:ext cx="256032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29800" y="1508760"/>
            <a:ext cx="1554480" cy="7772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Review &amp;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Refine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423160"/>
            <a:ext cx="2834640" cy="3657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↻  Iterate until spec is reviewable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Key Principles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3756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Never start with code generation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Code is a byproduct of good specifications, not the starting point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First create requirements, domain model, APIs, acceptance tests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Each artifact feeds the next - requirements inform the domain model, which shapes the API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Use AI to refine ambiguity BEFORE implementation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Ask AI: 'What edge cases does this requirement miss?' - before writing a single line of code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Generate code only after reviewable specs exist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If a teammate cannot review your spec and understand the system, it is not ready for generation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Specs are version-controlled alongside code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100">
                <a:solidFill>
                  <a:srgbClr val="636E72"/>
                </a:solidFill>
                <a:latin typeface="Calibri"/>
              </a:rPr>
              <a:t>     - Specs live in the same repository, same branch, same PR as the code they describe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3337560"/>
            <a:ext cx="3840480" cy="10972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Code-First (Anti-Pattern)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"Hey AI, build me a task app"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-&gt; Unclear scope, inconsistent logic,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   missing edge cases, rework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617720"/>
            <a:ext cx="3840480" cy="10972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Spec-First (Best Practice)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Requirements -&gt; Domain -&gt; API -&gt; Tests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-&gt; Clear scope, verified logic,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   predictable, reviewable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Software Design Document (SDD)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Spec-Driven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303520" cy="10058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1: Overview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Purpose, scope, definitions,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stakeholders, glossary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097280"/>
            <a:ext cx="5303520" cy="10058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2: Functional Requirements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Features, user stories, actors,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business rules,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5303520" cy="100584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3: Non-Functional Reqs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Performance targets, security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policies, scalability, SLAs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240280"/>
            <a:ext cx="5303520" cy="100584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4: Architecture &amp; Design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System diagrams, patterns,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decision records (ADRs)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5303520" cy="100584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5: API Contracts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Endpoints, request/response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schemas, status codes,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83280"/>
            <a:ext cx="5303520" cy="100584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6: Data Model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Entities, relationships,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constraints, migrations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26280"/>
            <a:ext cx="5303520" cy="10058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7: Test Strategy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Unit, integration, E2E tests,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acceptance criteria,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526280"/>
            <a:ext cx="5303520" cy="10058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200" b="1">
                <a:solidFill>
                  <a:srgbClr val="2D3436"/>
                </a:solidFill>
                <a:latin typeface="Calibri"/>
              </a:rPr>
              <a:t>Section 8: Deployment &amp; CI/CD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Pipeline stages, environments,</a:t>
            </a:r>
          </a:p>
          <a:p>
            <a:pPr algn="l"/>
            <a:r>
              <a:rPr sz="1200" b="0">
                <a:solidFill>
                  <a:srgbClr val="2D3436"/>
                </a:solidFill>
                <a:latin typeface="Calibri"/>
              </a:rPr>
              <a:t>rollback,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669280"/>
            <a:ext cx="11247120" cy="4114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Principle:  The SDD is the single source of truth - AI generates code FROM the SDD, not the other way around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Example: Task Management API Specification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Spec-Driven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Specification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66928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Feature: Task Management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Create and manage tasks with priority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and status tracking.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Actors: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- Admin: Full CRUD, assign tasks, manage users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- User:  Create, view, update own tasks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Functional Rules: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FR-1: Task title is required (3-100 chars)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FR-2: Priority: LOW, MEDIUM, HIGH, CRITICAL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FR-3: Status: OPEN -&gt; IN_PROGRESS -&gt; DONE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FR-4: Only Admin can delete tasks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FR-5: Due date must be in the future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FR-6: Assignee must be a valid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Calibri"/>
              </a:rPr>
              <a:t>Acceptance Criteria (BDD Format)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63440"/>
            <a:ext cx="5669280" cy="13258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Scenario: Create a valid task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Given an authenticated User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When  POST /api/tasks with valid body: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      {title, description, priority}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Then  response status is 201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And   response contains task with id</a:t>
            </a:r>
          </a:p>
          <a:p>
            <a:pPr>
              <a:spcAft>
                <a:spcPts val="100"/>
              </a:spcAft>
            </a:pPr>
            <a:r>
              <a:rPr sz="1000">
                <a:solidFill>
                  <a:srgbClr val="2D3436"/>
                </a:solidFill>
                <a:latin typeface="Consolas"/>
              </a:rPr>
              <a:t>  And   task status defaults to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How This Spec Drives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5029200" cy="10515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Domain Model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Task entity with title, description,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status, priority, assignee, dueDate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+ Status enum + Priority enum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651760"/>
            <a:ext cx="5029200" cy="10515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API Contract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POST /api/tasks -&gt; 201 Created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GET  /api/tasks -&gt; 200 + List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PUT  /api/tasks/{id} -&gt; 200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DEL  /api/tasks/{id} -&gt; 204 (Admin)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840480"/>
            <a:ext cx="5029200" cy="105156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Generated Tests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testCreateTask_ValidInput_201()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testCreateTask_MissingTitle_400()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testDeleteTask_NonAdmin_403()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testStatusTransition_Valid()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029200"/>
            <a:ext cx="5029200" cy="10515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100" b="1">
                <a:solidFill>
                  <a:srgbClr val="2D3436"/>
                </a:solidFill>
                <a:latin typeface="Calibri"/>
              </a:rPr>
              <a:t>Code Generation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TaskController -&gt; TaskService -&gt;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TaskRepository -&gt; Task entity</a:t>
            </a:r>
          </a:p>
          <a:p>
            <a:pPr algn="l"/>
            <a:r>
              <a:rPr sz="1100" b="0">
                <a:solidFill>
                  <a:srgbClr val="2D3436"/>
                </a:solidFill>
                <a:latin typeface="Calibri"/>
              </a:rPr>
              <a:t>+ DTOs + Validation + Exceptions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72200" y="3200400"/>
            <a:ext cx="365760" cy="274320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