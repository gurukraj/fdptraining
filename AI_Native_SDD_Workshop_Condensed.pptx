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1: Title &amp; Welcome</a:t>
            </a:r>
          </a:p>
          <a:p>
            <a:r>
              <a:t>-----------------------------------------</a:t>
            </a:r>
          </a:p>
          <a:p>
            <a:r>
              <a:t>Welcome the faculty participants and introduce yourself. Set the tone: this is NOT a passive lecture -- it is an interactive, hands-on workshop.</a:t>
            </a:r>
          </a:p>
          <a:p/>
          <a:p>
            <a:r>
              <a:t>KEY POINTS TO COVER:</a:t>
            </a:r>
          </a:p>
          <a:p>
            <a:r>
              <a:t>1. INTRODUCTIONS: Ask participants to briefly introduce themselves -- name, department, and their current experience with AI tools in teaching or development.</a:t>
            </a:r>
          </a:p>
          <a:p/>
          <a:p>
            <a:r>
              <a:t>2. WORKSHOP STRUCTURE: Explain the 3-hour format:</a:t>
            </a:r>
          </a:p>
          <a:p>
            <a:r>
              <a:t>   - Part 1 (~60-75 min): Theory &amp; methodology -- we build the conceptual foundation</a:t>
            </a:r>
          </a:p>
          <a:p>
            <a:r>
              <a:t>   - Break (15 min)</a:t>
            </a:r>
          </a:p>
          <a:p>
            <a:r>
              <a:t>   - Part 2 (~60-90 min): Guided practical labs -- hands-on implementation using AI tools</a:t>
            </a:r>
          </a:p>
          <a:p/>
          <a:p>
            <a:r>
              <a:t>3. THE FLOW DIAGRAM: Walk through the 7-stage pipeline on screen:</a:t>
            </a:r>
          </a:p>
          <a:p>
            <a:r>
              <a:t>   - Human Intent: Every project starts with a human expressing what they want</a:t>
            </a:r>
          </a:p>
          <a:p>
            <a:r>
              <a:t>   - Executable Specification: That intent is captured in a structured, machine-readable format</a:t>
            </a:r>
          </a:p>
          <a:p>
            <a:r>
              <a:t>   - AI-Assisted Design: AI proposes architecture, data models, UML diagrams</a:t>
            </a:r>
          </a:p>
          <a:p>
            <a:r>
              <a:t>   - Code Generation: AI generates implementation from the spec</a:t>
            </a:r>
          </a:p>
          <a:p>
            <a:r>
              <a:t>   - Automated Testing: Tests are generated from the same spec</a:t>
            </a:r>
          </a:p>
          <a:p>
            <a:r>
              <a:t>   - CI/CD Pipeline: Automated build, scan, deploy with quality gates</a:t>
            </a:r>
          </a:p>
          <a:p>
            <a:r>
              <a:t>   - Continuous Feedback: Production telemetry feeds back into the next iteration</a:t>
            </a:r>
          </a:p>
          <a:p/>
          <a:p>
            <a:r>
              <a:t>4. THE KEY EQUATION: Emphasize that AI-Native is not just "use ChatGPT to write code." It's a fundamental shift in how software is conceived, specified, built, and maintained. The specification becomes the source of truth, not the code.</a:t>
            </a:r>
          </a:p>
          <a:p/>
          <a:p>
            <a:r>
              <a:t>5. SET EXPECTATIONS: By the end, participants will:</a:t>
            </a:r>
          </a:p>
          <a:p>
            <a:r>
              <a:t>   - Understand the AI-Native SDLC methodology</a:t>
            </a:r>
          </a:p>
          <a:p>
            <a:r>
              <a:t>   - Have written a spec and used AI to generate working code</a:t>
            </a:r>
          </a:p>
          <a:p>
            <a:r>
              <a:t>   - Be ready to incorporate these practices into their curriculum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2: Session Agenda &amp; Learning Outcomes</a:t>
            </a:r>
          </a:p>
          <a:p>
            <a:r>
              <a:t>-----------------------------------------------------</a:t>
            </a:r>
          </a:p>
          <a:p>
            <a:r>
              <a:t>Walk through each section so participants know what to expect:</a:t>
            </a:r>
          </a:p>
          <a:p/>
          <a:p>
            <a:r>
              <a:t>PART 1 - THEORY &amp; METHODOLOGY (~65 minutes):</a:t>
            </a:r>
          </a:p>
          <a:p>
            <a:r>
              <a:t>- Start with WHY AI-native matters (industry context, market trends)</a:t>
            </a:r>
          </a:p>
          <a:p>
            <a:r>
              <a:t>- Define what AI-native software development IS (and isn't)</a:t>
            </a:r>
          </a:p>
          <a:p>
            <a:r>
              <a:t>- Deep dive into spec-driven development -- the core methodology</a:t>
            </a:r>
          </a:p>
          <a:p>
            <a:r>
              <a:t>- Cover architecture, testing, CI/CD with AI integration</a:t>
            </a:r>
          </a:p>
          <a:p>
            <a:r>
              <a:t>- Touch on advanced topics: multi-agent systems, AI governance</a:t>
            </a:r>
          </a:p>
          <a:p>
            <a:r>
              <a:t>- This isn't just slides -- we'll have interactive discussions throughout</a:t>
            </a:r>
          </a:p>
          <a:p/>
          <a:p>
            <a:r>
              <a:t>BREAK (15 minutes):</a:t>
            </a:r>
          </a:p>
          <a:p>
            <a:r>
              <a:t>- Let participants set up their development environment if they haven't already</a:t>
            </a:r>
          </a:p>
          <a:p>
            <a:r>
              <a:t>- Install required tools: IDE with AI assistant, Docker, language runtime</a:t>
            </a:r>
          </a:p>
          <a:p/>
          <a:p>
            <a:r>
              <a:t>PART 2 - GUIDED PRACTICAL LABS (~90 minutes):</a:t>
            </a:r>
          </a:p>
          <a:p>
            <a:r>
              <a:t>- Hands-on implementation of a real API using spec-driven development</a:t>
            </a:r>
          </a:p>
          <a:p>
            <a:r>
              <a:t>- Choice of labs: Task Management API (Java) or Grade Calculator (Python)</a:t>
            </a:r>
          </a:p>
          <a:p>
            <a:r>
              <a:t>- Step-by-step: spec writing -&gt; AI generation -&gt; review -&gt; test -&gt; deploy</a:t>
            </a:r>
          </a:p>
          <a:p>
            <a:r>
              <a:t>- Participants will have working, tested, deployable code by the end</a:t>
            </a:r>
          </a:p>
          <a:p/>
          <a:p>
            <a:r>
              <a:t>LEARNING OUTCOMES - Use Bloom's taxonomy verbs intentionally:</a:t>
            </a:r>
          </a:p>
          <a:p>
            <a:r>
              <a:t>- Understand (knowledge): grasp the paradigm shift</a:t>
            </a:r>
          </a:p>
          <a:p>
            <a:r>
              <a:t>- Apply (application): use SDD methodology hands-on</a:t>
            </a:r>
          </a:p>
          <a:p>
            <a:r>
              <a:t>- Practice (skill): work with AI tools for code generation</a:t>
            </a:r>
          </a:p>
          <a:p>
            <a:r>
              <a:t>- Implement (creation): build automated tests from specs</a:t>
            </a:r>
          </a:p>
          <a:p>
            <a:r>
              <a:t>- Design (synthesis): create CI/CD pipelines</a:t>
            </a:r>
          </a:p>
          <a:p>
            <a:r>
              <a:t>- Evaluate (judgment): assess governance and responsible AI practices</a:t>
            </a:r>
          </a:p>
          <a:p/>
          <a:p>
            <a:r>
              <a:t>TEACHING APPROACH: Explain -&gt; Demonstrate -&gt; Validate -&gt; Reflect</a:t>
            </a:r>
          </a:p>
          <a:p>
            <a:r>
              <a:t>Each concept follows this cycle. We explain the theory, demonstrate with examples, validate understanding through discussion, and reflect on how it applies to their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3: Why AI-Native Matters Now</a:t>
            </a:r>
          </a:p>
          <a:p>
            <a:r>
              <a:t>---------------------------------------------------</a:t>
            </a:r>
          </a:p>
          <a:p>
            <a:r>
              <a:t>This slide sets the URGENCY. Faculty need to understand this isn't a trend -- it's a fundamental shift.</a:t>
            </a:r>
          </a:p>
          <a:p/>
          <a:p>
            <a:r>
              <a:t>STATISTICS (walk through each):</a:t>
            </a:r>
          </a:p>
          <a:p>
            <a:r>
              <a:t>1. 92% of developers now use AI coding tools (GitHub 2025 Developer Survey) -- this is near-universal adoption</a:t>
            </a:r>
          </a:p>
          <a:p>
            <a:r>
              <a:t>2. 55% faster code generation -- documented across multiple enterprise studies</a:t>
            </a:r>
          </a:p>
          <a:p>
            <a:r>
              <a:t>3. $50B+ market by 2028 -- investment is massive and accelerating</a:t>
            </a:r>
          </a:p>
          <a:p>
            <a:r>
              <a:t>4. 40% of new code AI-generated by 2027 (Gartner) -- the code-writing role is transforming</a:t>
            </a:r>
          </a:p>
          <a:p/>
          <a:p>
            <a:r>
              <a:t>THE PARADIGM SHIFT:</a:t>
            </a:r>
          </a:p>
          <a:p>
            <a:r>
              <a:t>- Emphasize that this changes WHAT we teach. If 40% of code is AI-generated, students need to learn:</a:t>
            </a:r>
          </a:p>
          <a:p>
            <a:r>
              <a:t>  * How to write specifications that AI can understand</a:t>
            </a:r>
          </a:p>
          <a:p>
            <a:r>
              <a:t>  * How to review and validate AI-generated code</a:t>
            </a:r>
          </a:p>
          <a:p>
            <a:r>
              <a:t>  * How to design systems, not just write functions</a:t>
            </a:r>
          </a:p>
          <a:p>
            <a:r>
              <a:t>  * How to test, govern, and secure AI-generated artifacts</a:t>
            </a:r>
          </a:p>
          <a:p/>
          <a:p>
            <a:r>
              <a:t>- Use the analogy: "Just as calculators changed math education from computation to problem-solving, AI tools are changing CS education from code-writing to system-thinking."</a:t>
            </a:r>
          </a:p>
          <a:p/>
          <a:p>
            <a:r>
              <a:t>INDUSTRY ADOPTION DRIVERS:</a:t>
            </a:r>
          </a:p>
          <a:p>
            <a:r>
              <a:t>1. Developer Productivity: Not about replacing developers -- about amplifying them</a:t>
            </a:r>
          </a:p>
          <a:p>
            <a:r>
              <a:t>2. Quality at Scale: AI doesn't get tired, doesn't forget edge cases (when properly specified)</a:t>
            </a:r>
          </a:p>
          <a:p>
            <a:r>
              <a:t>3. Talent Transformation: The job title stays "software engineer" but the daily work changes</a:t>
            </a:r>
          </a:p>
          <a:p>
            <a:r>
              <a:t>4. Competitive Pressure: Companies that adopt faster ship faster</a:t>
            </a:r>
          </a:p>
          <a:p/>
          <a:p>
            <a:r>
              <a:t>DISCUSSION PROMPT: Ask faculty -- "How many of your students already use ChatGPT or Copilot for assignments? How does your curriculum address this?" This usually generates lively discussion and surfaces the real challenges faculty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4: What is AI-Native Software Development?</a:t>
            </a:r>
          </a:p>
          <a:p>
            <a:r>
              <a:t>------------------------------------------------------------------</a:t>
            </a:r>
          </a:p>
          <a:p>
            <a:r>
              <a:t>This is the foundational slide. Spend time here -- make sure everyone understands the paradigm shift.</a:t>
            </a:r>
          </a:p>
          <a:p/>
          <a:p>
            <a:r>
              <a:t>DEFINITION - Walk through each bullet:</a:t>
            </a:r>
          </a:p>
          <a:p>
            <a:r>
              <a:t>1. "Across the ENTIRE lifecycle" -- not just code completion. AI helps with requirements, design, architecture, testing, deployment, monitoring. Every phase.</a:t>
            </a:r>
          </a:p>
          <a:p>
            <a:r>
              <a:t>2. "Specifications as control mechanism" -- this is THE key insight. In traditional dev, we control quality through code review. In AI-native, we control quality through spec precision.</a:t>
            </a:r>
          </a:p>
          <a:p>
            <a:r>
              <a:t>3. "Humans review intent" -- AI generates, humans validate. The human role shifts from writer to architect and reviewer.</a:t>
            </a:r>
          </a:p>
          <a:p>
            <a:r>
              <a:t>4. "Continuous feedback loops" -- production metrics, bug reports, test failures all feed back to improve specs and generation.</a:t>
            </a:r>
          </a:p>
          <a:p>
            <a:r>
              <a:t>5. "Code is generated" -- this is provocative. Push back expected! Explain: we don't mean ALL code is generated, but the development model treats code as a derived artifact from the spec.</a:t>
            </a:r>
          </a:p>
          <a:p/>
          <a:p>
            <a:r>
              <a:t>AI-ASSISTED vs AI-NATIVE:</a:t>
            </a:r>
          </a:p>
          <a:p>
            <a:r>
              <a:t>- AI-Assisted (where most people are today): You write code, AI helps with autocomplete, suggestions, explanations. The human is still the primary code author.</a:t>
            </a:r>
          </a:p>
          <a:p>
            <a:r>
              <a:t>- AI-Native (where the industry is heading): You write specifications, AI generates code. The human is the architect, reviewer, and governor. Code is regenerable from specs.</a:t>
            </a:r>
          </a:p>
          <a:p>
            <a:r>
              <a:t>- There's a spectrum between these two. Most teams today are somewhere in the middle.</a:t>
            </a:r>
          </a:p>
          <a:p/>
          <a:p>
            <a:r>
              <a:t>CORE PRINCIPLES:</a:t>
            </a:r>
          </a:p>
          <a:p>
            <a:r>
              <a:t>1. Spec-First: The spec is written BEFORE any code. AI helps refine the spec. Once approved, AI generates from it.</a:t>
            </a:r>
          </a:p>
          <a:p>
            <a:r>
              <a:t>2. Human-in-the-Loop: Architectural decisions, security choices, trade-offs -- these require human judgment. AI proposes, humans dispose.</a:t>
            </a:r>
          </a:p>
          <a:p>
            <a:r>
              <a:t>3. Automated Validation: Every generated artifact is automatically tested, scanned, and validated. No manual verification bottleneck.</a:t>
            </a:r>
          </a:p>
          <a:p>
            <a:r>
              <a:t>4. Continuous Learning: The system gets better over time. Failed tests improve specs. Production bugs improve generation.</a:t>
            </a:r>
          </a:p>
          <a:p/>
          <a:p>
            <a:r>
              <a:t>DISCUSSION: "If code is generated from specs, what skills do your students need to learn? What becomes more important? What becomes less important?"</a:t>
            </a:r>
          </a:p>
          <a:p>
            <a:r>
              <a:t>Answer: Design thinking, specification writing, system architecture, testing strategy, security awareness become MORE important. Syntax memorization, boilerplate writing become LESS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5: Traditional vs AI-Native SDLC</a:t>
            </a:r>
          </a:p>
          <a:p>
            <a:r>
              <a:t>--------------------------------------------------------</a:t>
            </a:r>
          </a:p>
          <a:p>
            <a:r>
              <a:t>Use this comparison table to make the paradigm shift concrete. Walk through each row:</a:t>
            </a:r>
          </a:p>
          <a:p/>
          <a:p>
            <a:r>
              <a:t>1. REQUIREMENTS: Traditional = Word docs with ambiguous language. AI-Native = structured specs with acceptance criteria, edge cases, data types. The spec IS the requirements doc AND the input to code generation.</a:t>
            </a:r>
          </a:p>
          <a:p/>
          <a:p>
            <a:r>
              <a:t>2. DESIGN: Traditional = someone draws UML on a whiteboard, maybe enters in a tool. AI-Native = describe your domain in the spec, AI generates UML class diagrams, sequence diagrams, ER diagrams automatically.</a:t>
            </a:r>
          </a:p>
          <a:p/>
          <a:p>
            <a:r>
              <a:t>3. CODING: This is the biggest shift. Traditional = a developer writes every line. AI-Native = AI generates the implementation from the spec. The developer reviews, adjusts, and approves. Think: spec is the "source code", generated code is the "binary."</a:t>
            </a:r>
          </a:p>
          <a:p/>
          <a:p>
            <a:r>
              <a:t>4. TESTING: Traditional = tests are written AFTER code (often skipped under time pressure). AI-Native = tests are generated FROM the spec BEFORE code. The spec defines what correct behavior looks like; tests verify it.</a:t>
            </a:r>
          </a:p>
          <a:p/>
          <a:p>
            <a:r>
              <a:t>5. CODE REVIEW: Traditional = 2-3 reviewers read every line, days of back-and-forth. AI-Native = AI does the first pass (style, security, patterns), humans focus on architecture, business logic, edge cases.</a:t>
            </a:r>
          </a:p>
          <a:p/>
          <a:p>
            <a:r>
              <a:t>6. CI/CD: Traditional = manually configured pipelines. AI-Native = AI generates pipeline configs, suggests optimal stages, adds intelligent quality gates.</a:t>
            </a:r>
          </a:p>
          <a:p/>
          <a:p>
            <a:r>
              <a:t>7. DOCUMENTATION: Traditional = separate wiki/docs that fall out of sync. AI-Native = docs generated from the same spec, always current.</a:t>
            </a:r>
          </a:p>
          <a:p/>
          <a:p>
            <a:r>
              <a:t>8. SOURCE OF TRUTH: THE KEY ROW. Traditional = "the code is the spec." AI-Native = "the spec is the code." This is the fundamental inversion.</a:t>
            </a:r>
          </a:p>
          <a:p/>
          <a:p>
            <a:r>
              <a:t>EXERCISE PROMPT: "Pick one row where you see the biggest impact on your teaching. Share with your neighbor."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6: AI-Native SDLC Lifecycle</a:t>
            </a:r>
          </a:p>
          <a:p>
            <a:r>
              <a:t>---------------------------------------------------</a:t>
            </a:r>
          </a:p>
          <a:p>
            <a:r>
              <a:t>This diagram shows the continuous cycle of AI-native development. Unlike traditional waterfall (linear) or even agile (iterative but still human-centric), AI-native is a continuous loop where AI participates at every stage.</a:t>
            </a:r>
          </a:p>
          <a:p/>
          <a:p>
            <a:r>
              <a:t>Walk through each stage with a concrete example (use the Task Management API as the running example):</a:t>
            </a:r>
          </a:p>
          <a:p/>
          <a:p>
            <a:r>
              <a:t>1. CAPTURE INTENT: "We need a REST API for managing team tasks with categories, comments, and role-based access."</a:t>
            </a:r>
          </a:p>
          <a:p>
            <a:r>
              <a:t>   - AI helps: "What about audit logging? Soft deletes? Pagination?" AI identifies gaps in requirements.</a:t>
            </a:r>
          </a:p>
          <a:p/>
          <a:p>
            <a:r>
              <a:t>2. WRITE SPECIFICATION: The SDD document you'll work with in the lab. Includes FRs, acceptance criteria, edge cases, data types.</a:t>
            </a:r>
          </a:p>
          <a:p>
            <a:r>
              <a:t>   - This is WHERE THE MAGIC HAPPENS. A well-written spec enables everything downstream.</a:t>
            </a:r>
          </a:p>
          <a:p>
            <a:r>
              <a:t>   - Think of the spec as a "prompt" for the entire project, not just a single code generation.</a:t>
            </a:r>
          </a:p>
          <a:p/>
          <a:p>
            <a:r>
              <a:t>3. AI-ASSISTED DESIGN: From the spec, AI generates:</a:t>
            </a:r>
          </a:p>
          <a:p>
            <a:r>
              <a:t>   - UML class diagrams (Task, User, Category, Comment entities)</a:t>
            </a:r>
          </a:p>
          <a:p>
            <a:r>
              <a:t>   - Sequence diagrams (Create Task flow: Client -&gt; API Gateway -&gt; Service -&gt; DB)</a:t>
            </a:r>
          </a:p>
          <a:p>
            <a:r>
              <a:t>   - API contracts (OpenAPI/Swagger YAML)</a:t>
            </a:r>
          </a:p>
          <a:p>
            <a:r>
              <a:t>   - Database schemas (DDL statements)</a:t>
            </a:r>
          </a:p>
          <a:p/>
          <a:p>
            <a:r>
              <a:t>4. CODE GENERATION: AI generates from the spec AND the design:</a:t>
            </a:r>
          </a:p>
          <a:p>
            <a:r>
              <a:t>   - Entity classes, repository interfaces, service layer, REST controllers</a:t>
            </a:r>
          </a:p>
          <a:p>
            <a:r>
              <a:t>   - DTOs, validators, exception handlers</a:t>
            </a:r>
          </a:p>
          <a:p>
            <a:r>
              <a:t>   - Configuration files (application.yml, Docker Compose)</a:t>
            </a:r>
          </a:p>
          <a:p/>
          <a:p>
            <a:r>
              <a:t>5. AUTOMATED TESTING: Tests generated from the SAME spec:</a:t>
            </a:r>
          </a:p>
          <a:p>
            <a:r>
              <a:t>   - Unit tests for each FR's acceptance criteria</a:t>
            </a:r>
          </a:p>
          <a:p>
            <a:r>
              <a:t>   - Integration tests for API contracts</a:t>
            </a:r>
          </a:p>
          <a:p>
            <a:r>
              <a:t>   - Edge case tests from the spec's "Edge Cases" section</a:t>
            </a:r>
          </a:p>
          <a:p/>
          <a:p>
            <a:r>
              <a:t>6. CI/CD DEPLOY: Pipeline that automatically:</a:t>
            </a:r>
          </a:p>
          <a:p>
            <a:r>
              <a:t>   - Builds the code, runs all tests</a:t>
            </a:r>
          </a:p>
          <a:p>
            <a:r>
              <a:t>   - Runs SonarQube for code quality, Snyk for vulnerabilities</a:t>
            </a:r>
          </a:p>
          <a:p>
            <a:r>
              <a:t>   - Builds Docker image, deploys to staging</a:t>
            </a:r>
          </a:p>
          <a:p/>
          <a:p>
            <a:r>
              <a:t>7. FEEDBACK: Monitor the deployed system:</a:t>
            </a:r>
          </a:p>
          <a:p>
            <a:r>
              <a:t>   - API response times (are we meeting NFRs?)</a:t>
            </a:r>
          </a:p>
          <a:p>
            <a:r>
              <a:t>   - Error rates (are edge cases we missed?)</a:t>
            </a:r>
          </a:p>
          <a:p>
            <a:r>
              <a:t>   - Usage patterns (which endpoints need optimization?)</a:t>
            </a:r>
          </a:p>
          <a:p>
            <a:r>
              <a:t>   - Feed all this back into the spec for the next iteration.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7: AI Tool Ecosystem</a:t>
            </a:r>
          </a:p>
          <a:p>
            <a:r>
              <a:t>----------------------------------------------------------------------</a:t>
            </a:r>
          </a:p>
          <a:p>
            <a:r>
              <a:t>This slide gives a bird's-eye view of the AI-powered development tool landscape. The key message: no single tool does everything, so teams build complementary toolchains.</a:t>
            </a:r>
          </a:p>
          <a:p/>
          <a:p>
            <a:r>
              <a:t>TOOL CATEGORIES (walk through each):</a:t>
            </a:r>
          </a:p>
          <a:p>
            <a:r>
              <a:t>1. IDE ASSISTANTS: The most mature category. These integrate directly into your editor.</a:t>
            </a:r>
          </a:p>
          <a:p>
            <a:r>
              <a:t>   - Copilot: The most widely adopted. Works in VS Code, JetBrains, etc. Strong at autocomplete.</a:t>
            </a:r>
          </a:p>
          <a:p>
            <a:r>
              <a:t>   - Cursor: Fork of VS Code, built AI-native. Excels at codebase-aware context and multi-file edits.</a:t>
            </a:r>
          </a:p>
          <a:p>
            <a:r>
              <a:t>   - Windsurf: Cascade model -- understands entire project context, not just current file.</a:t>
            </a:r>
          </a:p>
          <a:p/>
          <a:p>
            <a:r>
              <a:t>2. CHAT/LLM INTERFACES: General-purpose AI for brainstorming, explaining, and prototyping.</a:t>
            </a:r>
          </a:p>
          <a:p>
            <a:r>
              <a:t>   - ChatGPT/Claude: Great for "explain this code," "design this architecture," "write this spec."</a:t>
            </a:r>
          </a:p>
          <a:p>
            <a:r>
              <a:t>   - Devin: Goes beyond chat -- it's an autonomous AI software engineer that can plan, code, test, and deploy.</a:t>
            </a:r>
          </a:p>
          <a:p/>
          <a:p>
            <a:r>
              <a:t>3. WORKFLOW &amp; AGENT FRAMEWORKS: For building custom AI pipelines.</a:t>
            </a:r>
          </a:p>
          <a:p>
            <a:r>
              <a:t>   - LangChain/CrewAI: Orchestrate multiple AI agents to collaborate on complex tasks.</a:t>
            </a:r>
          </a:p>
          <a:p>
            <a:r>
              <a:t>   - This is the "multi-agent" pattern we'll cover later in the session.</a:t>
            </a:r>
          </a:p>
          <a:p/>
          <a:p>
            <a:r>
              <a:t>4. DEVOPS &amp; CI/CD: AI-powered quality assurance in the pipeline.</a:t>
            </a:r>
          </a:p>
          <a:p>
            <a:r>
              <a:t>   - SonarQube AI: Not just static analysis -- AI-powered pattern detection for bugs and security.</a:t>
            </a:r>
          </a:p>
          <a:p>
            <a:r>
              <a:t>   - Snyk AI: Dependency vulnerability scanning with AI-powered fix suggestions.</a:t>
            </a:r>
          </a:p>
          <a:p/>
          <a:p>
            <a:r>
              <a:t>5. CODE REVIEW: Automated first-pass review of pull requests.</a:t>
            </a:r>
          </a:p>
          <a:p>
            <a:r>
              <a:t>   - CodeRabbit: Provides detailed, line-by-line review comments automatically.</a:t>
            </a:r>
          </a:p>
          <a:p>
            <a:r>
              <a:t>   - Copilot PR Review: Summarizes changes, suggests improvements.</a:t>
            </a:r>
          </a:p>
          <a:p/>
          <a:p>
            <a:r>
              <a:t>COMPARISON TABLE: Discuss when to use which IDE assistant:</a:t>
            </a:r>
          </a:p>
          <a:p>
            <a:r>
              <a:t>- Copilot: Best for individual line/function completion. Works everywhere.</a:t>
            </a:r>
          </a:p>
          <a:p>
            <a:r>
              <a:t>- Cursor: Best when you need to refactor across multiple files or generate a complete feature.</a:t>
            </a:r>
          </a:p>
          <a:p>
            <a:r>
              <a:t>- Devin/Windsurf: Best for greenfield features or when you have a clear spec and want end-to-end generation.</a:t>
            </a:r>
          </a:p>
          <a:p/>
          <a:p>
            <a:r>
              <a:t>FACULTY PERSPECTIVE: Encourage faculty to let students use at least 2 different tools so they can compare approaches and understand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8: LLM Capabilities &amp; Limitations</a:t>
            </a:r>
          </a:p>
          <a:p>
            <a:r>
              <a:t>----------------------------------------------------------</a:t>
            </a:r>
          </a:p>
          <a:p>
            <a:r>
              <a:t>This is a critical reality-check slide. Faculty need to understand both what AI can and cannot do reliably.</a:t>
            </a:r>
          </a:p>
          <a:p/>
          <a:p>
            <a:r>
              <a:t>WHAT AI DOES WELL (walk through strengths):</a:t>
            </a:r>
          </a:p>
          <a:p>
            <a:r>
              <a:t>- Pattern generation: AI excels at generating code that follows established patterns (CRUD, MVC, REST).</a:t>
            </a:r>
          </a:p>
          <a:p>
            <a:r>
              <a:t>- Test scaffolding: Given a description of behavior, AI can generate comprehensive test suites.</a:t>
            </a:r>
          </a:p>
          <a:p>
            <a:r>
              <a:t>- Documentation: AI can generate accurate docstrings, README files, and API documentation.</a:t>
            </a:r>
          </a:p>
          <a:p>
            <a:r>
              <a:t>- Refactoring: AI can suggest and implement common refactoring patterns.</a:t>
            </a:r>
          </a:p>
          <a:p>
            <a:r>
              <a:t>- Translation: Converting Python to Java, REST to GraphQL, SQL to NoSQL schemas.</a:t>
            </a:r>
          </a:p>
          <a:p>
            <a:r>
              <a:t>- Configuration: Generating Docker Compose files, GitHub Actions workflows, Terraform configs.</a:t>
            </a:r>
          </a:p>
          <a:p/>
          <a:p>
            <a:r>
              <a:t>WHAT AI STRUGGLES WITH (walk through weaknesses):</a:t>
            </a:r>
          </a:p>
          <a:p>
            <a:r>
              <a:t>- Novel algorithms: If it hasn't seen it in training data, AI will generate plausible-looking but incorrect solutions.</a:t>
            </a:r>
          </a:p>
          <a:p>
            <a:r>
              <a:t>- Complex business logic: Domain-specific rules with many conditions and exceptions -- AI often misses edge cases.</a:t>
            </a:r>
          </a:p>
          <a:p>
            <a:r>
              <a:t>- Security: NEVER trust AI for crypto implementations. AI-generated auth code must be rigorously reviewed.</a:t>
            </a:r>
          </a:p>
          <a:p>
            <a:r>
              <a:t>- Performance: AI doesn't understand your specific scale requirements or hardware constraints.</a:t>
            </a:r>
          </a:p>
          <a:p>
            <a:r>
              <a:t>- Architecture: System-level decisions require understanding trade-offs AI can't fully evaluate.</a:t>
            </a:r>
          </a:p>
          <a:p>
            <a:r>
              <a:t>- Legacy integration: AI doesn't know your specific legacy APIs, data formats, or constraints.</a:t>
            </a:r>
          </a:p>
          <a:p/>
          <a:p>
            <a:r>
              <a:t>CRITICAL THINKING FRAMEWORK:</a:t>
            </a:r>
          </a:p>
          <a:p>
            <a:r>
              <a:t>1. Always Verify: Don't copy-paste AI output. Read every line. Run the tests. Check the edge cases.</a:t>
            </a:r>
          </a:p>
          <a:p>
            <a:r>
              <a:t>2. Provide Context: The difference between mediocre and excellent AI output is context quality.</a:t>
            </a:r>
          </a:p>
          <a:p>
            <a:r>
              <a:t>3. Iterate &amp; Refine: Use AI interactively. First pass, review, refine the prompt, regenerate.</a:t>
            </a:r>
          </a:p>
          <a:p>
            <a:r>
              <a:t>4. Know the Boundaries: This is the most important skill to teach students.</a:t>
            </a:r>
          </a:p>
          <a:p/>
          <a:p>
            <a:r>
              <a:t>TEACHING IMPLICATION: Students should learn to critically evaluate AI output -- this is a new meta-skill that didn't exist before. Consider adding "AI output review" as an assessment criterion in your courses.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9: Spec-Driven Development (SDD) Methodology</a:t>
            </a:r>
          </a:p>
          <a:p>
            <a:r>
              <a:t>----------------------------------------------------------------------</a:t>
            </a:r>
          </a:p>
          <a:p>
            <a:r>
              <a:t>This is the CORE METHODOLOGY slide. Everything in the workshop builds on this concept.</a:t>
            </a:r>
          </a:p>
          <a:p/>
          <a:p>
            <a:r>
              <a:t>WHAT IS SDD:</a:t>
            </a:r>
          </a:p>
          <a:p>
            <a:r>
              <a:t>- SDD inverts the traditional workflow. Instead of: think -&gt; code -&gt; test -&gt; document</a:t>
            </a:r>
          </a:p>
          <a:p>
            <a:r>
              <a:t>- SDD says: think -&gt; SPECIFY -&gt; generate code -&gt; generate tests -&gt; validate</a:t>
            </a:r>
          </a:p>
          <a:p>
            <a:r>
              <a:t>- The specification is the primary development artifact, not the code.</a:t>
            </a:r>
          </a:p>
          <a:p/>
          <a:p>
            <a:r>
              <a:t>WHY THIS MATTERS:</a:t>
            </a:r>
          </a:p>
          <a:p>
            <a:r>
              <a:t>- Analogy for faculty: "Think of the spec as a detailed blueprint. A good blueprint allows any contractor to build the house correctly. A good spec allows any AI tool to generate the code correctly."</a:t>
            </a:r>
          </a:p>
          <a:p>
            <a:r>
              <a:t>- The spec captures INTENT and CONSTRAINTS. AI handles the translation to code.</a:t>
            </a:r>
          </a:p>
          <a:p/>
          <a:p>
            <a:r>
              <a:t>SDD WORKFLOW (walk through the 6 stages):</a:t>
            </a:r>
          </a:p>
          <a:p>
            <a:r>
              <a:t>1. Define Requirements: What does the customer need? What problem are we solving?</a:t>
            </a:r>
          </a:p>
          <a:p>
            <a:r>
              <a:t>2. Write Specification: Structured document with FRs, NFRs, acceptance criteria, edge cases</a:t>
            </a:r>
          </a:p>
          <a:p>
            <a:r>
              <a:t>3. Review &amp; Approve: Human experts review the spec for completeness, correctness, feasibility</a:t>
            </a:r>
          </a:p>
          <a:p>
            <a:r>
              <a:t>4. Generate Code: AI generates implementation from the approved spec</a:t>
            </a:r>
          </a:p>
          <a:p>
            <a:r>
              <a:t>5. Generate Tests: AI generates test cases from the same spec's acceptance criteria</a:t>
            </a:r>
          </a:p>
          <a:p>
            <a:r>
              <a:t>6. Run &amp; Validate: Execute tests, run security scans, validate against the spec</a:t>
            </a:r>
          </a:p>
          <a:p/>
          <a:p>
            <a:r>
              <a:t>ANATOMY OF A SPEC:</a:t>
            </a:r>
          </a:p>
          <a:p>
            <a:r>
              <a:t>Walk through each section briefly. Emphasize that each section serves a specific purpose in AI code generation:</a:t>
            </a:r>
          </a:p>
          <a:p>
            <a:r>
              <a:t>- FRs tell AI WHAT to build</a:t>
            </a:r>
          </a:p>
          <a:p>
            <a:r>
              <a:t>- NFRs tell AI HOW WELL to build it</a:t>
            </a:r>
          </a:p>
          <a:p>
            <a:r>
              <a:t>- Acceptance criteria tell AI WHAT TO TEST</a:t>
            </a:r>
          </a:p>
          <a:p>
            <a:r>
              <a:t>- Edge cases tell AI WHAT COULD GO WRONG</a:t>
            </a:r>
          </a:p>
          <a:p>
            <a:r>
              <a:t>- Domain model tells AI the DATA STRUCTURE</a:t>
            </a:r>
          </a:p>
          <a:p>
            <a:r>
              <a:t>- API contract tells AI the INTERFACE</a:t>
            </a:r>
          </a:p>
          <a:p>
            <a:r>
              <a:t>- Test strategy tells AI HOW TO VERIFY</a:t>
            </a:r>
          </a:p>
          <a:p/>
          <a:p>
            <a:r>
              <a:t>KEY INSIGHT: "A 10x improvement in spec quality leads to a 10x improvement in generated code quality." This is the leverage point of AI-native development.</a:t>
            </a:r>
          </a:p>
          <a:p/>
          <a:p>
            <a:r>
              <a:t>EXERCISE: In the practical lab, participants will write a spec section and immediately see how it influences AI code generation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10: Writing an Executable Specification</a:t>
            </a:r>
          </a:p>
          <a:p>
            <a:r>
              <a:t>--------------------------------------------------------------</a:t>
            </a:r>
          </a:p>
          <a:p>
            <a:r>
              <a:t>This slide bridges from theory to practice. Show participants what a real spec looks like.</a:t>
            </a:r>
          </a:p>
          <a:p/>
          <a:p>
            <a:r>
              <a:t>THE EXAMPLE SPEC:</a:t>
            </a:r>
          </a:p>
          <a:p>
            <a:r>
              <a:t>Walk through FR-1 (Create Task) line by line:</a:t>
            </a:r>
          </a:p>
          <a:p>
            <a:r>
              <a:t>- Title: Clear, action-oriented. "Create a New Task" not "Task Creation Module"</a:t>
            </a:r>
          </a:p>
          <a:p>
            <a:r>
              <a:t>- Description: One paragraph explaining WHAT and WHY.</a:t>
            </a:r>
          </a:p>
          <a:p>
            <a:r>
              <a:t>- Acceptance Criteria: Numbered, specific, testable. Each one becomes a test case.</a:t>
            </a:r>
          </a:p>
          <a:p>
            <a:r>
              <a:t>  * Criterion 3 says "3-200 characters" -- this DIRECTLY generates validation code.</a:t>
            </a:r>
          </a:p>
          <a:p>
            <a:r>
              <a:t>  * Criterion 4 lists enum values -- AI generates the exact enum from this.</a:t>
            </a:r>
          </a:p>
          <a:p>
            <a:r>
              <a:t>  * Criterion 5 says "must exist if provided" -- AI generates a DB lookup.</a:t>
            </a:r>
          </a:p>
          <a:p>
            <a:r>
              <a:t>- Edge Cases: These are CRITICAL. Without them, AI generates only happy-path code.</a:t>
            </a:r>
          </a:p>
          <a:p>
            <a:r>
              <a:t>  * "Empty title -&gt; 400" becomes a validation test.</a:t>
            </a:r>
          </a:p>
          <a:p>
            <a:r>
              <a:t>  * "Invalid category -&gt; 400 'Category not found'" becomes both a lookup and a specific error message.</a:t>
            </a:r>
          </a:p>
          <a:p/>
          <a:p>
            <a:r>
              <a:t>BEST PRACTICES (discuss each):</a:t>
            </a:r>
          </a:p>
          <a:p>
            <a:r>
              <a:t>1. Be Specific: Vague specs = vague code. "A number" could be int, float, BigDecimal, String.</a:t>
            </a:r>
          </a:p>
          <a:p>
            <a:r>
              <a:t>2. Define Boundaries: AI needs to know limits. Without "max 200 chars," it might not add validation.</a:t>
            </a:r>
          </a:p>
          <a:p>
            <a:r>
              <a:t>3. Cover Error Paths: This is where most specs fall short. EVERY endpoint needs error scenarios.</a:t>
            </a:r>
          </a:p>
          <a:p>
            <a:r>
              <a:t>4. Given/When/Then: "GIVEN an authenticated user, WHEN they POST a task with an empty title, THEN the system returns 400 with a validation message."</a:t>
            </a:r>
          </a:p>
          <a:p>
            <a:r>
              <a:t>5. Include Examples: Show actual JSON payloads. AI generates more accurate code from examples than from descriptions.</a:t>
            </a:r>
          </a:p>
          <a:p/>
          <a:p>
            <a:r>
              <a:t>LIVE EXERCISE (if time permits):</a:t>
            </a:r>
          </a:p>
          <a:p>
            <a:r>
              <a:t>Ask participants to write acceptance criteria for FR-2 (View Tasks with Filtering). Compare their specs:</a:t>
            </a:r>
          </a:p>
          <a:p>
            <a:r>
              <a:t>- Did they specify pagination defaults?</a:t>
            </a:r>
          </a:p>
          <a:p>
            <a:r>
              <a:t>- Did they define what happens with invalid filter values?</a:t>
            </a:r>
          </a:p>
          <a:p>
            <a:r>
              <a:t>- Did they specify sort order?</a:t>
            </a:r>
          </a:p>
          <a:p>
            <a:r>
              <a:t>- Did they define the response format?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11: Architecture - Domain Modeling &amp; API Contract</a:t>
            </a:r>
          </a:p>
          <a:p>
            <a:r>
              <a:t>-----------------------------------------------------------------------</a:t>
            </a:r>
          </a:p>
          <a:p>
            <a:r>
              <a:t>Two critical architecture artifacts in SDD: the domain model (UML class diagram) and the API contract (OpenAPI).</a:t>
            </a:r>
          </a:p>
          <a:p/>
          <a:p>
            <a:r>
              <a:t>UML CLASS DIAGRAM:</a:t>
            </a:r>
          </a:p>
          <a:p>
            <a:r>
              <a:t>Walk through each entity:</a:t>
            </a:r>
          </a:p>
          <a:p>
            <a:r>
              <a:t>1. TASK: Central entity. UUID primary key (globally unique). Status and Priority as enums (constrained values). Foreign keys to User and Category.</a:t>
            </a:r>
          </a:p>
          <a:p>
            <a:r>
              <a:t>2. USER: Simple authentication entity. Email uniqueness constraint. Role enum (ADMIN, MEMBER, VIEWER).</a:t>
            </a:r>
          </a:p>
          <a:p>
            <a:r>
              <a:t>3. CATEGORY: Organizational grouping. Tasks belong to categories.</a:t>
            </a:r>
          </a:p>
          <a:p>
            <a:r>
              <a:t>4. COMMENT: Collaboration entity. Many-to-one with both Task and User.</a:t>
            </a:r>
          </a:p>
          <a:p/>
          <a:p>
            <a:r>
              <a:t>Relationships: 1-to-many (User has many Tasks, Task has many Comments, Category has many Tasks).</a:t>
            </a:r>
          </a:p>
          <a:p/>
          <a:p>
            <a:r>
              <a:t>KEY POINT: AI generates these diagrams from natural language descriptions in the spec. The spec says "Task belongs to User (assignee) and Category" and AI generates the entity model with correct FK relationships.</a:t>
            </a:r>
          </a:p>
          <a:p/>
          <a:p>
            <a:r>
              <a:t>API CONTRACT-FIRST DESIGN:</a:t>
            </a:r>
          </a:p>
          <a:p>
            <a:r>
              <a:t>- Define the API interface BEFORE writing any code</a:t>
            </a:r>
          </a:p>
          <a:p>
            <a:r>
              <a:t>- OpenAPI/Swagger is the industry standard for REST API contracts</a:t>
            </a:r>
          </a:p>
          <a:p>
            <a:r>
              <a:t>- Benefits:</a:t>
            </a:r>
          </a:p>
          <a:p>
            <a:r>
              <a:t>  * Frontend and backend teams work in parallel</a:t>
            </a:r>
          </a:p>
          <a:p>
            <a:r>
              <a:t>  * Auto-generate server stubs and client SDKs</a:t>
            </a:r>
          </a:p>
          <a:p>
            <a:r>
              <a:t>  * Contract becomes the testing baseline</a:t>
            </a:r>
          </a:p>
          <a:p>
            <a:r>
              <a:t>  * Documentation is always up-to-date</a:t>
            </a:r>
          </a:p>
          <a:p/>
          <a:p>
            <a:r>
              <a:t>CONTRACT-FIRST WORKFLOW:</a:t>
            </a:r>
          </a:p>
          <a:p>
            <a:r>
              <a:t>1. Write OpenAPI spec (YAML/JSON)</a:t>
            </a:r>
          </a:p>
          <a:p>
            <a:r>
              <a:t>2. Review with stakeholders</a:t>
            </a:r>
          </a:p>
          <a:p>
            <a:r>
              <a:t>3. Generate server stubs (Spring Boot, FastAPI, Express)</a:t>
            </a:r>
          </a:p>
          <a:p>
            <a:r>
              <a:t>4. Implement business logic in the stubs</a:t>
            </a:r>
          </a:p>
          <a:p>
            <a:r>
              <a:t>5. Run contract tests to verify implementation matches the spec</a:t>
            </a:r>
          </a:p>
          <a:p/>
          <a:p>
            <a:r>
              <a:t>TEACHING TIP: Have students write the OpenAPI spec first, generate stubs, then implement. This teaches them to think about interfaces before implementation -- a crucial skill for system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12: AI Code Generation Workflow</a:t>
            </a:r>
          </a:p>
          <a:p>
            <a:r>
              <a:t>--------------------------------------------------------</a:t>
            </a:r>
          </a:p>
          <a:p>
            <a:r>
              <a:t>This is the disciplined workflow for generating code with AI. This is where many teams go wrong -- they try to generate everything at once and get inconsistent, buggy results.</a:t>
            </a:r>
          </a:p>
          <a:p/>
          <a:p>
            <a:r>
              <a:t>THE 6-STEP WORKFLOW:</a:t>
            </a:r>
          </a:p>
          <a:p>
            <a:r>
              <a:t>1. APPROVED SPEC: Start with a reviewed spec. Don't generate from rough notes or verbal descriptions.</a:t>
            </a:r>
          </a:p>
          <a:p>
            <a:r>
              <a:t>2. PROMPT CONSTRUCTION: Build a context-rich prompt. Include the specific FR, acceptance criteria, edge cases, AND any code already generated (entities, interfaces).</a:t>
            </a:r>
          </a:p>
          <a:p>
            <a:r>
              <a:t>3. AI GENERATION: Let the AI generate. Don't interrupt mid-generation.</a:t>
            </a:r>
          </a:p>
          <a:p>
            <a:r>
              <a:t>4. HUMAN REVIEW: Read every line. Check: Does it match the spec? Are edge cases handled? Any security issues?</a:t>
            </a:r>
          </a:p>
          <a:p>
            <a:r>
              <a:t>5. REFACTOR &amp; IMPROVE: Clean up naming, add missing error handling, optimize queries.</a:t>
            </a:r>
          </a:p>
          <a:p>
            <a:r>
              <a:t>6. COMMIT &amp; PUSH: Version control. This triggers CI/CD which validates the code against tests.</a:t>
            </a:r>
          </a:p>
          <a:p/>
          <a:p>
            <a:r>
              <a:t>LAYER-BY-LAYER GENERATION:</a:t>
            </a:r>
          </a:p>
          <a:p>
            <a:r>
              <a:t>Why this order matters:</a:t>
            </a:r>
          </a:p>
          <a:p>
            <a:r>
              <a:t>- Layer 1 (Entities): Foundation. Everything else depends on the data model being correct.</a:t>
            </a:r>
          </a:p>
          <a:p>
            <a:r>
              <a:t>- Layer 2 (Repositories): Data access patterns. Spring Data auto-generates SQL from method names.</a:t>
            </a:r>
          </a:p>
          <a:p>
            <a:r>
              <a:t>- Layer 3 (Services): Business logic. This is where most complexity lives.</a:t>
            </a:r>
          </a:p>
          <a:p>
            <a:r>
              <a:t>- Layer 4 (Controllers): Thin layer mapping HTTP to service calls.</a:t>
            </a:r>
          </a:p>
          <a:p>
            <a:r>
              <a:t>- Layer 5 (Tests): Generated from the same spec. Test each layer independently.</a:t>
            </a:r>
          </a:p>
          <a:p>
            <a:r>
              <a:t>- Layer 6 (Config): Infrastructure as code. Docker, CI/CD, monitoring.</a:t>
            </a:r>
          </a:p>
          <a:p/>
          <a:p>
            <a:r>
              <a:t>ANTI-PATTERN: "Generate the entire application" -- this produces inconsistent code with naming conflicts, missing error handling, and tangled dependencies. Always generate layer-by-layer.</a:t>
            </a:r>
          </a:p>
          <a:p/>
          <a:p>
            <a:r>
              <a:t>LIVE DEMO (if time): Show generating a Task entity from the spec using Cursor or Copilot. Then show generating the TaskRepository interface. Then the TaskService. Each step references the previously generated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13: Code Review &amp; Security</a:t>
            </a:r>
          </a:p>
          <a:p>
            <a:r>
              <a:t>---------------------------------------------------</a:t>
            </a:r>
          </a:p>
          <a:p>
            <a:r>
              <a:t>AI-generated code MUST be reviewed with extra scrutiny for security. AI tools are trained on public repos, many of which contain insecure patterns.</a:t>
            </a:r>
          </a:p>
          <a:p/>
          <a:p>
            <a:r>
              <a:t>CODE REVIEW CHECKLIST:</a:t>
            </a:r>
          </a:p>
          <a:p>
            <a:r>
              <a:t>Walk through each item. For faculty teaching security-conscious development:</a:t>
            </a:r>
          </a:p>
          <a:p>
            <a:r>
              <a:t>1. Spec Fidelity: Compare every acceptance criterion to the code. Missing criteria = missing functionality.</a:t>
            </a:r>
          </a:p>
          <a:p>
            <a:r>
              <a:t>2. Edge Cases: Each edge case in the spec should have corresponding error handling in the code.</a:t>
            </a:r>
          </a:p>
          <a:p>
            <a:r>
              <a:t>3. Input Validation: AI often validates at the wrong layer. Validation should happen at the boundary (controller) AND in the service layer.</a:t>
            </a:r>
          </a:p>
          <a:p>
            <a:r>
              <a:t>4. SQL Injection: This is the #1 risk with AI code. AI sometimes generates: "SELECT * FROM tasks WHERE status = '" + status + "'" instead of parameterized queries.</a:t>
            </a:r>
          </a:p>
          <a:p>
            <a:r>
              <a:t>5. Auth &amp; AuthZ: AI may generate endpoints without authentication checks. Every endpoint must verify the user's token and role.</a:t>
            </a:r>
          </a:p>
          <a:p>
            <a:r>
              <a:t>6. Error Messages: AI loves helpful error messages like "User admin@example.com not found in database users table" -- this leaks schema info.</a:t>
            </a:r>
          </a:p>
          <a:p>
            <a:r>
              <a:t>7. Logging: AI may log request bodies including passwords, tokens, PII.</a:t>
            </a:r>
          </a:p>
          <a:p>
            <a:r>
              <a:t>8. Dependencies: AI picks well-known libraries, but doesn't check for CVEs.</a:t>
            </a:r>
          </a:p>
          <a:p/>
          <a:p>
            <a:r>
              <a:t>OWASP TOP 10: Focus on the 4 most relevant to AI-generated code:</a:t>
            </a:r>
          </a:p>
          <a:p>
            <a:r>
              <a:t>- Injection: Most common vulnerability in AI-generated code</a:t>
            </a:r>
          </a:p>
          <a:p>
            <a:r>
              <a:t>- Broken Auth: AI generates "looks correct" auth that has subtle gaps</a:t>
            </a:r>
          </a:p>
          <a:p>
            <a:r>
              <a:t>- Sensitive Data: AI doesn't understand what's sensitive in YOUR domain</a:t>
            </a:r>
          </a:p>
          <a:p>
            <a:r>
              <a:t>- Insecure Dependencies: AI picks popular, not necessarily patched, versions</a:t>
            </a:r>
          </a:p>
          <a:p/>
          <a:p>
            <a:r>
              <a:t>AUTOMATED SECURITY PIPELINE:</a:t>
            </a:r>
          </a:p>
          <a:p>
            <a:r>
              <a:t>- SAST (Static Application Security Testing): SonarQube scans source code</a:t>
            </a:r>
          </a:p>
          <a:p>
            <a:r>
              <a:t>- SCA (Software Composition Analysis): Snyk scans dependencies</a:t>
            </a:r>
          </a:p>
          <a:p>
            <a:r>
              <a:t>- DAST (Dynamic Application Security Testing): OWASP ZAP tests running app</a:t>
            </a:r>
          </a:p>
          <a:p>
            <a:r>
              <a:t>- Secrets scanning: GitGuardian catches committed API keys, passwords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14: Testing Strategy</a:t>
            </a:r>
          </a:p>
          <a:p>
            <a:r>
              <a:t>----------------------------------------------</a:t>
            </a:r>
          </a:p>
          <a:p>
            <a:r>
              <a:t>Testing in AI-native development is fundamentally different because tests come from SPECIFICATIONS, not from code.</a:t>
            </a:r>
          </a:p>
          <a:p/>
          <a:p>
            <a:r>
              <a:t>TEST PYRAMID:</a:t>
            </a:r>
          </a:p>
          <a:p>
            <a:r>
              <a:t>- Unit Tests (base): Test individual functions/methods in isolation. Use mocks for dependencies. AI generates these directly from acceptance criteria.</a:t>
            </a:r>
          </a:p>
          <a:p>
            <a:r>
              <a:t>- Integration Tests (middle): Test multiple components together. Verify API contracts, database queries, service interactions.</a:t>
            </a:r>
          </a:p>
          <a:p>
            <a:r>
              <a:t>- E2E Tests (top): Test complete user flows. Browser automation (Playwright) or API-level scenarios.</a:t>
            </a:r>
          </a:p>
          <a:p/>
          <a:p>
            <a:r>
              <a:t>SPEC-TO-TEST MAPPING:</a:t>
            </a:r>
          </a:p>
          <a:p>
            <a:r>
              <a:t>This is the key insight. Walk through each mapping:</a:t>
            </a:r>
          </a:p>
          <a:p>
            <a:r>
              <a:t>1. Acceptance Criterion #1 ("valid request returns created") -&gt; Unit test verifying happy path</a:t>
            </a:r>
          </a:p>
          <a:p>
            <a:r>
              <a:t>2. Criterion #3 ("title 3-200 characters") -&gt; Boundary tests at 2, 3, 200, 201 characters</a:t>
            </a:r>
          </a:p>
          <a:p>
            <a:r>
              <a:t>3. Edge case ("empty title") -&gt; Negative test verifying 400 response</a:t>
            </a:r>
          </a:p>
          <a:p>
            <a:r>
              <a:t>4. NFR ("P95 &lt; 200ms") -&gt; Load test with realistic concurrency</a:t>
            </a:r>
          </a:p>
          <a:p>
            <a:r>
              <a:t>5. API contract ("POST returns 201") -&gt; Integration test against running server</a:t>
            </a:r>
          </a:p>
          <a:p/>
          <a:p>
            <a:r>
              <a:t>THE CODE EXAMPLE:</a:t>
            </a:r>
          </a:p>
          <a:p>
            <a:r>
              <a:t>- This test is generated DIRECTLY from the spec. The assertions match the acceptance criteria.</a:t>
            </a:r>
          </a:p>
          <a:p>
            <a:r>
              <a:t>- AI generated the test method name from the criterion description.</a:t>
            </a:r>
          </a:p>
          <a:p>
            <a:r>
              <a:t>- The DTO matches the API contract in the spec.</a:t>
            </a:r>
          </a:p>
          <a:p>
            <a:r>
              <a:t>- The assertions verify: status code (201), title (input), and default status (OPEN).</a:t>
            </a:r>
          </a:p>
          <a:p/>
          <a:p>
            <a:r>
              <a:t>KEY PRINCIPLE: Tests verify INTENT (what the spec says should happen), not IMPLEMENTATION (how the code does it). This means tests survive code refactoring.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15: CI/CD Pipeline with AI Integration</a:t>
            </a:r>
          </a:p>
          <a:p>
            <a:r>
              <a:t>-----------------------------------------------------------------</a:t>
            </a:r>
          </a:p>
          <a:p>
            <a:r>
              <a:t>This slide shows how AI integrates into the CI/CD pipeline. Walk through the architecture diagram left to right.</a:t>
            </a:r>
          </a:p>
          <a:p/>
          <a:p>
            <a:r>
              <a:t>PIPELINE STAGES:</a:t>
            </a:r>
          </a:p>
          <a:p>
            <a:r>
              <a:t>1. Code Push: Developer pushes code (or AI-generated code) to the repository</a:t>
            </a:r>
          </a:p>
          <a:p>
            <a:r>
              <a:t>2. Build &amp; Compile: Maven/Gradle/npm compiles the code</a:t>
            </a:r>
          </a:p>
          <a:p>
            <a:r>
              <a:t>3. Unit Tests: All unit tests run (generated from spec acceptance criteria)</a:t>
            </a:r>
          </a:p>
          <a:p>
            <a:r>
              <a:t>4. SAST Scan: SonarQube checks for bugs, code smells, security vulnerabilities</a:t>
            </a:r>
          </a:p>
          <a:p>
            <a:r>
              <a:t>5. Integration Tests: Tests against real database (Testcontainers), real HTTP endpoints</a:t>
            </a:r>
          </a:p>
          <a:p>
            <a:r>
              <a:t>6. Container Build: Docker image built with production-ready configuration</a:t>
            </a:r>
          </a:p>
          <a:p>
            <a:r>
              <a:t>7. Deploy Staging: Kubernetes deployment to staging environment</a:t>
            </a:r>
          </a:p>
          <a:p>
            <a:r>
              <a:t>8. Smoke Tests: Basic health check and critical path verification</a:t>
            </a:r>
          </a:p>
          <a:p/>
          <a:p>
            <a:r>
              <a:t>QUALITY GATES:</a:t>
            </a:r>
          </a:p>
          <a:p>
            <a:r>
              <a:t>These are automated checkpoints that BLOCK the pipeline if standards aren't met:</a:t>
            </a:r>
          </a:p>
          <a:p>
            <a:r>
              <a:t>- Gate 1: Test coverage threshold (e.g., 80%). If below, pipeline fails.</a:t>
            </a:r>
          </a:p>
          <a:p>
            <a:r>
              <a:t>- Gate 2: Zero critical security vulnerabilities. One critical = pipeline blocked.</a:t>
            </a:r>
          </a:p>
          <a:p>
            <a:r>
              <a:t>- Gate 3: Code quality metrics within threshold. New technical debt is flagged.</a:t>
            </a:r>
          </a:p>
          <a:p>
            <a:r>
              <a:t>- Gate 4: API contract compliance. Response shapes must match OpenAPI spec.</a:t>
            </a:r>
          </a:p>
          <a:p/>
          <a:p>
            <a:r>
              <a:t>THE YAML EXAMPLE:</a:t>
            </a:r>
          </a:p>
          <a:p>
            <a:r>
              <a:t>Walk through the GitHub Actions file line by line:</a:t>
            </a:r>
          </a:p>
          <a:p>
            <a:r>
              <a:t>- Triggers on push and PR (catches issues before merge)</a:t>
            </a:r>
          </a:p>
          <a:p>
            <a:r>
              <a:t>- Uses Ubuntu runner (consistent, reproducible)</a:t>
            </a:r>
          </a:p>
          <a:p>
            <a:r>
              <a:t>- Java 21 setup (matches spec)</a:t>
            </a:r>
          </a:p>
          <a:p>
            <a:r>
              <a:t>- ./mvnw verify: Compiles AND runs ALL tests in one command</a:t>
            </a:r>
          </a:p>
          <a:p>
            <a:r>
              <a:t>- sonar:sonar: Pushes results to SonarQube for quality analysis</a:t>
            </a:r>
          </a:p>
          <a:p>
            <a:r>
              <a:t>- snyk/actions: Scans all Maven dependencies for known CVEs</a:t>
            </a:r>
          </a:p>
          <a:p>
            <a:r>
              <a:t>- docker build: Creates the deployable artifact</a:t>
            </a:r>
          </a:p>
          <a:p/>
          <a:p>
            <a:r>
              <a:t>AI'S ROLE: Emphasize that AI can:</a:t>
            </a:r>
          </a:p>
          <a:p>
            <a:r>
              <a:t>1. Generate this entire YAML from a description of your tech stack</a:t>
            </a:r>
          </a:p>
          <a:p>
            <a:r>
              <a:t>2. Suggest which tests to run based on which files changed (intelligent test selection)</a:t>
            </a:r>
          </a:p>
          <a:p>
            <a:r>
              <a:t>3. Auto-suggest fixes when scans find issues</a:t>
            </a:r>
          </a:p>
          <a:p>
            <a:r>
              <a:t>4. Recommend deployment strategies based on risk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16: Performance &amp; Scale Testing</a:t>
            </a:r>
          </a:p>
          <a:p>
            <a:r>
              <a:t>--------------------------------------------------------</a:t>
            </a:r>
          </a:p>
          <a:p>
            <a:r>
              <a:t>AI-generated code often has performance issues because AI optimizes for correctness, not performance.</a:t>
            </a:r>
          </a:p>
          <a:p/>
          <a:p>
            <a:r>
              <a:t>PERFORMANCE RISKS (walk through each):</a:t>
            </a:r>
          </a:p>
          <a:p>
            <a:r>
              <a:t>1. N+1 QUERIES: AI generates: for each task, query the user. Fix: JOIN FETCH or @EntityGraph.</a:t>
            </a:r>
          </a:p>
          <a:p>
            <a:r>
              <a:t>   Example: AI generates taskRepository.findAll() + for each task: userRepository.findById(task.assigneeId)</a:t>
            </a:r>
          </a:p>
          <a:p>
            <a:r>
              <a:t>   Should be: taskRepository.findAllWithAssignees() using a JOIN query.</a:t>
            </a:r>
          </a:p>
          <a:p/>
          <a:p>
            <a:r>
              <a:t>2. MISSING INDEXES: AI creates tables without indexes. Fix: add indexes on FK columns and filter columns.</a:t>
            </a:r>
          </a:p>
          <a:p/>
          <a:p>
            <a:r>
              <a:t>3. OVER-FETCHING: AI uses SELECT * and loads all tasks without pagination. Fix: Spring Data Pageable.</a:t>
            </a:r>
          </a:p>
          <a:p/>
          <a:p>
            <a:r>
              <a:t>4. NO CACHING: Every request hits the DB. Fix: @Cacheable for read-heavy endpoints, Redis for distributed.</a:t>
            </a:r>
          </a:p>
          <a:p/>
          <a:p>
            <a:r>
              <a:t>5. INEFFICIENT SERIALIZATION: AI returns entity objects directly, causing deep serialization of relationships.</a:t>
            </a:r>
          </a:p>
          <a:p/>
          <a:p>
            <a:r>
              <a:t>PERFORMANCE TARGETS: Define measurable, specific targets:</a:t>
            </a:r>
          </a:p>
          <a:p>
            <a:r>
              <a:t>- P95 &lt; 200ms: 95% of requests complete in under 200ms</a:t>
            </a:r>
          </a:p>
          <a:p>
            <a:r>
              <a:t>- Throughput &gt; 500 req/s: System handles 500 requests per second</a:t>
            </a:r>
          </a:p>
          <a:p>
            <a:r>
              <a:t>- 100 concurrent users: System maintains performance under load</a:t>
            </a:r>
          </a:p>
          <a:p>
            <a:r>
              <a:t>- Error rate &lt; 0.1%: Less than 1 in 1000 requests fail</a:t>
            </a:r>
          </a:p>
          <a:p/>
          <a:p>
            <a:r>
              <a:t>THE k6 EXAMPLE: Quick load test script. Key elements:</a:t>
            </a:r>
          </a:p>
          <a:p>
            <a:r>
              <a:t>- vus: 50 virtual users sending requests simultaneously</a:t>
            </a:r>
          </a:p>
          <a:p>
            <a:r>
              <a:t>- duration: 30 seconds of sustained load</a:t>
            </a:r>
          </a:p>
          <a:p>
            <a:r>
              <a:t>- threshold: P95 must be under 500ms or the test FAILS</a:t>
            </a:r>
          </a:p>
          <a:p>
            <a:r>
              <a:t>- The test sends realistic POST requests with proper JSON</a:t>
            </a:r>
          </a:p>
          <a:p/>
          <a:p>
            <a:r>
              <a:t>MONITORING: Three-layer observability:</a:t>
            </a:r>
          </a:p>
          <a:p>
            <a:r>
              <a:t>- OpenTelemetry: Instrument your code (traces, metrics, logs)</a:t>
            </a:r>
          </a:p>
          <a:p>
            <a:r>
              <a:t>- Prometheus: Store and query time-series metrics</a:t>
            </a:r>
          </a:p>
          <a:p>
            <a:r>
              <a:t>- Grafana: Visualize everything in dashboards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17: Multi-Agent AI Development</a:t>
            </a:r>
          </a:p>
          <a:p>
            <a:r>
              <a:t>--------------------------------------------------------------------</a:t>
            </a:r>
          </a:p>
          <a:p>
            <a:r>
              <a:t>This slide introduces multi-agent AI development -- where multiple specialized AI agents collaborate on a software project.</a:t>
            </a:r>
          </a:p>
          <a:p/>
          <a:p>
            <a:r>
              <a:t>WHY MULTI-AGENT:</a:t>
            </a:r>
          </a:p>
          <a:p>
            <a:r>
              <a:t>- Single-prompt generation has limits: context window, task complexity, quality degradation</a:t>
            </a:r>
          </a:p>
          <a:p>
            <a:r>
              <a:t>- Multi-agent breaks the problem into specialized roles</a:t>
            </a:r>
          </a:p>
          <a:p>
            <a:r>
              <a:t>- Each agent is an expert in its domain (requirements, architecture, coding, testing, security, devops)</a:t>
            </a:r>
          </a:p>
          <a:p>
            <a:r>
              <a:t>- The Orchestrator coordinates the workflow, resolves conflicts, maintains shared context</a:t>
            </a:r>
          </a:p>
          <a:p/>
          <a:p>
            <a:r>
              <a:t>ARCHITECTURE:</a:t>
            </a:r>
          </a:p>
          <a:p>
            <a:r>
              <a:t>- Orchestrator: Central coordinator with a planner (decides what to do next) and shared memory (context that all agents can access)</a:t>
            </a:r>
          </a:p>
          <a:p>
            <a:r>
              <a:t>- Each agent has:</a:t>
            </a:r>
          </a:p>
          <a:p>
            <a:r>
              <a:t>  * Specialized prompt/instructions for its role</a:t>
            </a:r>
          </a:p>
          <a:p>
            <a:r>
              <a:t>  * Access to specific tools (e.g., Security Agent has Snyk, OWASP ZAP)</a:t>
            </a:r>
          </a:p>
          <a:p>
            <a:r>
              <a:t>  * Defined permissions (Coding Agent can write code, Security Agent can only read/scan)</a:t>
            </a:r>
          </a:p>
          <a:p>
            <a:r>
              <a:t>  * Clear inputs and outputs</a:t>
            </a:r>
          </a:p>
          <a:p/>
          <a:p>
            <a:r>
              <a:t>AGENT ROLES:</a:t>
            </a:r>
          </a:p>
          <a:p>
            <a:r>
              <a:t>1. Requirements Agent: Takes user stories, generates structured FRs with acceptance criteria. Identifies gaps and asks clarifying questions.</a:t>
            </a:r>
          </a:p>
          <a:p>
            <a:r>
              <a:t>2. Architect Agent: Proposes architectures (monolith vs microservices, SQL vs NoSQL), generates UML diagrams, evaluates trade-offs.</a:t>
            </a:r>
          </a:p>
          <a:p>
            <a:r>
              <a:t>3. Coding Agent: Takes approved spec + architecture, generates code layer-by-layer. Most compute-intensive agent.</a:t>
            </a:r>
          </a:p>
          <a:p>
            <a:r>
              <a:t>4. Testing Agent: Takes the same spec, generates tests. Runs mutation testing to verify test quality. Reports coverage gaps.</a:t>
            </a:r>
          </a:p>
          <a:p>
            <a:r>
              <a:t>5. Security Agent: Scans generated code for OWASP vulnerabilities. Checks dependencies. Reviews auth/authz patterns.</a:t>
            </a:r>
          </a:p>
          <a:p>
            <a:r>
              <a:t>6. DevOps Agent: Generates Dockerfiles, CI/CD pipelines, deployment manifests. Configures monitoring and alerting.</a:t>
            </a:r>
          </a:p>
          <a:p/>
          <a:p>
            <a:r>
              <a:t>REAL-WORLD EXAMPLE: Frameworks like CrewAI, AutoGen, and LangGraph enable this pattern today. The agents communicate through structured messages and shared context.</a:t>
            </a:r>
          </a:p>
          <a:p/>
          <a:p>
            <a:r>
              <a:t>HUMAN CHECKPOINTS: Critical decision points where humans review and approve:</a:t>
            </a:r>
          </a:p>
          <a:p>
            <a:r>
              <a:t>- After requirements: "Is this what we want?"</a:t>
            </a:r>
          </a:p>
          <a:p>
            <a:r>
              <a:t>- After architecture: "Is this the right design?"</a:t>
            </a:r>
          </a:p>
          <a:p>
            <a:r>
              <a:t>- After code generation: "Does this look correct?"</a:t>
            </a:r>
          </a:p>
          <a:p>
            <a:r>
              <a:t>- Before deployment: "Is this safe to deploy?"</a:t>
            </a:r>
          </a:p>
          <a:p/>
          <a:p>
            <a:r>
              <a:t>DISCUSSION: "How could multi-agent systems change software engineering education? Could students design agent teams as a project?"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18: AI Governance &amp; Responsible AI</a:t>
            </a:r>
          </a:p>
          <a:p>
            <a:r>
              <a:t>----------------------------------------------------------------------</a:t>
            </a:r>
          </a:p>
          <a:p>
            <a:r>
              <a:t>This slide covers the governance and ethical dimensions of AI-native development.</a:t>
            </a:r>
          </a:p>
          <a:p/>
          <a:p>
            <a:r>
              <a:t>AI GOVERNANCE FRAMEWORK (four pillars):</a:t>
            </a:r>
          </a:p>
          <a:p>
            <a:r>
              <a:t>1. TRANSPARENCY: Know what AI generated. Log it. Document it. This matters for:</a:t>
            </a:r>
          </a:p>
          <a:p>
            <a:r>
              <a:t>   - Audit compliance (who wrote what)</a:t>
            </a:r>
          </a:p>
          <a:p>
            <a:r>
              <a:t>   - Bug tracking (was this a human error or AI error?)</a:t>
            </a:r>
          </a:p>
          <a:p>
            <a:r>
              <a:t>   - IP management (what was AI-generated vs original work?)</a:t>
            </a:r>
          </a:p>
          <a:p/>
          <a:p>
            <a:r>
              <a:t>2. ACCOUNTABILITY: Humans are accountable for AI output. The AI is a tool, not a decision-maker.</a:t>
            </a:r>
          </a:p>
          <a:p>
            <a:r>
              <a:t>   - Every piece of AI-generated code must have a human reviewer</a:t>
            </a:r>
          </a:p>
          <a:p>
            <a:r>
              <a:t>   - Quality gates enforce standards before code reaches production</a:t>
            </a:r>
          </a:p>
          <a:p>
            <a:r>
              <a:t>   - Clear ownership: the developer who accepted AI output owns it</a:t>
            </a:r>
          </a:p>
          <a:p/>
          <a:p>
            <a:r>
              <a:t>3. SAFETY &amp; SECURITY: AI-generated code can introduce vulnerabilities.</a:t>
            </a:r>
          </a:p>
          <a:p>
            <a:r>
              <a:t>   - SAST/DAST in every pipeline</a:t>
            </a:r>
          </a:p>
          <a:p>
            <a:r>
              <a:t>   - Dependency scanning for known CVEs</a:t>
            </a:r>
          </a:p>
          <a:p>
            <a:r>
              <a:t>   - Regular penetration testing of AI-generated systems</a:t>
            </a:r>
          </a:p>
          <a:p/>
          <a:p>
            <a:r>
              <a:t>4. FAIRNESS &amp; BIAS: AI reflects its training data, which may contain biases.</a:t>
            </a:r>
          </a:p>
          <a:p>
            <a:r>
              <a:t>   - Review generated UX for accessibility</a:t>
            </a:r>
          </a:p>
          <a:p>
            <a:r>
              <a:t>   - Test with diverse datasets</a:t>
            </a:r>
          </a:p>
          <a:p>
            <a:r>
              <a:t>   - Validate AI-suggested defaults (e.g., don't default to English-only)</a:t>
            </a:r>
          </a:p>
          <a:p/>
          <a:p>
            <a:r>
              <a:t>REGULATORY LANDSCAPE:</a:t>
            </a:r>
          </a:p>
          <a:p>
            <a:r>
              <a:t>- NIST AI RMF: US framework. Four functions: Govern, Map, Measure, Manage. Voluntary but influential.</a:t>
            </a:r>
          </a:p>
          <a:p>
            <a:r>
              <a:t>- EU AI Act: Mandatory in EU from 2025. Classifies AI by risk level. Software development tools are generally "limited risk" but AI-generated systems may be "high risk" depending on domain.</a:t>
            </a:r>
          </a:p>
          <a:p>
            <a:r>
              <a:t>- ISO/IEC 42001: International standard for AI management systems. Provides a certifiable framework.</a:t>
            </a:r>
          </a:p>
          <a:p>
            <a:r>
              <a:t>- OWASP AI: Security-focused. Covers prompt injection, training data poisoning, model extraction.</a:t>
            </a:r>
          </a:p>
          <a:p/>
          <a:p>
            <a:r>
              <a:t>TEACHING ANGLE: Faculty should consider adding AI ethics and governance modules to their CS curriculum. Students need to understand:</a:t>
            </a:r>
          </a:p>
          <a:p>
            <a:r>
              <a:t>- Legal implications of using AI-generated code (IP, licensing)</a:t>
            </a:r>
          </a:p>
          <a:p>
            <a:r>
              <a:t>- Ethical responsibilities when deploying AI-generated systems</a:t>
            </a:r>
          </a:p>
          <a:p>
            <a:r>
              <a:t>- How to implement governance controls in their projects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19: Organizational Adoption Roadmap</a:t>
            </a:r>
          </a:p>
          <a:p>
            <a:r>
              <a:t>----------------------------------------------------------------------</a:t>
            </a:r>
          </a:p>
          <a:p>
            <a:r>
              <a:t>This slide provides a practical framework for organizations (and universities) to adopt AI-native practices.</a:t>
            </a:r>
          </a:p>
          <a:p/>
          <a:p>
            <a:r>
              <a:t>MATURITY MODEL:</a:t>
            </a:r>
          </a:p>
          <a:p>
            <a:r>
              <a:t>Level 1 (Ad-hoc): Where most organizations are today. Individual developers use ChatGPT/Copilot informally. No standards, no governance, no measurement.</a:t>
            </a:r>
          </a:p>
          <a:p>
            <a:r>
              <a:t>Level 2 (Guided): Organization standardizes on specific tools. Shared prompt libraries. Basic code review for AI output. This is the MINIMUM target.</a:t>
            </a:r>
          </a:p>
          <a:p>
            <a:r>
              <a:t>Level 3 (Integrated): SDD methodology is the default. AI is embedded in CI/CD. Governance policies enforced. Quality metrics tracked. This is the SWEET SPOT for most teams.</a:t>
            </a:r>
          </a:p>
          <a:p>
            <a:r>
              <a:t>Level 4 (Optimized): Multi-agent systems, full automation, continuous improvement. Only leading-edge organizations achieve this today.</a:t>
            </a:r>
          </a:p>
          <a:p/>
          <a:p>
            <a:r>
              <a:t>FOR ACADEMIC INSTITUTIONS:</a:t>
            </a:r>
          </a:p>
          <a:p>
            <a:r>
              <a:t>- Level 1: "Students use ChatGPT for assignments" (current state)</a:t>
            </a:r>
          </a:p>
          <a:p>
            <a:r>
              <a:t>- Level 2: "We teach structured prompt engineering and review practices"</a:t>
            </a:r>
          </a:p>
          <a:p>
            <a:r>
              <a:t>- Level 3: "Our curriculum includes SDD, AI-assisted development, governance"</a:t>
            </a:r>
          </a:p>
          <a:p>
            <a:r>
              <a:t>- Level 4: "Students build multi-agent systems and contribute to AI tool development"</a:t>
            </a:r>
          </a:p>
          <a:p/>
          <a:p>
            <a:r>
              <a:t>ADOPTION CHALLENGES:</a:t>
            </a:r>
          </a:p>
          <a:p>
            <a:r>
              <a:t>1. Resistance: Faculty may resist changing curriculum. Frame it as evolution, not revolution.</a:t>
            </a:r>
          </a:p>
          <a:p>
            <a:r>
              <a:t>2. Quality: AI output quality is inconsistent. That's WHY we teach review and testing.</a:t>
            </a:r>
          </a:p>
          <a:p>
            <a:r>
              <a:t>3. IP/Legal: Open discussion about academic integrity, plagiarism detection, attribution.</a:t>
            </a:r>
          </a:p>
          <a:p>
            <a:r>
              <a:t>4. Skills: Both faculty and students need new skills. That's what this workshop addresses.</a:t>
            </a:r>
          </a:p>
          <a:p/>
          <a:p>
            <a:r>
              <a:t>SUCCESS FACTORS: Practical advice for implementation.</a:t>
            </a:r>
          </a:p>
          <a:p/>
          <a:p>
            <a:r>
              <a:t>DISCUSSION: "What maturity level is your institution at? What would it take to move to the next level?"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20: Practical Labs Overview</a:t>
            </a:r>
          </a:p>
          <a:p>
            <a:r>
              <a:t>------------------------------------------------------</a:t>
            </a:r>
          </a:p>
          <a:p>
            <a:r>
              <a:t>This slide presents all available lab exercises. Participants choose based on their comfort level.</a:t>
            </a:r>
          </a:p>
          <a:p/>
          <a:p>
            <a:r>
              <a:t>LAB SELECTION GUIDANCE:</a:t>
            </a:r>
          </a:p>
          <a:p>
            <a:r>
              <a:t>- Java/Spring Boot experience -&gt; Lab 1 (Task Management API)</a:t>
            </a:r>
          </a:p>
          <a:p>
            <a:r>
              <a:t>- Python experience -&gt; Lab 2 (Grade Calculator) or Lab 4 (Weather Dashboard)</a:t>
            </a:r>
          </a:p>
          <a:p>
            <a:r>
              <a:t>- JavaScript/Node.js experience -&gt; Lab 3 (E-Commerce Catalog)</a:t>
            </a:r>
          </a:p>
          <a:p>
            <a:r>
              <a:t>- Beginners -&gt; Start with Lab 2 (simplest setup, SQLite, no Docker needed)</a:t>
            </a:r>
          </a:p>
          <a:p/>
          <a:p>
            <a:r>
              <a:t>EVERY LAB FOLLOWS THE SAME SDD WORKFLOW:</a:t>
            </a:r>
          </a:p>
          <a:p>
            <a:r>
              <a:t>1. Read the specification document (provided as markdown)</a:t>
            </a:r>
          </a:p>
          <a:p>
            <a:r>
              <a:t>2. Write/review acceptance criteria for at least one FR</a:t>
            </a:r>
          </a:p>
          <a:p>
            <a:r>
              <a:t>3. Use AI (Cursor/Copilot/Claude) to generate code from the spec</a:t>
            </a:r>
          </a:p>
          <a:p>
            <a:r>
              <a:t>4. Review the generated code against the spec</a:t>
            </a:r>
          </a:p>
          <a:p>
            <a:r>
              <a:t>5. Generate tests from the acceptance criteria</a:t>
            </a:r>
          </a:p>
          <a:p>
            <a:r>
              <a:t>6. Run tests and validate the implementation</a:t>
            </a:r>
          </a:p>
          <a:p/>
          <a:p>
            <a:r>
              <a:t>SETUP REQUIREMENTS:</a:t>
            </a:r>
          </a:p>
          <a:p>
            <a:r>
              <a:t>- Lab 1: Java 21, Maven, Docker (for PostgreSQL), IDE with AI assistant</a:t>
            </a:r>
          </a:p>
          <a:p>
            <a:r>
              <a:t>- Lab 2: Python 3.12, pip, any text editor with AI assistant</a:t>
            </a:r>
          </a:p>
          <a:p>
            <a:r>
              <a:t>- Lab 3: Node.js 20+, npm, MongoDB (or Docker), IDE with AI assistant</a:t>
            </a:r>
          </a:p>
          <a:p>
            <a:r>
              <a:t>- Lab 4: Python 3.12, pip, API key for weather service, any editor</a:t>
            </a:r>
          </a:p>
          <a:p/>
          <a:p>
            <a:r>
              <a:t>FACILITATION TIP: Pair participants who chose the same lab. Have them work in pairs -- one types, one reviews. Swap roles halfway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21: Lab 1 - Task Management REST API</a:t>
            </a:r>
          </a:p>
          <a:p>
            <a:r>
              <a:t>-----------------------------------------------------------</a:t>
            </a:r>
          </a:p>
          <a:p>
            <a:r>
              <a:t>This is the primary lab exercise. Walk through the scope and phases.</a:t>
            </a:r>
          </a:p>
          <a:p/>
          <a:p>
            <a:r>
              <a:t>THE SDD DOCUMENT: Participants receive the complete SDD_Task_Management_API.md file. This is their "source of truth" for the entire lab.</a:t>
            </a:r>
          </a:p>
          <a:p/>
          <a:p>
            <a:r>
              <a:t>PHASE-BY-PHASE GUIDANCE:</a:t>
            </a:r>
          </a:p>
          <a:p>
            <a:r>
              <a:t>Phase 1 (20 min): Entity generation</a:t>
            </a:r>
          </a:p>
          <a:p>
            <a:r>
              <a:t>- Open the SDD, go to Section 5 (Domain Model) and Section 7 (Data Model)</a:t>
            </a:r>
          </a:p>
          <a:p>
            <a:r>
              <a:t>- Use AI: "Generate JPA entities for Task, User, Category, Comment based on this domain model: [paste spec]"</a:t>
            </a:r>
          </a:p>
          <a:p>
            <a:r>
              <a:t>- Review: Check data types, annotations, relationships match the spec</a:t>
            </a:r>
          </a:p>
          <a:p>
            <a:r>
              <a:t>- Generate Spring Data repository interfaces</a:t>
            </a:r>
          </a:p>
          <a:p/>
          <a:p>
            <a:r>
              <a:t>Phase 2 (25 min): Service layer</a:t>
            </a:r>
          </a:p>
          <a:p>
            <a:r>
              <a:t>- Go to Section 2 (Functional Requirements)</a:t>
            </a:r>
          </a:p>
          <a:p>
            <a:r>
              <a:t>- For each FR, generate the corresponding service method</a:t>
            </a:r>
          </a:p>
          <a:p>
            <a:r>
              <a:t>- Key: Include acceptance criteria and edge cases in the prompt</a:t>
            </a:r>
          </a:p>
          <a:p>
            <a:r>
              <a:t>- Review: Verify all validation rules are implemented</a:t>
            </a:r>
          </a:p>
          <a:p/>
          <a:p>
            <a:r>
              <a:t>Phase 3 (20 min): REST controllers</a:t>
            </a:r>
          </a:p>
          <a:p>
            <a:r>
              <a:t>- Go to Section 6 (API Contract)</a:t>
            </a:r>
          </a:p>
          <a:p>
            <a:r>
              <a:t>- Generate controllers with proper request/response DTOs</a:t>
            </a:r>
          </a:p>
          <a:p>
            <a:r>
              <a:t>- Verify HTTP status codes match the spec (201 for create, 200 for list, etc.)</a:t>
            </a:r>
          </a:p>
          <a:p>
            <a:r>
              <a:t>- Check error handling matches the documented edge cases</a:t>
            </a:r>
          </a:p>
          <a:p/>
          <a:p>
            <a:r>
              <a:t>Phase 4 (15 min): Tests</a:t>
            </a:r>
          </a:p>
          <a:p>
            <a:r>
              <a:t>- Go back to Section 2 (acceptance criteria)</a:t>
            </a:r>
          </a:p>
          <a:p>
            <a:r>
              <a:t>- For each criterion, generate a test method</a:t>
            </a:r>
          </a:p>
          <a:p>
            <a:r>
              <a:t>- Use Testcontainers for integration tests with PostgreSQL</a:t>
            </a:r>
          </a:p>
          <a:p/>
          <a:p>
            <a:r>
              <a:t>Phase 5 (10 min): Infrastructure</a:t>
            </a:r>
          </a:p>
          <a:p>
            <a:r>
              <a:t>- Generate Docker Compose with PostgreSQL + app containers</a:t>
            </a:r>
          </a:p>
          <a:p>
            <a:r>
              <a:t>- Generate GitHub Actions CI/CD YAML</a:t>
            </a:r>
          </a:p>
          <a:p/>
          <a:p>
            <a:r>
              <a:t>SUCCESS CRITERIA: At the end of 90 minutes, participants should have:</a:t>
            </a:r>
          </a:p>
          <a:p>
            <a:r>
              <a:t>1. A running Spring Boot API with at least 3 endpoints working</a:t>
            </a:r>
          </a:p>
          <a:p>
            <a:r>
              <a:t>2. At least 5 passing unit tests</a:t>
            </a:r>
          </a:p>
          <a:p>
            <a:r>
              <a:t>3. A Docker Compose file that starts the stack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22: Lab 2 - Student Grade Calculator</a:t>
            </a:r>
          </a:p>
          <a:p>
            <a:r>
              <a:t>-----------------------------------------------------------</a:t>
            </a:r>
          </a:p>
          <a:p>
            <a:r>
              <a:t>This is the simpler, faster lab. Ideal for participants who prefer Python or want a quicker exercise.</a:t>
            </a:r>
          </a:p>
          <a:p/>
          <a:p>
            <a:r>
              <a:t>WHY THIS LAB IS EFFECTIVE:</a:t>
            </a:r>
          </a:p>
          <a:p>
            <a:r>
              <a:t>1. Clear business rules: Grade thresholds are unambiguous. AI can implement them precisely from the spec.</a:t>
            </a:r>
          </a:p>
          <a:p>
            <a:r>
              <a:t>2. Boundary testing: Score of 89 -&gt; B, Score of 90 -&gt; A. These boundaries are perfect for AI-generated tests.</a:t>
            </a:r>
          </a:p>
          <a:p>
            <a:r>
              <a:t>3. Zero setup friction: SQLite requires no installation. pip install fastapi sqlalchemy uvicorn and you're coding.</a:t>
            </a:r>
          </a:p>
          <a:p>
            <a:r>
              <a:t>4. Testable: Every FR has a deterministic, verifiable output.</a:t>
            </a:r>
          </a:p>
          <a:p/>
          <a:p>
            <a:r>
              <a:t>THE GPA CALCULATION (core business logic from the spec):</a:t>
            </a:r>
          </a:p>
          <a:p>
            <a:r>
              <a:t>GPA = sum(grade_points) / count(subjects)</a:t>
            </a:r>
          </a:p>
          <a:p>
            <a:r>
              <a:t>Where grade_points are: A=4.0, B=3.0, C=2.0, D=1.0, F=0.0</a:t>
            </a:r>
          </a:p>
          <a:p/>
          <a:p>
            <a:r>
              <a:t>This is exactly the kind of well-defined logic that AI generates perfectly when given a clear spec.</a:t>
            </a:r>
          </a:p>
          <a:p/>
          <a:p>
            <a:r>
              <a:t>DISCUSSION: Compare the two labs:</a:t>
            </a:r>
          </a:p>
          <a:p>
            <a:r>
              <a:t>- Lab 1 (Task Management): Complex architecture, multiple entities, auth, Docker -- teaches system design</a:t>
            </a:r>
          </a:p>
          <a:p>
            <a:r>
              <a:t>- Lab 2 (Grade Calculator): Simple architecture, rich business logic, thorough testing -- teaches spec-driven TDD</a:t>
            </a:r>
          </a:p>
          <a:p/>
          <a:p>
            <a:r>
              <a:t>Both demonstrate the same SDD methodology but emphasize different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23: Additional Practical Projects</a:t>
            </a:r>
          </a:p>
          <a:p>
            <a:r>
              <a:t>--------------------------------------------------------------</a:t>
            </a:r>
          </a:p>
          <a:p>
            <a:r>
              <a:t>These additional labs provide variety for different skill levels and interests.</a:t>
            </a:r>
          </a:p>
          <a:p/>
          <a:p>
            <a:r>
              <a:t>LAB 3: E-COMMERCE PRODUCT CATALOG</a:t>
            </a:r>
          </a:p>
          <a:p>
            <a:r>
              <a:t>Why Node.js/Express/MongoDB:</a:t>
            </a:r>
          </a:p>
          <a:p>
            <a:r>
              <a:t>- Different tech stack from Labs 1 &amp; 2 (Java, Python)</a:t>
            </a:r>
          </a:p>
          <a:p>
            <a:r>
              <a:t>- MongoDB introduces NoSQL concepts</a:t>
            </a:r>
          </a:p>
          <a:p>
            <a:r>
              <a:t>- Full-text search with MongoDB text indexes</a:t>
            </a:r>
          </a:p>
          <a:p>
            <a:r>
              <a:t>- Aggregation pipelines for analytics (popular products, category stats)</a:t>
            </a:r>
          </a:p>
          <a:p>
            <a:r>
              <a:t>Key learning: How SDD works across different tech stacks</a:t>
            </a:r>
          </a:p>
          <a:p/>
          <a:p>
            <a:r>
              <a:t>LAB 4: WEATHER DASHBOARD</a:t>
            </a:r>
          </a:p>
          <a:p>
            <a:r>
              <a:t>Why Flask + External API:</a:t>
            </a:r>
          </a:p>
          <a:p>
            <a:r>
              <a:t>- Teaches API integration patterns (calling external services)</a:t>
            </a:r>
          </a:p>
          <a:p>
            <a:r>
              <a:t>- Caching strategies (TTL-based, avoid rate limits)</a:t>
            </a:r>
          </a:p>
          <a:p>
            <a:r>
              <a:t>- Error handling for unreliable external services</a:t>
            </a:r>
          </a:p>
          <a:p>
            <a:r>
              <a:t>- Simpler architecture for beginners</a:t>
            </a:r>
          </a:p>
          <a:p>
            <a:r>
              <a:t>Key learning: AI generates both internal logic AND external integration code from specs</a:t>
            </a:r>
          </a:p>
          <a:p/>
          <a:p>
            <a:r>
              <a:t>METHODOLOGY CONSISTENCY:</a:t>
            </a:r>
          </a:p>
          <a:p>
            <a:r>
              <a:t>The key insight is that ALL four labs follow the SAME SDD methodology. The tech stack changes, but the process is identical:</a:t>
            </a:r>
          </a:p>
          <a:p>
            <a:r>
              <a:t>1. Read spec</a:t>
            </a:r>
          </a:p>
          <a:p>
            <a:r>
              <a:t>2. Identify requirements</a:t>
            </a:r>
          </a:p>
          <a:p>
            <a:r>
              <a:t>3. Generate code from spec</a:t>
            </a:r>
          </a:p>
          <a:p>
            <a:r>
              <a:t>4. Review against spec</a:t>
            </a:r>
          </a:p>
          <a:p>
            <a:r>
              <a:t>5. Generate tests from criteria</a:t>
            </a:r>
          </a:p>
          <a:p>
            <a:r>
              <a:t>6. Validate</a:t>
            </a:r>
          </a:p>
          <a:p/>
          <a:p>
            <a:r>
              <a:t>This consistency reinforces the methodology itself, independent of any specific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24: Key Takeaways</a:t>
            </a:r>
          </a:p>
          <a:p>
            <a:r>
              <a:t>----------------------------------------------</a:t>
            </a:r>
          </a:p>
          <a:p>
            <a:r>
              <a:t>Summarize the workshop with these five key messages. Ask participants to reflect on which resonated most.</a:t>
            </a:r>
          </a:p>
          <a:p/>
          <a:p>
            <a:r>
              <a:t>1. PARADIGM SHIFT: This is the most important message. AI-native isn't a tool upgrade -- it's a methodology change. The analogy: automated testing didn't just add a tool; it changed how we think about quality.</a:t>
            </a:r>
          </a:p>
          <a:p/>
          <a:p>
            <a:r>
              <a:t>2. SPECS AS SOURCE OF TRUTH: If participants remember one thing, it should be this. The spec drives everything. Invest in spec quality, and code quality follows.</a:t>
            </a:r>
          </a:p>
          <a:p/>
          <a:p>
            <a:r>
              <a:t>3. AI AS AMPLIFIER: Address the "will AI replace programmers?" fear directly. No. It amplifies them. Like power tools amplify carpenters -- the skill and judgment still matter, but the output scales dramatically.</a:t>
            </a:r>
          </a:p>
          <a:p/>
          <a:p>
            <a:r>
              <a:t>4. QUALITY GATES: AI generates fast, but quality comes from discipline. Automated testing, security scanning, and review gates are MORE important in AI-native because code is generated faster.</a:t>
            </a:r>
          </a:p>
          <a:p/>
          <a:p>
            <a:r>
              <a:t>5. GOVERNANCE: Responsible AI use isn't optional. Students need to learn about IP, ethics, transparency, and accountability alongside the technical skills.</a:t>
            </a:r>
          </a:p>
          <a:p/>
          <a:p>
            <a:r>
              <a:t>NEXT STEPS: Make these concrete and actionable. Each participant should leave with at least one commitment.</a:t>
            </a:r>
          </a:p>
          <a:p/>
          <a:p>
            <a:r>
              <a:t>FEEDBACK: Ask for:</a:t>
            </a:r>
          </a:p>
          <a:p>
            <a:r>
              <a:t>- What worked well?</a:t>
            </a:r>
          </a:p>
          <a:p>
            <a:r>
              <a:t>- What would you change?</a:t>
            </a:r>
          </a:p>
          <a:p>
            <a:r>
              <a:t>- What support do you need to implement this in your curriculum?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25: 1-Month Faculty Project Assignments</a:t>
            </a:r>
          </a:p>
          <a:p>
            <a:r>
              <a:t>----------------------------------------------------------------------</a:t>
            </a:r>
          </a:p>
          <a:p>
            <a:r>
              <a:t>These are the capstone projects that faculty teams will work on over 4 weeks.</a:t>
            </a:r>
          </a:p>
          <a:p/>
          <a:p>
            <a:r>
              <a:t>PROJECT A: UNIVERSITY COURSE REGISTRATION SYSTEM</a:t>
            </a:r>
          </a:p>
          <a:p>
            <a:r>
              <a:t>Why this project:</a:t>
            </a:r>
          </a:p>
          <a:p>
            <a:r>
              <a:t>- Familiar domain for CS faculty -- they understand the requirements intuitively</a:t>
            </a:r>
          </a:p>
          <a:p>
            <a:r>
              <a:t>- Multi-module architecture teaches microservice decomposition</a:t>
            </a:r>
          </a:p>
          <a:p>
            <a:r>
              <a:t>- Concurrent enrollment creates real engineering challenges (race conditions, distributed transactions)</a:t>
            </a:r>
          </a:p>
          <a:p>
            <a:r>
              <a:t>- Prerequisite validation is complex business logic</a:t>
            </a:r>
          </a:p>
          <a:p>
            <a:r>
              <a:t>- Real-world applicability -- could potentially be used at their institution</a:t>
            </a:r>
          </a:p>
          <a:p/>
          <a:p>
            <a:r>
              <a:t>Key challenges for AI-native approach:</a:t>
            </a:r>
          </a:p>
          <a:p>
            <a:r>
              <a:t>- Writing specs for concurrent operations is hard -- teaches precision in specification</a:t>
            </a:r>
          </a:p>
          <a:p>
            <a:r>
              <a:t>- Integration testing across services requires careful contract definition</a:t>
            </a:r>
          </a:p>
          <a:p>
            <a:r>
              <a:t>- The waitlist system has complex state transitions that must be fully specified</a:t>
            </a:r>
          </a:p>
          <a:p/>
          <a:p>
            <a:r>
              <a:t>PROJECT B: SMART LIBRARY MANAGEMENT SYSTEM</a:t>
            </a:r>
          </a:p>
          <a:p>
            <a:r>
              <a:t>Why this project:</a:t>
            </a:r>
          </a:p>
          <a:p>
            <a:r>
              <a:t>- Rich domain with clear business rules (borrowing limits, due dates, fines)</a:t>
            </a:r>
          </a:p>
          <a:p>
            <a:r>
              <a:t>- Recommendation engine introduces basic ML/AI concepts</a:t>
            </a:r>
          </a:p>
          <a:p>
            <a:r>
              <a:t>- Full-text search teaches indexing and query optimization</a:t>
            </a:r>
          </a:p>
          <a:p>
            <a:r>
              <a:t>- Analytics dashboard combines backend with data visualization</a:t>
            </a:r>
          </a:p>
          <a:p/>
          <a:p>
            <a:r>
              <a:t>Key challenges for AI-native approach:</a:t>
            </a:r>
          </a:p>
          <a:p>
            <a:r>
              <a:t>- Fine calculation has many edge cases (weekends, holidays, grace periods)</a:t>
            </a:r>
          </a:p>
          <a:p>
            <a:r>
              <a:t>- Recommendation algorithm needs clear spec for collaborative filtering logic</a:t>
            </a:r>
          </a:p>
          <a:p>
            <a:r>
              <a:t>- Search ranking requires specification of relevance scoring</a:t>
            </a:r>
          </a:p>
          <a:p/>
          <a:p>
            <a:r>
              <a:t>WEEKLY MILESTONES:</a:t>
            </a:r>
          </a:p>
          <a:p>
            <a:r>
              <a:t>Emphasize that Week 1 (spec writing) is THE most important week. A poor spec leads to 3 weeks of struggling. A great spec leads to smooth AI-assisted development.</a:t>
            </a:r>
          </a:p>
          <a:p/>
          <a:p>
            <a:r>
              <a:t>Each milestone has concrete deliverables:</a:t>
            </a:r>
          </a:p>
          <a:p>
            <a:r>
              <a:t>- Week 1: The SDD document IS the deliverable. Review it as a team.</a:t>
            </a:r>
          </a:p>
          <a:p>
            <a:r>
              <a:t>- Week 2: Working endpoints with passing tests. Demo to the group.</a:t>
            </a:r>
          </a:p>
          <a:p>
            <a:r>
              <a:t>- Week 3: Integration tests passing, security scan clean. Show the pipeline.</a:t>
            </a:r>
          </a:p>
          <a:p>
            <a:r>
              <a:t>- Week 4: Full system deployed, load tested, documented. Final presentation.</a:t>
            </a:r>
          </a:p>
          <a:p/>
          <a:p>
            <a:r>
              <a:t>EVALUATION BREAKDOWN:</a:t>
            </a:r>
          </a:p>
          <a:p>
            <a:r>
              <a:t>- SDD Quality (25%): Is the spec complete, precise, testable?</a:t>
            </a:r>
          </a:p>
          <a:p>
            <a:r>
              <a:t>- Code Quality (25%): Clean architecture, proper error handling, security</a:t>
            </a:r>
          </a:p>
          <a:p>
            <a:r>
              <a:t>- Test Coverage (20%): Unit + integration + edge cases</a:t>
            </a:r>
          </a:p>
          <a:p>
            <a:r>
              <a:t>- CI/CD (15%): Automated pipeline with quality gates</a:t>
            </a:r>
          </a:p>
          <a:p>
            <a:r>
              <a:t>- Documentation (15%): API docs, deployment guide, architecture decisions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</a:rPr>
              <a:t>AI-Native Software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BBDEFB"/>
                </a:solidFill>
              </a:rPr>
              <a:t>Theory, Methodology &amp; Hands-On Practical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0CAF9"/>
                </a:solidFill>
              </a:rPr>
              <a:t>Faculty Development Program  |  3-Hour Interactive Workshop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13716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Human
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233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3840480"/>
            <a:ext cx="1371600" cy="82296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Executable
Specification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0233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3840480"/>
            <a:ext cx="137160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AI-Assisted
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0233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840480"/>
            <a:ext cx="137160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Code
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0233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840480"/>
            <a:ext cx="137160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Automated
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40233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840480"/>
            <a:ext cx="137160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CI/CD
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0233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3840480"/>
            <a:ext cx="13716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Continuous
Feedback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29200"/>
            <a:ext cx="1124712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E74B5"/>
                </a:solidFill>
              </a:rPr>
              <a:t>AI-Native = Human Intent  +  Executable Specification  +  AI Generation  +  Automated Validation  + 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7F8C8D"/>
                </a:solidFill>
              </a:rPr>
              <a:t>From foundational concepts to advanced AI-native engineering
Includes guided practical labs, spec-driven development &amp; multi-agent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AI-Native Software Development  |  Faculty Development 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Session Agenda &amp; Learning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36576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Part 1: Theory &amp;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E74B5"/>
                </a:solidFill>
              </a:rPr>
              <a:t>~65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7160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AI-Native concepts &amp;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572768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Spec-driven development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773936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Architecture, testing &amp; CI/CD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7510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Multi-agent &amp; AI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3432"/>
            <a:ext cx="2560320" cy="36576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Break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13432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7F8C8D"/>
                </a:solidFill>
              </a:rPr>
              <a:t>15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07792"/>
            <a:ext cx="256032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Part 2: Guided Practical Labs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07792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7AE60"/>
                </a:solidFill>
              </a:rPr>
              <a:t>~90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907792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Hands-on spec writing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10896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AI code generation &amp;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310128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Testing &amp;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511296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CI/CD pipeline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3716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E74B5"/>
                </a:solidFill>
              </a:rPr>
              <a:t>Learning Outcomes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92024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Understand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9202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AI-Native SDLC vs traditional approaches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42316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42316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Spec-driven development methodology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292608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92608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AI-assisted code generation &amp;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42900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Implement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4290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Automated testing from specifications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393192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93192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CI/CD pipelines with AI quality gates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443484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4348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Multi-agent systems &amp; AI governance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669280"/>
            <a:ext cx="11247120" cy="365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4B5"/>
                </a:solidFill>
              </a:rPr>
              <a:t>Suggested Balance:  40% Concepts &amp; Theory   |   60% Guided Practice &amp; Discussion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3-Hour Interactive Workshop  |  Faculty Development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Why AI-Native Software Development Matters Now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2800" b="1">
                <a:solidFill>
                  <a:srgbClr val="2E74B5"/>
                </a:solidFill>
              </a:rPr>
              <a:t>92%</a:t>
            </a:r>
          </a:p>
          <a:p>
            <a:pPr algn="ctr"/>
            <a:r>
              <a:rPr sz="1000">
                <a:solidFill>
                  <a:srgbClr val="7F8C8D"/>
                </a:solidFill>
              </a:rPr>
              <a:t>of developers use
AI coding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1887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2800" b="1">
                <a:solidFill>
                  <a:srgbClr val="27AE60"/>
                </a:solidFill>
              </a:rPr>
              <a:t>55%</a:t>
            </a:r>
          </a:p>
          <a:p>
            <a:pPr algn="ctr"/>
            <a:r>
              <a:rPr sz="1000">
                <a:solidFill>
                  <a:srgbClr val="7F8C8D"/>
                </a:solidFill>
              </a:rPr>
              <a:t>faster code
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2800" b="1">
                <a:solidFill>
                  <a:srgbClr val="2E86AB"/>
                </a:solidFill>
              </a:rPr>
              <a:t>$50B+</a:t>
            </a:r>
          </a:p>
          <a:p>
            <a:pPr algn="ctr"/>
            <a:r>
              <a:rPr sz="1000">
                <a:solidFill>
                  <a:srgbClr val="7F8C8D"/>
                </a:solidFill>
              </a:rPr>
              <a:t>AI dev tools
market by 2028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1887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2800" b="1">
                <a:solidFill>
                  <a:srgbClr val="8E44AD"/>
                </a:solidFill>
              </a:rPr>
              <a:t>40%</a:t>
            </a:r>
          </a:p>
          <a:p>
            <a:pPr algn="ctr"/>
            <a:r>
              <a:rPr sz="1000">
                <a:solidFill>
                  <a:srgbClr val="7F8C8D"/>
                </a:solidFill>
              </a:rPr>
              <a:t>of new code will be
AI-generated by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E74B5"/>
                </a:solidFill>
              </a:rPr>
              <a:t>The Paradigm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LLMs have reached production-quality code generation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1868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Organizations adopting AI-native see 30-50% faster delivery cycles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1129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Software engineering is evolving from 'writing code' to 'curating intent'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03904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Academic curricula must prepare students for AI-augmented workplaces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9651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Companies that don't adopt risk falling behind in talent and productivity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603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E74B5"/>
                </a:solidFill>
              </a:rPr>
              <a:t>Industry Adoption Drivers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926080"/>
            <a:ext cx="54864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12864" y="2926080"/>
            <a:ext cx="47914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Developer Productivity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 tools reduce boilerplate, accelerate prototyping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3703320"/>
            <a:ext cx="54864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12864" y="3703320"/>
            <a:ext cx="47914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Quality at Scale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Automated testing, review, and security scanning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480560"/>
            <a:ext cx="54864" cy="685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12864" y="4480560"/>
            <a:ext cx="47914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Talent Transformation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Engineers become architects and spec writers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5257800"/>
            <a:ext cx="54864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12864" y="5257800"/>
            <a:ext cx="47914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Competitive Pressure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Faster time-to-market, reduced development costs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Sources: GitHub Survey 2025, Gartner Predictions, McKinsey Digital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is AI-Native Software Development?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E74B5"/>
                </a:solidFill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AI participates across the ENTIRE lifecycle, not just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Specifications become the primary control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3969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Humans review intent, architecture, safety &amp; fitness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32304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Continuous feedback loops improve every iteration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Code is a generated artifact — specs are the source of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E74B5"/>
                </a:solidFill>
              </a:rPr>
              <a:t>Core Principles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00" b="1">
                <a:solidFill>
                  <a:srgbClr val="2E74B5"/>
                </a:solidFill>
              </a:rPr>
              <a:t>Spec-First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7F8C8D"/>
                </a:solidFill>
              </a:rPr>
              <a:t>Specifications before code.
AI refines, humans approve.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56616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00" b="1">
                <a:solidFill>
                  <a:srgbClr val="2E86AB"/>
                </a:solidFill>
              </a:rPr>
              <a:t>Human-in-the-Loop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7F8C8D"/>
                </a:solidFill>
              </a:rPr>
              <a:t>Critical decisions require
human judgment &amp;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56616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00" b="1">
                <a:solidFill>
                  <a:srgbClr val="27AE60"/>
                </a:solidFill>
              </a:rPr>
              <a:t>Automated Validation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7F8C8D"/>
                </a:solidFill>
              </a:rPr>
              <a:t>Tests, scans &amp; CI/CD verify
every generated artifact.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56616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00" b="1">
                <a:solidFill>
                  <a:srgbClr val="8E44AD"/>
                </a:solidFill>
              </a:rPr>
              <a:t>Continuous Learning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7F8C8D"/>
                </a:solidFill>
              </a:rPr>
              <a:t>Feedback from production
improves future generations.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1887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AI-Assisted vs AI-Native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554480"/>
            <a:ext cx="54864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12864" y="1554480"/>
            <a:ext cx="47914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AI-Assisted (Level 1)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 helps with autocomplete &amp; suggestions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Human writes most code, AI fills gaps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377440"/>
            <a:ext cx="54864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12864" y="2377440"/>
            <a:ext cx="47914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AI-Native (Level 3)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 generates from specs; human reviews &amp; governs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Specs are source of truth, code is derived artifact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120640"/>
            <a:ext cx="1124712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E74B5"/>
                </a:solidFill>
              </a:rPr>
              <a:t>AI-Native  =  Human Intent  +  Executable Specification  +  AI Generation  +  Automated Validation  + 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Key Insight: In AI-native development, specifications and tests are MORE important than code itself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Traditional SDLC vs AI-Native SDLC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188720"/>
            <a:ext cx="3840480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Traditional SDLC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188720"/>
            <a:ext cx="4114800" cy="365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AI-Native SDLC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7432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38404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645920"/>
            <a:ext cx="41148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6420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66420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Natural language docs,
often ambiguous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664208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7AE60"/>
                </a:solidFill>
              </a:rPr>
              <a:t>Structured executable specs,
machine-readable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2194560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219456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1284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21284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Manual UML, whiteboard
sketches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212848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7AE60"/>
                </a:solidFill>
              </a:rPr>
              <a:t>AI-generated diagrams from
spec descriptions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43200"/>
            <a:ext cx="27432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2743200"/>
            <a:ext cx="38404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20" y="2743200"/>
            <a:ext cx="41148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6148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Coding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76148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Hand-written by developers
line by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761488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7AE60"/>
                </a:solidFill>
              </a:rPr>
              <a:t>AI-generated from specs,
human-reviewed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91839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0" y="3291839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3291839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310127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310127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Tests written after code,
often incomplete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310127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7AE60"/>
                </a:solidFill>
              </a:rPr>
              <a:t>Tests generated from specs
BEFORE code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40480"/>
            <a:ext cx="27432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74720" y="3840480"/>
            <a:ext cx="38404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89520" y="3840480"/>
            <a:ext cx="41148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85876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Code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385876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Manual peer review,
time-consuming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3858768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7AE60"/>
                </a:solidFill>
              </a:rPr>
              <a:t>AI-assisted review + human
judgment for critical paths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38912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0" y="4389120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89520" y="438912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40740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CI/CD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40740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Manual pipeline config,
basic checks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407408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7AE60"/>
                </a:solidFill>
              </a:rPr>
              <a:t>AI-optimized pipelines with
intelligent quality gates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37759"/>
            <a:ext cx="27432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74720" y="4937759"/>
            <a:ext cx="38404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589520" y="4937759"/>
            <a:ext cx="41148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956047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Documentation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4956047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Written separately, often
outdated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4956047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7AE60"/>
                </a:solidFill>
              </a:rPr>
              <a:t>Auto-generated from specs,
always current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0" y="5486400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589520" y="548640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50468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Source of Truth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66160" y="550468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Code is the source of truth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5504688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7AE60"/>
                </a:solidFill>
              </a:rPr>
              <a:t>Specification is the
source of truth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6035040"/>
            <a:ext cx="11247120" cy="365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7AE60"/>
                </a:solidFill>
              </a:rPr>
              <a:t>Key Insight: In AI-native development, specifications and tests are MORE important than code itself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The shift from code-centric to spec-centric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AI-Native SDLC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2860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1. Capture
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46304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80160"/>
            <a:ext cx="2286000" cy="82296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 Write
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46304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228600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3. AI-Assisted
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46304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280160"/>
            <a:ext cx="228600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4. Generate
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228600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5. Automated
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4320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560320"/>
            <a:ext cx="228600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6. CI/CD
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74320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22860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7. Monitor &amp;
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645920"/>
            <a:ext cx="256032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74B5"/>
                </a:solidFill>
              </a:rPr>
              <a:t>AI-Native
SDLC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What Happens at Each Stage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23360"/>
            <a:ext cx="11247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2E86AB"/>
                </a:solidFill>
              </a:rPr>
              <a:t>Intent Capture:  </a:t>
            </a:r>
            <a:r>
              <a:rPr sz="1000">
                <a:solidFill>
                  <a:srgbClr val="2C3E50"/>
                </a:solidFill>
              </a:rPr>
              <a:t>Stakeholder needs converted to structured requirements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70832"/>
            <a:ext cx="11247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2E74B5"/>
                </a:solidFill>
              </a:rPr>
              <a:t>Specification:  </a:t>
            </a:r>
            <a:r>
              <a:rPr sz="1000">
                <a:solidFill>
                  <a:srgbClr val="2C3E50"/>
                </a:solidFill>
              </a:rPr>
              <a:t>Functional/non-functional reqs, API contracts, acceptance criteria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18304"/>
            <a:ext cx="11247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8E44AD"/>
                </a:solidFill>
              </a:rPr>
              <a:t>AI Design:  </a:t>
            </a:r>
            <a:r>
              <a:rPr sz="1000">
                <a:solidFill>
                  <a:srgbClr val="2C3E50"/>
                </a:solidFill>
              </a:rPr>
              <a:t>Architecture proposals, trade-off analysis, UML generation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65776"/>
            <a:ext cx="11247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27AE60"/>
                </a:solidFill>
              </a:rPr>
              <a:t>Code Generation:  </a:t>
            </a:r>
            <a:r>
              <a:rPr sz="1000">
                <a:solidFill>
                  <a:srgbClr val="2C3E50"/>
                </a:solidFill>
              </a:rPr>
              <a:t>AI generates implementation; humans review &amp; refine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413248"/>
            <a:ext cx="11247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F39C12"/>
                </a:solidFill>
              </a:rPr>
              <a:t>Testing:  </a:t>
            </a:r>
            <a:r>
              <a:rPr sz="1000">
                <a:solidFill>
                  <a:srgbClr val="2C3E50"/>
                </a:solidFill>
              </a:rPr>
              <a:t>Unit, integration, E2E tests generated from specs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760720"/>
            <a:ext cx="11247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E74C3C"/>
                </a:solidFill>
              </a:rPr>
              <a:t>CI/CD Deploy:  </a:t>
            </a:r>
            <a:r>
              <a:rPr sz="1000">
                <a:solidFill>
                  <a:srgbClr val="2C3E50"/>
                </a:solidFill>
              </a:rPr>
              <a:t>Automated build, scan, deploy with quality gates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108192"/>
            <a:ext cx="112471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2E86AB"/>
                </a:solidFill>
              </a:rPr>
              <a:t>Feedback:  </a:t>
            </a:r>
            <a:r>
              <a:rPr sz="1000">
                <a:solidFill>
                  <a:srgbClr val="2C3E50"/>
                </a:solidFill>
              </a:rPr>
              <a:t>Telemetry, bug reports, and metrics feed next 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Each stage involves AI assistance with human oversight at decision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AI Tool Ecosystem for Software Development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Categorized Landscape of AI-Powered Development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508760"/>
            <a:ext cx="54315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IDE Assistants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GitHub Copilot | Cursor | Windsurf | JetBrains AI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Inline code completion, refactoring, chat-in-editor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39"/>
            <a:ext cx="54864" cy="7772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2377439"/>
            <a:ext cx="54315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Chat / LLM Interfaces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ChatGPT | Claude | Gemini | Devin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Conversational coding, explanation, brainstorming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54864" cy="777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3246120"/>
            <a:ext cx="54315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Workflow &amp; Agent Frameworks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LangChain | CrewAI | AutoGen | Semantic Kernel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Orchestrate multi-step AI pipelines &amp; agent teams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54864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4114800"/>
            <a:ext cx="54315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DevOps &amp; CI/CD Intelligence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GitHub Actions AI | SonarQube AI | Snyk AI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Automated quality gates, vulnerability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83479"/>
            <a:ext cx="54864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4983479"/>
            <a:ext cx="54315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Code Review &amp; PR Analysis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CodeRabbit | Copilot PR Review | Qodo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Automated code review, PR summaries, test suggestions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IDE Assistant Comparison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08760"/>
            <a:ext cx="5303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200" b="1">
                <a:solidFill>
                  <a:srgbClr val="2E74B5"/>
                </a:solidFill>
              </a:rPr>
              <a:t>GitHub Copilot</a:t>
            </a:r>
          </a:p>
          <a:p>
            <a:r>
              <a:rPr sz="900">
                <a:solidFill>
                  <a:srgbClr val="7F8C8D"/>
                </a:solidFill>
              </a:rPr>
              <a:t>Strengths: Widest IDE support, strong autocomplete, enterprise features</a:t>
            </a:r>
          </a:p>
          <a:p>
            <a:r>
              <a:rPr sz="900">
                <a:solidFill>
                  <a:srgbClr val="7F8C8D"/>
                </a:solidFill>
              </a:rPr>
              <a:t>Best for: General-purpose coding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88920"/>
            <a:ext cx="5303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200" b="1">
                <a:solidFill>
                  <a:srgbClr val="2E86AB"/>
                </a:solidFill>
              </a:rPr>
              <a:t>Cursor</a:t>
            </a:r>
          </a:p>
          <a:p>
            <a:r>
              <a:rPr sz="900">
                <a:solidFill>
                  <a:srgbClr val="7F8C8D"/>
                </a:solidFill>
              </a:rPr>
              <a:t>Strengths: Codebase-aware context, Composer mode, multi-file edits</a:t>
            </a:r>
          </a:p>
          <a:p>
            <a:r>
              <a:rPr sz="900">
                <a:solidFill>
                  <a:srgbClr val="7F8C8D"/>
                </a:solidFill>
              </a:rPr>
              <a:t>Best for: Complex refactors, full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069079"/>
            <a:ext cx="5303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200" b="1">
                <a:solidFill>
                  <a:srgbClr val="27AE60"/>
                </a:solidFill>
              </a:rPr>
              <a:t>Devin / Windsurf</a:t>
            </a:r>
          </a:p>
          <a:p>
            <a:r>
              <a:rPr sz="900">
                <a:solidFill>
                  <a:srgbClr val="7F8C8D"/>
                </a:solidFill>
              </a:rPr>
              <a:t>Strengths: Autonomous execution, end-to-end implementation, planning loops</a:t>
            </a:r>
          </a:p>
          <a:p>
            <a:r>
              <a:rPr sz="900">
                <a:solidFill>
                  <a:srgbClr val="7F8C8D"/>
                </a:solidFill>
              </a:rPr>
              <a:t>Best for: Complete feature implementation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852160"/>
            <a:ext cx="1124712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E74B5"/>
                </a:solidFill>
              </a:rPr>
              <a:t>Practical Tip:  Use Copilot for quick completions  |  Cursor for complex multi-file work  |  Devin for end-to-end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No single tool covers everything — build a complementary toolchain across categories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LLM Capabilities &amp;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41148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What AI Does 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✓ Code pattern generation &amp; boilerplate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✓ Test scaffolding from descriptions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✓ Documentation &amp; comment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✓ Explaining and summarizing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✓ Refactoring suggestions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✓ CRUD operations &amp; REST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✓ Regex, SQL queries, config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✓ Converting between languages/frameworks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188720"/>
            <a:ext cx="41148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What AI Struggles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9164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✗ Novel / unique algorithms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6596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✗ Complex business logic &amp; domain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4028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✗ Security guarantees &amp; crypto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1460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✗ Performance optimization at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78892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✗ System-level architecture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06324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✗ Cross-service 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33756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✗ Legacy system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1188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✗ Regulatory / compliance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Critical Thinking Framework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54864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" y="4480560"/>
            <a:ext cx="259689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Always Verify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AI-generated code can contain subtle bugs, hallucinated APIs, or security vulnerabilities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4480560"/>
            <a:ext cx="54864" cy="10058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46704" y="4480560"/>
            <a:ext cx="259689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Provide Context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Better input = better output. Include specs, constraints, existing code in prompts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480560"/>
            <a:ext cx="54864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1344" y="4480560"/>
            <a:ext cx="259689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Iterate &amp; Refine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First generation is rarely perfect. Review, adjust prompt, regenerate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4480560"/>
            <a:ext cx="54864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15984" y="4480560"/>
            <a:ext cx="259689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Know the Boundaries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Use AI for what it does well; apply human expertise where it struggles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Golden Rule: Trust but verify — AI is a powerful assistant, not an infallible oracle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Spec-Driven Development (SDD)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E74B5"/>
                </a:solidFill>
              </a:rPr>
              <a:t>What is Spec-Driven Development?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Write a complete, structured specification BEFORE any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Specification includes: FRs, NFRs, acceptance criteria, edge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825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AI generates implementation directly from the specification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40864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Tests are derived from the same spec — spec = single source of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3347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Changes flow through specs, not through code patches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SDD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383280"/>
            <a:ext cx="164592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Define
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5661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3383280"/>
            <a:ext cx="1645920" cy="82296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Write
Specification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661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383280"/>
            <a:ext cx="164592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Review &amp;
Approve Spec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5661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383280"/>
            <a:ext cx="164592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Generate
Code from Spec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5661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383280"/>
            <a:ext cx="164592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Generate
Tests from Spec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5661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3383280"/>
            <a:ext cx="164592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Run &amp;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0972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Anatomy of an SDD Specification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1463040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800" b="1">
                <a:solidFill>
                  <a:srgbClr val="FFFFFF"/>
                </a:solidFill>
              </a:rPr>
              <a:t>1. Functional Requirements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4630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7F8C8D"/>
                </a:solidFill>
              </a:rPr>
              <a:t>What the system must 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1938528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800" b="1">
                <a:solidFill>
                  <a:srgbClr val="FFFFFF"/>
                </a:solidFill>
              </a:rPr>
              <a:t>2. Non-Functional Requirements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193852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7F8C8D"/>
                </a:solidFill>
              </a:rPr>
              <a:t>Performance, security, scalability targets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2414016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800" b="1">
                <a:solidFill>
                  <a:srgbClr val="FFFFFF"/>
                </a:solidFill>
              </a:rPr>
              <a:t>3. Acceptance Criteria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414016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7F8C8D"/>
                </a:solidFill>
              </a:rPr>
              <a:t>Machine-testable conditions (Given/When/Then)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2889504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800" b="1">
                <a:solidFill>
                  <a:srgbClr val="FFFFFF"/>
                </a:solidFill>
              </a:rPr>
              <a:t>4. Edge Cases &amp; Error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889504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7F8C8D"/>
                </a:solidFill>
              </a:rPr>
              <a:t>What happens when things go wrong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3364992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800" b="1">
                <a:solidFill>
                  <a:srgbClr val="FFFFFF"/>
                </a:solidFill>
              </a:rPr>
              <a:t>5. Domain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364992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7F8C8D"/>
                </a:solidFill>
              </a:rPr>
              <a:t>Entities, relationships, constraints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840480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800" b="1">
                <a:solidFill>
                  <a:srgbClr val="FFFFFF"/>
                </a:solidFill>
              </a:rPr>
              <a:t>6. API Contract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384048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7F8C8D"/>
                </a:solidFill>
              </a:rPr>
              <a:t>OpenAPI/Swagger with request/response schemas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4315968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800" b="1">
                <a:solidFill>
                  <a:srgbClr val="FFFFFF"/>
                </a:solidFill>
              </a:rPr>
              <a:t>7. Data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431596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7F8C8D"/>
                </a:solidFill>
              </a:rPr>
              <a:t>Database schema, indexes, migrations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4791456"/>
            <a:ext cx="2743200" cy="2286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800" b="1">
                <a:solidFill>
                  <a:srgbClr val="FFFFFF"/>
                </a:solidFill>
              </a:rPr>
              <a:t>8. Test Strategy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791456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7F8C8D"/>
                </a:solidFill>
              </a:rPr>
              <a:t>Test types, coverage targets, tools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572000"/>
            <a:ext cx="1124712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7AE60"/>
                </a:solidFill>
              </a:rPr>
              <a:t>SDD Principle:  A well-written spec is the highest-leverage artifact in AI-native development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2120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Why SDD Works with AI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486400"/>
            <a:ext cx="54864" cy="6400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2064" y="5486400"/>
            <a:ext cx="351129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Deterministic Input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Same spec → consistent output across re-generations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0" y="5486400"/>
            <a:ext cx="54864" cy="6400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06824" y="5486400"/>
            <a:ext cx="351129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Testable by Design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Acceptance criteria become automated test assertions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5486400"/>
            <a:ext cx="54864" cy="6400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01584" y="5486400"/>
            <a:ext cx="351129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Change Management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Update the spec, regenerate — no manual code archaeology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The spec is to AI-native development what source code is to traditional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Writing an Executable Specification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Example: FR-1 Create Task (from Lab Exercise)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669280" cy="3840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900" b="1">
                <a:solidFill>
                  <a:srgbClr val="2E74B5"/>
                </a:solidFill>
                <a:latin typeface="Consolas"/>
              </a:rPr>
              <a:t>FR-1: Create a New Task</a:t>
            </a:r>
          </a:p>
          <a:p>
            <a:r>
              <a:rPr sz="900">
                <a:solidFill>
                  <a:srgbClr val="2C3E50"/>
                </a:solidFill>
                <a:latin typeface="Consolas"/>
              </a:rPr>
              <a:t>───────────────────────</a:t>
            </a:r>
          </a:p>
          <a:p>
            <a:r>
              <a:rPr sz="900" b="1">
                <a:solidFill>
                  <a:srgbClr val="2E74B5"/>
                </a:solidFill>
                <a:latin typeface="Consolas"/>
              </a:rPr>
              <a:t>Description: Users can create a new task with</a:t>
            </a:r>
          </a:p>
          <a:p>
            <a:r>
              <a:rPr sz="900">
                <a:solidFill>
                  <a:srgbClr val="2C3E50"/>
                </a:solidFill>
                <a:latin typeface="Consolas"/>
              </a:rPr>
              <a:t>title, description, priority, and category.</a:t>
            </a:r>
          </a:p>
          <a:p>
            <a:r>
              <a:rPr sz="900">
                <a:solidFill>
                  <a:srgbClr val="2C3E50"/>
                </a:solidFill>
                <a:latin typeface="Consolas"/>
              </a:rPr>
              <a:t>Status defaults to OPEN.</a:t>
            </a:r>
          </a:p>
          <a:p>
            <a:r>
              <a:rPr sz="900">
                <a:solidFill>
                  <a:srgbClr val="2C3E50"/>
                </a:solidFill>
                <a:latin typeface="Consolas"/>
              </a:rPr>
              <a:t/>
            </a:r>
          </a:p>
          <a:p>
            <a:r>
              <a:rPr sz="900" b="1">
                <a:solidFill>
                  <a:srgbClr val="2E74B5"/>
                </a:solidFill>
                <a:latin typeface="Consolas"/>
              </a:rPr>
              <a:t>Acceptance Criteria:</a:t>
            </a:r>
          </a:p>
          <a:p>
            <a:r>
              <a:rPr sz="900">
                <a:solidFill>
                  <a:srgbClr val="2C3E50"/>
                </a:solidFill>
                <a:latin typeface="Consolas"/>
              </a:rPr>
              <a:t>  1. Valid request → task created with status OPEN</a:t>
            </a:r>
          </a:p>
          <a:p>
            <a:r>
              <a:rPr sz="900">
                <a:solidFill>
                  <a:srgbClr val="2C3E50"/>
                </a:solidFill>
                <a:latin typeface="Consolas"/>
              </a:rPr>
              <a:t>  2. Response includes task ID + creation timestamp</a:t>
            </a:r>
          </a:p>
          <a:p>
            <a:r>
              <a:rPr sz="900">
                <a:solidFill>
                  <a:srgbClr val="2C3E50"/>
                </a:solidFill>
                <a:latin typeface="Consolas"/>
              </a:rPr>
              <a:t>  3. Title: required, 3-200 characters</a:t>
            </a:r>
          </a:p>
          <a:p>
            <a:r>
              <a:rPr sz="900">
                <a:solidFill>
                  <a:srgbClr val="2C3E50"/>
                </a:solidFill>
                <a:latin typeface="Consolas"/>
              </a:rPr>
              <a:t>  4. Priority: LOW | MEDIUM | HIGH (default MEDIUM)</a:t>
            </a:r>
          </a:p>
          <a:p>
            <a:r>
              <a:rPr sz="900">
                <a:solidFill>
                  <a:srgbClr val="2C3E50"/>
                </a:solidFill>
                <a:latin typeface="Consolas"/>
              </a:rPr>
              <a:t>  5. Category ID: optional, must exist if provided</a:t>
            </a:r>
          </a:p>
          <a:p>
            <a:r>
              <a:rPr sz="900">
                <a:solidFill>
                  <a:srgbClr val="2C3E50"/>
                </a:solidFill>
                <a:latin typeface="Consolas"/>
              </a:rPr>
              <a:t/>
            </a:r>
          </a:p>
          <a:p>
            <a:r>
              <a:rPr sz="900" b="1">
                <a:solidFill>
                  <a:srgbClr val="2E74B5"/>
                </a:solidFill>
                <a:latin typeface="Consolas"/>
              </a:rPr>
              <a:t>Edge Cases:</a:t>
            </a:r>
          </a:p>
          <a:p>
            <a:r>
              <a:rPr sz="900">
                <a:solidFill>
                  <a:srgbClr val="2C3E50"/>
                </a:solidFill>
                <a:latin typeface="Consolas"/>
              </a:rPr>
              <a:t>  • Empty title → 400 Bad Request</a:t>
            </a:r>
          </a:p>
          <a:p>
            <a:r>
              <a:rPr sz="900">
                <a:solidFill>
                  <a:srgbClr val="2C3E50"/>
                </a:solidFill>
                <a:latin typeface="Consolas"/>
              </a:rPr>
              <a:t>  • Title &gt; 200 chars → 400 + validation msg</a:t>
            </a:r>
          </a:p>
          <a:p>
            <a:r>
              <a:rPr sz="900">
                <a:solidFill>
                  <a:srgbClr val="2C3E50"/>
                </a:solidFill>
                <a:latin typeface="Consolas"/>
              </a:rPr>
              <a:t>  • Invalid category → 400 "Category not found"</a:t>
            </a:r>
          </a:p>
          <a:p>
            <a:r>
              <a:rPr sz="900">
                <a:solidFill>
                  <a:srgbClr val="2C3E50"/>
                </a:solidFill>
                <a:latin typeface="Consolas"/>
              </a:rPr>
              <a:t>  • Unauthenticated → 401 Unauthorized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Spec Writing Best Practices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4864" cy="822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55664" y="1463040"/>
            <a:ext cx="52486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Be Specific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Use exact data types, ranges, and formats.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'Integer 0-100' not 'a number'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377440"/>
            <a:ext cx="54864" cy="822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55664" y="2377440"/>
            <a:ext cx="52486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Define Boundaries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State min/max values, character limits,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allowed enum values explicitly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291840"/>
            <a:ext cx="54864" cy="822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55664" y="3291840"/>
            <a:ext cx="52486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Cover Error Paths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Every happy path needs corresponding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error scenarios with HTTP status codes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206240"/>
            <a:ext cx="54864" cy="822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55664" y="4206240"/>
            <a:ext cx="52486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Use Given/When/Then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Acceptance criteria should be directly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translatable to test assertions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5120640"/>
            <a:ext cx="54864" cy="822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55664" y="5120640"/>
            <a:ext cx="52486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Include Examples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Provide sample request/response JSON.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 generates better code from examples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A precise spec is the difference between AI generating 'close enough' code and 'production-ready'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Architecture: Domain Model &amp; API Contract-First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UML Class Diagram: Task Management Domain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E74B5"/>
                </a:solidFill>
              </a:rPr>
              <a:t>Task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id: UUID (PK)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title: String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description: Text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status: Enum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priority: Enum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assigneeId: UUID (FK)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categoryId: UUID (FK)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createdAt: DateTime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55448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E74B5"/>
                </a:solidFill>
              </a:rPr>
              <a:t>User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id: UUID (PK)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name: String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email: String (UNIQUE)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role: Enum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createdAt: DateTime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E74B5"/>
                </a:solidFill>
              </a:rPr>
              <a:t>Category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id: UUID (PK)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name: String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description: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11480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E74B5"/>
                </a:solidFill>
              </a:rPr>
              <a:t>Comment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id: UUID (PK)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taskId: UUID (FK)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userId: UUID (FK)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content: Text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createdAt: DateTime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2004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E74C3C"/>
                </a:solidFill>
              </a:rPr>
              <a:t>1    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75488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E74C3C"/>
                </a:solidFill>
              </a:rPr>
              <a:t>1    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Contract-First API Design (OpenAPI)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5303520" cy="29260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800">
                <a:solidFill>
                  <a:srgbClr val="2C3E50"/>
                </a:solidFill>
                <a:latin typeface="Consolas"/>
              </a:rPr>
              <a:t>openapi: 3.0.3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paths: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/api/tasks: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post: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summary: Create a new task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operationId: createTask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requestBody: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  required: true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  content: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    application/json: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      schema: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        $ref: '#/.../CreateTaskDTO'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responses: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  '201':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    description: Task created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  '400':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    description: Validation error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  '401':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    description: Unauthorized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Contract-First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892040"/>
            <a:ext cx="914400" cy="64008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Write
OpenAPI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4892040"/>
            <a:ext cx="91440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Review &amp;
Validate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4892040"/>
            <a:ext cx="91440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Generate
Stubs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4892040"/>
            <a:ext cx="91440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Implement
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07040" y="4892040"/>
            <a:ext cx="9144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Contract
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Domain model + API contract = complete interface specification for AI code generation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AI Code Generation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1645920" cy="7315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Approved
Spec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4173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031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Start with reviewed,
approved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280160"/>
            <a:ext cx="164592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Prompt
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173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031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Build context-rich prompt
with spec + constraints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280160"/>
            <a:ext cx="164592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
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4173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031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AI generates code
from prompt + spec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280160"/>
            <a:ext cx="164592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Human
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4173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031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Developer reviews for
correctness &amp; 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280160"/>
            <a:ext cx="164592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Refactor &amp;
Improve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4173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1031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Clean up, optimize,
handle edge cases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280160"/>
            <a:ext cx="164592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Commit
&amp;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1031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7F8C8D"/>
                </a:solidFill>
              </a:rPr>
              <a:t>Version control +
trigger CI/CD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Best Practices for AI Code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918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Generate ONE component/layer at a time (entity → repository → service → controller)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Review before asking AI for the next layer — errors compound across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404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Keep prompts focused: include relevant spec section + existing code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Prefer generating from spec sections over free-form descriptions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• Use AI to generate tests from the SAME acceptance criteria that drove the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Generation Order (Layer-by-Layer)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20640"/>
            <a:ext cx="1691640" cy="9144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1
Domain Entities
(Task, User, Category)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4560" y="5120640"/>
            <a:ext cx="1691640" cy="914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2
Repository Interfaces
(TaskRepository, etc.)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5120640"/>
            <a:ext cx="169164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3
Service Layer
(Business logic, validation)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5120640"/>
            <a:ext cx="1691640" cy="9144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4
REST Controllers
(Endpoints, DTOs, error handling)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5120640"/>
            <a:ext cx="1691640" cy="914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5
Tests
(Unit, Integration, E2E)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20" y="5120640"/>
            <a:ext cx="169164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Layer 6
Config &amp; CI/CD
(Docker, pipeline YAML)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Disciplined workflow prevents the 'generate-everything-at-once' anti-pattern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Code Review &amp; Security in AI-Native Development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AI Code Review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Spec Fidelity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4630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Does the code implement ALL acceptance criteria?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Edge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47088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Are all documented error paths handled?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31136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Input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31136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Are all inputs validated at boundaries?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SQL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15184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Parameterized queries? No string concatenation?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9923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Auth &amp; AuthZ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99923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Authentication checked? Role permissions enforced?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Error Messages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83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No sensitive data in error responses?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6732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767328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No secrets/PII in logs? Sufficient audit trail?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51376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2C3E50"/>
                </a:solidFill>
              </a:rPr>
              <a:t>☐ Dependencies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151376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Known vulnerabilities in imported libraries?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74C3C"/>
                </a:solidFill>
              </a:rPr>
              <a:t>OWASP Top 10 for AI-Generated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463040"/>
            <a:ext cx="54864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1463040"/>
            <a:ext cx="52486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OWASP: Injection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 may generate string-concatenated SQL. Always use parameterized queries.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54864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55664" y="2468880"/>
            <a:ext cx="52486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OWASP: Broken Auth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AI-generated auth is often incomplete. Verify token validation, session management.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474720"/>
            <a:ext cx="54864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55664" y="3474720"/>
            <a:ext cx="52486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OWASP: Sensitive Data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 may log or expose sensitive fields. Review all error responses and logs.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480560"/>
            <a:ext cx="54864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55664" y="4480560"/>
            <a:ext cx="52486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OWASP: Insecure Dependencies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 picks popular libraries, not necessarily secure ones. Run Snyk/Dependabot.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21208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Automated Security Pipeline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486400"/>
            <a:ext cx="1280160" cy="64008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SAST
SonarQube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5486400"/>
            <a:ext cx="1280160" cy="6400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SCA
Snyk/Dependabot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5486400"/>
            <a:ext cx="128016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DAST
OWASP ZAP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52760" y="5486400"/>
            <a:ext cx="128016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Secrets
GitGuardian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AI generates code quickly — security review ensures it's generated SAFELY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Testing Strategy: From Specification to Tests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Test Pyramid for AI-Native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463040"/>
            <a:ext cx="411480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E2E / UI Tests  —  Few, slow, high 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377440"/>
            <a:ext cx="320040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Integration Tests  —  API contracts, DB queries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291840"/>
            <a:ext cx="228600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Unit Tests  —  Many, fast, isolated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09728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Spec → Test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087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E74B5"/>
                </a:solidFill>
              </a:rPr>
              <a:t>Acceptance Criteria 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50876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50876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C3E50"/>
                </a:solidFill>
              </a:rPr>
              <a:t>Unit test: testCreateTask_validRequest_returnsCreated()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0116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E74B5"/>
                </a:solidFill>
              </a:rPr>
              <a:t>Acceptance Criteria #3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0116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C3E50"/>
                </a:solidFill>
              </a:rPr>
              <a:t>Unit test: testCreateTask_titleTooShort_returns400()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5146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E74B5"/>
                </a:solidFill>
              </a:rPr>
              <a:t>Edge Case: empty title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146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5146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C3E50"/>
                </a:solidFill>
              </a:rPr>
              <a:t>Unit test: testCreateTask_emptyTitle_returns400()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0175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E74B5"/>
                </a:solidFill>
              </a:rPr>
              <a:t>NFR: P95 &lt; 200ms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0175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0175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C3E50"/>
                </a:solidFill>
              </a:rPr>
              <a:t>Load test: k6 scenario with 50 concurrent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5204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E74B5"/>
                </a:solidFill>
              </a:rPr>
              <a:t>API Contract: POST 201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52044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5204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C3E50"/>
                </a:solidFill>
              </a:rPr>
              <a:t>Integration test: POST /api/tasks returns 201 + body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8912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AI-Generated Test Example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6400800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800">
                <a:solidFill>
                  <a:srgbClr val="2C3E50"/>
                </a:solidFill>
                <a:latin typeface="Consolas"/>
              </a:rPr>
              <a:t>@Test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void createTask_validRequest_returnsCreated() {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CreateTaskDTO dto = new CreateTaskDTO("Fix login bug", "HIGH");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ResponseEntity&lt;TaskDTO&gt; response =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  restTemplate.postForEntity("/api/tasks", dto, TaskDTO.class);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/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assertThat(response.getStatusCode()).isEqualTo(HttpStatus.CREATED);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assertThat(response.getBody().getTitle()).isEqualTo("Fix login bug");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assertThat(response.getBody().getStatus()).isEqualTo("OPEN");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4709160"/>
            <a:ext cx="54864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70064" y="4709160"/>
            <a:ext cx="433425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Key Testing Principles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Tests derived from acceptance criteria, not code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Each criterion = at least one test method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Edge cases from spec = negative test cases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 generates test skeleton; human verifies assertions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Tests generated from specs verify INTENT, not just implementation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CI/CD Pipeline with AI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AI-Enhanced CI/CD Pipeline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1463040"/>
            <a:ext cx="1234440" cy="7315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Code
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1463040"/>
            <a:ext cx="123444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Build &amp;
Compile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6459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463040"/>
            <a:ext cx="123444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Unit
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6459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463040"/>
            <a:ext cx="123444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SAST
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6459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463040"/>
            <a:ext cx="123444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Integration
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6459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463040"/>
            <a:ext cx="123444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Container
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16459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463040"/>
            <a:ext cx="123444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Deploy
Staging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164592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24160" y="1463040"/>
            <a:ext cx="123444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Smoke
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468880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E74C3C"/>
                </a:solidFill>
              </a:rPr>
              <a:t>Quality Gates (automated checks that must pass)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88920"/>
            <a:ext cx="54864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" y="2788920"/>
            <a:ext cx="259689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Gate 1: Tests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All unit + integration tests pass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Code coverage &gt; 80%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788920"/>
            <a:ext cx="54864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46704" y="2788920"/>
            <a:ext cx="259689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Gate 2: Security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Zero critical vulnerabilities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Dependency scan clean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788920"/>
            <a:ext cx="54864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344" y="2788920"/>
            <a:ext cx="259689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Gate 3: Quality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SonarQube: no new bugs or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code smells above threshold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788920"/>
            <a:ext cx="54864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15984" y="2788920"/>
            <a:ext cx="259689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Gate 4: Contract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API responses match OpenAPI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contract specification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93192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GitHub Actions CI/CD (AI-generated)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06240"/>
            <a:ext cx="548640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800">
                <a:solidFill>
                  <a:srgbClr val="2C3E50"/>
                </a:solidFill>
                <a:latin typeface="Consolas"/>
              </a:rPr>
              <a:t>name: ai-native-ci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on: [push, pull_request]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jobs: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build-test-scan: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runs-on: ubuntu-latest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steps: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- uses: actions/checkout@v4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- uses: actions/setup-java@v4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  with: { java-version: '21' }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- run: ./mvnw verify        # Build + test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- run: ./mvnw sonar:sonar   # Code quality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- uses: snyk/actions/maven@v1  # Dep scan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  - run: docker build -t app .   # Container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93192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How AI Enhances CI/CD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206240"/>
            <a:ext cx="54864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55664" y="4206240"/>
            <a:ext cx="52486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Pipeline Generation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 generates entire workflow YAML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from architecture decisions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983479"/>
            <a:ext cx="54864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55664" y="4983479"/>
            <a:ext cx="52486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Intelligent Test Selection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 identifies which tests to run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based on changed files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760720"/>
            <a:ext cx="54864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55664" y="5760720"/>
            <a:ext cx="52486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Auto-Fix Suggestions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 suggests fixes for failed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security scans or lint violations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6537959"/>
            <a:ext cx="54864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55664" y="6537959"/>
            <a:ext cx="52486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Deploy Decision Support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 analyzes metrics to recommend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canary % or rollback decisions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AI generates the pipeline | Quality gates enforce standards | Humans approve production deployments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Performance &amp; Scale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74C3C"/>
                </a:solidFill>
              </a:rPr>
              <a:t>Performance Risks in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463040"/>
            <a:ext cx="5614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N+1 Query Patterns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 generates loops with individual DB queries instead of JOINs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2103120"/>
            <a:ext cx="5614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Missing Indexes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No indexes on frequently queried columns (status, assigneeId)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743200"/>
            <a:ext cx="5614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Over-Fetching Data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SELECT * instead of specific columns; no pagination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79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3383279"/>
            <a:ext cx="5614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No Caching Strategy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Every request hits the database; no Redis/in-memory cache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4023360"/>
            <a:ext cx="56144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Inefficient Serialization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Deep object graphs serialized without DTOs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Performance Testing Approach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463040"/>
            <a:ext cx="128016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P95 Latency
&lt; 200ms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463040"/>
            <a:ext cx="1280160" cy="7315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Throughput
&gt; 500 req/s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463040"/>
            <a:ext cx="128016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Concurrent
100 users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52760" y="1463040"/>
            <a:ext cx="128016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Error Rate
&lt; 0.1%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77440"/>
            <a:ext cx="5486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Monitoring Stack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651760"/>
            <a:ext cx="54864" cy="6400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55664" y="2651760"/>
            <a:ext cx="524865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OpenTelemetry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Distributed tracing &amp;
metrics collection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383280"/>
            <a:ext cx="54864" cy="6400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55664" y="3383280"/>
            <a:ext cx="524865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Prometheus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Time-series metrics
storage &amp; alerting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114800"/>
            <a:ext cx="54864" cy="6400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55664" y="4114800"/>
            <a:ext cx="524865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Grafana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Real-time dashboards
&amp; 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Load Test Example (k6)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29200"/>
            <a:ext cx="5669280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800">
                <a:solidFill>
                  <a:srgbClr val="2C3E50"/>
                </a:solidFill>
                <a:latin typeface="Consolas"/>
              </a:rPr>
              <a:t>import http from 'k6/http';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export const options = {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vus: 50, duration: '30s',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thresholds: { http_req_duration: ['p(95)&lt;500'] }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};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export default function() {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http.post('http://localhost:8080/api/tasks',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JSON.stringify({title:'Test',priority:'HIGH'}),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    {headers:{'Content-Type':'application/json'}});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AI generates load test scripts from your NFRs | Performance testing should run in CI/CD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Multi-Agent AI Development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Multi-Agent 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463040"/>
            <a:ext cx="3657600" cy="7315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Orchestrator (Planner + Shared Memory)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560320"/>
            <a:ext cx="164592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Requirements
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560320"/>
            <a:ext cx="164592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Architect
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560320"/>
            <a:ext cx="164592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Coding
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560320"/>
            <a:ext cx="164592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Testing
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560320"/>
            <a:ext cx="164592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Security
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2560320"/>
            <a:ext cx="164592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DevOps
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Agent Roles &amp; Responsibilities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54864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3886200"/>
            <a:ext cx="54315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Requirements Agent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Analyzes user stories, generates structured FRs/NFRs, validates completeness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886200"/>
            <a:ext cx="54864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3886200"/>
            <a:ext cx="54315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Architect Agent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Proposes architecture, generates UML diagrams, evaluates trade-offs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26280"/>
            <a:ext cx="54864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" y="4526280"/>
            <a:ext cx="54315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Coding Agent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Generates code from specs, implements patterns, refactors existing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526280"/>
            <a:ext cx="54864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4526280"/>
            <a:ext cx="54315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Testing Agent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Generates tests from specs, runs mutation testing, coverage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66360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" y="5166360"/>
            <a:ext cx="54315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Security Agent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SAST/DAST scans, OWASP compliance, dependency vulnerability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166360"/>
            <a:ext cx="54864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2784" y="5166360"/>
            <a:ext cx="54315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DevOps Agent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Generates CI/CD pipelines, Dockerfiles, deployment manifests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943600"/>
            <a:ext cx="1124712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8E44AD"/>
                </a:solidFill>
              </a:rPr>
              <a:t>Key Concept: Agents are specialized, orchestrated, and human-supervised — each has its own tools, permissions, and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Multi-agent = specialized expertise + coordinated workflow + human oversight at decision points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AI Governance &amp; Responsible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AI Governance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9601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463040"/>
            <a:ext cx="561441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Transparency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Document AI usage in development.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Log what was AI-generated vs human-written.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Maintain audit trail of AI decisions.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54864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2514600"/>
            <a:ext cx="561441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Accountability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Human approvers for all AI output.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Clear ownership of generated code.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Review gates before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54864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3566160"/>
            <a:ext cx="561441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Safety &amp; Security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Automated security scanning.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Vulnerability management.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Regular dependency audits.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17720"/>
            <a:ext cx="54864" cy="9601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4617720"/>
            <a:ext cx="561441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Fairness &amp; Bias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Review AI-generated UX for bias.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Test with diverse data sets.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Validate against accessibility standards.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Regulatory &amp; Industry Standards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54864" cy="9601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55664" y="1463040"/>
            <a:ext cx="524865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NIST AI RMF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Risk Management Framework for AI systems.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Govern, Map, Measure, Manage lifecycle.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514600"/>
            <a:ext cx="54864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55664" y="2514600"/>
            <a:ext cx="524865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EU AI Act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Risk-based classification of AI systems.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High-risk requires conformity assessment.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566160"/>
            <a:ext cx="54864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55664" y="3566160"/>
            <a:ext cx="524865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ISO/IEC 42001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 Management System standard.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Requirements for responsible AI practices.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617720"/>
            <a:ext cx="54864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4617720"/>
            <a:ext cx="524865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OWASP AI Security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Top 10 security risks for AI/ML systems.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Prompt injection, data poisoning, model theft.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Organizational AI Readiness Checklist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☐ AI usage policy documented &amp; communicated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9436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☐ Code provenance tracking (AI vs human)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59436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☐ Automated security gates in CI/CD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722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☐ Regular AI output quality audits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61722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☐ Developer training on responsible AI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61722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☐ IP &amp; licensing compliance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AI governance is not optional — it's a regulatory requirement and an ethical imperative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Organizational AI-Native Adoption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AI-Native Maturity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E74C3C"/>
                </a:solidFill>
              </a:rPr>
              <a:t>Level 1
Ad-hoc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F8C8D"/>
                </a:solidFill>
              </a:rPr>
              <a:t>Individual developers use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F8C8D"/>
                </a:solidFill>
              </a:rPr>
              <a:t>AI tools informally.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F8C8D"/>
                </a:solidFill>
              </a:rPr>
              <a:t>No standardization.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1031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46304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F39C12"/>
                </a:solidFill>
              </a:rPr>
              <a:t>Level 2
Guided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F8C8D"/>
                </a:solidFill>
              </a:rPr>
              <a:t>AI tools standardized.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F8C8D"/>
                </a:solidFill>
              </a:rPr>
              <a:t>Prompt libraries shared.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F8C8D"/>
                </a:solidFill>
              </a:rPr>
              <a:t>Basic review processes.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1031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2E74B5"/>
                </a:solidFill>
              </a:rPr>
              <a:t>Level 3
Integrated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F8C8D"/>
                </a:solidFill>
              </a:rPr>
              <a:t>SDD methodology adopted.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F8C8D"/>
                </a:solidFill>
              </a:rPr>
              <a:t>AI in CI/CD pipeline.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F8C8D"/>
                </a:solidFill>
              </a:rPr>
              <a:t>Governance established.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1031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463040"/>
            <a:ext cx="2651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27AE60"/>
                </a:solidFill>
              </a:rPr>
              <a:t>Level 4
Optimized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F8C8D"/>
                </a:solidFill>
              </a:rPr>
              <a:t>Multi-agent systems.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F8C8D"/>
                </a:solidFill>
              </a:rPr>
              <a:t>Full spec-driven workflow.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7F8C8D"/>
                </a:solidFill>
              </a:rPr>
              <a:t>Continuous improvement.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74C3C"/>
                </a:solidFill>
              </a:rPr>
              <a:t>Common Adoption Challenges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54864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4023360"/>
            <a:ext cx="56144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Resistance to Change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Developers fear job displacement.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Frame AI as amplification, not replacement.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09160"/>
            <a:ext cx="54864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" y="4709160"/>
            <a:ext cx="56144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Quality Concerns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 output varies in quality.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Establish review gates and quality metrics.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94960"/>
            <a:ext cx="54864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" y="5394960"/>
            <a:ext cx="56144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IP &amp; Legal Risk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AI-generated code licensing unclear.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Establish IP policies and training data audit.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080760"/>
            <a:ext cx="54864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" y="6080760"/>
            <a:ext cx="561441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Skill Gaps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Teams lack spec-writing and AI-prompting skills.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Invest in training and mentoring.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576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7AE60"/>
                </a:solidFill>
              </a:rPr>
              <a:t>Success Factors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023360"/>
            <a:ext cx="54864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5664" y="4023360"/>
            <a:ext cx="5248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Executive Sponsorship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Leadership commitment to AI-native transformation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617720"/>
            <a:ext cx="54864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55664" y="4617720"/>
            <a:ext cx="5248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Start Small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Pilot with one team, one project, measure 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5212080"/>
            <a:ext cx="54864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55664" y="5212080"/>
            <a:ext cx="5248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Measure Impact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Track: velocity, quality, developer satisfaction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806440"/>
            <a:ext cx="54864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55664" y="5806440"/>
            <a:ext cx="5248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Community of Practice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Internal champions, knowledge sharing, best practices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6400800"/>
            <a:ext cx="54864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55664" y="6400800"/>
            <a:ext cx="5248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Continuous Learning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Regular training, tool updates, methodology evolution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AI-native adoption is a journey, not a destination — start with Level 2, aim for Level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Practical Labs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Practical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Hands-On Lab Exercises (Choose based on comfort level)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657600" cy="32004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Lab 1: Task Management 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08760"/>
            <a:ext cx="1097280" cy="32004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1.5-2 hrs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508760"/>
            <a:ext cx="201168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Intermediate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Tech: Java 21 + Spring Boot + PostgreSQL + 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Full CRUD API with auth, categories, comments, filtering, pagination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6039"/>
            <a:ext cx="365760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Lab 2: Student Grade Calculator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606039"/>
            <a:ext cx="1097280" cy="32004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1-1.5 hrs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606039"/>
            <a:ext cx="201168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Beginner-Intermediate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799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Tech: Python 3.12 + FastAPI + 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399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Grade calculation, GPA computation, class statistics,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365760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Lab 3: E-Commerce Product Catalog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703320"/>
            <a:ext cx="1097280" cy="32004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1.5-2 hrs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3703320"/>
            <a:ext cx="201168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Intermediate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Tech: Node.js + Express + MongoDB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Product CRUD, search/filter, inventory tracking, image URLs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00600"/>
            <a:ext cx="3657600" cy="320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Lab 4: Weather Dashboard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800600"/>
            <a:ext cx="1097280" cy="32004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1-1.5 hrs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4800600"/>
            <a:ext cx="201168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Beginner-Intermediate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663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Tech: Python + Flask + External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949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7F8C8D"/>
                </a:solidFill>
              </a:rPr>
              <a:t>External API integration, data aggregation, caching,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60720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Every Lab Follows the Same SDD Workflow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6035040"/>
            <a:ext cx="1645920" cy="59436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Read
Spec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6126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6035040"/>
            <a:ext cx="1645920" cy="5943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Write
Acceptance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6126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6035040"/>
            <a:ext cx="1645920" cy="5943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Generate
Code (AI)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6126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6035040"/>
            <a:ext cx="1645920" cy="5943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Review &amp;
Refine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6126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6035040"/>
            <a:ext cx="1645920" cy="5943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Generate
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126480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2E74B5"/>
                </a:solidFill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0" y="6035040"/>
            <a:ext cx="1645920" cy="5943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Run &amp;
Validate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All labs use AI tools (Cursor, Copilot, or Claude) for code generation from the provided SDD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Lab 1: Task Management REST API (Java/Spring Boot)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Practical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Project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6 Functional Requirements (CRUD + Categories + Comments)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Role-based access (Admin vs User)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Pagination, filtering, soft deletes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31136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JWT authentication, audit 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4572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Docker Compose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Java 21 + Spring Boot 3.x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PostgreSQL 16 + Spring Data JPA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JUnit 5 + Testcontainers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Docker + GitHub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097280"/>
            <a:ext cx="6858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Implementation Phases (90 min)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463040"/>
            <a:ext cx="54864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1463040"/>
            <a:ext cx="66202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1 (20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Read spec → Generate entities + repository interfaces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240280"/>
            <a:ext cx="54864" cy="685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4064" y="2240280"/>
            <a:ext cx="66202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2 (25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Generate service layer with business logic +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3017520"/>
            <a:ext cx="54864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4064" y="3017520"/>
            <a:ext cx="66202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3 (20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Generate REST controllers, DTOs, error handling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3794760"/>
            <a:ext cx="54864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84064" y="3794760"/>
            <a:ext cx="66202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4 (15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Generate unit + integration tests from acceptance criteria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572000"/>
            <a:ext cx="54864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84064" y="4572000"/>
            <a:ext cx="66202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5 (10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Docker Compose setup + CI/CD pipeline YAML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38912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Key API Endpoints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63440"/>
            <a:ext cx="4114800" cy="1645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800">
                <a:solidFill>
                  <a:srgbClr val="2C3E50"/>
                </a:solidFill>
                <a:latin typeface="Consolas"/>
              </a:rPr>
              <a:t>POST   /api/tasks          Create task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GET    /api/tasks          List + filter + paginate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GET    /api/tasks/{id}     Get task by ID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PUT    /api/tasks/{id}     Update task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DELETE /api/tasks/{id}     Soft delete task</a:t>
            </a:r>
          </a:p>
          <a:p>
            <a:r>
              <a:rPr sz="800">
                <a:solidFill>
                  <a:srgbClr val="2C3E50"/>
                </a:solidFill>
                <a:latin typeface="Consolas"/>
              </a:rPr>
              <a:t>POST   /api/tasks/{id}/comments  Add comment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Full SDD specification provided in: SDD_Task_Management_API.md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Lab 2: Student Grade Calculator (Python/FastAPI)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Practical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Project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6 FRs: Students, Scores, Grades, GPA, Reports, Bulk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Business logic focus: grade thresholds, GPA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Statistical reports: per-subject averages, min/max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31136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Zero Docker dependency (SQLite built-in)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• Automatic OpenAPI docs via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09728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Grade Thresholds (from spec)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463040"/>
            <a:ext cx="100584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A
90-100
GPA: 4.0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463040"/>
            <a:ext cx="1005840" cy="7315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B
80-89
GPA: 3.0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63040"/>
            <a:ext cx="100584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C
70-79
GPA: 2.0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463040"/>
            <a:ext cx="100584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D
60-69
GPA: 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98480" y="1463040"/>
            <a:ext cx="100584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F
0-59
GPA: 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260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Implementation Phases (60 min)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54864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" y="3291840"/>
            <a:ext cx="25968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1 (15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Models + DB schema: Student, Score entities with SQLAlchemy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291840"/>
            <a:ext cx="54864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46704" y="3291840"/>
            <a:ext cx="25968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2 (20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Core business logic: grade calculation, GPA computation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291840"/>
            <a:ext cx="54864" cy="7772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291840"/>
            <a:ext cx="25968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3 (15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REST endpoints: CRUD + reports + bulk operations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3291840"/>
            <a:ext cx="54864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15984" y="3291840"/>
            <a:ext cx="259689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Phase 4 (10 min)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Tests: pytest for each FR's acceptance criteria + edge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8912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Key Endpoints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634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POST /students           Register student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920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POST /students/{id}/scores   Record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06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GET  /students/{id}/report   GPA + all grades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492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GET  /reports/class          Class statistics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389120"/>
            <a:ext cx="5943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7AE60"/>
                </a:solidFill>
              </a:rPr>
              <a:t>Why This Lab Works for AI-Native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663440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✓ Clear business rules → AI generates precise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919472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✓ Boundary conditions in spec → complete edge case tests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175504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✓ Simple stack (no Docker) → focus on methodology, not setup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431536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✓ Testable outputs → immediate validation of AI-generated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Full SDD specification provided in: SDD_Student_Grade_Calculator.md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Additional Practical Projects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Practical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86AB"/>
                </a:solidFill>
              </a:rPr>
              <a:t>Lab 3: E-Commerce Product Catalog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E86AB"/>
                </a:solidFill>
              </a:rPr>
              <a:t>Node.js + Express + MongoDB  |  1.5-2 hrs  |  Intermediate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Product CRUD with categories, tags, and image URLs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Full-text search across product name and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Inventory tracking with stock level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Price history and discount calculations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Pagination with cursor-based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MongoDB aggregation pipelines for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8E44AD"/>
                </a:solidFill>
              </a:rPr>
              <a:t>Lab 4: Weather Dashboard Microservice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41732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8E44AD"/>
                </a:solidFill>
              </a:rPr>
              <a:t>Python + Flask + External API  |  1-1.5 hrs  |  Beginner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6916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External weather API integration (OpenWeatherMap)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Data aggregation: current, hourly, daily forecasts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488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In-memory caching with TTL (avoid API rate limits)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774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Temperature unit conversion (C/F/K)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060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Severe weather alerts with threshold configuration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346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Response caching and error handling for API failures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7472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All Projects Follow the Same SDD Methodology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54864" cy="5486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" y="3840480"/>
            <a:ext cx="34198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Step 1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Read the SDD specification document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840480"/>
            <a:ext cx="54864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3840480"/>
            <a:ext cx="34198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Step 2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Identify FRs, acceptance criteria, edge cases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840480"/>
            <a:ext cx="54864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3" y="3840480"/>
            <a:ext cx="34198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Step 3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Use AI to generate code from spec sections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80560"/>
            <a:ext cx="54864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2064" y="4480560"/>
            <a:ext cx="34198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Step 4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Review generated code against the spec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4480560"/>
            <a:ext cx="54864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61104" y="4480560"/>
            <a:ext cx="34198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Step 5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Generate tests from acceptance criteria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4480560"/>
            <a:ext cx="54864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10143" y="4480560"/>
            <a:ext cx="34198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Step 6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Run, validate, iterate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Project Selection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6235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Strong business logic focus?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6235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E74B5"/>
                </a:solidFill>
              </a:rPr>
              <a:t>→ Lab 2 (Grade Calculator)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6235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Full enterprise API experience?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56235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E74B5"/>
                </a:solidFill>
              </a:rPr>
              <a:t>→ Lab 1 (Task Management)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8978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NoSQL &amp; search experience?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8978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E74B5"/>
                </a:solidFill>
              </a:rPr>
              <a:t>→ Lab 3 (E-Commerce)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8978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2C3E50"/>
                </a:solidFill>
              </a:rPr>
              <a:t>External API integration?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8978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E74B5"/>
                </a:solidFill>
              </a:rPr>
              <a:t>→ Lab 4 (Weather Dashboard)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SDD specifications for Labs 3 &amp; 4 will be provided as separate markdown documents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Key Takeaways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E74B5"/>
                </a:solidFill>
              </a:rPr>
              <a:t>What We Covered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7315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1463040"/>
            <a:ext cx="111922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AI-Native is a Paradigm Shift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Not just 'use AI to code' — it's a fundamental change in how software is conceived, specified, built, and validated.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4864" cy="7315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2286000"/>
            <a:ext cx="111922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Specifications are the Source of Truth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In AI-native development, the spec drives everything: code, tests, docs, and deployment.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54864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3108960"/>
            <a:ext cx="111922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AI is an Amplifier, Not a Replacement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Developers become architects, spec writers, and reviewers. AI handles the translation to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4864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3931920"/>
            <a:ext cx="111922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Quality Gates are Non-Negotiable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Automated testing, security scanning, and code review MUST be in every pipeline.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54864" cy="7315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4754880"/>
            <a:ext cx="1119225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Governance Makes AI Safe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Transparency, accountability, and human oversight ensure responsible AI-native development.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Next Steps for Faculty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→ Complete the practical lab exercise you started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60350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→ Explore AI tools (Cursor, Copilot, Claude) for your own 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60350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→ Apply spec-driven practices when designing assignments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636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→ Begin planning the 1-month faculty project (next slide)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626364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→ Share learnings with colleagues and students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Thank you! — Questions, discussion, and feedback welcome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400" b="1">
                <a:solidFill>
                  <a:srgbClr val="FFFFFF"/>
                </a:solidFill>
              </a:rPr>
              <a:t>1-Month Faculty Project Assignments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4B5"/>
                </a:solidFill>
              </a:rPr>
              <a:t>AI-Native Software Development  | 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E74B5"/>
                </a:solidFill>
              </a:rPr>
              <a:t>Teams of 2-3  |  4 Weeks  |  Interim Milestones  |  AI-Native SDD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E74B5"/>
                </a:solidFill>
              </a:rPr>
              <a:t>Project A: University Course Registration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Multi-module: Student Service, Course Catalog,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2808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    Registration Engine, Notification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93976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Microservices architecture with API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95144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Concurrent enrollment handling (race conditions)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96312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Prerequisite validation, waitlist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Admin dashboard with real-time statistics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54864" cy="10058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1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SDD spec writing for all modules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API contracts + domain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017520"/>
            <a:ext cx="54864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8366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2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Core services: Student + Course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CRUD + basic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017520"/>
            <a:ext cx="54864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5526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3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Registration engine + concurrency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Integration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017520"/>
            <a:ext cx="54864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2686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4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CI/CD pipeline + deployment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Load testing +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371600"/>
            <a:ext cx="5669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E86AB"/>
                </a:solidFill>
              </a:rPr>
              <a:t>Project B: Smart Library Management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91640"/>
            <a:ext cx="5303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Book catalog with ISBN lookup + cover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892808"/>
            <a:ext cx="5303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Member management with borrowing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93976"/>
            <a:ext cx="5303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Borrowing/returns with due date + fine calculation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95144"/>
            <a:ext cx="5303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Search with full-text + filter by genre/author/year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496312"/>
            <a:ext cx="5303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Recommendation engine (collaborative filtering)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80"/>
            <a:ext cx="5303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C3E50"/>
                </a:solidFill>
              </a:rPr>
              <a:t>• Analytics dashboard: popular books, active members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017520"/>
            <a:ext cx="54864" cy="10058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278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1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SDD specs + domain model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API contracts + DB schema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3017520"/>
            <a:ext cx="54864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4438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2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Book catalog + member CRUD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Search implementation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3017520"/>
            <a:ext cx="54864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1598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3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Borrowing engine + fines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Recommendation algorithm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20" y="3017520"/>
            <a:ext cx="54864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387584" y="3017520"/>
            <a:ext cx="1179576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1">
                <a:solidFill>
                  <a:srgbClr val="2C3E50"/>
                </a:solidFill>
              </a:rPr>
              <a:t>Week 4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CI/CD + deployment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7F8C8D"/>
                </a:solidFill>
              </a:rPr>
              <a:t>Performance testing + 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976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4B5"/>
                </a:solidFill>
              </a:rPr>
              <a:t>Required Deliverables (Both Projects)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914400" cy="2743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617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Complete SDD document (FRs, NFRs, API contracts, data model, test strategy)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937759"/>
            <a:ext cx="914400" cy="2743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4937759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Working core API with unit tests (min 80% coverage for core modules)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257800"/>
            <a:ext cx="914400" cy="2743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257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Integration tests + security scan report + code review evidence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577840"/>
            <a:ext cx="914400" cy="2743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55778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Deployed system + CI/CD pipeline + load test results + final presentation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989320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E74B5"/>
                </a:solidFill>
              </a:rPr>
              <a:t>Evaluation: SDD Quality (25%) + Code Quality (25%) + Test Coverage (20%) + CI/CD (15%) + Documentation (15%)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Full project specifications will be provided as detailed SDD markdown documents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Prompt Engineering Templates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Requirements gathering prompt: assign ROLE, provide CONTEXT, specify OUTPUT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Code generation prompt: include spec section, language, patterns,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Test generation prompt: reference acceptance criteria, edge cases, mocking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Code review prompt: include checklist, security focus areas, quality 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Architecture prompt: describe constraints, scale requirements, technology preferences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Tips: assign a ROLE, provide CONTEXT, be SPECIFIC, include EXAMPLES, ITERATE on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Kubernetes Deployment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Pods: smallest deployable unit — one or more containers sharing network and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Services: stable network endpoint — load-balances across pods, enables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Deployments: declarative updates — rolling upgrades with zero-downtime, auto-rollback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ConfigMaps &amp; Secrets: externalized configuration, encrypted sensitive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Ingress: external traffic routing with TLS termination and path-based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HPA (Horizontal Pod Autoscaler): auto-scale based on CPU/memory/custom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Observability with OpenTelemetry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Three pillars: Traces (request flow), Metrics (system health), Logs (event details)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OpenTelemetry Collector: vendor-neutral pipeline for collecting and exporting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Prometheus: time-series database for metrics storage, PromQL for querying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Jaeger/Zipkin: distributed tracing visualization and dependency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Grafana: unified dashboards combining metrics, traces, and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Key metrics: request latency (P50/P95/P99), error rate, throughput, saturation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Load Testing with k6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k6: modern load testing tool, JavaScript-based test scripts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Ramp-up pattern: gradually increase virtual users (VUs) to find breaking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Thresholds: define pass/fail criteria (P95 &lt; 500ms, error rate &lt; 1%)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Scenarios: model realistic user behavior patterns (browse, search, checkout)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Integration with CI/CD: run load tests as pipeline stages, fail build on threshold breach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When to test: before production, after major changes, before expected traffic spikes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End-to-End Testing with Playwright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Playwright: cross-browser testing (Chromium, Firefox, WebKit) with single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Auto-waiting: built-in waiting for elements, no manual sleep/delay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Network interception: mock API responses for deterministic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Visual regression: screenshot comparison to detect UI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Code generation: Playwright Inspector records user actions as test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AI can generate Playwright tests from user story descriptions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Git Workflow for AI-Native Development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Feature branches: one branch per FR or spec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Commit messages: reference spec FR IDs (e.g., 'Implement FR-1: Create Task endpoint')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PR reviews: AI-assisted first pass + human review for architecture and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Branch protection: require passing CI/CD checks before merge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Conventional commits: feat(task): add create endpoint, test(task): add FR-1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AI generates commit messages from code diffs and spec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Error Handling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Global exception handler: @ControllerAdvice / @app.exception_handler for consistent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Problem Details (RFC 7807): standardized error response format with type, title, detail,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Validation errors: return field-level error details (field name, rejected value, message)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Business rule violations: custom exception classes mapped to appropriate HTTP status codes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External service failures: circuit breaker pattern (Resilience4j / tenacity) with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Logging: structured logging (JSON) with correlation IDs for distributed tracing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Data Model Design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Normalization to 3NF to reduce redundancy; each fact stored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UUID primary keys for globally unique identifiers (better for distributed systems)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Audit fields: created_at, updated_at, created_by on every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Soft deletes: deleted_at timestamp instead of permanent removal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Database migrations: Flyway or Alembic for versioned schema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Index strategy: index FK columns, filter columns (status, priority), unique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Testing Hierarchy Deep Dive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Unit tests: test single function/method in isolation, mock all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Integration tests: test component interactions (API + DB), use Testcontainers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Contract tests: verify API responses match OpenAPI spec (Pact, Spring Cloud Contract)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E2E tests: test complete user flows through the running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Performance tests: verify NFRs (latency, throughput) under realistic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Security tests: SAST (SonarQube), DAST (OWASP ZAP), dependency scan (Snyk)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/>
            <a:r>
              <a:rPr sz="2200" b="1">
                <a:solidFill>
                  <a:srgbClr val="FFFFFF"/>
                </a:solidFill>
              </a:rPr>
              <a:t>BACKUP: Emerging Trends in AI Development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3200400" cy="320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95A5A6"/>
                </a:solidFill>
              </a:rPr>
              <a:t>AI-Native Software Development  | 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7F8C8D"/>
                </a:solidFill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Autonomous AI Engineers: Devin, SWE-Agent -- AI that plans, codes, tests, deploys independently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AI-Generated UI: v0.dev, Vercel AI -- generate React/Vue components from descriptions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Specification languages: Formal spec languages optimized for AI consumption emerging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AI-Powered Debugging: AI analyzes stack traces, suggests fixes, writes regression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Continuous AI Integration: AI agents as permanent CI/CD pipeline participants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C3E50"/>
                </a:solidFill>
              </a:rPr>
              <a:t>• Model Context Protocol (MCP): standardized protocol for AI agents to access tools and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7F8C8D"/>
                </a:solidFill>
              </a:rPr>
              <a:t>Backup Reference Material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